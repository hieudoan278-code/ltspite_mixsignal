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61.jpg" ContentType="image/jpeg"/>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83"/>
  </p:notesMasterIdLst>
  <p:handoutMasterIdLst>
    <p:handoutMasterId r:id="rId84"/>
  </p:handoutMasterIdLst>
  <p:sldIdLst>
    <p:sldId id="482" r:id="rId2"/>
    <p:sldId id="335" r:id="rId3"/>
    <p:sldId id="347" r:id="rId4"/>
    <p:sldId id="289" r:id="rId5"/>
    <p:sldId id="318" r:id="rId6"/>
    <p:sldId id="437" r:id="rId7"/>
    <p:sldId id="438" r:id="rId8"/>
    <p:sldId id="439" r:id="rId9"/>
    <p:sldId id="440" r:id="rId10"/>
    <p:sldId id="441" r:id="rId11"/>
    <p:sldId id="442" r:id="rId12"/>
    <p:sldId id="444" r:id="rId13"/>
    <p:sldId id="445" r:id="rId14"/>
    <p:sldId id="446" r:id="rId15"/>
    <p:sldId id="447" r:id="rId16"/>
    <p:sldId id="448" r:id="rId17"/>
    <p:sldId id="449" r:id="rId18"/>
    <p:sldId id="450" r:id="rId19"/>
    <p:sldId id="451" r:id="rId20"/>
    <p:sldId id="452" r:id="rId21"/>
    <p:sldId id="453" r:id="rId22"/>
    <p:sldId id="454" r:id="rId23"/>
    <p:sldId id="455" r:id="rId24"/>
    <p:sldId id="456" r:id="rId25"/>
    <p:sldId id="334" r:id="rId26"/>
    <p:sldId id="457" r:id="rId27"/>
    <p:sldId id="458" r:id="rId28"/>
    <p:sldId id="291" r:id="rId29"/>
    <p:sldId id="292" r:id="rId30"/>
    <p:sldId id="293" r:id="rId31"/>
    <p:sldId id="469" r:id="rId32"/>
    <p:sldId id="295" r:id="rId33"/>
    <p:sldId id="342" r:id="rId34"/>
    <p:sldId id="467" r:id="rId35"/>
    <p:sldId id="459" r:id="rId36"/>
    <p:sldId id="460" r:id="rId37"/>
    <p:sldId id="344" r:id="rId38"/>
    <p:sldId id="483" r:id="rId39"/>
    <p:sldId id="258" r:id="rId40"/>
    <p:sldId id="257" r:id="rId41"/>
    <p:sldId id="261" r:id="rId42"/>
    <p:sldId id="262" r:id="rId43"/>
    <p:sldId id="263" r:id="rId44"/>
    <p:sldId id="264" r:id="rId45"/>
    <p:sldId id="349" r:id="rId46"/>
    <p:sldId id="432" r:id="rId47"/>
    <p:sldId id="433" r:id="rId48"/>
    <p:sldId id="434" r:id="rId49"/>
    <p:sldId id="265" r:id="rId50"/>
    <p:sldId id="266" r:id="rId51"/>
    <p:sldId id="267" r:id="rId52"/>
    <p:sldId id="268" r:id="rId53"/>
    <p:sldId id="269" r:id="rId54"/>
    <p:sldId id="270" r:id="rId55"/>
    <p:sldId id="271" r:id="rId56"/>
    <p:sldId id="279" r:id="rId57"/>
    <p:sldId id="282" r:id="rId58"/>
    <p:sldId id="272" r:id="rId59"/>
    <p:sldId id="273" r:id="rId60"/>
    <p:sldId id="274" r:id="rId61"/>
    <p:sldId id="275" r:id="rId62"/>
    <p:sldId id="276" r:id="rId63"/>
    <p:sldId id="277" r:id="rId64"/>
    <p:sldId id="278" r:id="rId65"/>
    <p:sldId id="479" r:id="rId66"/>
    <p:sldId id="480" r:id="rId67"/>
    <p:sldId id="481" r:id="rId68"/>
    <p:sldId id="471" r:id="rId69"/>
    <p:sldId id="376" r:id="rId70"/>
    <p:sldId id="377" r:id="rId71"/>
    <p:sldId id="385" r:id="rId72"/>
    <p:sldId id="472" r:id="rId73"/>
    <p:sldId id="478" r:id="rId74"/>
    <p:sldId id="474" r:id="rId75"/>
    <p:sldId id="475" r:id="rId76"/>
    <p:sldId id="369" r:id="rId77"/>
    <p:sldId id="370" r:id="rId78"/>
    <p:sldId id="477" r:id="rId79"/>
    <p:sldId id="396" r:id="rId80"/>
    <p:sldId id="397" r:id="rId81"/>
    <p:sldId id="476" r:id="rId82"/>
  </p:sldIdLst>
  <p:sldSz cx="10058400" cy="7772400"/>
  <p:notesSz cx="10058400" cy="7772400"/>
  <p:defaultTextStyle>
    <a:defPPr>
      <a:defRPr lang="en-US"/>
    </a:defPPr>
    <a:lvl1pPr algn="l" rtl="0" eaLnBrk="0" fontAlgn="base" hangingPunct="0">
      <a:spcBef>
        <a:spcPct val="0"/>
      </a:spcBef>
      <a:spcAft>
        <a:spcPct val="0"/>
      </a:spcAft>
      <a:defRPr sz="4400" kern="1200">
        <a:solidFill>
          <a:srgbClr val="0000B6"/>
        </a:solidFill>
        <a:latin typeface="Book Antiqua" pitchFamily="18" charset="0"/>
        <a:ea typeface="+mn-ea"/>
        <a:cs typeface="+mn-cs"/>
      </a:defRPr>
    </a:lvl1pPr>
    <a:lvl2pPr marL="457200" algn="l" rtl="0" eaLnBrk="0" fontAlgn="base" hangingPunct="0">
      <a:spcBef>
        <a:spcPct val="0"/>
      </a:spcBef>
      <a:spcAft>
        <a:spcPct val="0"/>
      </a:spcAft>
      <a:defRPr sz="4400" kern="1200">
        <a:solidFill>
          <a:srgbClr val="0000B6"/>
        </a:solidFill>
        <a:latin typeface="Book Antiqua" pitchFamily="18" charset="0"/>
        <a:ea typeface="+mn-ea"/>
        <a:cs typeface="+mn-cs"/>
      </a:defRPr>
    </a:lvl2pPr>
    <a:lvl3pPr marL="914400" algn="l" rtl="0" eaLnBrk="0" fontAlgn="base" hangingPunct="0">
      <a:spcBef>
        <a:spcPct val="0"/>
      </a:spcBef>
      <a:spcAft>
        <a:spcPct val="0"/>
      </a:spcAft>
      <a:defRPr sz="4400" kern="1200">
        <a:solidFill>
          <a:srgbClr val="0000B6"/>
        </a:solidFill>
        <a:latin typeface="Book Antiqua" pitchFamily="18" charset="0"/>
        <a:ea typeface="+mn-ea"/>
        <a:cs typeface="+mn-cs"/>
      </a:defRPr>
    </a:lvl3pPr>
    <a:lvl4pPr marL="1371600" algn="l" rtl="0" eaLnBrk="0" fontAlgn="base" hangingPunct="0">
      <a:spcBef>
        <a:spcPct val="0"/>
      </a:spcBef>
      <a:spcAft>
        <a:spcPct val="0"/>
      </a:spcAft>
      <a:defRPr sz="4400" kern="1200">
        <a:solidFill>
          <a:srgbClr val="0000B6"/>
        </a:solidFill>
        <a:latin typeface="Book Antiqua" pitchFamily="18" charset="0"/>
        <a:ea typeface="+mn-ea"/>
        <a:cs typeface="+mn-cs"/>
      </a:defRPr>
    </a:lvl4pPr>
    <a:lvl5pPr marL="1828800" algn="l" rtl="0" eaLnBrk="0" fontAlgn="base" hangingPunct="0">
      <a:spcBef>
        <a:spcPct val="0"/>
      </a:spcBef>
      <a:spcAft>
        <a:spcPct val="0"/>
      </a:spcAft>
      <a:defRPr sz="4400" kern="1200">
        <a:solidFill>
          <a:srgbClr val="0000B6"/>
        </a:solidFill>
        <a:latin typeface="Book Antiqua" pitchFamily="18" charset="0"/>
        <a:ea typeface="+mn-ea"/>
        <a:cs typeface="+mn-cs"/>
      </a:defRPr>
    </a:lvl5pPr>
    <a:lvl6pPr marL="2286000" algn="l" defTabSz="914400" rtl="0" eaLnBrk="1" latinLnBrk="0" hangingPunct="1">
      <a:defRPr sz="4400" kern="1200">
        <a:solidFill>
          <a:srgbClr val="0000B6"/>
        </a:solidFill>
        <a:latin typeface="Book Antiqua" pitchFamily="18" charset="0"/>
        <a:ea typeface="+mn-ea"/>
        <a:cs typeface="+mn-cs"/>
      </a:defRPr>
    </a:lvl6pPr>
    <a:lvl7pPr marL="2743200" algn="l" defTabSz="914400" rtl="0" eaLnBrk="1" latinLnBrk="0" hangingPunct="1">
      <a:defRPr sz="4400" kern="1200">
        <a:solidFill>
          <a:srgbClr val="0000B6"/>
        </a:solidFill>
        <a:latin typeface="Book Antiqua" pitchFamily="18" charset="0"/>
        <a:ea typeface="+mn-ea"/>
        <a:cs typeface="+mn-cs"/>
      </a:defRPr>
    </a:lvl7pPr>
    <a:lvl8pPr marL="3200400" algn="l" defTabSz="914400" rtl="0" eaLnBrk="1" latinLnBrk="0" hangingPunct="1">
      <a:defRPr sz="4400" kern="1200">
        <a:solidFill>
          <a:srgbClr val="0000B6"/>
        </a:solidFill>
        <a:latin typeface="Book Antiqua" pitchFamily="18" charset="0"/>
        <a:ea typeface="+mn-ea"/>
        <a:cs typeface="+mn-cs"/>
      </a:defRPr>
    </a:lvl8pPr>
    <a:lvl9pPr marL="3657600" algn="l" defTabSz="914400" rtl="0" eaLnBrk="1" latinLnBrk="0" hangingPunct="1">
      <a:defRPr sz="4400" kern="1200">
        <a:solidFill>
          <a:srgbClr val="0000B6"/>
        </a:solidFill>
        <a:latin typeface="Book Antiqua" pitchFamily="18"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7354D-0536-407A-8E50-0FEA981C281D}" v="15" dt="2021-04-12T08:21:48.98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010" autoAdjust="0"/>
  </p:normalViewPr>
  <p:slideViewPr>
    <p:cSldViewPr>
      <p:cViewPr varScale="1">
        <p:scale>
          <a:sx n="76" d="100"/>
          <a:sy n="76" d="100"/>
        </p:scale>
        <p:origin x="1020" y="102"/>
      </p:cViewPr>
      <p:guideLst>
        <p:guide orient="horz" pos="2880"/>
        <p:guide pos="2160"/>
      </p:guideLst>
    </p:cSldViewPr>
  </p:slideViewPr>
  <p:notesTextViewPr>
    <p:cViewPr>
      <p:scale>
        <a:sx n="100" d="100"/>
        <a:sy n="100" d="100"/>
      </p:scale>
      <p:origin x="0" y="0"/>
    </p:cViewPr>
  </p:notesTextViewPr>
  <p:notesViewPr>
    <p:cSldViewPr>
      <p:cViewPr varScale="1">
        <p:scale>
          <a:sx n="81" d="100"/>
          <a:sy n="81" d="100"/>
        </p:scale>
        <p:origin x="1728"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93"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O Tuan Minh - ETE" userId="88e22032-5216-4622-9f73-b3d9f38a6a87" providerId="ADAL" clId="{5E87354D-0536-407A-8E50-0FEA981C281D}"/>
    <pc:docChg chg="undo custSel delSld modSld">
      <pc:chgData name="VO Tuan Minh - ETE" userId="88e22032-5216-4622-9f73-b3d9f38a6a87" providerId="ADAL" clId="{5E87354D-0536-407A-8E50-0FEA981C281D}" dt="2021-04-12T08:36:51.305" v="117" actId="1076"/>
      <pc:docMkLst>
        <pc:docMk/>
      </pc:docMkLst>
      <pc:sldChg chg="modSp mod">
        <pc:chgData name="VO Tuan Minh - ETE" userId="88e22032-5216-4622-9f73-b3d9f38a6a87" providerId="ADAL" clId="{5E87354D-0536-407A-8E50-0FEA981C281D}" dt="2021-04-12T06:43:31.151" v="1" actId="33524"/>
        <pc:sldMkLst>
          <pc:docMk/>
          <pc:sldMk cId="1028021449" sldId="293"/>
        </pc:sldMkLst>
        <pc:spChg chg="mod">
          <ac:chgData name="VO Tuan Minh - ETE" userId="88e22032-5216-4622-9f73-b3d9f38a6a87" providerId="ADAL" clId="{5E87354D-0536-407A-8E50-0FEA981C281D}" dt="2021-04-12T06:43:31.151" v="1" actId="33524"/>
          <ac:spMkLst>
            <pc:docMk/>
            <pc:sldMk cId="1028021449" sldId="293"/>
            <ac:spMk id="7" creationId="{FF36B155-5642-41FD-8C1F-5FF7BE8E6B91}"/>
          </ac:spMkLst>
        </pc:spChg>
      </pc:sldChg>
      <pc:sldChg chg="addSp delSp modSp mod">
        <pc:chgData name="VO Tuan Minh - ETE" userId="88e22032-5216-4622-9f73-b3d9f38a6a87" providerId="ADAL" clId="{5E87354D-0536-407A-8E50-0FEA981C281D}" dt="2021-04-12T08:36:51.305" v="117" actId="1076"/>
        <pc:sldMkLst>
          <pc:docMk/>
          <pc:sldMk cId="3999168928" sldId="295"/>
        </pc:sldMkLst>
        <pc:spChg chg="add mod">
          <ac:chgData name="VO Tuan Minh - ETE" userId="88e22032-5216-4622-9f73-b3d9f38a6a87" providerId="ADAL" clId="{5E87354D-0536-407A-8E50-0FEA981C281D}" dt="2021-04-12T08:23:19.346" v="109" actId="1036"/>
          <ac:spMkLst>
            <pc:docMk/>
            <pc:sldMk cId="3999168928" sldId="295"/>
            <ac:spMk id="9" creationId="{DDDC004A-B7E6-417F-946C-84876B82DAF0}"/>
          </ac:spMkLst>
        </pc:spChg>
        <pc:spChg chg="add mod">
          <ac:chgData name="VO Tuan Minh - ETE" userId="88e22032-5216-4622-9f73-b3d9f38a6a87" providerId="ADAL" clId="{5E87354D-0536-407A-8E50-0FEA981C281D}" dt="2021-04-12T08:23:25.675" v="111" actId="1036"/>
          <ac:spMkLst>
            <pc:docMk/>
            <pc:sldMk cId="3999168928" sldId="295"/>
            <ac:spMk id="10" creationId="{08A71CB2-F6D0-4AA8-9BA8-E79BDD547E09}"/>
          </ac:spMkLst>
        </pc:spChg>
        <pc:spChg chg="add del mod">
          <ac:chgData name="VO Tuan Minh - ETE" userId="88e22032-5216-4622-9f73-b3d9f38a6a87" providerId="ADAL" clId="{5E87354D-0536-407A-8E50-0FEA981C281D}" dt="2021-04-12T08:36:51.305" v="117" actId="1076"/>
          <ac:spMkLst>
            <pc:docMk/>
            <pc:sldMk cId="3999168928" sldId="295"/>
            <ac:spMk id="11" creationId="{486F278C-9E8B-418B-893E-56B7E20B6EC9}"/>
          </ac:spMkLst>
        </pc:spChg>
        <pc:spChg chg="add del mod">
          <ac:chgData name="VO Tuan Minh - ETE" userId="88e22032-5216-4622-9f73-b3d9f38a6a87" providerId="ADAL" clId="{5E87354D-0536-407A-8E50-0FEA981C281D}" dt="2021-04-12T08:36:41.760" v="116" actId="1076"/>
          <ac:spMkLst>
            <pc:docMk/>
            <pc:sldMk cId="3999168928" sldId="295"/>
            <ac:spMk id="12" creationId="{87B2B9A2-FE8A-4E31-A5CC-7AE0A65F56E2}"/>
          </ac:spMkLst>
        </pc:spChg>
        <pc:picChg chg="mod">
          <ac:chgData name="VO Tuan Minh - ETE" userId="88e22032-5216-4622-9f73-b3d9f38a6a87" providerId="ADAL" clId="{5E87354D-0536-407A-8E50-0FEA981C281D}" dt="2021-04-12T08:21:48.987" v="55" actId="14100"/>
          <ac:picMkLst>
            <pc:docMk/>
            <pc:sldMk cId="3999168928" sldId="295"/>
            <ac:picMk id="6" creationId="{00000000-0000-0000-0000-000000000000}"/>
          </ac:picMkLst>
        </pc:picChg>
      </pc:sldChg>
      <pc:sldChg chg="del">
        <pc:chgData name="VO Tuan Minh - ETE" userId="88e22032-5216-4622-9f73-b3d9f38a6a87" providerId="ADAL" clId="{5E87354D-0536-407A-8E50-0FEA981C281D}" dt="2021-04-12T06:41:35.130" v="0" actId="2696"/>
        <pc:sldMkLst>
          <pc:docMk/>
          <pc:sldMk cId="1339787099" sldId="436"/>
        </pc:sldMkLst>
      </pc:sldChg>
      <pc:sldChg chg="addSp modSp mod">
        <pc:chgData name="VO Tuan Minh - ETE" userId="88e22032-5216-4622-9f73-b3d9f38a6a87" providerId="ADAL" clId="{5E87354D-0536-407A-8E50-0FEA981C281D}" dt="2021-04-12T07:55:54.388" v="49" actId="20577"/>
        <pc:sldMkLst>
          <pc:docMk/>
          <pc:sldMk cId="3858331343" sldId="469"/>
        </pc:sldMkLst>
        <pc:spChg chg="add mod">
          <ac:chgData name="VO Tuan Minh - ETE" userId="88e22032-5216-4622-9f73-b3d9f38a6a87" providerId="ADAL" clId="{5E87354D-0536-407A-8E50-0FEA981C281D}" dt="2021-04-12T07:55:23.593" v="14" actId="1076"/>
          <ac:spMkLst>
            <pc:docMk/>
            <pc:sldMk cId="3858331343" sldId="469"/>
            <ac:spMk id="10" creationId="{7FDECC35-D3D9-4042-8752-A7EE1D61BFC9}"/>
          </ac:spMkLst>
        </pc:spChg>
        <pc:spChg chg="add mod">
          <ac:chgData name="VO Tuan Minh - ETE" userId="88e22032-5216-4622-9f73-b3d9f38a6a87" providerId="ADAL" clId="{5E87354D-0536-407A-8E50-0FEA981C281D}" dt="2021-04-12T07:55:35.496" v="23" actId="20577"/>
          <ac:spMkLst>
            <pc:docMk/>
            <pc:sldMk cId="3858331343" sldId="469"/>
            <ac:spMk id="11" creationId="{9F3831C1-9729-4486-9EDB-2F96DBB359D4}"/>
          </ac:spMkLst>
        </pc:spChg>
        <pc:spChg chg="add mod">
          <ac:chgData name="VO Tuan Minh - ETE" userId="88e22032-5216-4622-9f73-b3d9f38a6a87" providerId="ADAL" clId="{5E87354D-0536-407A-8E50-0FEA981C281D}" dt="2021-04-12T07:55:50.695" v="47" actId="20577"/>
          <ac:spMkLst>
            <pc:docMk/>
            <pc:sldMk cId="3858331343" sldId="469"/>
            <ac:spMk id="12" creationId="{FA164C01-A647-4D61-8B32-93DABC8483B3}"/>
          </ac:spMkLst>
        </pc:spChg>
        <pc:spChg chg="add mod">
          <ac:chgData name="VO Tuan Minh - ETE" userId="88e22032-5216-4622-9f73-b3d9f38a6a87" providerId="ADAL" clId="{5E87354D-0536-407A-8E50-0FEA981C281D}" dt="2021-04-12T07:55:54.388" v="49" actId="20577"/>
          <ac:spMkLst>
            <pc:docMk/>
            <pc:sldMk cId="3858331343" sldId="469"/>
            <ac:spMk id="13" creationId="{EB93F7D8-BAF0-4892-919C-DDD9AB9D35A9}"/>
          </ac:spMkLst>
        </pc:spChg>
        <pc:picChg chg="mod">
          <ac:chgData name="VO Tuan Minh - ETE" userId="88e22032-5216-4622-9f73-b3d9f38a6a87" providerId="ADAL" clId="{5E87354D-0536-407A-8E50-0FEA981C281D}" dt="2021-04-12T07:54:52.636" v="8" actId="1035"/>
          <ac:picMkLst>
            <pc:docMk/>
            <pc:sldMk cId="3858331343" sldId="469"/>
            <ac:picMk id="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69B1FF-A24A-4867-9984-79E5823DFB8E}"/>
              </a:ext>
            </a:extLst>
          </p:cNvPr>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021A7DB-5ED7-4877-A933-2E4A71C6BBD2}"/>
              </a:ext>
            </a:extLst>
          </p:cNvPr>
          <p:cNvSpPr>
            <a:spLocks noGrp="1"/>
          </p:cNvSpPr>
          <p:nvPr>
            <p:ph type="dt" sz="quarter" idx="1"/>
          </p:nvPr>
        </p:nvSpPr>
        <p:spPr>
          <a:xfrm>
            <a:off x="5697538" y="0"/>
            <a:ext cx="4359275" cy="388938"/>
          </a:xfrm>
          <a:prstGeom prst="rect">
            <a:avLst/>
          </a:prstGeom>
        </p:spPr>
        <p:txBody>
          <a:bodyPr vert="horz" lIns="91440" tIns="45720" rIns="91440" bIns="45720" rtlCol="0"/>
          <a:lstStyle>
            <a:lvl1pPr algn="r">
              <a:defRPr sz="1200"/>
            </a:lvl1pPr>
          </a:lstStyle>
          <a:p>
            <a:fld id="{94B02EB3-064B-4B01-9B14-FD5D000FFDDE}" type="datetimeFigureOut">
              <a:rPr lang="en-GB" smtClean="0"/>
              <a:t>12/04/2021</a:t>
            </a:fld>
            <a:endParaRPr lang="en-GB"/>
          </a:p>
        </p:txBody>
      </p:sp>
      <p:sp>
        <p:nvSpPr>
          <p:cNvPr id="4" name="Footer Placeholder 3">
            <a:extLst>
              <a:ext uri="{FF2B5EF4-FFF2-40B4-BE49-F238E27FC236}">
                <a16:creationId xmlns:a16="http://schemas.microsoft.com/office/drawing/2014/main" id="{AC63763D-A98B-4A09-A065-21A6D22ED3AB}"/>
              </a:ext>
            </a:extLst>
          </p:cNvPr>
          <p:cNvSpPr>
            <a:spLocks noGrp="1"/>
          </p:cNvSpPr>
          <p:nvPr>
            <p:ph type="ftr" sz="quarter" idx="2"/>
          </p:nvPr>
        </p:nvSpPr>
        <p:spPr>
          <a:xfrm>
            <a:off x="0" y="7383463"/>
            <a:ext cx="4359275" cy="38893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1442F73-049C-465F-84AE-2A477A161A4C}"/>
              </a:ext>
            </a:extLst>
          </p:cNvPr>
          <p:cNvSpPr>
            <a:spLocks noGrp="1"/>
          </p:cNvSpPr>
          <p:nvPr>
            <p:ph type="sldNum" sz="quarter" idx="3"/>
          </p:nvPr>
        </p:nvSpPr>
        <p:spPr>
          <a:xfrm>
            <a:off x="5697538" y="7383463"/>
            <a:ext cx="4359275" cy="388937"/>
          </a:xfrm>
          <a:prstGeom prst="rect">
            <a:avLst/>
          </a:prstGeom>
        </p:spPr>
        <p:txBody>
          <a:bodyPr vert="horz" lIns="91440" tIns="45720" rIns="91440" bIns="45720" rtlCol="0" anchor="b"/>
          <a:lstStyle>
            <a:lvl1pPr algn="r">
              <a:defRPr sz="1200"/>
            </a:lvl1pPr>
          </a:lstStyle>
          <a:p>
            <a:fld id="{B691C0E4-6A8C-4E59-8A3F-7B0BFD21614F}" type="slidenum">
              <a:rPr lang="en-GB" smtClean="0"/>
              <a:t>‹#›</a:t>
            </a:fld>
            <a:endParaRPr lang="en-GB"/>
          </a:p>
        </p:txBody>
      </p:sp>
    </p:spTree>
    <p:extLst>
      <p:ext uri="{BB962C8B-B14F-4D97-AF65-F5344CB8AC3E}">
        <p14:creationId xmlns:p14="http://schemas.microsoft.com/office/powerpoint/2010/main" val="40902414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EAD6BC41-DE27-46F2-9736-AE4F8571DA82}" type="datetimeFigureOut">
              <a:rPr lang="en-GB" smtClean="0"/>
              <a:t>12/04/2021</a:t>
            </a:fld>
            <a:endParaRPr lang="en-GB"/>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0CA635C1-9B62-4037-8C15-2D0B52AACD14}" type="slidenum">
              <a:rPr lang="en-GB" smtClean="0"/>
              <a:t>‹#›</a:t>
            </a:fld>
            <a:endParaRPr lang="en-GB"/>
          </a:p>
        </p:txBody>
      </p:sp>
    </p:spTree>
    <p:extLst>
      <p:ext uri="{BB962C8B-B14F-4D97-AF65-F5344CB8AC3E}">
        <p14:creationId xmlns:p14="http://schemas.microsoft.com/office/powerpoint/2010/main" val="276613954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19CC50B-9954-480C-B7D2-64561E2B56A1}"/>
              </a:ext>
            </a:extLst>
          </p:cNvPr>
          <p:cNvSpPr>
            <a:spLocks noGrp="1" noRot="1" noChangeAspect="1" noChangeArrowheads="1" noTextEdit="1"/>
          </p:cNvSpPr>
          <p:nvPr>
            <p:ph type="sldImg"/>
          </p:nvPr>
        </p:nvSpPr>
        <p:spPr>
          <a:xfrm>
            <a:off x="752475" y="1147763"/>
            <a:ext cx="5353050" cy="4135437"/>
          </a:xfrm>
        </p:spPr>
      </p:sp>
      <p:sp>
        <p:nvSpPr>
          <p:cNvPr id="11267" name="Rectangle 3">
            <a:extLst>
              <a:ext uri="{FF2B5EF4-FFF2-40B4-BE49-F238E27FC236}">
                <a16:creationId xmlns:a16="http://schemas.microsoft.com/office/drawing/2014/main" id="{599A431A-33EC-4F57-9ECB-9BA379640B90}"/>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The basic measurement and control loop measures a process variable and determines what control action needs to be performed based on the processor’s control algorithm. The measurement path takes an analog variable (such as pressure, temperature etc), signal conditions it in the analog domain before applying it to an analog-to-digital converter (ADC). The ADC provides a digital output corresponding to the value of the analog input signal relative to the reference voltage. The resolution of the converter determines the number of bits (n) in the digital representation.</a:t>
            </a:r>
          </a:p>
          <a:p>
            <a:endParaRPr lang="en-IE" altLang="en-US"/>
          </a:p>
          <a:p>
            <a:r>
              <a:rPr lang="en-IE" altLang="en-US"/>
              <a:t>On the control side, the digital word from the processor is converted to an analog value using a digital-to-analog converter (DAC). The number of digital bits which are convereted to an anlog value is determined by the resolution of the DAC.</a:t>
            </a:r>
            <a:endParaRPr lang="en-US" altLang="en-US"/>
          </a:p>
        </p:txBody>
      </p:sp>
    </p:spTree>
    <p:extLst>
      <p:ext uri="{BB962C8B-B14F-4D97-AF65-F5344CB8AC3E}">
        <p14:creationId xmlns:p14="http://schemas.microsoft.com/office/powerpoint/2010/main" val="3018365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33A04B9-C43B-42EF-91AC-E6432EBD4299}"/>
              </a:ext>
            </a:extLst>
          </p:cNvPr>
          <p:cNvSpPr>
            <a:spLocks noGrp="1" noRot="1" noChangeAspect="1" noChangeArrowheads="1" noTextEdit="1"/>
          </p:cNvSpPr>
          <p:nvPr>
            <p:ph type="sldImg"/>
          </p:nvPr>
        </p:nvSpPr>
        <p:spPr>
          <a:xfrm>
            <a:off x="752475" y="1147763"/>
            <a:ext cx="5353050" cy="4135437"/>
          </a:xfrm>
        </p:spPr>
      </p:sp>
      <p:sp>
        <p:nvSpPr>
          <p:cNvPr id="21507" name="Rectangle 3">
            <a:extLst>
              <a:ext uri="{FF2B5EF4-FFF2-40B4-BE49-F238E27FC236}">
                <a16:creationId xmlns:a16="http://schemas.microsoft.com/office/drawing/2014/main" id="{3FA578A5-DE92-4F9C-A5F3-45277886E308}"/>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This shows the conversion relationship for an ideal 3-bit converter. The smallest resolvable signal is 1 LSB which is equal to FS/2</a:t>
            </a:r>
            <a:r>
              <a:rPr lang="en-IE" altLang="en-US" baseline="30000"/>
              <a:t>3 </a:t>
            </a:r>
            <a:r>
              <a:rPr lang="en-IE" altLang="en-US"/>
              <a:t>or FS/8. The digital output has 8 discrete values representing a linear transfer function.</a:t>
            </a:r>
            <a:endParaRPr lang="en-US" altLang="en-US"/>
          </a:p>
        </p:txBody>
      </p:sp>
    </p:spTree>
    <p:extLst>
      <p:ext uri="{BB962C8B-B14F-4D97-AF65-F5344CB8AC3E}">
        <p14:creationId xmlns:p14="http://schemas.microsoft.com/office/powerpoint/2010/main" val="1219470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1B0831D-45CD-4DAA-B85B-801FB6163BF4}"/>
              </a:ext>
            </a:extLst>
          </p:cNvPr>
          <p:cNvSpPr>
            <a:spLocks noGrp="1" noRot="1" noChangeAspect="1" noChangeArrowheads="1" noTextEdit="1"/>
          </p:cNvSpPr>
          <p:nvPr>
            <p:ph type="sldImg"/>
          </p:nvPr>
        </p:nvSpPr>
        <p:spPr/>
      </p:sp>
      <p:sp>
        <p:nvSpPr>
          <p:cNvPr id="23555" name="Rectangle 3">
            <a:extLst>
              <a:ext uri="{FF2B5EF4-FFF2-40B4-BE49-F238E27FC236}">
                <a16:creationId xmlns:a16="http://schemas.microsoft.com/office/drawing/2014/main" id="{2124F4E2-B2C0-400C-8976-B68AA1434AC5}"/>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We have previously talked about quantization errors and how they determine dynamic range etc. This plots shows the profile of the quantization error as it tracks a ramped analog input voltage. At the centre of each of the codes, the quantization error is 0. As the input voltage increases but the digital code remains constant, the quantization error goes negative. At the next code transition, the digital output now jumps ahead of the analog input voltage ramp and quantization error jumps positive. The profile is repeated at each code of the ADC transfer function.</a:t>
            </a:r>
            <a:endParaRPr lang="en-US" altLang="en-US"/>
          </a:p>
        </p:txBody>
      </p:sp>
    </p:spTree>
    <p:extLst>
      <p:ext uri="{BB962C8B-B14F-4D97-AF65-F5344CB8AC3E}">
        <p14:creationId xmlns:p14="http://schemas.microsoft.com/office/powerpoint/2010/main" val="4269609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0D3E457-E665-4821-B5D3-CC1D0093A1B9}"/>
              </a:ext>
            </a:extLst>
          </p:cNvPr>
          <p:cNvSpPr>
            <a:spLocks noGrp="1" noRot="1" noChangeAspect="1" noChangeArrowheads="1" noTextEdit="1"/>
          </p:cNvSpPr>
          <p:nvPr>
            <p:ph type="sldImg"/>
          </p:nvPr>
        </p:nvSpPr>
        <p:spPr>
          <a:xfrm>
            <a:off x="752475" y="1147763"/>
            <a:ext cx="5353050" cy="4135437"/>
          </a:xfrm>
        </p:spPr>
      </p:sp>
      <p:sp>
        <p:nvSpPr>
          <p:cNvPr id="25603" name="Rectangle 3">
            <a:extLst>
              <a:ext uri="{FF2B5EF4-FFF2-40B4-BE49-F238E27FC236}">
                <a16:creationId xmlns:a16="http://schemas.microsoft.com/office/drawing/2014/main" id="{A6147874-3DF1-4A83-ADCB-4EDE3AD852E7}"/>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Read through Bullets</a:t>
            </a:r>
            <a:endParaRPr lang="en-US" altLang="en-US"/>
          </a:p>
        </p:txBody>
      </p:sp>
    </p:spTree>
    <p:extLst>
      <p:ext uri="{BB962C8B-B14F-4D97-AF65-F5344CB8AC3E}">
        <p14:creationId xmlns:p14="http://schemas.microsoft.com/office/powerpoint/2010/main" val="2864140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a:extLst>
              <a:ext uri="{FF2B5EF4-FFF2-40B4-BE49-F238E27FC236}">
                <a16:creationId xmlns:a16="http://schemas.microsoft.com/office/drawing/2014/main" id="{A0C547A6-FE03-4144-86BF-90D2AFB1723E}"/>
              </a:ext>
            </a:extLst>
          </p:cNvPr>
          <p:cNvSpPr>
            <a:spLocks noGrp="1" noRot="1" noChangeAspect="1" noChangeArrowheads="1" noTextEdit="1"/>
          </p:cNvSpPr>
          <p:nvPr>
            <p:ph type="sldImg"/>
          </p:nvPr>
        </p:nvSpPr>
        <p:spPr>
          <a:xfrm>
            <a:off x="752475" y="1147763"/>
            <a:ext cx="5353050" cy="4135437"/>
          </a:xfrm>
        </p:spPr>
      </p:sp>
      <p:sp>
        <p:nvSpPr>
          <p:cNvPr id="27651" name="Rectangle 1027">
            <a:extLst>
              <a:ext uri="{FF2B5EF4-FFF2-40B4-BE49-F238E27FC236}">
                <a16:creationId xmlns:a16="http://schemas.microsoft.com/office/drawing/2014/main" id="{5AB20801-939E-48D1-A1E9-889D4BA83CA0}"/>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A graphical representation of this RMS error in the frequency domain is shown and is called quantization noise, also referred to as noise spectral density.  Remember, this is the quantization error in an ideal converter and is uniformly distributed across frequencies.  One thing to note is this is sometimes also called the noise floor. And that the magnitude is dependent on the quantization level (resolution) and sample rate.  It’s easy to see that with the same resolution converter, by doubling the sampling rate, the noise floor gets spread over a wider bandwidth.  This is called processing gain.  By doubling the sample rate, one obtains a 3dB improvement (lowering) of the noise floor or sometimes called “3dB of processing gain”.</a:t>
            </a:r>
          </a:p>
          <a:p>
            <a:endParaRPr lang="en-US" altLang="en-US"/>
          </a:p>
        </p:txBody>
      </p:sp>
    </p:spTree>
    <p:extLst>
      <p:ext uri="{BB962C8B-B14F-4D97-AF65-F5344CB8AC3E}">
        <p14:creationId xmlns:p14="http://schemas.microsoft.com/office/powerpoint/2010/main" val="309757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2F326D4-A524-43D0-93CD-6E3BB2DD0D4B}"/>
              </a:ext>
            </a:extLst>
          </p:cNvPr>
          <p:cNvSpPr>
            <a:spLocks noGrp="1" noRot="1" noChangeAspect="1" noChangeArrowheads="1" noTextEdit="1"/>
          </p:cNvSpPr>
          <p:nvPr>
            <p:ph type="sldImg"/>
          </p:nvPr>
        </p:nvSpPr>
        <p:spPr>
          <a:xfrm>
            <a:off x="1201738" y="690563"/>
            <a:ext cx="4454525" cy="3443287"/>
          </a:xfrm>
          <a:solidFill>
            <a:srgbClr val="FFFFFF"/>
          </a:solidFill>
          <a:ln>
            <a:solidFill>
              <a:srgbClr val="000000"/>
            </a:solidFill>
            <a:miter lim="800000"/>
            <a:headEnd/>
            <a:tailEnd/>
          </a:ln>
        </p:spPr>
      </p:sp>
      <p:sp>
        <p:nvSpPr>
          <p:cNvPr id="83971" name="Rectangle 3">
            <a:extLst>
              <a:ext uri="{FF2B5EF4-FFF2-40B4-BE49-F238E27FC236}">
                <a16:creationId xmlns:a16="http://schemas.microsoft.com/office/drawing/2014/main" id="{1FE755FC-F511-4807-87E2-1CBB8B2DFCBF}"/>
              </a:ext>
            </a:extLst>
          </p:cNvPr>
          <p:cNvSpPr>
            <a:spLocks noGrp="1" noChangeArrowheads="1"/>
          </p:cNvSpPr>
          <p:nvPr>
            <p:ph type="body" idx="1"/>
          </p:nvPr>
        </p:nvSpPr>
        <p:spPr bwMode="auto">
          <a:xfrm>
            <a:off x="914400" y="4365625"/>
            <a:ext cx="5029200" cy="4135438"/>
          </a:xfrm>
          <a:prstGeom prst="rect">
            <a:avLst/>
          </a:prstGeom>
          <a:solidFill>
            <a:srgbClr val="FFFFFF"/>
          </a:solidFill>
          <a:ln>
            <a:solidFill>
              <a:srgbClr val="000000"/>
            </a:solidFill>
            <a:miter lim="800000"/>
            <a:headEnd/>
            <a:tailEnd/>
          </a:ln>
        </p:spPr>
        <p:txBody>
          <a:bodyPr/>
          <a:lstStyle/>
          <a:p>
            <a:r>
              <a:rPr lang="en-US" altLang="en-US"/>
              <a:t>The subranging architecture is a great way to achieve higher resolutions. For example a 12-bit flash ADC would need (2</a:t>
            </a:r>
            <a:r>
              <a:rPr lang="en-US" altLang="en-US" baseline="30000"/>
              <a:t>12</a:t>
            </a:r>
            <a:r>
              <a:rPr lang="en-US" altLang="en-US"/>
              <a:t>-1 = 4095) comparators, but a sub-ranging ADC only needs (2</a:t>
            </a:r>
            <a:r>
              <a:rPr lang="en-US" altLang="en-US" baseline="30000"/>
              <a:t>6</a:t>
            </a:r>
            <a:r>
              <a:rPr lang="en-US" altLang="en-US"/>
              <a:t>-1 + 2</a:t>
            </a:r>
            <a:r>
              <a:rPr lang="en-US" altLang="en-US" baseline="30000"/>
              <a:t>7</a:t>
            </a:r>
            <a:r>
              <a:rPr lang="en-US" altLang="en-US"/>
              <a:t>-1 = 190) comparators. The additional circuitry needed is much less than the fewer comparators needed. The reduction in circuitry is what provides the lower power and die size.</a:t>
            </a:r>
          </a:p>
          <a:p>
            <a:r>
              <a:rPr lang="en-US" altLang="en-US"/>
              <a:t>The operation of a sub-ranging ADC is much like the successive approximation ADC except it resolves more than one bit at a time. For this example, the ADC does a rough 6-bit conversion, (result is code X). The result of this conversion is passed to a DAC which outputs a “perfect” analog reference for code X. The difference between the actual analog input and the “perfect” output of the DAC is passed to second ADC which makes fine conversion. </a:t>
            </a:r>
          </a:p>
          <a:p>
            <a:r>
              <a:rPr lang="en-US" altLang="en-US"/>
              <a:t>The output of the two conversions is combined using logic into one 12-bit word. Note, an extra bit of resolution is needed in the second ADC in order to perform error correction. Error correction is needed because of offsets between the two stages.</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D6A38CFD-AF9C-49DC-9564-7807D09DD01C}"/>
              </a:ext>
            </a:extLst>
          </p:cNvPr>
          <p:cNvSpPr>
            <a:spLocks noGrp="1" noRot="1" noChangeAspect="1" noChangeArrowheads="1" noTextEdit="1"/>
          </p:cNvSpPr>
          <p:nvPr>
            <p:ph type="sldImg"/>
          </p:nvPr>
        </p:nvSpPr>
        <p:spPr>
          <a:xfrm>
            <a:off x="1201738" y="690563"/>
            <a:ext cx="4454525" cy="3443287"/>
          </a:xfrm>
          <a:solidFill>
            <a:srgbClr val="FFFFFF"/>
          </a:solidFill>
          <a:ln>
            <a:solidFill>
              <a:srgbClr val="000000"/>
            </a:solidFill>
            <a:miter lim="800000"/>
            <a:headEnd/>
            <a:tailEnd/>
          </a:ln>
        </p:spPr>
      </p:sp>
      <p:sp>
        <p:nvSpPr>
          <p:cNvPr id="86019" name="Rectangle 3">
            <a:extLst>
              <a:ext uri="{FF2B5EF4-FFF2-40B4-BE49-F238E27FC236}">
                <a16:creationId xmlns:a16="http://schemas.microsoft.com/office/drawing/2014/main" id="{A4BEB7CD-4AB6-4736-A752-47BB7B0C31EA}"/>
              </a:ext>
            </a:extLst>
          </p:cNvPr>
          <p:cNvSpPr>
            <a:spLocks noGrp="1" noChangeArrowheads="1"/>
          </p:cNvSpPr>
          <p:nvPr>
            <p:ph type="body" idx="1"/>
          </p:nvPr>
        </p:nvSpPr>
        <p:spPr bwMode="auto">
          <a:xfrm>
            <a:off x="914400" y="4365625"/>
            <a:ext cx="5029200" cy="4135438"/>
          </a:xfrm>
          <a:prstGeom prst="rect">
            <a:avLst/>
          </a:prstGeom>
          <a:solidFill>
            <a:srgbClr val="FFFFFF"/>
          </a:solidFill>
          <a:ln>
            <a:solidFill>
              <a:srgbClr val="000000"/>
            </a:solidFill>
            <a:miter lim="800000"/>
            <a:headEnd/>
            <a:tailEnd/>
          </a:ln>
        </p:spPr>
        <p:txBody>
          <a:bodyPr/>
          <a:lstStyle/>
          <a:p>
            <a:r>
              <a:rPr lang="en-US" altLang="en-US"/>
              <a:t>This slide shows an example of how a sub-ranging ADC works. First, the rough ADC does a conversion. The DAC creates a reference voltage which is compared to the original analog signal. The resulting residue signal is then gained up and passed to a second “fine” ADC. The entire range of the second converter should equate to one “step” of the first ADC. After the second ADC is finished the complete word is put together. For this example, the output would be 101001. Note: no error correction is show in this example.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834AC486-73CB-4490-8FE3-02C094133EA7}"/>
              </a:ext>
            </a:extLst>
          </p:cNvPr>
          <p:cNvSpPr>
            <a:spLocks noGrp="1" noRot="1" noChangeAspect="1" noChangeArrowheads="1" noTextEdit="1"/>
          </p:cNvSpPr>
          <p:nvPr>
            <p:ph type="sldImg"/>
          </p:nvPr>
        </p:nvSpPr>
        <p:spPr>
          <a:xfrm>
            <a:off x="1201738" y="690563"/>
            <a:ext cx="4454525" cy="3443287"/>
          </a:xfrm>
          <a:solidFill>
            <a:srgbClr val="FFFFFF"/>
          </a:solidFill>
          <a:ln>
            <a:solidFill>
              <a:srgbClr val="000000"/>
            </a:solidFill>
            <a:miter lim="800000"/>
            <a:headEnd/>
            <a:tailEnd/>
          </a:ln>
        </p:spPr>
      </p:sp>
      <p:sp>
        <p:nvSpPr>
          <p:cNvPr id="88067" name="Rectangle 3">
            <a:extLst>
              <a:ext uri="{FF2B5EF4-FFF2-40B4-BE49-F238E27FC236}">
                <a16:creationId xmlns:a16="http://schemas.microsoft.com/office/drawing/2014/main" id="{D2D8600A-8CC4-4725-88B1-136D39FAD1F0}"/>
              </a:ext>
            </a:extLst>
          </p:cNvPr>
          <p:cNvSpPr>
            <a:spLocks noGrp="1" noChangeArrowheads="1"/>
          </p:cNvSpPr>
          <p:nvPr>
            <p:ph type="body" idx="1"/>
          </p:nvPr>
        </p:nvSpPr>
        <p:spPr bwMode="auto">
          <a:xfrm>
            <a:off x="914400" y="4365625"/>
            <a:ext cx="5029200" cy="4135438"/>
          </a:xfrm>
          <a:prstGeom prst="rect">
            <a:avLst/>
          </a:prstGeom>
          <a:solidFill>
            <a:srgbClr val="FFFFFF"/>
          </a:solidFill>
          <a:ln>
            <a:solidFill>
              <a:srgbClr val="000000"/>
            </a:solidFill>
            <a:miter lim="800000"/>
            <a:headEnd/>
            <a:tailEnd/>
          </a:ln>
        </p:spPr>
        <p:txBody>
          <a:bodyPr/>
          <a:lstStyle/>
          <a:p>
            <a:r>
              <a:rPr lang="en-US" altLang="en-US"/>
              <a:t>This slide shows an example of how a sub-ranging ADC works. First, the rough ADC does a conversion. The DAC creates a reference voltage which is compared to the original analog signal. The resulting residue signal is then gained up and passed to a second “fine” ADC. The entire range of the second converter should equate to one “step” of the first ADC. After the second ADC is finished the complete word is put together. For this example, the output would be 101001. Note: no error correction is show in this example.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E0FFFBB-E235-4954-8E83-646712B1F1AF}"/>
              </a:ext>
            </a:extLst>
          </p:cNvPr>
          <p:cNvSpPr>
            <a:spLocks noGrp="1" noRot="1" noChangeAspect="1" noChangeArrowheads="1" noTextEdit="1"/>
          </p:cNvSpPr>
          <p:nvPr>
            <p:ph type="sldImg"/>
          </p:nvPr>
        </p:nvSpPr>
        <p:spPr/>
      </p:sp>
      <p:sp>
        <p:nvSpPr>
          <p:cNvPr id="31747" name="Rectangle 3">
            <a:extLst>
              <a:ext uri="{FF2B5EF4-FFF2-40B4-BE49-F238E27FC236}">
                <a16:creationId xmlns:a16="http://schemas.microsoft.com/office/drawing/2014/main" id="{4010B698-7ADE-484A-A931-F281DBDDEFDA}"/>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There are various different types of analog inputs and this slide explains the differences between them.</a:t>
            </a:r>
          </a:p>
          <a:p>
            <a:r>
              <a:rPr lang="en-IE" altLang="en-US"/>
              <a:t>The first diagram shows a Unipolar, Single Ended analog input signal.  The analog input is applied to the VIN pin of the ADC, has an amplitude of the Full scale input voltage (FS) and spans from 0V to +FS.</a:t>
            </a:r>
            <a:br>
              <a:rPr lang="en-IE" altLang="en-US"/>
            </a:br>
            <a:r>
              <a:rPr lang="en-IE" altLang="en-US"/>
              <a:t>The second diagram shows a Unipolar, Fully Differential analog input signal. In this case, the ADC has a positive and a negative analog input, V</a:t>
            </a:r>
            <a:r>
              <a:rPr lang="en-IE" altLang="en-US" sz="1200"/>
              <a:t>IN+</a:t>
            </a:r>
            <a:r>
              <a:rPr lang="en-IE" altLang="en-US"/>
              <a:t> and V</a:t>
            </a:r>
            <a:r>
              <a:rPr lang="en-IE" altLang="en-US" sz="1200"/>
              <a:t>IN-.</a:t>
            </a:r>
            <a:r>
              <a:rPr lang="en-IE" altLang="en-US"/>
              <a:t>  These inputs are driven by two equal signals which span from 0 V to +FS, that are 180° out of phase.  </a:t>
            </a:r>
          </a:p>
          <a:p>
            <a:r>
              <a:rPr lang="en-IE" altLang="en-US"/>
              <a:t>The third diagram shows a Bipolar, Single Ended analog input signal. The analog input is applied to the VIN pin of the ADC, has an amplitude of ±FS/2 and is centered on ground.</a:t>
            </a:r>
            <a:br>
              <a:rPr lang="en-IE" altLang="en-US"/>
            </a:br>
            <a:r>
              <a:rPr lang="en-IE" altLang="en-US"/>
              <a:t>The fourth diagram shows a Bipolar, Fully Differential analog input signal. In this case, the ADC has a positive and a negative analog input, V</a:t>
            </a:r>
            <a:r>
              <a:rPr lang="en-IE" altLang="en-US" sz="1200"/>
              <a:t>IN+</a:t>
            </a:r>
            <a:r>
              <a:rPr lang="en-IE" altLang="en-US"/>
              <a:t> and V</a:t>
            </a:r>
            <a:r>
              <a:rPr lang="en-IE" altLang="en-US" sz="1200"/>
              <a:t>IN-.</a:t>
            </a:r>
            <a:r>
              <a:rPr lang="en-IE" altLang="en-US"/>
              <a:t>  These inputs are driven by two equal signals of amplitude ±FS/2, that are 180° out of phase. The two inputs are centered on ground.  </a:t>
            </a:r>
            <a:br>
              <a:rPr lang="en-IE" altLang="en-US"/>
            </a:br>
            <a:r>
              <a:rPr lang="en-IE" altLang="en-US"/>
              <a:t>The fifth diagram shows a Pseudo Differential analog input signal. In this case, the ADC has a positive and a negative analog input, V</a:t>
            </a:r>
            <a:r>
              <a:rPr lang="en-IE" altLang="en-US" sz="1200"/>
              <a:t>IN+</a:t>
            </a:r>
            <a:r>
              <a:rPr lang="en-IE" altLang="en-US"/>
              <a:t> and V</a:t>
            </a:r>
            <a:r>
              <a:rPr lang="en-IE" altLang="en-US" sz="1200"/>
              <a:t>IN-.</a:t>
            </a:r>
            <a:r>
              <a:rPr lang="en-IE" altLang="en-US"/>
              <a:t>  The positive input is driven by a signal of amplitude FS, and the negative input is driven by a small DC voltage to provide an offset from ground or a ‘pseudo ground’ for the V</a:t>
            </a:r>
            <a:r>
              <a:rPr lang="en-IE" altLang="en-US" sz="1200"/>
              <a:t>IN+</a:t>
            </a:r>
            <a:r>
              <a:rPr lang="en-IE" altLang="en-US"/>
              <a:t> signal.</a:t>
            </a:r>
            <a:endParaRPr lang="en-US" altLang="en-US"/>
          </a:p>
          <a:p>
            <a:endParaRPr lang="en-US" altLang="en-US"/>
          </a:p>
        </p:txBody>
      </p:sp>
    </p:spTree>
    <p:extLst>
      <p:ext uri="{BB962C8B-B14F-4D97-AF65-F5344CB8AC3E}">
        <p14:creationId xmlns:p14="http://schemas.microsoft.com/office/powerpoint/2010/main" val="3250235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2FFDBFC-1637-481C-9FD5-13E1D28B83E6}"/>
              </a:ext>
            </a:extLst>
          </p:cNvPr>
          <p:cNvSpPr>
            <a:spLocks noGrp="1" noRot="1" noChangeAspect="1" noChangeArrowheads="1" noTextEdit="1"/>
          </p:cNvSpPr>
          <p:nvPr>
            <p:ph type="sldImg"/>
          </p:nvPr>
        </p:nvSpPr>
        <p:spPr/>
      </p:sp>
      <p:sp>
        <p:nvSpPr>
          <p:cNvPr id="33795" name="Rectangle 3">
            <a:extLst>
              <a:ext uri="{FF2B5EF4-FFF2-40B4-BE49-F238E27FC236}">
                <a16:creationId xmlns:a16="http://schemas.microsoft.com/office/drawing/2014/main" id="{65458B2D-EDD5-4885-97AB-A2DF19932636}"/>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This slide shows the ideal transfer function of three A/D converters with different digital code representations of an analog input signal. The unipolar transfer function (left-most plot) represents an A/D converter which handles an analog input range from 0 to +FS (Full Scale). The digital output code goes from all 0’s for an analog input voltage of 0V to all 1’s for an analog input voltage of FS–1 LSB. This code format is oftentimes called straight (or natural) binary. The number of discrete values along the way depends on the resolution of the converter.</a:t>
            </a:r>
          </a:p>
          <a:p>
            <a:r>
              <a:rPr lang="en-IE" altLang="en-US"/>
              <a:t>The middle plot shows the transfer function for an A/D converter which handles a bipolar input range from –FS to +FS. In this case, the digital code is called offset binary where a digital output code of all 0’s represents –FS, a code of  1 and all 0’s (I.e. MSB is 1 and all other bits are 0) represents an analog input of 0V and a code of all 1’s represents an anlog input of FS-1LSB.</a:t>
            </a:r>
          </a:p>
          <a:p>
            <a:r>
              <a:rPr lang="en-IE" altLang="en-US"/>
              <a:t>Finally, the 3</a:t>
            </a:r>
            <a:r>
              <a:rPr lang="en-IE" altLang="en-US" baseline="30000"/>
              <a:t>rd</a:t>
            </a:r>
            <a:r>
              <a:rPr lang="en-IE" altLang="en-US"/>
              <a:t> plot represents an A/D converter which handles the same analog input voltage range as that just described but represents the digital output via 2’s complement coding. This coding is the same as that just outlined for the offset binary case but has the MSB of the digital word inverted. In effect, this MSB acts like a sign bit which is one for negative signals. </a:t>
            </a:r>
            <a:endParaRPr lang="en-US" altLang="en-US"/>
          </a:p>
        </p:txBody>
      </p:sp>
    </p:spTree>
    <p:extLst>
      <p:ext uri="{BB962C8B-B14F-4D97-AF65-F5344CB8AC3E}">
        <p14:creationId xmlns:p14="http://schemas.microsoft.com/office/powerpoint/2010/main" val="1913191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83C8391-1D01-47A3-BB17-72D0B3E7C04F}"/>
              </a:ext>
            </a:extLst>
          </p:cNvPr>
          <p:cNvSpPr>
            <a:spLocks noGrp="1" noRot="1" noChangeAspect="1" noChangeArrowheads="1" noTextEdit="1"/>
          </p:cNvSpPr>
          <p:nvPr>
            <p:ph type="sldImg"/>
          </p:nvPr>
        </p:nvSpPr>
        <p:spPr/>
      </p:sp>
      <p:sp>
        <p:nvSpPr>
          <p:cNvPr id="35843" name="Rectangle 3">
            <a:extLst>
              <a:ext uri="{FF2B5EF4-FFF2-40B4-BE49-F238E27FC236}">
                <a16:creationId xmlns:a16="http://schemas.microsoft.com/office/drawing/2014/main" id="{518D24B9-B0EC-4981-8E00-870ADA58D537}"/>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Up to now, the transfer functions shown have been for ideal A/D converters. However, this is not the case in the real world and there are error sources in the A/D converter which will result in a non-ideal transfer function. Let’s look first at two sources of linear error, offset and gain.</a:t>
            </a:r>
          </a:p>
          <a:p>
            <a:r>
              <a:rPr lang="en-IE" altLang="en-US"/>
              <a:t>First, we will look at the effects of these errors on the transfer function of a unipolar A/D converter. The effect of the offset error is to shift the entire transfer function either up or down (the example shown is for moving the transfer function up, representing a positive offset error). The offset error shifts every code of the A/D converter by an equal amount. Therefore, if the A/D converter has an offset of +2LSB, each digital output code will be shifted by +2LSB from its ideal representation.</a:t>
            </a:r>
          </a:p>
          <a:p>
            <a:r>
              <a:rPr lang="en-IE" altLang="en-US"/>
              <a:t>The effect of gain error is shown in the right-hand plot. The transfer function shown assumes no offset error. The gain error has the effect of changing the slope of the transfer function. From an absolute value perspective, the gain error shifts each digital output code by a different amount. However, the effect is linear with each output being changed by an equal percentage of its correct value. </a:t>
            </a:r>
            <a:endParaRPr lang="en-US" altLang="en-US"/>
          </a:p>
        </p:txBody>
      </p:sp>
    </p:spTree>
    <p:extLst>
      <p:ext uri="{BB962C8B-B14F-4D97-AF65-F5344CB8AC3E}">
        <p14:creationId xmlns:p14="http://schemas.microsoft.com/office/powerpoint/2010/main" val="3581740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DFADFF4-DB25-41DD-9DF0-E9DC97CBCDFC}"/>
              </a:ext>
            </a:extLst>
          </p:cNvPr>
          <p:cNvSpPr>
            <a:spLocks noGrp="1" noRot="1" noChangeAspect="1" noChangeArrowheads="1" noTextEdit="1"/>
          </p:cNvSpPr>
          <p:nvPr>
            <p:ph type="sldImg"/>
          </p:nvPr>
        </p:nvSpPr>
        <p:spPr/>
      </p:sp>
      <p:sp>
        <p:nvSpPr>
          <p:cNvPr id="37891" name="Rectangle 3">
            <a:extLst>
              <a:ext uri="{FF2B5EF4-FFF2-40B4-BE49-F238E27FC236}">
                <a16:creationId xmlns:a16="http://schemas.microsoft.com/office/drawing/2014/main" id="{7890047F-260A-4A00-8761-11CA67E98253}"/>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This shows the effects of offset and gain errors on A/D converters with bipolar transfer functions. Of note here is the distinction between offset error and zero error. In this case, the true offset error is seen at negative full scale. However, for many bipolar A/D converters, the user is interested in the deviation from ideal at 0V analog input (zero error). With no gain error, the offset error and zero error are the same. However, when gain error effect is shown (as in the right-hand plot), there is a zero error in the A/D transfer function whereas there is no offset error.</a:t>
            </a:r>
            <a:endParaRPr lang="en-US" altLang="en-US"/>
          </a:p>
        </p:txBody>
      </p:sp>
    </p:spTree>
    <p:extLst>
      <p:ext uri="{BB962C8B-B14F-4D97-AF65-F5344CB8AC3E}">
        <p14:creationId xmlns:p14="http://schemas.microsoft.com/office/powerpoint/2010/main" val="596650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215C1D6-8606-483C-BFC0-6DBD8C8836D0}"/>
              </a:ext>
            </a:extLst>
          </p:cNvPr>
          <p:cNvSpPr>
            <a:spLocks noGrp="1" noRot="1" noChangeAspect="1" noChangeArrowheads="1" noTextEdit="1"/>
          </p:cNvSpPr>
          <p:nvPr>
            <p:ph type="sldImg"/>
          </p:nvPr>
        </p:nvSpPr>
        <p:spPr>
          <a:xfrm>
            <a:off x="1201738" y="690563"/>
            <a:ext cx="4454525" cy="3443287"/>
          </a:xfrm>
          <a:solidFill>
            <a:srgbClr val="FFFFFF"/>
          </a:solidFill>
          <a:ln>
            <a:solidFill>
              <a:srgbClr val="000000"/>
            </a:solidFill>
            <a:miter lim="800000"/>
            <a:headEnd/>
            <a:tailEnd/>
          </a:ln>
        </p:spPr>
      </p:sp>
      <p:sp>
        <p:nvSpPr>
          <p:cNvPr id="41987" name="Rectangle 3">
            <a:extLst>
              <a:ext uri="{FF2B5EF4-FFF2-40B4-BE49-F238E27FC236}">
                <a16:creationId xmlns:a16="http://schemas.microsoft.com/office/drawing/2014/main" id="{ADB67CF6-01B5-4703-81D1-3A076EFD04C6}"/>
              </a:ext>
            </a:extLst>
          </p:cNvPr>
          <p:cNvSpPr>
            <a:spLocks noGrp="1" noChangeArrowheads="1"/>
          </p:cNvSpPr>
          <p:nvPr>
            <p:ph type="body" idx="1"/>
          </p:nvPr>
        </p:nvSpPr>
        <p:spPr bwMode="auto">
          <a:xfrm>
            <a:off x="914400" y="4365625"/>
            <a:ext cx="5029200" cy="4135438"/>
          </a:xfrm>
          <a:prstGeom prst="rect">
            <a:avLst/>
          </a:prstGeom>
          <a:solidFill>
            <a:srgbClr val="FFFFFF"/>
          </a:solidFill>
          <a:ln>
            <a:solidFill>
              <a:srgbClr val="000000"/>
            </a:solidFill>
            <a:miter lim="800000"/>
            <a:headEnd/>
            <a:tailEnd/>
          </a:ln>
        </p:spPr>
        <p:txBody>
          <a:bodyPr/>
          <a:lstStyle/>
          <a:p>
            <a:r>
              <a:rPr lang="en-IE" altLang="en-US" u="sng">
                <a:solidFill>
                  <a:srgbClr val="FF0000"/>
                </a:solidFill>
              </a:rPr>
              <a:t>The ideal width for each code is 1LSB but in practice each code width is different from its neighbours. </a:t>
            </a:r>
            <a:r>
              <a:rPr lang="en-US" altLang="en-US" u="sng">
                <a:solidFill>
                  <a:srgbClr val="FF0000"/>
                </a:solidFill>
              </a:rPr>
              <a:t>A DNL error is defined as the difference between th</a:t>
            </a:r>
            <a:r>
              <a:rPr lang="en-IE" altLang="en-US" u="sng">
                <a:solidFill>
                  <a:srgbClr val="FF0000"/>
                </a:solidFill>
              </a:rPr>
              <a:t>e</a:t>
            </a:r>
            <a:r>
              <a:rPr lang="en-US" altLang="en-US" u="sng">
                <a:solidFill>
                  <a:srgbClr val="FF0000"/>
                </a:solidFill>
              </a:rPr>
              <a:t> ideal </a:t>
            </a:r>
            <a:r>
              <a:rPr lang="en-IE" altLang="en-US" u="sng">
                <a:solidFill>
                  <a:srgbClr val="FF0000"/>
                </a:solidFill>
              </a:rPr>
              <a:t>1 LSB </a:t>
            </a:r>
            <a:r>
              <a:rPr lang="en-US" altLang="en-US" u="sng">
                <a:solidFill>
                  <a:srgbClr val="FF0000"/>
                </a:solidFill>
              </a:rPr>
              <a:t>step and the actual (real) step as one moves along the transfer function (DNL = actual - ideal). </a:t>
            </a:r>
            <a:r>
              <a:rPr lang="en-IE" altLang="en-US" u="sng">
                <a:solidFill>
                  <a:srgbClr val="FF0000"/>
                </a:solidFill>
              </a:rPr>
              <a:t>Thus, in the plot shown above, we are measuring the actual width of each code.</a:t>
            </a:r>
            <a:r>
              <a:rPr lang="en-IE" altLang="en-US"/>
              <a:t> </a:t>
            </a:r>
            <a:r>
              <a:rPr lang="en-US" altLang="en-US"/>
              <a:t>For example a code with a width of 1.5 lsb would have a DNL of 1.5 - 1.0 = 0.5 lsb. A missing code would have a width of zero and would have a DNL of 0 - 1.0 = -1.0 lsb. DNL can never be less than -1.0, but has no upper limit.</a:t>
            </a:r>
            <a:r>
              <a:rPr lang="en-IE" altLang="en-US"/>
              <a:t> </a:t>
            </a:r>
            <a:endParaRPr lang="en-US" altLang="en-US"/>
          </a:p>
          <a:p>
            <a:r>
              <a:rPr lang="en-US" altLang="en-US"/>
              <a:t>The effect of DNL error is to add “noise/spurs” to an ideal transfer function. This reduces the accuracy of the conversion beyond the limitations of quantization. </a:t>
            </a:r>
          </a:p>
          <a:p>
            <a:endParaRPr lang="en-US" altLang="en-US"/>
          </a:p>
        </p:txBody>
      </p:sp>
    </p:spTree>
    <p:extLst>
      <p:ext uri="{BB962C8B-B14F-4D97-AF65-F5344CB8AC3E}">
        <p14:creationId xmlns:p14="http://schemas.microsoft.com/office/powerpoint/2010/main" val="3879945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66E1826-AFCC-46CF-9FF8-A2CF540883B6}"/>
              </a:ext>
            </a:extLst>
          </p:cNvPr>
          <p:cNvSpPr>
            <a:spLocks noGrp="1" noRot="1" noChangeAspect="1" noChangeArrowheads="1" noTextEdit="1"/>
          </p:cNvSpPr>
          <p:nvPr>
            <p:ph type="sldImg"/>
          </p:nvPr>
        </p:nvSpPr>
        <p:spPr>
          <a:xfrm>
            <a:off x="1201738" y="690563"/>
            <a:ext cx="4454525" cy="3443287"/>
          </a:xfrm>
          <a:solidFill>
            <a:srgbClr val="FFFFFF"/>
          </a:solidFill>
          <a:ln>
            <a:solidFill>
              <a:srgbClr val="000000"/>
            </a:solidFill>
            <a:miter lim="800000"/>
            <a:headEnd/>
            <a:tailEnd/>
          </a:ln>
        </p:spPr>
      </p:sp>
      <p:sp>
        <p:nvSpPr>
          <p:cNvPr id="46083" name="Rectangle 3">
            <a:extLst>
              <a:ext uri="{FF2B5EF4-FFF2-40B4-BE49-F238E27FC236}">
                <a16:creationId xmlns:a16="http://schemas.microsoft.com/office/drawing/2014/main" id="{2EC8CC04-7DF8-4FC5-B54F-4646D23F885A}"/>
              </a:ext>
            </a:extLst>
          </p:cNvPr>
          <p:cNvSpPr>
            <a:spLocks noGrp="1" noChangeArrowheads="1"/>
          </p:cNvSpPr>
          <p:nvPr>
            <p:ph type="body" idx="1"/>
          </p:nvPr>
        </p:nvSpPr>
        <p:spPr bwMode="auto">
          <a:xfrm>
            <a:off x="914400" y="4365625"/>
            <a:ext cx="5029200" cy="4135438"/>
          </a:xfrm>
          <a:prstGeom prst="rect">
            <a:avLst/>
          </a:prstGeom>
          <a:solidFill>
            <a:srgbClr val="FFFFFF"/>
          </a:solidFill>
          <a:ln>
            <a:solidFill>
              <a:srgbClr val="000000"/>
            </a:solidFill>
            <a:miter lim="800000"/>
            <a:headEnd/>
            <a:tailEnd/>
          </a:ln>
        </p:spPr>
        <p:txBody>
          <a:bodyPr/>
          <a:lstStyle/>
          <a:p>
            <a:r>
              <a:rPr lang="en-US" altLang="en-US"/>
              <a:t>INL error is not a measure of code width. It is a measure of the error in a code’s transition point. Ideally, the transition points should occur at exactly the 1/8th, 1/4th, etc voltages. </a:t>
            </a:r>
            <a:r>
              <a:rPr lang="en-IE" altLang="en-US" u="sng"/>
              <a:t>Errors in the converter cause the actual code transitions to deviate from ideal</a:t>
            </a:r>
            <a:r>
              <a:rPr lang="en-IE" altLang="en-US"/>
              <a:t>. INL is usually measured with respect to code centres and is the worst deviation of any code centre from an ideal straight line drawn between the endpoints of the transfer function. </a:t>
            </a:r>
            <a:r>
              <a:rPr lang="en-IE" altLang="en-US" u="sng"/>
              <a:t>This ideal straight line is calculated after both offset and gain errors are removed.</a:t>
            </a:r>
            <a:r>
              <a:rPr lang="en-IE" altLang="en-US"/>
              <a:t> </a:t>
            </a:r>
            <a:r>
              <a:rPr lang="en-IE" altLang="en-US" u="sng">
                <a:solidFill>
                  <a:srgbClr val="FF0000"/>
                </a:solidFill>
              </a:rPr>
              <a:t>Thus, in the plot shown above, we are measuring the deviation of its actual transition point from its ‘ideal’ transistion point after gain and offset are removed.</a:t>
            </a:r>
            <a:r>
              <a:rPr lang="en-IE" altLang="en-US"/>
              <a:t> </a:t>
            </a:r>
            <a:endParaRPr lang="en-US" altLang="en-US"/>
          </a:p>
          <a:p>
            <a:r>
              <a:rPr lang="en-US" altLang="en-US"/>
              <a:t>Just like DNL, INL results in a reduction in accuracy of the converter. However, unlike DNL, INL errors can result in added harmonic components. (This will be demonstrated on the next slide.)</a:t>
            </a:r>
          </a:p>
        </p:txBody>
      </p:sp>
    </p:spTree>
    <p:extLst>
      <p:ext uri="{BB962C8B-B14F-4D97-AF65-F5344CB8AC3E}">
        <p14:creationId xmlns:p14="http://schemas.microsoft.com/office/powerpoint/2010/main" val="4071069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C755909-EDCB-4016-AD64-E5DA54C745F7}"/>
              </a:ext>
            </a:extLst>
          </p:cNvPr>
          <p:cNvSpPr>
            <a:spLocks noGrp="1" noRot="1" noChangeAspect="1" noChangeArrowheads="1" noTextEdit="1"/>
          </p:cNvSpPr>
          <p:nvPr>
            <p:ph type="sldImg"/>
          </p:nvPr>
        </p:nvSpPr>
        <p:spPr>
          <a:xfrm>
            <a:off x="752475" y="1147763"/>
            <a:ext cx="5353050" cy="4135437"/>
          </a:xfrm>
        </p:spPr>
      </p:sp>
      <p:sp>
        <p:nvSpPr>
          <p:cNvPr id="61443" name="Rectangle 3">
            <a:extLst>
              <a:ext uri="{FF2B5EF4-FFF2-40B4-BE49-F238E27FC236}">
                <a16:creationId xmlns:a16="http://schemas.microsoft.com/office/drawing/2014/main" id="{B0B20B32-104D-4374-ACB4-BE24569E9615}"/>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E" altLang="en-US"/>
              <a:t>Read Through Bullets</a:t>
            </a:r>
            <a:endParaRPr lang="en-US" altLang="en-US"/>
          </a:p>
        </p:txBody>
      </p:sp>
    </p:spTree>
    <p:extLst>
      <p:ext uri="{BB962C8B-B14F-4D97-AF65-F5344CB8AC3E}">
        <p14:creationId xmlns:p14="http://schemas.microsoft.com/office/powerpoint/2010/main" val="1005165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1229A47-CB5C-44F9-AD07-673A66FD035C}"/>
              </a:ext>
            </a:extLst>
          </p:cNvPr>
          <p:cNvSpPr>
            <a:spLocks noGrp="1" noRot="1" noChangeAspect="1" noChangeArrowheads="1" noTextEdit="1"/>
          </p:cNvSpPr>
          <p:nvPr>
            <p:ph type="sldImg"/>
          </p:nvPr>
        </p:nvSpPr>
        <p:spPr/>
      </p:sp>
      <p:sp>
        <p:nvSpPr>
          <p:cNvPr id="63491" name="Rectangle 3">
            <a:extLst>
              <a:ext uri="{FF2B5EF4-FFF2-40B4-BE49-F238E27FC236}">
                <a16:creationId xmlns:a16="http://schemas.microsoft.com/office/drawing/2014/main" id="{4CEBA8BE-CE45-408C-8EF3-92DFBC224334}"/>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20000"/>
              </a:lnSpc>
              <a:spcBef>
                <a:spcPct val="50000"/>
              </a:spcBef>
            </a:pPr>
            <a:r>
              <a:rPr lang="en-US" altLang="en-US" sz="1600" i="0"/>
              <a:t>The Signal Frequency Is &lt; 1/2 the Sampling Frequency and </a:t>
            </a:r>
            <a:r>
              <a:rPr lang="en-IE" altLang="en-US" sz="1600" i="0"/>
              <a:t>s</a:t>
            </a:r>
            <a:r>
              <a:rPr lang="en-US" altLang="en-US" sz="1600" i="0"/>
              <a:t>o the Sum and Difference Components Fall Outside (Beyond) the Signal Passband</a:t>
            </a:r>
          </a:p>
          <a:p>
            <a:endParaRPr lang="en-US" altLang="en-US"/>
          </a:p>
        </p:txBody>
      </p:sp>
    </p:spTree>
    <p:extLst>
      <p:ext uri="{BB962C8B-B14F-4D97-AF65-F5344CB8AC3E}">
        <p14:creationId xmlns:p14="http://schemas.microsoft.com/office/powerpoint/2010/main" val="3257874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5228A18-1612-4024-8689-C93B3E811C9D}"/>
              </a:ext>
            </a:extLst>
          </p:cNvPr>
          <p:cNvSpPr>
            <a:spLocks noGrp="1" noRot="1" noChangeAspect="1" noChangeArrowheads="1" noTextEdit="1"/>
          </p:cNvSpPr>
          <p:nvPr>
            <p:ph type="sldImg"/>
          </p:nvPr>
        </p:nvSpPr>
        <p:spPr/>
      </p:sp>
      <p:sp>
        <p:nvSpPr>
          <p:cNvPr id="65539" name="Rectangle 3">
            <a:extLst>
              <a:ext uri="{FF2B5EF4-FFF2-40B4-BE49-F238E27FC236}">
                <a16:creationId xmlns:a16="http://schemas.microsoft.com/office/drawing/2014/main" id="{0C5116E8-049D-4DE6-9BDF-394F2D9356BC}"/>
              </a:ext>
            </a:extLst>
          </p:cNvPr>
          <p:cNvSpPr>
            <a:spLocks noGrp="1" noChangeArrowheads="1"/>
          </p:cNvSpPr>
          <p:nvPr>
            <p:ph type="body" idx="1"/>
          </p:nvPr>
        </p:nvSpPr>
        <p:spPr bwMode="auto">
          <a:xfrm>
            <a:off x="914400" y="4343400"/>
            <a:ext cx="5029200" cy="41910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20000"/>
              </a:lnSpc>
              <a:spcBef>
                <a:spcPct val="50000"/>
              </a:spcBef>
            </a:pPr>
            <a:r>
              <a:rPr lang="en-US" altLang="en-US" sz="1600" i="0"/>
              <a:t>The Signal Frequency Is &gt; 1/2 (approx 2/3) the Sampling Frequency. An “Alias” or False Image is Thus Created that Falls Within the Passband of Interest. </a:t>
            </a:r>
            <a:r>
              <a:rPr lang="en-IE" altLang="en-US" sz="1600" i="0"/>
              <a:t>There are specific applications where the input signal is bandlimited whereby the A/D converter can actually resolve input frequencies which are beyond the Nyquist frequency. These applications are known as undersampling applications.</a:t>
            </a:r>
            <a:endParaRPr lang="en-US" altLang="en-US"/>
          </a:p>
        </p:txBody>
      </p:sp>
    </p:spTree>
    <p:extLst>
      <p:ext uri="{BB962C8B-B14F-4D97-AF65-F5344CB8AC3E}">
        <p14:creationId xmlns:p14="http://schemas.microsoft.com/office/powerpoint/2010/main" val="3990304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30A9C5BD-BEF4-4650-80D9-A00B4770008E}"/>
              </a:ext>
            </a:extLst>
          </p:cNvPr>
          <p:cNvSpPr>
            <a:spLocks noGrp="1" noRot="1" noChangeAspect="1" noChangeArrowheads="1" noTextEdit="1"/>
          </p:cNvSpPr>
          <p:nvPr>
            <p:ph type="sldImg"/>
          </p:nvPr>
        </p:nvSpPr>
        <p:spPr>
          <a:xfrm>
            <a:off x="1054100" y="671513"/>
            <a:ext cx="4748213" cy="3668712"/>
          </a:xfrm>
          <a:solidFill>
            <a:srgbClr val="FFFFFF"/>
          </a:solidFill>
          <a:ln>
            <a:solidFill>
              <a:srgbClr val="000000"/>
            </a:solidFill>
            <a:miter lim="800000"/>
            <a:headEnd/>
            <a:tailEnd/>
          </a:ln>
        </p:spPr>
      </p:sp>
      <p:sp>
        <p:nvSpPr>
          <p:cNvPr id="67587" name="Rectangle 3">
            <a:extLst>
              <a:ext uri="{FF2B5EF4-FFF2-40B4-BE49-F238E27FC236}">
                <a16:creationId xmlns:a16="http://schemas.microsoft.com/office/drawing/2014/main" id="{1D82E629-5C28-4AC5-AA4D-B77526BD5F77}"/>
              </a:ext>
            </a:extLst>
          </p:cNvPr>
          <p:cNvSpPr>
            <a:spLocks noGrp="1" noChangeArrowheads="1"/>
          </p:cNvSpPr>
          <p:nvPr>
            <p:ph type="body" idx="1"/>
          </p:nvPr>
        </p:nvSpPr>
        <p:spPr bwMode="auto">
          <a:xfrm>
            <a:off x="457200" y="4594225"/>
            <a:ext cx="5943600" cy="4086225"/>
          </a:xfrm>
          <a:prstGeom prst="rect">
            <a:avLst/>
          </a:prstGeom>
          <a:solidFill>
            <a:srgbClr val="FFFFFF"/>
          </a:solidFill>
          <a:ln>
            <a:solidFill>
              <a:srgbClr val="000000"/>
            </a:solidFill>
            <a:miter lim="800000"/>
            <a:headEnd/>
            <a:tailEnd/>
          </a:ln>
        </p:spPr>
        <p:txBody>
          <a:bodyPr/>
          <a:lstStyle/>
          <a:p>
            <a:r>
              <a:rPr lang="en-US" altLang="en-US"/>
              <a:t>One of the basic ADC figures of merit is its ability to convert the signal of interest and keep it separate from other noise elements within the signal chain.   It’s best defined as the ratio of the rms signal amplitude to the mean value of the root sum squares of all the spectral components.  SINAD is this ratio that includes all harmonics.  SNR is this ratio but it excludes the first 5 harmonics.  ENOB or effective number of bits is another figure of merit and can be derived from SINAD.</a:t>
            </a:r>
          </a:p>
          <a:p>
            <a:endParaRPr lang="en-US" altLang="en-US"/>
          </a:p>
          <a:p>
            <a:r>
              <a:rPr lang="en-US" altLang="en-US"/>
              <a:t>It is interesting to note that SNR does depend on signal input level. In an ideal converter, the higher the input level, the higher the SNR.  Unfortunately, in the real world the ADC has a maximum input level.  Take this plus the fact that it is not an ideal converter, there is a slightly different curve. (solid line vs the dotted line)</a:t>
            </a:r>
          </a:p>
          <a:p>
            <a:endParaRPr lang="en-US" altLang="en-US"/>
          </a:p>
          <a:p>
            <a:endParaRPr lang="en-US" altLang="en-US"/>
          </a:p>
          <a:p>
            <a:r>
              <a:rPr lang="en-US" altLang="en-US"/>
              <a:t>======================================</a:t>
            </a:r>
          </a:p>
          <a:p>
            <a:r>
              <a:rPr lang="en-US" altLang="en-US"/>
              <a:t>Clipping …in the ADC defines the SNRmax (full scale range)</a:t>
            </a:r>
          </a:p>
          <a:p>
            <a:endParaRPr lang="en-US" altLang="en-US"/>
          </a:p>
          <a:p>
            <a:r>
              <a:rPr lang="en-US" altLang="en-US"/>
              <a:t>Delta between are based on the errors introduced in the Rx signal chain…. A perfect converter, quant error exists… other errors intro’d into signal chain (and others within the ADC)… increase this delta.</a:t>
            </a:r>
          </a:p>
          <a:p>
            <a:endParaRPr lang="en-US" altLang="en-US"/>
          </a:p>
          <a:p>
            <a:endParaRPr lang="en-US" altLang="en-US"/>
          </a:p>
        </p:txBody>
      </p:sp>
    </p:spTree>
    <p:extLst>
      <p:ext uri="{BB962C8B-B14F-4D97-AF65-F5344CB8AC3E}">
        <p14:creationId xmlns:p14="http://schemas.microsoft.com/office/powerpoint/2010/main" val="534805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A5FEA7E-48E8-44A5-83E1-7F3BB496E2CC}"/>
              </a:ext>
            </a:extLst>
          </p:cNvPr>
          <p:cNvSpPr>
            <a:spLocks noGrp="1" noRot="1" noChangeAspect="1" noChangeArrowheads="1" noTextEdit="1"/>
          </p:cNvSpPr>
          <p:nvPr>
            <p:ph type="sldImg"/>
          </p:nvPr>
        </p:nvSpPr>
        <p:spPr>
          <a:xfrm>
            <a:off x="1054100" y="671513"/>
            <a:ext cx="4748213" cy="3668712"/>
          </a:xfrm>
          <a:solidFill>
            <a:srgbClr val="FFFFFF"/>
          </a:solidFill>
          <a:ln>
            <a:solidFill>
              <a:srgbClr val="000000"/>
            </a:solidFill>
            <a:miter lim="800000"/>
            <a:headEnd/>
            <a:tailEnd/>
          </a:ln>
        </p:spPr>
      </p:sp>
      <p:sp>
        <p:nvSpPr>
          <p:cNvPr id="69635" name="Rectangle 3">
            <a:extLst>
              <a:ext uri="{FF2B5EF4-FFF2-40B4-BE49-F238E27FC236}">
                <a16:creationId xmlns:a16="http://schemas.microsoft.com/office/drawing/2014/main" id="{16E42432-DB40-4D28-B8FA-DDD187E98CA4}"/>
              </a:ext>
            </a:extLst>
          </p:cNvPr>
          <p:cNvSpPr>
            <a:spLocks noGrp="1" noChangeArrowheads="1"/>
          </p:cNvSpPr>
          <p:nvPr>
            <p:ph type="body" idx="1"/>
          </p:nvPr>
        </p:nvSpPr>
        <p:spPr bwMode="auto">
          <a:xfrm>
            <a:off x="457200" y="4594225"/>
            <a:ext cx="5943600" cy="4086225"/>
          </a:xfrm>
          <a:prstGeom prst="rect">
            <a:avLst/>
          </a:prstGeom>
          <a:solidFill>
            <a:srgbClr val="FFFFFF"/>
          </a:solidFill>
          <a:ln>
            <a:solidFill>
              <a:srgbClr val="000000"/>
            </a:solidFill>
            <a:miter lim="800000"/>
            <a:headEnd/>
            <a:tailEnd/>
          </a:ln>
        </p:spPr>
        <p:txBody>
          <a:bodyPr/>
          <a:lstStyle/>
          <a:p>
            <a:r>
              <a:rPr lang="en-US" altLang="en-US"/>
              <a:t>Spurious free dynamic range and total harmonic distortion are easily explained by this picture.  SFDR is the distance between the signal of interest and the highest spur, including harmonics.  THD is the distance relative to the signal of interest and the rms sum of a defined set of harmonics.  SNR is the distance (ratio) from the signal of interest to the noise floor.</a:t>
            </a:r>
          </a:p>
          <a:p>
            <a:endParaRPr lang="en-US" altLang="en-US"/>
          </a:p>
        </p:txBody>
      </p:sp>
    </p:spTree>
    <p:extLst>
      <p:ext uri="{BB962C8B-B14F-4D97-AF65-F5344CB8AC3E}">
        <p14:creationId xmlns:p14="http://schemas.microsoft.com/office/powerpoint/2010/main" val="2225905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9" name="Rectangle 18"/>
          <p:cNvSpPr>
            <a:spLocks noChangeArrowheads="1"/>
          </p:cNvSpPr>
          <p:nvPr/>
        </p:nvSpPr>
        <p:spPr bwMode="white">
          <a:xfrm>
            <a:off x="9890760" y="3454"/>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8" name="Rectangle 17"/>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6" name="Rectangle 15"/>
          <p:cNvSpPr>
            <a:spLocks noChangeArrowheads="1"/>
          </p:cNvSpPr>
          <p:nvPr/>
        </p:nvSpPr>
        <p:spPr bwMode="white">
          <a:xfrm>
            <a:off x="0" y="0"/>
            <a:ext cx="10058400" cy="284988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2" name="Rectangle 11"/>
          <p:cNvSpPr>
            <a:spLocks noChangeArrowheads="1"/>
          </p:cNvSpPr>
          <p:nvPr/>
        </p:nvSpPr>
        <p:spPr bwMode="auto">
          <a:xfrm>
            <a:off x="160935" y="7243877"/>
            <a:ext cx="9716414" cy="35083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9" name="Subtitle 8"/>
          <p:cNvSpPr>
            <a:spLocks noGrp="1"/>
          </p:cNvSpPr>
          <p:nvPr>
            <p:ph type="subTitle" idx="1"/>
          </p:nvPr>
        </p:nvSpPr>
        <p:spPr>
          <a:xfrm>
            <a:off x="1508760" y="3195320"/>
            <a:ext cx="7040880" cy="1986280"/>
          </a:xfrm>
        </p:spPr>
        <p:txBody>
          <a:bodyPr/>
          <a:lstStyle>
            <a:lvl1pPr marL="0" indent="0" algn="ctr">
              <a:buNone/>
              <a:defRPr sz="1760" b="1" cap="all" spc="275" baseline="0">
                <a:solidFill>
                  <a:schemeClr val="tx2"/>
                </a:solidFill>
              </a:defRPr>
            </a:lvl1pPr>
            <a:lvl2pPr marL="502920" indent="0" algn="ctr">
              <a:buNone/>
            </a:lvl2pPr>
            <a:lvl3pPr marL="1005840" indent="0" algn="ctr">
              <a:buNone/>
            </a:lvl3pPr>
            <a:lvl4pPr marL="1508760" indent="0" algn="ctr">
              <a:buNone/>
            </a:lvl4pPr>
            <a:lvl5pPr marL="2011680" indent="0" algn="ctr">
              <a:buNone/>
            </a:lvl5pPr>
            <a:lvl6pPr marL="2514600" indent="0" algn="ctr">
              <a:buNone/>
            </a:lvl6pPr>
            <a:lvl7pPr marL="3017520" indent="0" algn="ctr">
              <a:buNone/>
            </a:lvl7pPr>
            <a:lvl8pPr marL="3520440" indent="0" algn="ctr">
              <a:buNone/>
            </a:lvl8pPr>
            <a:lvl9pPr marL="4023360" indent="0" algn="ctr">
              <a:buNone/>
            </a:lvl9pPr>
          </a:lstStyle>
          <a:p>
            <a:r>
              <a:rPr kumimoji="0" lang="en-US"/>
              <a:t>Click to edit Master subtitle style</a:t>
            </a:r>
          </a:p>
        </p:txBody>
      </p:sp>
      <p:sp>
        <p:nvSpPr>
          <p:cNvPr id="7" name="Straight Connector 6"/>
          <p:cNvSpPr>
            <a:spLocks noChangeShapeType="1"/>
          </p:cNvSpPr>
          <p:nvPr/>
        </p:nvSpPr>
        <p:spPr bwMode="auto">
          <a:xfrm>
            <a:off x="170993" y="2742794"/>
            <a:ext cx="971641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10" name="Rectangle 9"/>
          <p:cNvSpPr>
            <a:spLocks noChangeArrowheads="1"/>
          </p:cNvSpPr>
          <p:nvPr/>
        </p:nvSpPr>
        <p:spPr bwMode="auto">
          <a:xfrm>
            <a:off x="167640" y="172720"/>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13" name="Oval 12"/>
          <p:cNvSpPr/>
          <p:nvPr/>
        </p:nvSpPr>
        <p:spPr>
          <a:xfrm>
            <a:off x="4693920" y="2397354"/>
            <a:ext cx="670560" cy="69088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4" name="Oval 13"/>
          <p:cNvSpPr/>
          <p:nvPr/>
        </p:nvSpPr>
        <p:spPr>
          <a:xfrm>
            <a:off x="4797857" y="2504440"/>
            <a:ext cx="462686" cy="476707"/>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8" name="Title 7"/>
          <p:cNvSpPr>
            <a:spLocks noGrp="1"/>
          </p:cNvSpPr>
          <p:nvPr>
            <p:ph type="ctrTitle"/>
          </p:nvPr>
        </p:nvSpPr>
        <p:spPr>
          <a:xfrm>
            <a:off x="754380" y="431800"/>
            <a:ext cx="8549640" cy="1986280"/>
          </a:xfrm>
        </p:spPr>
        <p:txBody>
          <a:bodyPr anchor="b"/>
          <a:lstStyle>
            <a:lvl1pPr>
              <a:defRPr sz="462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332593081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bg>
      <p:bgRef idx="1001">
        <a:schemeClr val="bg1"/>
      </p:bgRef>
    </p:bg>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331927" y="1730654"/>
            <a:ext cx="9354312" cy="5181600"/>
          </a:xfrm>
        </p:spPr>
        <p:txBody>
          <a:bodyPr tIns="36000" bIns="0"/>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Title 6">
            <a:extLst>
              <a:ext uri="{FF2B5EF4-FFF2-40B4-BE49-F238E27FC236}">
                <a16:creationId xmlns:a16="http://schemas.microsoft.com/office/drawing/2014/main" id="{6873097F-AB9D-4155-8AA3-990F321E96AB}"/>
              </a:ext>
            </a:extLst>
          </p:cNvPr>
          <p:cNvSpPr>
            <a:spLocks noGrp="1"/>
          </p:cNvSpPr>
          <p:nvPr>
            <p:ph type="title"/>
          </p:nvPr>
        </p:nvSpPr>
        <p:spPr/>
        <p:txBody>
          <a:bodyPr/>
          <a:lstStyle/>
          <a:p>
            <a:r>
              <a:rPr lang="en-US"/>
              <a:t>Click to edit Master title style</a:t>
            </a:r>
            <a:endParaRPr lang="en-GB"/>
          </a:p>
        </p:txBody>
      </p:sp>
      <p:sp>
        <p:nvSpPr>
          <p:cNvPr id="13" name="Date Placeholder 12">
            <a:extLst>
              <a:ext uri="{FF2B5EF4-FFF2-40B4-BE49-F238E27FC236}">
                <a16:creationId xmlns:a16="http://schemas.microsoft.com/office/drawing/2014/main" id="{8198C0EF-9118-4E47-B6A2-BBDFC2BF6112}"/>
              </a:ext>
            </a:extLst>
          </p:cNvPr>
          <p:cNvSpPr>
            <a:spLocks noGrp="1"/>
          </p:cNvSpPr>
          <p:nvPr>
            <p:ph type="dt" sz="half" idx="10"/>
          </p:nvPr>
        </p:nvSpPr>
        <p:spPr/>
        <p:txBody>
          <a:bodyPr/>
          <a:lstStyle/>
          <a:p>
            <a:r>
              <a:rPr lang="en-US"/>
              <a:t>V.T.M</a:t>
            </a:r>
            <a:endParaRPr lang="en-US" dirty="0"/>
          </a:p>
        </p:txBody>
      </p:sp>
      <p:sp>
        <p:nvSpPr>
          <p:cNvPr id="14" name="Footer Placeholder 13">
            <a:extLst>
              <a:ext uri="{FF2B5EF4-FFF2-40B4-BE49-F238E27FC236}">
                <a16:creationId xmlns:a16="http://schemas.microsoft.com/office/drawing/2014/main" id="{CB5664CF-0358-4669-A145-0F9312BE9F2D}"/>
              </a:ext>
            </a:extLst>
          </p:cNvPr>
          <p:cNvSpPr>
            <a:spLocks noGrp="1"/>
          </p:cNvSpPr>
          <p:nvPr>
            <p:ph type="ftr" sz="quarter" idx="11"/>
          </p:nvPr>
        </p:nvSpPr>
        <p:spPr/>
        <p:txBody>
          <a:bodyPr/>
          <a:lstStyle/>
          <a:p>
            <a:r>
              <a:rPr lang="en-US"/>
              <a:t>DN, 2020</a:t>
            </a:r>
            <a:endParaRPr lang="en-US" dirty="0"/>
          </a:p>
        </p:txBody>
      </p:sp>
      <p:sp>
        <p:nvSpPr>
          <p:cNvPr id="15" name="Slide Number Placeholder 14">
            <a:extLst>
              <a:ext uri="{FF2B5EF4-FFF2-40B4-BE49-F238E27FC236}">
                <a16:creationId xmlns:a16="http://schemas.microsoft.com/office/drawing/2014/main" id="{8F37770F-E385-4418-AAE6-34FFFC263EE8}"/>
              </a:ext>
            </a:extLst>
          </p:cNvPr>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426123789"/>
      </p:ext>
    </p:extLst>
  </p:cSld>
  <p:clrMapOvr>
    <a:overrideClrMapping bg1="lt1" tx1="dk1" bg2="lt2" tx2="dk2" accent1="accent1" accent2="accent2" accent3="accent3" accent4="accent4" accent5="accent5" accent6="accent6" hlink="hlink" folHlink="folHlink"/>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5" name="Rectangle 14"/>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6" name="Rectangle 15"/>
          <p:cNvSpPr>
            <a:spLocks noChangeArrowheads="1"/>
          </p:cNvSpPr>
          <p:nvPr/>
        </p:nvSpPr>
        <p:spPr bwMode="white">
          <a:xfrm>
            <a:off x="0" y="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8" name="Rectangle 17"/>
          <p:cNvSpPr>
            <a:spLocks noChangeArrowheads="1"/>
          </p:cNvSpPr>
          <p:nvPr/>
        </p:nvSpPr>
        <p:spPr bwMode="white">
          <a:xfrm>
            <a:off x="9890760" y="2159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9" name="Rectangle 18"/>
          <p:cNvSpPr>
            <a:spLocks noChangeArrowheads="1"/>
          </p:cNvSpPr>
          <p:nvPr/>
        </p:nvSpPr>
        <p:spPr bwMode="white">
          <a:xfrm>
            <a:off x="167640" y="2590800"/>
            <a:ext cx="9716414" cy="34544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2" name="Rectangle 11"/>
          <p:cNvSpPr>
            <a:spLocks noChangeArrowheads="1"/>
          </p:cNvSpPr>
          <p:nvPr/>
        </p:nvSpPr>
        <p:spPr bwMode="auto">
          <a:xfrm>
            <a:off x="170993" y="161332"/>
            <a:ext cx="9716414" cy="2424989"/>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3" name="Text Placeholder 2"/>
          <p:cNvSpPr>
            <a:spLocks noGrp="1"/>
          </p:cNvSpPr>
          <p:nvPr>
            <p:ph type="body" idx="1"/>
          </p:nvPr>
        </p:nvSpPr>
        <p:spPr>
          <a:xfrm>
            <a:off x="1505269" y="3108960"/>
            <a:ext cx="7128191" cy="1896322"/>
          </a:xfrm>
        </p:spPr>
        <p:txBody>
          <a:bodyPr anchor="t"/>
          <a:lstStyle>
            <a:lvl1pPr marL="0" indent="0" algn="ctr">
              <a:buNone/>
              <a:defRPr sz="1760" b="1" cap="all" spc="275" baseline="0">
                <a:solidFill>
                  <a:schemeClr val="tx2"/>
                </a:solidFill>
              </a:defRPr>
            </a:lvl1pPr>
            <a:lvl2pPr>
              <a:buNone/>
              <a:defRPr sz="1980">
                <a:solidFill>
                  <a:schemeClr val="tx1">
                    <a:tint val="75000"/>
                  </a:schemeClr>
                </a:solidFill>
              </a:defRPr>
            </a:lvl2pPr>
            <a:lvl3pPr>
              <a:buNone/>
              <a:defRPr sz="1760">
                <a:solidFill>
                  <a:schemeClr val="tx1">
                    <a:tint val="75000"/>
                  </a:schemeClr>
                </a:solidFill>
              </a:defRPr>
            </a:lvl3pPr>
            <a:lvl4pPr>
              <a:buNone/>
              <a:defRPr sz="1540">
                <a:solidFill>
                  <a:schemeClr val="tx1">
                    <a:tint val="75000"/>
                  </a:schemeClr>
                </a:solidFill>
              </a:defRPr>
            </a:lvl4pPr>
            <a:lvl5pPr>
              <a:buNone/>
              <a:defRPr sz="154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60935" y="7243877"/>
            <a:ext cx="9716414" cy="35083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4" name="Rectangle 13"/>
          <p:cNvSpPr>
            <a:spLocks noChangeArrowheads="1"/>
          </p:cNvSpPr>
          <p:nvPr/>
        </p:nvSpPr>
        <p:spPr bwMode="auto">
          <a:xfrm>
            <a:off x="167640" y="172720"/>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5" name="Footer Placeholder 4"/>
          <p:cNvSpPr>
            <a:spLocks noGrp="1"/>
          </p:cNvSpPr>
          <p:nvPr>
            <p:ph type="ftr" sz="quarter" idx="11"/>
          </p:nvPr>
        </p:nvSpPr>
        <p:spPr/>
        <p:txBody>
          <a:bodyPr/>
          <a:lstStyle/>
          <a:p>
            <a:r>
              <a:rPr lang="en-US"/>
              <a:t>DN, 2020</a:t>
            </a:r>
            <a:endParaRPr lang="en-US" dirty="0"/>
          </a:p>
        </p:txBody>
      </p:sp>
      <p:sp>
        <p:nvSpPr>
          <p:cNvPr id="4" name="Date Placeholder 3"/>
          <p:cNvSpPr>
            <a:spLocks noGrp="1"/>
          </p:cNvSpPr>
          <p:nvPr>
            <p:ph type="dt" sz="half" idx="10"/>
          </p:nvPr>
        </p:nvSpPr>
        <p:spPr/>
        <p:txBody>
          <a:bodyPr/>
          <a:lstStyle/>
          <a:p>
            <a:fld id="{F6744FDF-2022-4D36-A486-A7F7ABBEE40C}" type="datetime1">
              <a:rPr lang="en-US" smtClean="0"/>
              <a:t>4/12/2021</a:t>
            </a:fld>
            <a:endParaRPr lang="en-US" dirty="0"/>
          </a:p>
        </p:txBody>
      </p:sp>
      <p:sp>
        <p:nvSpPr>
          <p:cNvPr id="8" name="Straight Connector 7"/>
          <p:cNvSpPr>
            <a:spLocks noChangeShapeType="1"/>
          </p:cNvSpPr>
          <p:nvPr/>
        </p:nvSpPr>
        <p:spPr bwMode="auto">
          <a:xfrm>
            <a:off x="167640" y="2763520"/>
            <a:ext cx="971641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10" name="Oval 9"/>
          <p:cNvSpPr/>
          <p:nvPr/>
        </p:nvSpPr>
        <p:spPr>
          <a:xfrm>
            <a:off x="4693920" y="2397354"/>
            <a:ext cx="670560" cy="69088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1" name="Oval 10"/>
          <p:cNvSpPr/>
          <p:nvPr/>
        </p:nvSpPr>
        <p:spPr>
          <a:xfrm>
            <a:off x="4797857" y="2504440"/>
            <a:ext cx="462686" cy="476707"/>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6" name="Slide Number Placeholder 5"/>
          <p:cNvSpPr>
            <a:spLocks noGrp="1"/>
          </p:cNvSpPr>
          <p:nvPr>
            <p:ph type="sldNum" sz="quarter" idx="12"/>
          </p:nvPr>
        </p:nvSpPr>
        <p:spPr>
          <a:xfrm>
            <a:off x="4777740" y="2492711"/>
            <a:ext cx="502920" cy="500168"/>
          </a:xfrm>
        </p:spPr>
        <p:txBody>
          <a:bodyPr/>
          <a:lstStyle>
            <a:lvl1pPr>
              <a:defRPr>
                <a:solidFill>
                  <a:schemeClr val="accent3">
                    <a:shade val="75000"/>
                  </a:schemeClr>
                </a:solidFill>
              </a:defRPr>
            </a:lvl1pPr>
          </a:lstStyle>
          <a:p>
            <a:fld id="{B6F15528-21DE-4FAA-801E-634DDDAF4B2B}" type="slidenum">
              <a:rPr lang="en-US" smtClean="0"/>
              <a:t>‹#›</a:t>
            </a:fld>
            <a:endParaRPr lang="en-US" dirty="0"/>
          </a:p>
        </p:txBody>
      </p:sp>
      <p:sp>
        <p:nvSpPr>
          <p:cNvPr id="2" name="Title 1"/>
          <p:cNvSpPr>
            <a:spLocks noGrp="1"/>
          </p:cNvSpPr>
          <p:nvPr>
            <p:ph type="title"/>
          </p:nvPr>
        </p:nvSpPr>
        <p:spPr>
          <a:xfrm>
            <a:off x="794544" y="604520"/>
            <a:ext cx="8549640" cy="1727200"/>
          </a:xfrm>
        </p:spPr>
        <p:txBody>
          <a:bodyPr anchor="b"/>
          <a:lstStyle>
            <a:lvl1pPr algn="ctr">
              <a:buNone/>
              <a:defRPr sz="4620" b="0" cap="none" baseline="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323796006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31927" y="259080"/>
            <a:ext cx="9387840" cy="860146"/>
          </a:xfrm>
        </p:spPr>
        <p:txBody>
          <a:bodyPr/>
          <a:lstStyle/>
          <a:p>
            <a:r>
              <a:rPr kumimoji="0" lang="en-US"/>
              <a:t>Click to edit Master title style</a:t>
            </a:r>
          </a:p>
        </p:txBody>
      </p:sp>
      <p:sp>
        <p:nvSpPr>
          <p:cNvPr id="5" name="Date Placeholder 4"/>
          <p:cNvSpPr>
            <a:spLocks noGrp="1"/>
          </p:cNvSpPr>
          <p:nvPr>
            <p:ph type="dt" sz="half" idx="10"/>
          </p:nvPr>
        </p:nvSpPr>
        <p:spPr>
          <a:xfrm>
            <a:off x="6370320" y="7264603"/>
            <a:ext cx="3349447" cy="414528"/>
          </a:xfrm>
        </p:spPr>
        <p:txBody>
          <a:bodyPr/>
          <a:lstStyle/>
          <a:p>
            <a:fld id="{E01D8678-9C26-4E23-A6A9-A4DB2572BE89}" type="datetime1">
              <a:rPr lang="en-US" smtClean="0"/>
              <a:t>4/12/2021</a:t>
            </a:fld>
            <a:endParaRPr lang="en-US" dirty="0"/>
          </a:p>
        </p:txBody>
      </p:sp>
      <p:sp>
        <p:nvSpPr>
          <p:cNvPr id="6" name="Footer Placeholder 5"/>
          <p:cNvSpPr>
            <a:spLocks noGrp="1"/>
          </p:cNvSpPr>
          <p:nvPr>
            <p:ph type="ftr" sz="quarter" idx="11"/>
          </p:nvPr>
        </p:nvSpPr>
        <p:spPr/>
        <p:txBody>
          <a:bodyPr/>
          <a:lstStyle/>
          <a:p>
            <a:r>
              <a:rPr lang="en-US"/>
              <a:t>DN, 2020</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
        <p:nvSpPr>
          <p:cNvPr id="8" name="Straight Connector 7"/>
          <p:cNvSpPr>
            <a:spLocks noChangeShapeType="1"/>
          </p:cNvSpPr>
          <p:nvPr/>
        </p:nvSpPr>
        <p:spPr bwMode="auto">
          <a:xfrm flipV="1">
            <a:off x="5019389" y="1785739"/>
            <a:ext cx="9813" cy="5462165"/>
          </a:xfrm>
          <a:prstGeom prst="line">
            <a:avLst/>
          </a:prstGeom>
          <a:noFill/>
          <a:ln w="9525" cap="flat" cmpd="sng" algn="ctr">
            <a:solidFill>
              <a:schemeClr val="tx2"/>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10" name="Content Placeholder 9"/>
          <p:cNvSpPr>
            <a:spLocks noGrp="1"/>
          </p:cNvSpPr>
          <p:nvPr>
            <p:ph sz="half" idx="1"/>
          </p:nvPr>
        </p:nvSpPr>
        <p:spPr>
          <a:xfrm>
            <a:off x="331927" y="1554480"/>
            <a:ext cx="4442460" cy="5305958"/>
          </a:xfrm>
        </p:spPr>
        <p:txBody>
          <a:bodyPr/>
          <a:lstStyle>
            <a:lvl1pPr>
              <a:defRPr sz="275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5280660" y="1554480"/>
            <a:ext cx="4442460" cy="5305958"/>
          </a:xfrm>
        </p:spPr>
        <p:txBody>
          <a:bodyPr/>
          <a:lstStyle>
            <a:lvl1pPr>
              <a:defRPr sz="275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12407672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5029200" y="2493645"/>
            <a:ext cx="0" cy="4746346"/>
          </a:xfrm>
          <a:prstGeom prst="line">
            <a:avLst/>
          </a:prstGeom>
          <a:noFill/>
          <a:ln w="9525" cap="flat" cmpd="sng" algn="ctr">
            <a:solidFill>
              <a:schemeClr val="tx2"/>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20" name="Rectangle 19"/>
          <p:cNvSpPr>
            <a:spLocks noChangeArrowheads="1"/>
          </p:cNvSpPr>
          <p:nvPr/>
        </p:nvSpPr>
        <p:spPr bwMode="white">
          <a:xfrm>
            <a:off x="0" y="0"/>
            <a:ext cx="10058400" cy="164084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9" name="Rectangle 18"/>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21" name="Rectangle 20"/>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22" name="Rectangle 21"/>
          <p:cNvSpPr>
            <a:spLocks noChangeArrowheads="1"/>
          </p:cNvSpPr>
          <p:nvPr/>
        </p:nvSpPr>
        <p:spPr bwMode="white">
          <a:xfrm>
            <a:off x="989076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1" name="Rectangle 10"/>
          <p:cNvSpPr/>
          <p:nvPr/>
        </p:nvSpPr>
        <p:spPr>
          <a:xfrm>
            <a:off x="167640" y="1554480"/>
            <a:ext cx="9716414" cy="103632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3" name="Rectangle 12"/>
          <p:cNvSpPr>
            <a:spLocks noChangeArrowheads="1"/>
          </p:cNvSpPr>
          <p:nvPr/>
        </p:nvSpPr>
        <p:spPr bwMode="auto">
          <a:xfrm>
            <a:off x="160516" y="7243877"/>
            <a:ext cx="9716414" cy="352349"/>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3" name="Text Placeholder 2"/>
          <p:cNvSpPr>
            <a:spLocks noGrp="1"/>
          </p:cNvSpPr>
          <p:nvPr>
            <p:ph type="body" idx="1"/>
          </p:nvPr>
        </p:nvSpPr>
        <p:spPr>
          <a:xfrm>
            <a:off x="331927" y="1727200"/>
            <a:ext cx="4444207" cy="83070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420" b="1" dirty="0" smtClean="0">
                <a:solidFill>
                  <a:srgbClr val="FFFFFF"/>
                </a:solidFill>
              </a:defRPr>
            </a:lvl1pPr>
            <a:lvl2pPr>
              <a:buNone/>
              <a:defRPr sz="2200" b="1"/>
            </a:lvl2pPr>
            <a:lvl3pPr>
              <a:buNone/>
              <a:defRPr sz="1980" b="1"/>
            </a:lvl3pPr>
            <a:lvl4pPr>
              <a:buNone/>
              <a:defRPr sz="1760" b="1"/>
            </a:lvl4pPr>
            <a:lvl5pPr>
              <a:buNone/>
              <a:defRPr sz="176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270463" y="1727200"/>
            <a:ext cx="4445953" cy="829056"/>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420" b="1"/>
            </a:lvl1pPr>
            <a:lvl2pPr>
              <a:buNone/>
              <a:defRPr sz="2200" b="1"/>
            </a:lvl2pPr>
            <a:lvl3pPr>
              <a:buNone/>
              <a:defRPr sz="1980" b="1"/>
            </a:lvl3pPr>
            <a:lvl4pPr>
              <a:buNone/>
              <a:defRPr sz="1760" b="1"/>
            </a:lvl4pPr>
            <a:lvl5pPr>
              <a:buNone/>
              <a:defRPr sz="176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95C3C732-2EE3-478A-AFB3-E71AD43060BC}" type="datetime1">
              <a:rPr lang="en-US" smtClean="0"/>
              <a:t>4/12/2021</a:t>
            </a:fld>
            <a:endParaRPr lang="en-US" dirty="0"/>
          </a:p>
        </p:txBody>
      </p:sp>
      <p:sp>
        <p:nvSpPr>
          <p:cNvPr id="8" name="Footer Placeholder 7"/>
          <p:cNvSpPr>
            <a:spLocks noGrp="1"/>
          </p:cNvSpPr>
          <p:nvPr>
            <p:ph type="ftr" sz="quarter" idx="11"/>
          </p:nvPr>
        </p:nvSpPr>
        <p:spPr>
          <a:xfrm>
            <a:off x="335280" y="7264603"/>
            <a:ext cx="3939540" cy="414528"/>
          </a:xfrm>
        </p:spPr>
        <p:txBody>
          <a:bodyPr/>
          <a:lstStyle/>
          <a:p>
            <a:r>
              <a:rPr lang="en-US"/>
              <a:t>DN, 2020</a:t>
            </a:r>
            <a:endParaRPr lang="en-US" dirty="0"/>
          </a:p>
        </p:txBody>
      </p:sp>
      <p:sp>
        <p:nvSpPr>
          <p:cNvPr id="15" name="Straight Connector 14"/>
          <p:cNvSpPr>
            <a:spLocks noChangeShapeType="1"/>
          </p:cNvSpPr>
          <p:nvPr/>
        </p:nvSpPr>
        <p:spPr bwMode="auto">
          <a:xfrm>
            <a:off x="167640" y="1450848"/>
            <a:ext cx="971641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18" name="Rectangle 17"/>
          <p:cNvSpPr>
            <a:spLocks noChangeArrowheads="1"/>
          </p:cNvSpPr>
          <p:nvPr/>
        </p:nvSpPr>
        <p:spPr bwMode="auto">
          <a:xfrm>
            <a:off x="167640" y="176175"/>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24" name="Content Placeholder 23"/>
          <p:cNvSpPr>
            <a:spLocks noGrp="1"/>
          </p:cNvSpPr>
          <p:nvPr>
            <p:ph sz="quarter" idx="2"/>
          </p:nvPr>
        </p:nvSpPr>
        <p:spPr>
          <a:xfrm>
            <a:off x="331927" y="2800901"/>
            <a:ext cx="4445813" cy="432752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5280660" y="2800901"/>
            <a:ext cx="4442460" cy="433181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693920" y="1083507"/>
            <a:ext cx="670560" cy="69088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27" name="Oval 26"/>
          <p:cNvSpPr/>
          <p:nvPr/>
        </p:nvSpPr>
        <p:spPr>
          <a:xfrm>
            <a:off x="4797857" y="1190594"/>
            <a:ext cx="462686" cy="476707"/>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9" name="Slide Number Placeholder 8"/>
          <p:cNvSpPr>
            <a:spLocks noGrp="1"/>
          </p:cNvSpPr>
          <p:nvPr>
            <p:ph type="sldNum" sz="quarter" idx="12"/>
          </p:nvPr>
        </p:nvSpPr>
        <p:spPr>
          <a:xfrm>
            <a:off x="4777740" y="1181406"/>
            <a:ext cx="502920" cy="500168"/>
          </a:xfrm>
        </p:spPr>
        <p:txBody>
          <a:bodyPr/>
          <a:lstStyle>
            <a:lvl1pPr algn="ctr">
              <a:defRPr/>
            </a:lvl1pPr>
          </a:lstStyle>
          <a:p>
            <a:fld id="{B6F15528-21DE-4FAA-801E-634DDDAF4B2B}" type="slidenum">
              <a:rPr lang="en-US" smtClean="0"/>
              <a:t>‹#›</a:t>
            </a:fld>
            <a:endParaRPr lang="en-US" dirty="0"/>
          </a:p>
        </p:txBody>
      </p:sp>
      <p:sp>
        <p:nvSpPr>
          <p:cNvPr id="23" name="Title 22"/>
          <p:cNvSpPr>
            <a:spLocks noGrp="1"/>
          </p:cNvSpPr>
          <p:nvPr>
            <p:ph type="title"/>
          </p:nvPr>
        </p:nvSpPr>
        <p:spPr/>
        <p:txBody>
          <a:bodyPr rtlCol="0" anchor="b" anchorCtr="0"/>
          <a:lstStyle/>
          <a:p>
            <a:r>
              <a:rPr kumimoji="0" lang="en-US"/>
              <a:t>Click to edit Master title style</a:t>
            </a:r>
          </a:p>
        </p:txBody>
      </p:sp>
    </p:spTree>
    <p:extLst>
      <p:ext uri="{BB962C8B-B14F-4D97-AF65-F5344CB8AC3E}">
        <p14:creationId xmlns:p14="http://schemas.microsoft.com/office/powerpoint/2010/main" val="411228972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A023714-F1C5-49E1-BB93-41E1B73F4C69}" type="datetime1">
              <a:rPr lang="en-US" smtClean="0"/>
              <a:t>4/12/2021</a:t>
            </a:fld>
            <a:endParaRPr lang="en-US" dirty="0"/>
          </a:p>
        </p:txBody>
      </p:sp>
      <p:sp>
        <p:nvSpPr>
          <p:cNvPr id="4" name="Footer Placeholder 3"/>
          <p:cNvSpPr>
            <a:spLocks noGrp="1"/>
          </p:cNvSpPr>
          <p:nvPr>
            <p:ph type="ftr" sz="quarter" idx="11"/>
          </p:nvPr>
        </p:nvSpPr>
        <p:spPr/>
        <p:txBody>
          <a:bodyPr/>
          <a:lstStyle/>
          <a:p>
            <a:r>
              <a:rPr lang="en-US"/>
              <a:t>DN, 2020</a:t>
            </a:r>
            <a:endParaRPr lang="en-US" dirty="0"/>
          </a:p>
        </p:txBody>
      </p:sp>
      <p:sp>
        <p:nvSpPr>
          <p:cNvPr id="5" name="Slide Number Placeholder 4"/>
          <p:cNvSpPr>
            <a:spLocks noGrp="1"/>
          </p:cNvSpPr>
          <p:nvPr>
            <p:ph type="sldNum" sz="quarter" idx="12"/>
          </p:nvPr>
        </p:nvSpPr>
        <p:spPr>
          <a:xfrm>
            <a:off x="4777740" y="1174157"/>
            <a:ext cx="502920" cy="500168"/>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133618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8" name="Rectangle 7"/>
          <p:cNvSpPr>
            <a:spLocks noChangeArrowheads="1"/>
          </p:cNvSpPr>
          <p:nvPr/>
        </p:nvSpPr>
        <p:spPr bwMode="white">
          <a:xfrm>
            <a:off x="0" y="0"/>
            <a:ext cx="10058400" cy="176174"/>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0" name="Rectangle 9"/>
          <p:cNvSpPr>
            <a:spLocks noChangeArrowheads="1"/>
          </p:cNvSpPr>
          <p:nvPr/>
        </p:nvSpPr>
        <p:spPr bwMode="white">
          <a:xfrm>
            <a:off x="989076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9" name="Rectangle 8"/>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5" name="Rectangle 4"/>
          <p:cNvSpPr>
            <a:spLocks noChangeArrowheads="1"/>
          </p:cNvSpPr>
          <p:nvPr/>
        </p:nvSpPr>
        <p:spPr bwMode="auto">
          <a:xfrm>
            <a:off x="160935" y="7243877"/>
            <a:ext cx="9716414" cy="35083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6" name="Rectangle 5"/>
          <p:cNvSpPr>
            <a:spLocks noChangeArrowheads="1"/>
          </p:cNvSpPr>
          <p:nvPr/>
        </p:nvSpPr>
        <p:spPr bwMode="auto">
          <a:xfrm>
            <a:off x="167640" y="179629"/>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2" name="Date Placeholder 1"/>
          <p:cNvSpPr>
            <a:spLocks noGrp="1"/>
          </p:cNvSpPr>
          <p:nvPr>
            <p:ph type="dt" sz="half" idx="10"/>
          </p:nvPr>
        </p:nvSpPr>
        <p:spPr/>
        <p:txBody>
          <a:bodyPr/>
          <a:lstStyle/>
          <a:p>
            <a:fld id="{05395594-E395-44FF-91AC-CA2DCB9C416D}" type="datetime1">
              <a:rPr lang="en-US" smtClean="0"/>
              <a:t>4/12/2021</a:t>
            </a:fld>
            <a:endParaRPr lang="en-US" dirty="0"/>
          </a:p>
        </p:txBody>
      </p:sp>
      <p:sp>
        <p:nvSpPr>
          <p:cNvPr id="3" name="Footer Placeholder 2"/>
          <p:cNvSpPr>
            <a:spLocks noGrp="1"/>
          </p:cNvSpPr>
          <p:nvPr>
            <p:ph type="ftr" sz="quarter" idx="11"/>
          </p:nvPr>
        </p:nvSpPr>
        <p:spPr/>
        <p:txBody>
          <a:bodyPr/>
          <a:lstStyle/>
          <a:p>
            <a:r>
              <a:rPr lang="en-US"/>
              <a:t>DN, 2020</a:t>
            </a:r>
            <a:endParaRPr lang="en-US" dirty="0"/>
          </a:p>
        </p:txBody>
      </p:sp>
      <p:sp>
        <p:nvSpPr>
          <p:cNvPr id="4" name="Slide Number Placeholder 3"/>
          <p:cNvSpPr>
            <a:spLocks noGrp="1"/>
          </p:cNvSpPr>
          <p:nvPr>
            <p:ph type="sldNum" sz="quarter" idx="12"/>
          </p:nvPr>
        </p:nvSpPr>
        <p:spPr>
          <a:xfrm>
            <a:off x="4693920" y="7167880"/>
            <a:ext cx="670560" cy="500167"/>
          </a:xfrm>
        </p:spPr>
        <p:txBody>
          <a:bodyPr/>
          <a:lstStyle>
            <a:lvl1pPr>
              <a:defRPr>
                <a:solidFill>
                  <a:srgbClr val="FFFFFF"/>
                </a:solidFill>
              </a:defRPr>
            </a:lvl1pPr>
          </a:lstStyle>
          <a:p>
            <a:fld id="{B6F15528-21DE-4FAA-801E-634DDDAF4B2B}" type="slidenum">
              <a:rPr lang="en-US" smtClean="0"/>
              <a:t>‹#›</a:t>
            </a:fld>
            <a:endParaRPr lang="en-US" dirty="0"/>
          </a:p>
        </p:txBody>
      </p:sp>
    </p:spTree>
    <p:extLst>
      <p:ext uri="{BB962C8B-B14F-4D97-AF65-F5344CB8AC3E}">
        <p14:creationId xmlns:p14="http://schemas.microsoft.com/office/powerpoint/2010/main" val="922126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67640" y="172720"/>
            <a:ext cx="9716414" cy="34544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5" name="Rectangle 14"/>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8" name="Rectangle 17"/>
          <p:cNvSpPr>
            <a:spLocks noChangeArrowheads="1"/>
          </p:cNvSpPr>
          <p:nvPr/>
        </p:nvSpPr>
        <p:spPr bwMode="white">
          <a:xfrm>
            <a:off x="989076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6" name="Rectangle 15"/>
          <p:cNvSpPr>
            <a:spLocks noChangeArrowheads="1"/>
          </p:cNvSpPr>
          <p:nvPr/>
        </p:nvSpPr>
        <p:spPr bwMode="white">
          <a:xfrm>
            <a:off x="0" y="0"/>
            <a:ext cx="10058400" cy="13472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7" name="Rectangle 16"/>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3" name="Rectangle 12"/>
          <p:cNvSpPr/>
          <p:nvPr/>
        </p:nvSpPr>
        <p:spPr>
          <a:xfrm>
            <a:off x="167640" y="690880"/>
            <a:ext cx="3017520" cy="664972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2" name="Title 1"/>
          <p:cNvSpPr>
            <a:spLocks noGrp="1"/>
          </p:cNvSpPr>
          <p:nvPr>
            <p:ph type="title"/>
          </p:nvPr>
        </p:nvSpPr>
        <p:spPr>
          <a:xfrm>
            <a:off x="419100" y="1036320"/>
            <a:ext cx="2598420" cy="1122680"/>
          </a:xfrm>
        </p:spPr>
        <p:txBody>
          <a:bodyPr anchor="b">
            <a:noAutofit/>
          </a:bodyPr>
          <a:lstStyle>
            <a:lvl1pPr algn="l">
              <a:buNone/>
              <a:defRPr sz="242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419100" y="2245360"/>
            <a:ext cx="2598420" cy="4697625"/>
          </a:xfrm>
        </p:spPr>
        <p:txBody>
          <a:bodyPr/>
          <a:lstStyle>
            <a:lvl1pPr marL="0" indent="0">
              <a:spcAft>
                <a:spcPts val="1100"/>
              </a:spcAft>
              <a:buNone/>
              <a:defRPr sz="1760">
                <a:solidFill>
                  <a:srgbClr val="FFFFFF"/>
                </a:solidFill>
              </a:defRPr>
            </a:lvl1pPr>
            <a:lvl2pPr>
              <a:buNone/>
              <a:defRPr sz="1320"/>
            </a:lvl2pPr>
            <a:lvl3pPr>
              <a:buNone/>
              <a:defRPr sz="1100"/>
            </a:lvl3pPr>
            <a:lvl4pPr>
              <a:buNone/>
              <a:defRPr sz="990"/>
            </a:lvl4pPr>
            <a:lvl5pPr>
              <a:buNone/>
              <a:defRPr sz="99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67640" y="172720"/>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9" name="Straight Connector 8"/>
          <p:cNvSpPr>
            <a:spLocks noChangeShapeType="1"/>
          </p:cNvSpPr>
          <p:nvPr/>
        </p:nvSpPr>
        <p:spPr bwMode="auto">
          <a:xfrm>
            <a:off x="167640" y="604520"/>
            <a:ext cx="971641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20" name="Content Placeholder 19"/>
          <p:cNvSpPr>
            <a:spLocks noGrp="1"/>
          </p:cNvSpPr>
          <p:nvPr>
            <p:ph sz="quarter" idx="1"/>
          </p:nvPr>
        </p:nvSpPr>
        <p:spPr>
          <a:xfrm>
            <a:off x="3436620" y="777240"/>
            <a:ext cx="6202680" cy="61315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424940" y="259080"/>
            <a:ext cx="670560" cy="69088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1" name="Oval 10"/>
          <p:cNvSpPr/>
          <p:nvPr/>
        </p:nvSpPr>
        <p:spPr>
          <a:xfrm>
            <a:off x="1528877" y="366167"/>
            <a:ext cx="462686" cy="476707"/>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7" name="Slide Number Placeholder 6"/>
          <p:cNvSpPr>
            <a:spLocks noGrp="1"/>
          </p:cNvSpPr>
          <p:nvPr>
            <p:ph type="sldNum" sz="quarter" idx="12"/>
          </p:nvPr>
        </p:nvSpPr>
        <p:spPr>
          <a:xfrm>
            <a:off x="1508760" y="354437"/>
            <a:ext cx="502920" cy="500168"/>
          </a:xfrm>
        </p:spPr>
        <p:txBody>
          <a:bodyPr/>
          <a:lstStyle>
            <a:lvl1pPr>
              <a:defRPr>
                <a:solidFill>
                  <a:schemeClr val="accent3">
                    <a:shade val="75000"/>
                  </a:schemeClr>
                </a:solidFill>
              </a:defRPr>
            </a:lvl1pPr>
          </a:lstStyle>
          <a:p>
            <a:fld id="{B6F15528-21DE-4FAA-801E-634DDDAF4B2B}" type="slidenum">
              <a:rPr lang="en-US" smtClean="0"/>
              <a:t>‹#›</a:t>
            </a:fld>
            <a:endParaRPr lang="en-US" dirty="0"/>
          </a:p>
        </p:txBody>
      </p:sp>
      <p:sp>
        <p:nvSpPr>
          <p:cNvPr id="21" name="Rectangle 20"/>
          <p:cNvSpPr>
            <a:spLocks noChangeArrowheads="1"/>
          </p:cNvSpPr>
          <p:nvPr/>
        </p:nvSpPr>
        <p:spPr bwMode="auto">
          <a:xfrm>
            <a:off x="164287" y="7240170"/>
            <a:ext cx="9716414" cy="35083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5" name="Date Placeholder 4"/>
          <p:cNvSpPr>
            <a:spLocks noGrp="1"/>
          </p:cNvSpPr>
          <p:nvPr>
            <p:ph type="dt" sz="half" idx="10"/>
          </p:nvPr>
        </p:nvSpPr>
        <p:spPr/>
        <p:txBody>
          <a:bodyPr/>
          <a:lstStyle/>
          <a:p>
            <a:fld id="{72B00EB0-12C5-4DE6-AD92-1BE0803A3794}" type="datetime1">
              <a:rPr lang="en-US" smtClean="0"/>
              <a:t>4/12/2021</a:t>
            </a:fld>
            <a:endParaRPr lang="en-US" dirty="0"/>
          </a:p>
        </p:txBody>
      </p:sp>
      <p:sp>
        <p:nvSpPr>
          <p:cNvPr id="6" name="Footer Placeholder 5"/>
          <p:cNvSpPr>
            <a:spLocks noGrp="1"/>
          </p:cNvSpPr>
          <p:nvPr>
            <p:ph type="ftr" sz="quarter" idx="11"/>
          </p:nvPr>
        </p:nvSpPr>
        <p:spPr>
          <a:xfrm>
            <a:off x="331927" y="7265628"/>
            <a:ext cx="3721608" cy="414528"/>
          </a:xfrm>
        </p:spPr>
        <p:txBody>
          <a:bodyPr/>
          <a:lstStyle/>
          <a:p>
            <a:r>
              <a:rPr lang="en-US"/>
              <a:t>DN, 2020</a:t>
            </a:r>
            <a:endParaRPr lang="en-US" dirty="0"/>
          </a:p>
        </p:txBody>
      </p:sp>
    </p:spTree>
    <p:extLst>
      <p:ext uri="{BB962C8B-B14F-4D97-AF65-F5344CB8AC3E}">
        <p14:creationId xmlns:p14="http://schemas.microsoft.com/office/powerpoint/2010/main" val="366317042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67640" y="604520"/>
            <a:ext cx="971641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19" name="Rectangle 18"/>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6" name="Rectangle 15"/>
          <p:cNvSpPr>
            <a:spLocks noChangeArrowheads="1"/>
          </p:cNvSpPr>
          <p:nvPr/>
        </p:nvSpPr>
        <p:spPr bwMode="white">
          <a:xfrm>
            <a:off x="989076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7" name="Rectangle 16"/>
          <p:cNvSpPr>
            <a:spLocks noChangeArrowheads="1"/>
          </p:cNvSpPr>
          <p:nvPr/>
        </p:nvSpPr>
        <p:spPr bwMode="white">
          <a:xfrm>
            <a:off x="0" y="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8" name="Rectangle 17"/>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20" name="Rectangle 19"/>
          <p:cNvSpPr>
            <a:spLocks noChangeArrowheads="1"/>
          </p:cNvSpPr>
          <p:nvPr/>
        </p:nvSpPr>
        <p:spPr bwMode="auto">
          <a:xfrm>
            <a:off x="167640" y="172720"/>
            <a:ext cx="9716414" cy="34198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8" name="Rectangle 7"/>
          <p:cNvSpPr/>
          <p:nvPr/>
        </p:nvSpPr>
        <p:spPr>
          <a:xfrm>
            <a:off x="167640" y="690880"/>
            <a:ext cx="3017520" cy="664972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5" name="Rectangle 14"/>
          <p:cNvSpPr>
            <a:spLocks noChangeArrowheads="1"/>
          </p:cNvSpPr>
          <p:nvPr/>
        </p:nvSpPr>
        <p:spPr bwMode="auto">
          <a:xfrm>
            <a:off x="167640" y="176175"/>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12" name="Oval 11"/>
          <p:cNvSpPr/>
          <p:nvPr/>
        </p:nvSpPr>
        <p:spPr>
          <a:xfrm>
            <a:off x="1424940" y="259080"/>
            <a:ext cx="670560" cy="69088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3" name="Oval 12"/>
          <p:cNvSpPr/>
          <p:nvPr/>
        </p:nvSpPr>
        <p:spPr>
          <a:xfrm>
            <a:off x="1528877" y="366167"/>
            <a:ext cx="462686" cy="476707"/>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7" name="Slide Number Placeholder 6"/>
          <p:cNvSpPr>
            <a:spLocks noGrp="1"/>
          </p:cNvSpPr>
          <p:nvPr>
            <p:ph type="sldNum" sz="quarter" idx="12"/>
          </p:nvPr>
        </p:nvSpPr>
        <p:spPr>
          <a:xfrm>
            <a:off x="1508760" y="354437"/>
            <a:ext cx="502920" cy="500168"/>
          </a:xfrm>
        </p:spPr>
        <p:txBody>
          <a:bodyPr/>
          <a:lstStyle/>
          <a:p>
            <a:fld id="{B6F15528-21DE-4FAA-801E-634DDDAF4B2B}" type="slidenum">
              <a:rPr lang="en-US" smtClean="0"/>
              <a:t>‹#›</a:t>
            </a:fld>
            <a:endParaRPr lang="en-US" dirty="0"/>
          </a:p>
        </p:txBody>
      </p:sp>
      <p:sp>
        <p:nvSpPr>
          <p:cNvPr id="2" name="Title 1"/>
          <p:cNvSpPr>
            <a:spLocks noGrp="1"/>
          </p:cNvSpPr>
          <p:nvPr>
            <p:ph type="title"/>
          </p:nvPr>
        </p:nvSpPr>
        <p:spPr>
          <a:xfrm>
            <a:off x="3300413" y="5699760"/>
            <a:ext cx="6454140" cy="1381760"/>
          </a:xfrm>
        </p:spPr>
        <p:txBody>
          <a:bodyPr anchor="t">
            <a:noAutofit/>
          </a:bodyPr>
          <a:lstStyle>
            <a:lvl1pPr algn="l">
              <a:buNone/>
              <a:defRPr sz="264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300413" y="690880"/>
            <a:ext cx="6454140" cy="4836160"/>
          </a:xfrm>
        </p:spPr>
        <p:txBody>
          <a:bodyPr/>
          <a:lstStyle>
            <a:lvl1pPr marL="0" indent="0">
              <a:buNone/>
              <a:defRPr sz="352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19100" y="1122680"/>
            <a:ext cx="2682240" cy="5958840"/>
          </a:xfrm>
        </p:spPr>
        <p:txBody>
          <a:bodyPr/>
          <a:lstStyle>
            <a:lvl1pPr marL="0" indent="0">
              <a:spcAft>
                <a:spcPts val="1100"/>
              </a:spcAft>
              <a:buFontTx/>
              <a:buNone/>
              <a:defRPr sz="1760">
                <a:solidFill>
                  <a:srgbClr val="FFFFFF"/>
                </a:solidFill>
              </a:defRPr>
            </a:lvl1pPr>
            <a:lvl2pPr>
              <a:defRPr sz="1320"/>
            </a:lvl2pPr>
            <a:lvl3pPr>
              <a:defRPr sz="1100"/>
            </a:lvl3pPr>
            <a:lvl4pPr>
              <a:defRPr sz="990"/>
            </a:lvl4pPr>
            <a:lvl5pPr>
              <a:defRPr sz="99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64287" y="7240170"/>
            <a:ext cx="9716414" cy="35083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5" name="Date Placeholder 4"/>
          <p:cNvSpPr>
            <a:spLocks noGrp="1"/>
          </p:cNvSpPr>
          <p:nvPr>
            <p:ph type="dt" sz="half" idx="10"/>
          </p:nvPr>
        </p:nvSpPr>
        <p:spPr>
          <a:xfrm>
            <a:off x="6366967" y="7258982"/>
            <a:ext cx="3349447" cy="414528"/>
          </a:xfrm>
        </p:spPr>
        <p:txBody>
          <a:bodyPr/>
          <a:lstStyle/>
          <a:p>
            <a:fld id="{757B85C4-430F-40CE-9EDF-C679FC2F386B}" type="datetime1">
              <a:rPr lang="en-US" smtClean="0"/>
              <a:t>4/12/2021</a:t>
            </a:fld>
            <a:endParaRPr lang="en-US" dirty="0"/>
          </a:p>
        </p:txBody>
      </p:sp>
      <p:sp>
        <p:nvSpPr>
          <p:cNvPr id="6" name="Footer Placeholder 5"/>
          <p:cNvSpPr>
            <a:spLocks noGrp="1"/>
          </p:cNvSpPr>
          <p:nvPr>
            <p:ph type="ftr" sz="quarter" idx="11"/>
          </p:nvPr>
        </p:nvSpPr>
        <p:spPr>
          <a:xfrm>
            <a:off x="331927" y="7265628"/>
            <a:ext cx="3942893" cy="414528"/>
          </a:xfrm>
        </p:spPr>
        <p:txBody>
          <a:bodyPr/>
          <a:lstStyle/>
          <a:p>
            <a:r>
              <a:rPr lang="en-US"/>
              <a:t>DN, 2020</a:t>
            </a:r>
          </a:p>
        </p:txBody>
      </p:sp>
    </p:spTree>
    <p:extLst>
      <p:ext uri="{BB962C8B-B14F-4D97-AF65-F5344CB8AC3E}">
        <p14:creationId xmlns:p14="http://schemas.microsoft.com/office/powerpoint/2010/main" val="926561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24573C-4AA3-4B6B-965E-EF8CC3EAD978}" type="datetime1">
              <a:rPr lang="en-US" smtClean="0"/>
              <a:t>4/12/2021</a:t>
            </a:fld>
            <a:endParaRPr lang="en-US" dirty="0"/>
          </a:p>
        </p:txBody>
      </p:sp>
      <p:sp>
        <p:nvSpPr>
          <p:cNvPr id="5" name="Footer Placeholder 4"/>
          <p:cNvSpPr>
            <a:spLocks noGrp="1"/>
          </p:cNvSpPr>
          <p:nvPr>
            <p:ph type="ftr" sz="quarter" idx="11"/>
          </p:nvPr>
        </p:nvSpPr>
        <p:spPr/>
        <p:txBody>
          <a:bodyPr/>
          <a:lstStyle/>
          <a:p>
            <a:r>
              <a:rPr lang="en-US"/>
              <a:t>DN, 2020</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4850138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8" name="Rectangle 7"/>
          <p:cNvSpPr>
            <a:spLocks noChangeArrowheads="1"/>
          </p:cNvSpPr>
          <p:nvPr/>
        </p:nvSpPr>
        <p:spPr bwMode="white">
          <a:xfrm>
            <a:off x="7711440" y="0"/>
            <a:ext cx="234696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9" name="Rectangle 8"/>
          <p:cNvSpPr>
            <a:spLocks noChangeArrowheads="1"/>
          </p:cNvSpPr>
          <p:nvPr/>
        </p:nvSpPr>
        <p:spPr bwMode="white">
          <a:xfrm>
            <a:off x="0" y="0"/>
            <a:ext cx="10058400" cy="176174"/>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0" name="Rectangle 9"/>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1" name="Rectangle 10"/>
          <p:cNvSpPr>
            <a:spLocks noChangeArrowheads="1"/>
          </p:cNvSpPr>
          <p:nvPr/>
        </p:nvSpPr>
        <p:spPr bwMode="auto">
          <a:xfrm>
            <a:off x="160935" y="7243877"/>
            <a:ext cx="9716414" cy="35083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2" name="Rectangle 11"/>
          <p:cNvSpPr>
            <a:spLocks noChangeArrowheads="1"/>
          </p:cNvSpPr>
          <p:nvPr/>
        </p:nvSpPr>
        <p:spPr bwMode="auto">
          <a:xfrm>
            <a:off x="167640" y="176175"/>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13" name="Straight Connector 12"/>
          <p:cNvSpPr>
            <a:spLocks noChangeShapeType="1"/>
          </p:cNvSpPr>
          <p:nvPr/>
        </p:nvSpPr>
        <p:spPr bwMode="auto">
          <a:xfrm rot="5400000">
            <a:off x="4319930" y="3715207"/>
            <a:ext cx="7078066"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14" name="Oval 13"/>
          <p:cNvSpPr/>
          <p:nvPr/>
        </p:nvSpPr>
        <p:spPr>
          <a:xfrm>
            <a:off x="7523683" y="3315865"/>
            <a:ext cx="670560" cy="69088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5" name="Oval 14"/>
          <p:cNvSpPr/>
          <p:nvPr/>
        </p:nvSpPr>
        <p:spPr>
          <a:xfrm>
            <a:off x="7627620" y="3422951"/>
            <a:ext cx="462686" cy="476707"/>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6" name="Slide Number Placeholder 5"/>
          <p:cNvSpPr>
            <a:spLocks noGrp="1"/>
          </p:cNvSpPr>
          <p:nvPr>
            <p:ph type="sldNum" sz="quarter" idx="12"/>
          </p:nvPr>
        </p:nvSpPr>
        <p:spPr>
          <a:xfrm>
            <a:off x="7607503" y="3411222"/>
            <a:ext cx="502920" cy="500168"/>
          </a:xfrm>
        </p:spPr>
        <p:txBody>
          <a:bodyPr/>
          <a:lstStyle/>
          <a:p>
            <a:fld id="{B6F15528-21DE-4FAA-801E-634DDDAF4B2B}" type="slidenum">
              <a:rPr lang="en-US" smtClean="0"/>
              <a:t>‹#›</a:t>
            </a:fld>
            <a:endParaRPr lang="en-US" dirty="0"/>
          </a:p>
        </p:txBody>
      </p:sp>
      <p:sp>
        <p:nvSpPr>
          <p:cNvPr id="3" name="Vertical Text Placeholder 2"/>
          <p:cNvSpPr>
            <a:spLocks noGrp="1"/>
          </p:cNvSpPr>
          <p:nvPr>
            <p:ph type="body" orient="vert" idx="1"/>
          </p:nvPr>
        </p:nvSpPr>
        <p:spPr>
          <a:xfrm>
            <a:off x="335280" y="345440"/>
            <a:ext cx="7208520" cy="6597548"/>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EE949B1-3D10-4F56-B034-AA2AF58BC6E4}" type="datetime1">
              <a:rPr lang="en-US" smtClean="0"/>
              <a:t>4/12/2021</a:t>
            </a:fld>
            <a:endParaRPr lang="en-US" dirty="0"/>
          </a:p>
        </p:txBody>
      </p:sp>
      <p:sp>
        <p:nvSpPr>
          <p:cNvPr id="5" name="Footer Placeholder 4"/>
          <p:cNvSpPr>
            <a:spLocks noGrp="1"/>
          </p:cNvSpPr>
          <p:nvPr>
            <p:ph type="ftr" sz="quarter" idx="11"/>
          </p:nvPr>
        </p:nvSpPr>
        <p:spPr/>
        <p:txBody>
          <a:bodyPr/>
          <a:lstStyle/>
          <a:p>
            <a:r>
              <a:rPr lang="en-US"/>
              <a:t>DN, 2020</a:t>
            </a:r>
            <a:endParaRPr lang="en-US" dirty="0"/>
          </a:p>
        </p:txBody>
      </p:sp>
      <p:sp>
        <p:nvSpPr>
          <p:cNvPr id="2" name="Vertical Title 1"/>
          <p:cNvSpPr>
            <a:spLocks noGrp="1"/>
          </p:cNvSpPr>
          <p:nvPr>
            <p:ph type="title" orient="vert"/>
          </p:nvPr>
        </p:nvSpPr>
        <p:spPr>
          <a:xfrm>
            <a:off x="8130540" y="345442"/>
            <a:ext cx="1592580" cy="6631728"/>
          </a:xfrm>
        </p:spPr>
        <p:txBody>
          <a:bodyPr vert="eaVert"/>
          <a:lstStyle/>
          <a:p>
            <a:r>
              <a:rPr kumimoji="0" lang="en-US"/>
              <a:t>Click to edit Master title style</a:t>
            </a:r>
          </a:p>
        </p:txBody>
      </p:sp>
    </p:spTree>
    <p:extLst>
      <p:ext uri="{BB962C8B-B14F-4D97-AF65-F5344CB8AC3E}">
        <p14:creationId xmlns:p14="http://schemas.microsoft.com/office/powerpoint/2010/main" val="368496407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s">
    <p:spTree>
      <p:nvGrpSpPr>
        <p:cNvPr id="1" name=""/>
        <p:cNvGrpSpPr/>
        <p:nvPr/>
      </p:nvGrpSpPr>
      <p:grpSpPr>
        <a:xfrm>
          <a:off x="0" y="0"/>
          <a:ext cx="0" cy="0"/>
          <a:chOff x="0" y="0"/>
          <a:chExt cx="0" cy="0"/>
        </a:xfrm>
      </p:grpSpPr>
      <p:sp>
        <p:nvSpPr>
          <p:cNvPr id="2" name="Title 1"/>
          <p:cNvSpPr>
            <a:spLocks noGrp="1"/>
          </p:cNvSpPr>
          <p:nvPr>
            <p:ph type="title"/>
          </p:nvPr>
        </p:nvSpPr>
        <p:spPr>
          <a:xfrm>
            <a:off x="502920" y="827617"/>
            <a:ext cx="9052560" cy="829416"/>
          </a:xfrm>
          <a:prstGeom prst="rect">
            <a:avLst/>
          </a:prstGeom>
        </p:spPr>
        <p:txBody>
          <a:bodyPr/>
          <a:lstStyle>
            <a:lvl1pPr>
              <a:defRPr>
                <a:latin typeface="+mj-lt"/>
                <a:cs typeface="Calibri" pitchFamily="34" charset="0"/>
              </a:defRPr>
            </a:lvl1pPr>
          </a:lstStyle>
          <a:p>
            <a:r>
              <a:rPr lang="en-US" dirty="0"/>
              <a:t>Click to edit Master title style</a:t>
            </a:r>
          </a:p>
        </p:txBody>
      </p:sp>
      <p:sp>
        <p:nvSpPr>
          <p:cNvPr id="5" name="Slide Number Placeholder 3"/>
          <p:cNvSpPr>
            <a:spLocks noGrp="1"/>
          </p:cNvSpPr>
          <p:nvPr>
            <p:ph type="sldNum" sz="quarter" idx="10"/>
          </p:nvPr>
        </p:nvSpPr>
        <p:spPr>
          <a:xfrm>
            <a:off x="3520441" y="6993361"/>
            <a:ext cx="3015774" cy="539750"/>
          </a:xfrm>
          <a:prstGeom prst="rect">
            <a:avLst/>
          </a:prstGeom>
        </p:spPr>
        <p:txBody>
          <a:bodyPr tIns="182880" bIns="91440"/>
          <a:lstStyle>
            <a:lvl1pPr algn="ctr">
              <a:defRPr sz="1320">
                <a:latin typeface="+mn-lt"/>
                <a:cs typeface="Calibri" pitchFamily="34" charset="0"/>
              </a:defRPr>
            </a:lvl1pPr>
          </a:lstStyle>
          <a:p>
            <a:r>
              <a:rPr lang="en-US" dirty="0"/>
              <a:t>– </a:t>
            </a:r>
            <a:fld id="{4D6827CA-49D8-447A-BCBB-FEAE39770649}" type="slidenum">
              <a:rPr lang="en-US" smtClean="0"/>
              <a:pPr/>
              <a:t>‹#›</a:t>
            </a:fld>
            <a:r>
              <a:rPr lang="en-US" dirty="0"/>
              <a:t> –</a:t>
            </a:r>
          </a:p>
        </p:txBody>
      </p:sp>
      <p:sp>
        <p:nvSpPr>
          <p:cNvPr id="6" name="Date Placeholder 4"/>
          <p:cNvSpPr>
            <a:spLocks noGrp="1"/>
          </p:cNvSpPr>
          <p:nvPr>
            <p:ph type="dt" sz="half" idx="11"/>
          </p:nvPr>
        </p:nvSpPr>
        <p:spPr>
          <a:xfrm>
            <a:off x="502920" y="239290"/>
            <a:ext cx="9049068" cy="539750"/>
          </a:xfrm>
          <a:prstGeom prst="rect">
            <a:avLst/>
          </a:prstGeom>
        </p:spPr>
        <p:txBody>
          <a:bodyPr lIns="0" tIns="45720" rIns="0" bIns="45720"/>
          <a:lstStyle>
            <a:lvl1pPr>
              <a:tabLst>
                <a:tab pos="0" algn="l"/>
                <a:tab pos="4526280" algn="ctr"/>
                <a:tab pos="9052560" algn="r"/>
              </a:tabLst>
              <a:defRPr sz="1320">
                <a:latin typeface="+mn-lt"/>
                <a:cs typeface="Calibri" pitchFamily="34" charset="0"/>
              </a:defRPr>
            </a:lvl1pPr>
          </a:lstStyle>
          <a:p>
            <a:fld id="{07C18D24-053F-42DA-8ACB-514B13D221CC}" type="datetime1">
              <a:rPr lang="en-US" smtClean="0"/>
              <a:t>4/12/2021</a:t>
            </a:fld>
            <a:endParaRPr lang="en-US" dirty="0"/>
          </a:p>
        </p:txBody>
      </p:sp>
      <p:cxnSp>
        <p:nvCxnSpPr>
          <p:cNvPr id="7" name="Straight Connector 6"/>
          <p:cNvCxnSpPr/>
          <p:nvPr userDrawn="1"/>
        </p:nvCxnSpPr>
        <p:spPr>
          <a:xfrm>
            <a:off x="502920" y="777240"/>
            <a:ext cx="9052560" cy="0"/>
          </a:xfrm>
          <a:prstGeom prst="line">
            <a:avLst/>
          </a:prstGeom>
          <a:ln w="19050" cmpd="dbl">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4718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7599680"/>
            <a:ext cx="10058400" cy="1727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6" name="Rectangle 15"/>
          <p:cNvSpPr>
            <a:spLocks noChangeArrowheads="1"/>
          </p:cNvSpPr>
          <p:nvPr/>
        </p:nvSpPr>
        <p:spPr bwMode="white">
          <a:xfrm>
            <a:off x="0" y="0"/>
            <a:ext cx="10058400" cy="1579154"/>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8" name="Rectangle 17"/>
          <p:cNvSpPr>
            <a:spLocks noChangeArrowheads="1"/>
          </p:cNvSpPr>
          <p:nvPr/>
        </p:nvSpPr>
        <p:spPr bwMode="white">
          <a:xfrm>
            <a:off x="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9" name="Rectangle 18"/>
          <p:cNvSpPr>
            <a:spLocks noChangeArrowheads="1"/>
          </p:cNvSpPr>
          <p:nvPr/>
        </p:nvSpPr>
        <p:spPr bwMode="white">
          <a:xfrm>
            <a:off x="9890760" y="0"/>
            <a:ext cx="167640" cy="777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9" name="Rectangle 8"/>
          <p:cNvSpPr>
            <a:spLocks noChangeArrowheads="1"/>
          </p:cNvSpPr>
          <p:nvPr/>
        </p:nvSpPr>
        <p:spPr bwMode="auto">
          <a:xfrm>
            <a:off x="164287" y="7240170"/>
            <a:ext cx="9716414" cy="35083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00584" tIns="50292" rIns="100584" bIns="50292" anchor="ctr" compatLnSpc="1"/>
          <a:lstStyle/>
          <a:p>
            <a:endParaRPr kumimoji="0" lang="en-US" sz="1980"/>
          </a:p>
        </p:txBody>
      </p:sp>
      <p:sp>
        <p:nvSpPr>
          <p:cNvPr id="14" name="Date Placeholder 13"/>
          <p:cNvSpPr>
            <a:spLocks noGrp="1"/>
          </p:cNvSpPr>
          <p:nvPr>
            <p:ph type="dt" sz="half" idx="2"/>
          </p:nvPr>
        </p:nvSpPr>
        <p:spPr>
          <a:xfrm>
            <a:off x="6370320" y="7258982"/>
            <a:ext cx="3349447" cy="414528"/>
          </a:xfrm>
          <a:prstGeom prst="rect">
            <a:avLst/>
          </a:prstGeom>
        </p:spPr>
        <p:txBody>
          <a:bodyPr vert="horz"/>
          <a:lstStyle>
            <a:lvl1pPr algn="r" eaLnBrk="1" latinLnBrk="0" hangingPunct="1">
              <a:defRPr kumimoji="0" sz="1540">
                <a:solidFill>
                  <a:srgbClr val="FFFFFF"/>
                </a:solidFill>
              </a:defRPr>
            </a:lvl1pPr>
          </a:lstStyle>
          <a:p>
            <a:fld id="{9B1FCACC-1005-4EE5-AE96-CEDBC623291A}" type="datetime1">
              <a:rPr lang="en-US" smtClean="0"/>
              <a:t>4/12/2021</a:t>
            </a:fld>
            <a:endParaRPr lang="en-US" dirty="0"/>
          </a:p>
        </p:txBody>
      </p:sp>
      <p:sp>
        <p:nvSpPr>
          <p:cNvPr id="3" name="Footer Placeholder 2"/>
          <p:cNvSpPr>
            <a:spLocks noGrp="1"/>
          </p:cNvSpPr>
          <p:nvPr>
            <p:ph type="ftr" sz="quarter" idx="3"/>
          </p:nvPr>
        </p:nvSpPr>
        <p:spPr>
          <a:xfrm>
            <a:off x="335280" y="7265628"/>
            <a:ext cx="3939540" cy="414528"/>
          </a:xfrm>
          <a:prstGeom prst="rect">
            <a:avLst/>
          </a:prstGeom>
        </p:spPr>
        <p:txBody>
          <a:bodyPr vert="horz"/>
          <a:lstStyle>
            <a:lvl1pPr algn="l" eaLnBrk="1" latinLnBrk="0" hangingPunct="1">
              <a:defRPr kumimoji="0" sz="1320">
                <a:solidFill>
                  <a:srgbClr val="FFFFFF"/>
                </a:solidFill>
              </a:defRPr>
            </a:lvl1pPr>
          </a:lstStyle>
          <a:p>
            <a:r>
              <a:rPr lang="en-US"/>
              <a:t>DN, 2020</a:t>
            </a:r>
            <a:endParaRPr lang="en-US" dirty="0"/>
          </a:p>
        </p:txBody>
      </p:sp>
      <p:sp>
        <p:nvSpPr>
          <p:cNvPr id="8" name="Rectangle 7"/>
          <p:cNvSpPr>
            <a:spLocks noChangeArrowheads="1"/>
          </p:cNvSpPr>
          <p:nvPr/>
        </p:nvSpPr>
        <p:spPr bwMode="auto">
          <a:xfrm>
            <a:off x="167640" y="176175"/>
            <a:ext cx="9716414" cy="7420051"/>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00584" tIns="50292" rIns="100584" bIns="50292" anchor="ctr" compatLnSpc="1"/>
          <a:lstStyle/>
          <a:p>
            <a:endParaRPr kumimoji="0" lang="en-US" sz="1980" dirty="0"/>
          </a:p>
        </p:txBody>
      </p:sp>
      <p:sp>
        <p:nvSpPr>
          <p:cNvPr id="10" name="Straight Connector 9"/>
          <p:cNvSpPr>
            <a:spLocks noChangeShapeType="1"/>
          </p:cNvSpPr>
          <p:nvPr/>
        </p:nvSpPr>
        <p:spPr bwMode="auto">
          <a:xfrm>
            <a:off x="167640" y="1446975"/>
            <a:ext cx="971641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100584" tIns="50292" rIns="100584" bIns="50292" anchor="ctr" compatLnSpc="1"/>
          <a:lstStyle/>
          <a:p>
            <a:endParaRPr kumimoji="0" lang="en-US" sz="1980"/>
          </a:p>
        </p:txBody>
      </p:sp>
      <p:sp>
        <p:nvSpPr>
          <p:cNvPr id="12" name="Oval 11"/>
          <p:cNvSpPr/>
          <p:nvPr/>
        </p:nvSpPr>
        <p:spPr>
          <a:xfrm>
            <a:off x="4693920" y="1083507"/>
            <a:ext cx="670560" cy="69088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15" name="Oval 14"/>
          <p:cNvSpPr/>
          <p:nvPr/>
        </p:nvSpPr>
        <p:spPr>
          <a:xfrm>
            <a:off x="4797857" y="1190594"/>
            <a:ext cx="462686" cy="476707"/>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980"/>
          </a:p>
        </p:txBody>
      </p:sp>
      <p:sp>
        <p:nvSpPr>
          <p:cNvPr id="23" name="Slide Number Placeholder 22"/>
          <p:cNvSpPr>
            <a:spLocks noGrp="1"/>
          </p:cNvSpPr>
          <p:nvPr>
            <p:ph type="sldNum" sz="quarter" idx="4"/>
          </p:nvPr>
        </p:nvSpPr>
        <p:spPr>
          <a:xfrm>
            <a:off x="4777740" y="1178865"/>
            <a:ext cx="502920" cy="500168"/>
          </a:xfrm>
          <a:prstGeom prst="rect">
            <a:avLst/>
          </a:prstGeom>
        </p:spPr>
        <p:txBody>
          <a:bodyPr vert="horz" lIns="45720" rIns="45720" anchor="ctr">
            <a:normAutofit/>
          </a:bodyPr>
          <a:lstStyle>
            <a:lvl1pPr algn="ctr" eaLnBrk="1" latinLnBrk="0" hangingPunct="1">
              <a:defRPr kumimoji="0" sz="1760">
                <a:solidFill>
                  <a:schemeClr val="accent3">
                    <a:shade val="75000"/>
                  </a:schemeClr>
                </a:solidFill>
              </a:defRPr>
            </a:lvl1pPr>
          </a:lstStyle>
          <a:p>
            <a:fld id="{B6F15528-21DE-4FAA-801E-634DDDAF4B2B}" type="slidenum">
              <a:rPr lang="en-US" smtClean="0"/>
              <a:t>‹#›</a:t>
            </a:fld>
            <a:endParaRPr lang="en-US" dirty="0"/>
          </a:p>
        </p:txBody>
      </p:sp>
      <p:sp>
        <p:nvSpPr>
          <p:cNvPr id="22" name="Title Placeholder 21"/>
          <p:cNvSpPr>
            <a:spLocks noGrp="1"/>
          </p:cNvSpPr>
          <p:nvPr>
            <p:ph type="title"/>
          </p:nvPr>
        </p:nvSpPr>
        <p:spPr>
          <a:xfrm>
            <a:off x="331927" y="259080"/>
            <a:ext cx="9387840" cy="860146"/>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31927" y="1727200"/>
            <a:ext cx="9387840" cy="521269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extLst>
      <p:ext uri="{BB962C8B-B14F-4D97-AF65-F5344CB8AC3E}">
        <p14:creationId xmlns:p14="http://schemas.microsoft.com/office/powerpoint/2010/main" val="1397923431"/>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38" r:id="rId12"/>
  </p:sldLayoutIdLst>
  <p:hf hdr="0" dt="0"/>
  <p:txStyles>
    <p:titleStyle>
      <a:lvl1pPr algn="ctr" rtl="0" eaLnBrk="1" latinLnBrk="0" hangingPunct="1">
        <a:spcBef>
          <a:spcPct val="0"/>
        </a:spcBef>
        <a:buNone/>
        <a:defRPr kumimoji="0" sz="3630" kern="1200">
          <a:solidFill>
            <a:schemeClr val="accent3">
              <a:shade val="75000"/>
            </a:schemeClr>
          </a:solidFill>
          <a:latin typeface="+mj-lt"/>
          <a:ea typeface="+mj-ea"/>
          <a:cs typeface="+mj-cs"/>
        </a:defRPr>
      </a:lvl1pPr>
    </p:titleStyle>
    <p:bodyStyle>
      <a:lvl1pPr marL="301752" indent="-301752" algn="l" rtl="0" eaLnBrk="1" latinLnBrk="0" hangingPunct="1">
        <a:spcBef>
          <a:spcPct val="20000"/>
        </a:spcBef>
        <a:buClr>
          <a:schemeClr val="accent1"/>
        </a:buClr>
        <a:buSzPct val="85000"/>
        <a:buFont typeface="Wingdings 2"/>
        <a:buChar char=""/>
        <a:defRPr kumimoji="0" sz="2970" kern="1200">
          <a:solidFill>
            <a:schemeClr val="tx1"/>
          </a:solidFill>
          <a:latin typeface="+mn-lt"/>
          <a:ea typeface="+mn-ea"/>
          <a:cs typeface="+mn-cs"/>
        </a:defRPr>
      </a:lvl1pPr>
      <a:lvl2pPr marL="603504" indent="-301752" algn="l" rtl="0" eaLnBrk="1" latinLnBrk="0" hangingPunct="1">
        <a:spcBef>
          <a:spcPct val="20000"/>
        </a:spcBef>
        <a:buClr>
          <a:schemeClr val="accent2"/>
        </a:buClr>
        <a:buSzPct val="70000"/>
        <a:buFont typeface="Wingdings"/>
        <a:buChar char=""/>
        <a:defRPr kumimoji="0" sz="2420" kern="1200">
          <a:solidFill>
            <a:schemeClr val="tx2"/>
          </a:solidFill>
          <a:latin typeface="+mn-lt"/>
          <a:ea typeface="+mn-ea"/>
          <a:cs typeface="+mn-cs"/>
        </a:defRPr>
      </a:lvl2pPr>
      <a:lvl3pPr marL="905256" indent="-251460" algn="l" rtl="0" eaLnBrk="1" latinLnBrk="0" hangingPunct="1">
        <a:spcBef>
          <a:spcPct val="20000"/>
        </a:spcBef>
        <a:buClr>
          <a:schemeClr val="accent3"/>
        </a:buClr>
        <a:buSzPct val="75000"/>
        <a:buFont typeface="Wingdings 2"/>
        <a:buChar char=""/>
        <a:defRPr kumimoji="0" sz="2200" kern="1200">
          <a:solidFill>
            <a:schemeClr val="tx1"/>
          </a:solidFill>
          <a:latin typeface="+mn-lt"/>
          <a:ea typeface="+mn-ea"/>
          <a:cs typeface="+mn-cs"/>
        </a:defRPr>
      </a:lvl3pPr>
      <a:lvl4pPr marL="1207008" indent="-251460" algn="l" rtl="0" eaLnBrk="1" latinLnBrk="0" hangingPunct="1">
        <a:spcBef>
          <a:spcPct val="20000"/>
        </a:spcBef>
        <a:buClr>
          <a:schemeClr val="accent4"/>
        </a:buClr>
        <a:buSzPct val="70000"/>
        <a:buFont typeface="Wingdings"/>
        <a:buChar char=""/>
        <a:defRPr kumimoji="0" sz="2200" kern="1200">
          <a:solidFill>
            <a:schemeClr val="tx2"/>
          </a:solidFill>
          <a:latin typeface="+mn-lt"/>
          <a:ea typeface="+mn-ea"/>
          <a:cs typeface="+mn-cs"/>
        </a:defRPr>
      </a:lvl4pPr>
      <a:lvl5pPr marL="1508760" indent="-251460" algn="l" rtl="0" eaLnBrk="1" latinLnBrk="0" hangingPunct="1">
        <a:spcBef>
          <a:spcPct val="20000"/>
        </a:spcBef>
        <a:buClr>
          <a:schemeClr val="accent5"/>
        </a:buClr>
        <a:buFontTx/>
        <a:buChar char="•"/>
        <a:defRPr kumimoji="0" sz="1980" kern="1200">
          <a:solidFill>
            <a:schemeClr val="tx1"/>
          </a:solidFill>
          <a:latin typeface="+mn-lt"/>
          <a:ea typeface="+mn-ea"/>
          <a:cs typeface="+mn-cs"/>
        </a:defRPr>
      </a:lvl5pPr>
      <a:lvl6pPr marL="1810512" indent="-201168" algn="l" rtl="0" eaLnBrk="1" latinLnBrk="0" hangingPunct="1">
        <a:spcBef>
          <a:spcPct val="20000"/>
        </a:spcBef>
        <a:buClr>
          <a:schemeClr val="accent6"/>
        </a:buClr>
        <a:buSzPct val="80000"/>
        <a:buFont typeface="Wingdings 2"/>
        <a:buChar char=""/>
        <a:defRPr kumimoji="0" sz="1980" kern="1200">
          <a:solidFill>
            <a:schemeClr val="tx1"/>
          </a:solidFill>
          <a:latin typeface="+mn-lt"/>
          <a:ea typeface="+mn-ea"/>
          <a:cs typeface="+mn-cs"/>
        </a:defRPr>
      </a:lvl6pPr>
      <a:lvl7pPr marL="2112264" indent="-201168" algn="l" rtl="0" eaLnBrk="1" latinLnBrk="0" hangingPunct="1">
        <a:spcBef>
          <a:spcPct val="20000"/>
        </a:spcBef>
        <a:buClr>
          <a:schemeClr val="accent1">
            <a:shade val="75000"/>
          </a:schemeClr>
        </a:buClr>
        <a:buSzPct val="90000"/>
        <a:buChar char="•"/>
        <a:defRPr kumimoji="0" sz="1760" kern="1200" baseline="0">
          <a:solidFill>
            <a:schemeClr val="tx1"/>
          </a:solidFill>
          <a:latin typeface="+mn-lt"/>
          <a:ea typeface="+mn-ea"/>
          <a:cs typeface="+mn-cs"/>
        </a:defRPr>
      </a:lvl7pPr>
      <a:lvl8pPr marL="2313432" indent="-201168" algn="l" rtl="0" eaLnBrk="1" latinLnBrk="0" hangingPunct="1">
        <a:spcBef>
          <a:spcPct val="20000"/>
        </a:spcBef>
        <a:buClr>
          <a:schemeClr val="accent4">
            <a:shade val="75000"/>
          </a:schemeClr>
        </a:buClr>
        <a:buChar char="•"/>
        <a:defRPr kumimoji="0" sz="1760" kern="1200">
          <a:solidFill>
            <a:schemeClr val="tx1"/>
          </a:solidFill>
          <a:latin typeface="+mn-lt"/>
          <a:ea typeface="+mn-ea"/>
          <a:cs typeface="+mn-cs"/>
        </a:defRPr>
      </a:lvl8pPr>
      <a:lvl9pPr marL="2615184" indent="-201168" algn="l" rtl="0" eaLnBrk="1" latinLnBrk="0" hangingPunct="1">
        <a:spcBef>
          <a:spcPct val="20000"/>
        </a:spcBef>
        <a:buClr>
          <a:schemeClr val="accent2">
            <a:shade val="75000"/>
          </a:schemeClr>
        </a:buClr>
        <a:buSzPct val="90000"/>
        <a:buChar char="•"/>
        <a:defRPr kumimoji="0" sz="154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02920" algn="l" rtl="0" eaLnBrk="1" latinLnBrk="0" hangingPunct="1">
        <a:defRPr kumimoji="0" kern="1200">
          <a:solidFill>
            <a:schemeClr val="tx1"/>
          </a:solidFill>
          <a:latin typeface="+mn-lt"/>
          <a:ea typeface="+mn-ea"/>
          <a:cs typeface="+mn-cs"/>
        </a:defRPr>
      </a:lvl2pPr>
      <a:lvl3pPr marL="1005840" algn="l" rtl="0" eaLnBrk="1" latinLnBrk="0" hangingPunct="1">
        <a:defRPr kumimoji="0" kern="1200">
          <a:solidFill>
            <a:schemeClr val="tx1"/>
          </a:solidFill>
          <a:latin typeface="+mn-lt"/>
          <a:ea typeface="+mn-ea"/>
          <a:cs typeface="+mn-cs"/>
        </a:defRPr>
      </a:lvl3pPr>
      <a:lvl4pPr marL="1508760" algn="l" rtl="0" eaLnBrk="1" latinLnBrk="0" hangingPunct="1">
        <a:defRPr kumimoji="0" kern="1200">
          <a:solidFill>
            <a:schemeClr val="tx1"/>
          </a:solidFill>
          <a:latin typeface="+mn-lt"/>
          <a:ea typeface="+mn-ea"/>
          <a:cs typeface="+mn-cs"/>
        </a:defRPr>
      </a:lvl4pPr>
      <a:lvl5pPr marL="2011680" algn="l" rtl="0" eaLnBrk="1" latinLnBrk="0" hangingPunct="1">
        <a:defRPr kumimoji="0" kern="1200">
          <a:solidFill>
            <a:schemeClr val="tx1"/>
          </a:solidFill>
          <a:latin typeface="+mn-lt"/>
          <a:ea typeface="+mn-ea"/>
          <a:cs typeface="+mn-cs"/>
        </a:defRPr>
      </a:lvl5pPr>
      <a:lvl6pPr marL="2514600" algn="l" rtl="0" eaLnBrk="1" latinLnBrk="0" hangingPunct="1">
        <a:defRPr kumimoji="0" kern="1200">
          <a:solidFill>
            <a:schemeClr val="tx1"/>
          </a:solidFill>
          <a:latin typeface="+mn-lt"/>
          <a:ea typeface="+mn-ea"/>
          <a:cs typeface="+mn-cs"/>
        </a:defRPr>
      </a:lvl6pPr>
      <a:lvl7pPr marL="3017520" algn="l" rtl="0" eaLnBrk="1" latinLnBrk="0" hangingPunct="1">
        <a:defRPr kumimoji="0" kern="1200">
          <a:solidFill>
            <a:schemeClr val="tx1"/>
          </a:solidFill>
          <a:latin typeface="+mn-lt"/>
          <a:ea typeface="+mn-ea"/>
          <a:cs typeface="+mn-cs"/>
        </a:defRPr>
      </a:lvl7pPr>
      <a:lvl8pPr marL="3520440" algn="l" rtl="0" eaLnBrk="1" latinLnBrk="0" hangingPunct="1">
        <a:defRPr kumimoji="0" kern="1200">
          <a:solidFill>
            <a:schemeClr val="tx1"/>
          </a:solidFill>
          <a:latin typeface="+mn-lt"/>
          <a:ea typeface="+mn-ea"/>
          <a:cs typeface="+mn-cs"/>
        </a:defRPr>
      </a:lvl8pPr>
      <a:lvl9pPr marL="402336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3.w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6.emf"/></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4.wmf"/></Relationships>
</file>

<file path=ppt/slides/_rels/slide8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sz="5940" dirty="0"/>
              <a:t>Design of Analog Integrated Circuit</a:t>
            </a:r>
          </a:p>
        </p:txBody>
      </p:sp>
      <p:sp>
        <p:nvSpPr>
          <p:cNvPr id="7" name="Subtitle 5">
            <a:extLst>
              <a:ext uri="{FF2B5EF4-FFF2-40B4-BE49-F238E27FC236}">
                <a16:creationId xmlns:a16="http://schemas.microsoft.com/office/drawing/2014/main" id="{06166DFE-B766-44EE-90A6-0EF8DF935E3E}"/>
              </a:ext>
            </a:extLst>
          </p:cNvPr>
          <p:cNvSpPr>
            <a:spLocks noGrp="1"/>
          </p:cNvSpPr>
          <p:nvPr>
            <p:ph type="subTitle" idx="1"/>
          </p:nvPr>
        </p:nvSpPr>
        <p:spPr>
          <a:xfrm>
            <a:off x="411363" y="3215640"/>
            <a:ext cx="9227937" cy="1927860"/>
          </a:xfrm>
        </p:spPr>
        <p:txBody>
          <a:bodyPr>
            <a:normAutofit/>
          </a:bodyPr>
          <a:lstStyle/>
          <a:p>
            <a:r>
              <a:rPr lang="en-US" sz="2200" dirty="0"/>
              <a:t>VO Tuan minh</a:t>
            </a:r>
          </a:p>
          <a:p>
            <a:r>
              <a:rPr lang="en-US" sz="2200" b="0" cap="none" spc="0" dirty="0"/>
              <a:t>Faculty of Electronics and Telecommunication Engineering</a:t>
            </a:r>
          </a:p>
          <a:p>
            <a:r>
              <a:rPr lang="en-US" sz="2200" b="0" cap="none" spc="0" dirty="0"/>
              <a:t>University of Science and Technology - The University of Danang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
          </p:nvPr>
        </p:nvSpPr>
        <p:spPr/>
        <p:txBody>
          <a:bodyPr>
            <a:normAutofit/>
          </a:bodyPr>
          <a:lstStyle/>
          <a:p>
            <a:r>
              <a:rPr lang="en-US" altLang="zh-CN" sz="2800" dirty="0">
                <a:solidFill>
                  <a:schemeClr val="bg1">
                    <a:lumMod val="50000"/>
                  </a:schemeClr>
                </a:solidFill>
                <a:ea typeface="宋体" pitchFamily="2" charset="-122"/>
              </a:rPr>
              <a:t>Giới thiệu Thiết kế vi mạch &amp; Đặc tính của MOSFET</a:t>
            </a:r>
          </a:p>
          <a:p>
            <a:r>
              <a:rPr lang="en-US" altLang="zh-CN" sz="2800" dirty="0">
                <a:solidFill>
                  <a:schemeClr val="bg1">
                    <a:lumMod val="50000"/>
                  </a:schemeClr>
                </a:solidFill>
                <a:ea typeface="宋体" pitchFamily="2" charset="-122"/>
              </a:rPr>
              <a:t>Mạch khuếch đại đ</a:t>
            </a:r>
            <a:r>
              <a:rPr lang="vi-VN" altLang="zh-CN" sz="2800" dirty="0">
                <a:solidFill>
                  <a:schemeClr val="bg1">
                    <a:lumMod val="50000"/>
                  </a:schemeClr>
                </a:solidFill>
                <a:ea typeface="宋体" pitchFamily="2" charset="-122"/>
              </a:rPr>
              <a:t>ơ</a:t>
            </a:r>
            <a:r>
              <a:rPr lang="en-US" altLang="zh-CN" sz="2800" dirty="0">
                <a:solidFill>
                  <a:schemeClr val="bg1">
                    <a:lumMod val="50000"/>
                  </a:schemeClr>
                </a:solidFill>
                <a:ea typeface="宋体" pitchFamily="2" charset="-122"/>
              </a:rPr>
              <a:t>n</a:t>
            </a:r>
          </a:p>
          <a:p>
            <a:r>
              <a:rPr lang="en-US" sz="2800" dirty="0">
                <a:solidFill>
                  <a:schemeClr val="bg1">
                    <a:lumMod val="50000"/>
                  </a:schemeClr>
                </a:solidFill>
              </a:rPr>
              <a:t>Mạch khuếch đại vi sai</a:t>
            </a:r>
          </a:p>
          <a:p>
            <a:pPr lvl="0"/>
            <a:r>
              <a:rPr lang="en-US" sz="2800" dirty="0">
                <a:solidFill>
                  <a:schemeClr val="bg1">
                    <a:lumMod val="50000"/>
                  </a:schemeClr>
                </a:solidFill>
              </a:rPr>
              <a:t>Mạch g</a:t>
            </a:r>
            <a:r>
              <a:rPr lang="vi-VN" sz="2800" dirty="0">
                <a:solidFill>
                  <a:schemeClr val="bg1">
                    <a:lumMod val="50000"/>
                  </a:schemeClr>
                </a:solidFill>
              </a:rPr>
              <a:t>ư</a:t>
            </a:r>
            <a:r>
              <a:rPr lang="en-US" sz="2800" dirty="0" err="1">
                <a:solidFill>
                  <a:schemeClr val="bg1">
                    <a:lumMod val="50000"/>
                  </a:schemeClr>
                </a:solidFill>
              </a:rPr>
              <a:t>ơng</a:t>
            </a:r>
            <a:r>
              <a:rPr lang="en-US" sz="2800" dirty="0">
                <a:solidFill>
                  <a:schemeClr val="bg1">
                    <a:lumMod val="50000"/>
                  </a:schemeClr>
                </a:solidFill>
              </a:rPr>
              <a:t> </a:t>
            </a:r>
            <a:r>
              <a:rPr lang="en-US" sz="2800" dirty="0" err="1">
                <a:solidFill>
                  <a:schemeClr val="bg1">
                    <a:lumMod val="50000"/>
                  </a:schemeClr>
                </a:solidFill>
              </a:rPr>
              <a:t>dòng</a:t>
            </a:r>
            <a:r>
              <a:rPr lang="en-US" sz="2800" dirty="0">
                <a:solidFill>
                  <a:schemeClr val="bg1">
                    <a:lumMod val="50000"/>
                  </a:schemeClr>
                </a:solidFill>
              </a:rPr>
              <a:t> &amp; </a:t>
            </a:r>
            <a:r>
              <a:rPr lang="en-US" sz="2800" dirty="0" err="1">
                <a:solidFill>
                  <a:schemeClr val="bg1">
                    <a:lumMod val="50000"/>
                  </a:schemeClr>
                </a:solidFill>
              </a:rPr>
              <a:t>Kỹ</a:t>
            </a:r>
            <a:r>
              <a:rPr lang="en-US" sz="2800" dirty="0">
                <a:solidFill>
                  <a:schemeClr val="bg1">
                    <a:lumMod val="50000"/>
                  </a:schemeClr>
                </a:solidFill>
              </a:rPr>
              <a:t> </a:t>
            </a:r>
            <a:r>
              <a:rPr lang="en-US" sz="2800" dirty="0" err="1">
                <a:solidFill>
                  <a:schemeClr val="bg1">
                    <a:lumMod val="50000"/>
                  </a:schemeClr>
                </a:solidFill>
              </a:rPr>
              <a:t>thuật</a:t>
            </a:r>
            <a:r>
              <a:rPr lang="en-US" sz="2800" dirty="0">
                <a:solidFill>
                  <a:schemeClr val="bg1">
                    <a:lumMod val="50000"/>
                  </a:schemeClr>
                </a:solidFill>
              </a:rPr>
              <a:t> </a:t>
            </a:r>
            <a:r>
              <a:rPr lang="en-US" sz="2800" dirty="0" err="1">
                <a:solidFill>
                  <a:schemeClr val="bg1">
                    <a:lumMod val="50000"/>
                  </a:schemeClr>
                </a:solidFill>
              </a:rPr>
              <a:t>phân</a:t>
            </a:r>
            <a:r>
              <a:rPr lang="en-US" sz="2800" dirty="0">
                <a:solidFill>
                  <a:schemeClr val="bg1">
                    <a:lumMod val="50000"/>
                  </a:schemeClr>
                </a:solidFill>
              </a:rPr>
              <a:t> </a:t>
            </a:r>
            <a:r>
              <a:rPr lang="en-US" sz="2800" dirty="0" err="1">
                <a:solidFill>
                  <a:schemeClr val="bg1">
                    <a:lumMod val="50000"/>
                  </a:schemeClr>
                </a:solidFill>
              </a:rPr>
              <a:t>cực</a:t>
            </a:r>
            <a:endParaRPr lang="en-US" sz="2800" dirty="0">
              <a:solidFill>
                <a:schemeClr val="bg1">
                  <a:lumMod val="50000"/>
                </a:schemeClr>
              </a:solidFill>
            </a:endParaRPr>
          </a:p>
          <a:p>
            <a:pPr lvl="0"/>
            <a:r>
              <a:rPr lang="en-US" sz="2800" dirty="0">
                <a:solidFill>
                  <a:schemeClr val="bg1">
                    <a:lumMod val="50000"/>
                  </a:schemeClr>
                </a:solidFill>
              </a:rPr>
              <a:t>Đáp ứng tần số</a:t>
            </a:r>
          </a:p>
          <a:p>
            <a:pPr lvl="0"/>
            <a:r>
              <a:rPr lang="en-US" sz="2800" dirty="0" err="1"/>
              <a:t>Bộ</a:t>
            </a:r>
            <a:r>
              <a:rPr lang="en-US" sz="2800" dirty="0"/>
              <a:t> </a:t>
            </a:r>
            <a:r>
              <a:rPr lang="en-US" sz="2800" dirty="0" err="1"/>
              <a:t>chuyển</a:t>
            </a:r>
            <a:r>
              <a:rPr lang="en-US" sz="2800" dirty="0"/>
              <a:t> </a:t>
            </a:r>
            <a:r>
              <a:rPr lang="en-US" sz="2800" dirty="0" err="1"/>
              <a:t>đổi</a:t>
            </a:r>
            <a:r>
              <a:rPr lang="en-US" sz="2800" dirty="0"/>
              <a:t> t</a:t>
            </a:r>
            <a:r>
              <a:rPr lang="vi-VN" sz="2800" dirty="0"/>
              <a:t>ư</a:t>
            </a:r>
            <a:r>
              <a:rPr lang="en-US" sz="2800" dirty="0" err="1"/>
              <a:t>ơng</a:t>
            </a:r>
            <a:r>
              <a:rPr lang="en-US" sz="2800" dirty="0"/>
              <a:t> </a:t>
            </a:r>
            <a:r>
              <a:rPr lang="en-US" sz="2800" dirty="0" err="1"/>
              <a:t>tự</a:t>
            </a:r>
            <a:r>
              <a:rPr lang="en-US" sz="2800" dirty="0"/>
              <a:t>/</a:t>
            </a:r>
            <a:r>
              <a:rPr lang="en-US" sz="2800" dirty="0" err="1"/>
              <a:t>số</a:t>
            </a:r>
            <a:endParaRPr lang="en-US" sz="2800" dirty="0"/>
          </a:p>
          <a:p>
            <a:r>
              <a:rPr lang="en-US" sz="2800" dirty="0" err="1">
                <a:solidFill>
                  <a:schemeClr val="bg1">
                    <a:lumMod val="50000"/>
                  </a:schemeClr>
                </a:solidFill>
              </a:rPr>
              <a:t>Bộ</a:t>
            </a:r>
            <a:r>
              <a:rPr lang="en-US" sz="2800" dirty="0">
                <a:solidFill>
                  <a:schemeClr val="bg1">
                    <a:lumMod val="50000"/>
                  </a:schemeClr>
                </a:solidFill>
              </a:rPr>
              <a:t> </a:t>
            </a:r>
            <a:r>
              <a:rPr lang="en-US" sz="2800" dirty="0" err="1">
                <a:solidFill>
                  <a:schemeClr val="bg1">
                    <a:lumMod val="50000"/>
                  </a:schemeClr>
                </a:solidFill>
              </a:rPr>
              <a:t>chuyển</a:t>
            </a:r>
            <a:r>
              <a:rPr lang="en-US" sz="2800" dirty="0">
                <a:solidFill>
                  <a:schemeClr val="bg1">
                    <a:lumMod val="50000"/>
                  </a:schemeClr>
                </a:solidFill>
              </a:rPr>
              <a:t> </a:t>
            </a:r>
            <a:r>
              <a:rPr lang="en-US" sz="2800" dirty="0" err="1">
                <a:solidFill>
                  <a:schemeClr val="bg1">
                    <a:lumMod val="50000"/>
                  </a:schemeClr>
                </a:solidFill>
              </a:rPr>
              <a:t>đổi</a:t>
            </a:r>
            <a:r>
              <a:rPr lang="en-US" sz="2800" dirty="0">
                <a:solidFill>
                  <a:schemeClr val="bg1">
                    <a:lumMod val="50000"/>
                  </a:schemeClr>
                </a:solidFill>
              </a:rPr>
              <a:t> </a:t>
            </a:r>
            <a:r>
              <a:rPr lang="en-US" sz="2800" dirty="0" err="1">
                <a:solidFill>
                  <a:schemeClr val="bg1">
                    <a:lumMod val="50000"/>
                  </a:schemeClr>
                </a:solidFill>
              </a:rPr>
              <a:t>số</a:t>
            </a:r>
            <a:r>
              <a:rPr lang="en-US" sz="2800" dirty="0">
                <a:solidFill>
                  <a:schemeClr val="bg1">
                    <a:lumMod val="50000"/>
                  </a:schemeClr>
                </a:solidFill>
              </a:rPr>
              <a:t>/t</a:t>
            </a:r>
            <a:r>
              <a:rPr lang="vi-VN" sz="2800" dirty="0">
                <a:solidFill>
                  <a:schemeClr val="bg1">
                    <a:lumMod val="50000"/>
                  </a:schemeClr>
                </a:solidFill>
              </a:rPr>
              <a:t>ư</a:t>
            </a:r>
            <a:r>
              <a:rPr lang="en-US" sz="2800" dirty="0" err="1">
                <a:solidFill>
                  <a:schemeClr val="bg1">
                    <a:lumMod val="50000"/>
                  </a:schemeClr>
                </a:solidFill>
              </a:rPr>
              <a:t>ơng</a:t>
            </a:r>
            <a:r>
              <a:rPr lang="en-US" sz="2800" dirty="0">
                <a:solidFill>
                  <a:schemeClr val="bg1">
                    <a:lumMod val="50000"/>
                  </a:schemeClr>
                </a:solidFill>
              </a:rPr>
              <a:t> </a:t>
            </a:r>
            <a:r>
              <a:rPr lang="en-US" sz="2800" dirty="0" err="1">
                <a:solidFill>
                  <a:schemeClr val="bg1">
                    <a:lumMod val="50000"/>
                  </a:schemeClr>
                </a:solidFill>
              </a:rPr>
              <a:t>tự</a:t>
            </a:r>
            <a:endParaRPr lang="en-US" sz="2800" dirty="0">
              <a:solidFill>
                <a:schemeClr val="bg1">
                  <a:lumMod val="50000"/>
                </a:schemeClr>
              </a:solidFill>
            </a:endParaRPr>
          </a:p>
          <a:p>
            <a:pPr lvl="0"/>
            <a:r>
              <a:rPr lang="en-US" sz="2800" dirty="0" err="1">
                <a:solidFill>
                  <a:schemeClr val="bg1">
                    <a:lumMod val="50000"/>
                  </a:schemeClr>
                </a:solidFill>
              </a:rPr>
              <a:t>Vòng</a:t>
            </a:r>
            <a:r>
              <a:rPr lang="en-US" sz="2800" dirty="0">
                <a:solidFill>
                  <a:schemeClr val="bg1">
                    <a:lumMod val="50000"/>
                  </a:schemeClr>
                </a:solidFill>
              </a:rPr>
              <a:t> </a:t>
            </a:r>
            <a:r>
              <a:rPr lang="en-US" sz="2800" dirty="0" err="1">
                <a:solidFill>
                  <a:schemeClr val="bg1">
                    <a:lumMod val="50000"/>
                  </a:schemeClr>
                </a:solidFill>
              </a:rPr>
              <a:t>khóa</a:t>
            </a:r>
            <a:r>
              <a:rPr lang="en-US" sz="2800" dirty="0">
                <a:solidFill>
                  <a:schemeClr val="bg1">
                    <a:lumMod val="50000"/>
                  </a:schemeClr>
                </a:solidFill>
              </a:rPr>
              <a:t> </a:t>
            </a:r>
            <a:r>
              <a:rPr lang="en-US" sz="2800" dirty="0" err="1">
                <a:solidFill>
                  <a:schemeClr val="bg1">
                    <a:lumMod val="50000"/>
                  </a:schemeClr>
                </a:solidFill>
              </a:rPr>
              <a:t>pha</a:t>
            </a:r>
            <a:endParaRPr lang="en-US" sz="2800" dirty="0">
              <a:solidFill>
                <a:schemeClr val="bg1">
                  <a:lumMod val="50000"/>
                </a:schemeClr>
              </a:solidFill>
            </a:endParaRPr>
          </a:p>
        </p:txBody>
      </p:sp>
      <p:sp>
        <p:nvSpPr>
          <p:cNvPr id="158726" name="Rectangle 6"/>
          <p:cNvSpPr>
            <a:spLocks noGrp="1" noChangeArrowheads="1"/>
          </p:cNvSpPr>
          <p:nvPr>
            <p:ph type="title"/>
          </p:nvPr>
        </p:nvSpPr>
        <p:spPr/>
        <p:txBody>
          <a:bodyPr/>
          <a:lstStyle/>
          <a:p>
            <a:r>
              <a:rPr lang="en-US" altLang="zh-CN" dirty="0" err="1"/>
              <a:t>Chủ</a:t>
            </a:r>
            <a:r>
              <a:rPr lang="en-US" altLang="zh-CN" dirty="0"/>
              <a:t> </a:t>
            </a:r>
            <a:r>
              <a:rPr lang="en-US" altLang="zh-CN" dirty="0" err="1"/>
              <a:t>đề</a:t>
            </a:r>
            <a:endParaRPr lang="en-US" altLang="zh-CN" dirty="0"/>
          </a:p>
        </p:txBody>
      </p:sp>
      <p:sp>
        <p:nvSpPr>
          <p:cNvPr id="8" name="Slide Number Placeholder 7">
            <a:extLst>
              <a:ext uri="{FF2B5EF4-FFF2-40B4-BE49-F238E27FC236}">
                <a16:creationId xmlns:a16="http://schemas.microsoft.com/office/drawing/2014/main" id="{3EE20A28-D6A9-495A-9FF5-37FB17FF0D4F}"/>
              </a:ext>
            </a:extLst>
          </p:cNvPr>
          <p:cNvSpPr>
            <a:spLocks noGrp="1"/>
          </p:cNvSpPr>
          <p:nvPr>
            <p:ph type="sldNum" sz="quarter" idx="12"/>
          </p:nvPr>
        </p:nvSpPr>
        <p:spPr>
          <a:xfrm>
            <a:off x="4777740" y="1178865"/>
            <a:ext cx="502920" cy="500168"/>
          </a:xfrm>
        </p:spPr>
        <p:txBody>
          <a:bodyPr/>
          <a:lstStyle/>
          <a:p>
            <a:pPr marL="25400">
              <a:lnSpc>
                <a:spcPct val="100000"/>
              </a:lnSpc>
              <a:spcBef>
                <a:spcPts val="5"/>
              </a:spcBef>
            </a:pPr>
            <a:fld id="{81D60167-4931-47E6-BA6A-407CBD079E47}" type="slidenum">
              <a:rPr lang="en-US" smtClean="0"/>
              <a:t>2</a:t>
            </a:fld>
            <a:endParaRPr lang="en-US" dirty="0"/>
          </a:p>
        </p:txBody>
      </p:sp>
      <p:sp>
        <p:nvSpPr>
          <p:cNvPr id="2" name="Date Placeholder 1">
            <a:extLst>
              <a:ext uri="{FF2B5EF4-FFF2-40B4-BE49-F238E27FC236}">
                <a16:creationId xmlns:a16="http://schemas.microsoft.com/office/drawing/2014/main" id="{1558DB20-2AFE-44FE-B0C1-1A93643DE067}"/>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3" name="Footer Placeholder 2">
            <a:extLst>
              <a:ext uri="{FF2B5EF4-FFF2-40B4-BE49-F238E27FC236}">
                <a16:creationId xmlns:a16="http://schemas.microsoft.com/office/drawing/2014/main" id="{BBB3A6D9-A2C2-4834-86AE-E4696DF84DB8}"/>
              </a:ext>
            </a:extLst>
          </p:cNvPr>
          <p:cNvSpPr>
            <a:spLocks noGrp="1"/>
          </p:cNvSpPr>
          <p:nvPr>
            <p:ph type="ftr" sz="quarter" idx="11"/>
          </p:nvPr>
        </p:nvSpPr>
        <p:spPr/>
        <p:txBody>
          <a:bodyPr/>
          <a:lstStyle/>
          <a:p>
            <a:r>
              <a:rPr lang="en-US"/>
              <a:t>DN, 2020</a:t>
            </a: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87C51D6-1846-4017-8568-9B0F2F290942}"/>
              </a:ext>
            </a:extLst>
          </p:cNvPr>
          <p:cNvSpPr>
            <a:spLocks noGrp="1"/>
          </p:cNvSpPr>
          <p:nvPr>
            <p:ph sz="quarter" idx="1"/>
          </p:nvPr>
        </p:nvSpPr>
        <p:spPr/>
        <p:txBody>
          <a:bodyPr>
            <a:noAutofit/>
          </a:bodyPr>
          <a:lstStyle/>
          <a:p>
            <a:pPr marL="393700" indent="-381000">
              <a:lnSpc>
                <a:spcPct val="100000"/>
              </a:lnSpc>
              <a:spcBef>
                <a:spcPts val="855"/>
              </a:spcBef>
              <a:buAutoNum type="arabicPeriod"/>
              <a:tabLst>
                <a:tab pos="393700" algn="l"/>
                <a:tab pos="394335" algn="l"/>
              </a:tabLst>
            </a:pPr>
            <a:r>
              <a:rPr lang="en-US" sz="3200" spc="-5" dirty="0">
                <a:latin typeface="Arial"/>
                <a:cs typeface="Arial"/>
              </a:rPr>
              <a:t>CMOS Comparators</a:t>
            </a:r>
          </a:p>
          <a:p>
            <a:pPr marL="393700" indent="-381000">
              <a:lnSpc>
                <a:spcPct val="100000"/>
              </a:lnSpc>
              <a:spcBef>
                <a:spcPts val="855"/>
              </a:spcBef>
              <a:buAutoNum type="arabicPeriod"/>
              <a:tabLst>
                <a:tab pos="393700" algn="l"/>
                <a:tab pos="394335" algn="l"/>
              </a:tabLst>
            </a:pPr>
            <a:r>
              <a:rPr lang="en-US" sz="3200" spc="-5" dirty="0">
                <a:solidFill>
                  <a:schemeClr val="bg1">
                    <a:lumMod val="50000"/>
                  </a:schemeClr>
                </a:solidFill>
                <a:latin typeface="Arial"/>
                <a:cs typeface="Arial"/>
              </a:rPr>
              <a:t>Analog Digital Converters</a:t>
            </a:r>
          </a:p>
        </p:txBody>
      </p:sp>
      <p:sp>
        <p:nvSpPr>
          <p:cNvPr id="7" name="Title 6">
            <a:extLst>
              <a:ext uri="{FF2B5EF4-FFF2-40B4-BE49-F238E27FC236}">
                <a16:creationId xmlns:a16="http://schemas.microsoft.com/office/drawing/2014/main" id="{FCA78B80-686C-4B97-8A96-88E129580C96}"/>
              </a:ext>
            </a:extLst>
          </p:cNvPr>
          <p:cNvSpPr>
            <a:spLocks noGrp="1"/>
          </p:cNvSpPr>
          <p:nvPr>
            <p:ph type="title"/>
          </p:nvPr>
        </p:nvSpPr>
        <p:spPr/>
        <p:txBody>
          <a:bodyPr/>
          <a:lstStyle/>
          <a:p>
            <a:r>
              <a:rPr lang="en-US" dirty="0"/>
              <a:t>Overview</a:t>
            </a:r>
            <a:endParaRPr lang="en-GB" dirty="0"/>
          </a:p>
        </p:txBody>
      </p:sp>
      <p:sp>
        <p:nvSpPr>
          <p:cNvPr id="3" name="Date Placeholder 2">
            <a:extLst>
              <a:ext uri="{FF2B5EF4-FFF2-40B4-BE49-F238E27FC236}">
                <a16:creationId xmlns:a16="http://schemas.microsoft.com/office/drawing/2014/main" id="{5FEA3462-1AEE-419E-8697-16FC229EA1B0}"/>
              </a:ext>
            </a:extLst>
          </p:cNvPr>
          <p:cNvSpPr>
            <a:spLocks noGrp="1"/>
          </p:cNvSpPr>
          <p:nvPr>
            <p:ph type="dt" sz="half" idx="10"/>
          </p:nvPr>
        </p:nvSpPr>
        <p:spPr>
          <a:xfrm>
            <a:off x="6370320" y="7258982"/>
            <a:ext cx="3349447" cy="414528"/>
          </a:xfrm>
        </p:spPr>
        <p:txBody>
          <a:bodyPr/>
          <a:lstStyle/>
          <a:p>
            <a:pPr marL="12700">
              <a:lnSpc>
                <a:spcPct val="100000"/>
              </a:lnSpc>
              <a:spcBef>
                <a:spcPts val="5"/>
              </a:spcBef>
            </a:pPr>
            <a:r>
              <a:rPr lang="en-US" spc="-5"/>
              <a:t>V.T.M</a:t>
            </a:r>
            <a:endParaRPr lang="en-US" spc="-5" dirty="0"/>
          </a:p>
        </p:txBody>
      </p:sp>
      <p:sp>
        <p:nvSpPr>
          <p:cNvPr id="5" name="Footer Placeholder 4">
            <a:extLst>
              <a:ext uri="{FF2B5EF4-FFF2-40B4-BE49-F238E27FC236}">
                <a16:creationId xmlns:a16="http://schemas.microsoft.com/office/drawing/2014/main" id="{C45FF1AD-C8E5-4E74-AFB6-ED1666B541DD}"/>
              </a:ext>
            </a:extLst>
          </p:cNvPr>
          <p:cNvSpPr>
            <a:spLocks noGrp="1"/>
          </p:cNvSpPr>
          <p:nvPr>
            <p:ph type="ftr" sz="quarter" idx="11"/>
          </p:nvPr>
        </p:nvSpPr>
        <p:spPr>
          <a:xfrm>
            <a:off x="335280" y="7265628"/>
            <a:ext cx="3939540" cy="414528"/>
          </a:xfrm>
        </p:spPr>
        <p:txBody>
          <a:bodyPr/>
          <a:lstStyle/>
          <a:p>
            <a:pPr marL="12700">
              <a:lnSpc>
                <a:spcPct val="100000"/>
              </a:lnSpc>
              <a:spcBef>
                <a:spcPts val="5"/>
              </a:spcBef>
            </a:pPr>
            <a:r>
              <a:rPr lang="en-US" spc="-10"/>
              <a:t>DN, 2020</a:t>
            </a:r>
            <a:endParaRPr lang="en-US" spc="-5" dirty="0"/>
          </a:p>
        </p:txBody>
      </p:sp>
      <p:sp>
        <p:nvSpPr>
          <p:cNvPr id="6" name="Slide Number Placeholder 5">
            <a:extLst>
              <a:ext uri="{FF2B5EF4-FFF2-40B4-BE49-F238E27FC236}">
                <a16:creationId xmlns:a16="http://schemas.microsoft.com/office/drawing/2014/main" id="{1A638CC1-2CA4-447C-A13C-680295F772E3}"/>
              </a:ext>
            </a:extLst>
          </p:cNvPr>
          <p:cNvSpPr>
            <a:spLocks noGrp="1"/>
          </p:cNvSpPr>
          <p:nvPr>
            <p:ph type="sldNum" sz="quarter" idx="12"/>
          </p:nvPr>
        </p:nvSpPr>
        <p:spPr>
          <a:xfrm>
            <a:off x="4777740" y="1178865"/>
            <a:ext cx="502920" cy="500168"/>
          </a:xfrm>
        </p:spPr>
        <p:txBody>
          <a:bodyPr/>
          <a:lstStyle/>
          <a:p>
            <a:pPr marL="25400">
              <a:lnSpc>
                <a:spcPct val="100000"/>
              </a:lnSpc>
              <a:spcBef>
                <a:spcPts val="5"/>
              </a:spcBef>
            </a:pPr>
            <a:fld id="{81D60167-4931-47E6-BA6A-407CBD079E47}" type="slidenum">
              <a:rPr lang="en-US" smtClean="0"/>
              <a:t>3</a:t>
            </a:fld>
            <a:endParaRPr lang="en-US" dirty="0"/>
          </a:p>
        </p:txBody>
      </p:sp>
    </p:spTree>
    <p:extLst>
      <p:ext uri="{BB962C8B-B14F-4D97-AF65-F5344CB8AC3E}">
        <p14:creationId xmlns:p14="http://schemas.microsoft.com/office/powerpoint/2010/main" val="1461516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30F19C4C-F4B4-4052-8824-0344F16F2E44}"/>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A comparator detects if its input is  higher or lower than a reference level.</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spc="-5" dirty="0">
              <a:latin typeface="Arial" panose="020B0604020202020204" pitchFamily="34" charset="0"/>
              <a:cs typeface="Arial" panose="020B0604020202020204" pitchFamily="34" charset="0"/>
            </a:endParaRPr>
          </a:p>
          <a:p>
            <a:endParaRPr lang="en-US" sz="2400" spc="-5" dirty="0">
              <a:latin typeface="Arial" panose="020B0604020202020204" pitchFamily="34" charset="0"/>
              <a:cs typeface="Arial" panose="020B0604020202020204" pitchFamily="34" charset="0"/>
            </a:endParaRPr>
          </a:p>
          <a:p>
            <a:endParaRPr lang="en-US" sz="2400" spc="-5" dirty="0">
              <a:latin typeface="Arial" panose="020B0604020202020204" pitchFamily="34" charset="0"/>
              <a:cs typeface="Arial" panose="020B0604020202020204" pitchFamily="34" charset="0"/>
            </a:endParaRPr>
          </a:p>
          <a:p>
            <a:r>
              <a:rPr lang="en-US" sz="2400" spc="-5" dirty="0">
                <a:latin typeface="Arial" panose="020B0604020202020204" pitchFamily="34" charset="0"/>
                <a:cs typeface="Arial" panose="020B0604020202020204" pitchFamily="34" charset="0"/>
              </a:rPr>
              <a:t>Its output </a:t>
            </a:r>
            <a:r>
              <a:rPr lang="en-US" sz="2400" dirty="0">
                <a:latin typeface="Arial" panose="020B0604020202020204" pitchFamily="34" charset="0"/>
                <a:cs typeface="Arial" panose="020B0604020202020204" pitchFamily="34" charset="0"/>
              </a:rPr>
              <a:t>is a large </a:t>
            </a:r>
            <a:r>
              <a:rPr lang="en-US" sz="2400" spc="-5" dirty="0">
                <a:latin typeface="Arial" panose="020B0604020202020204" pitchFamily="34" charset="0"/>
                <a:cs typeface="Arial" panose="020B0604020202020204" pitchFamily="34" charset="0"/>
              </a:rPr>
              <a:t>voltage </a:t>
            </a:r>
            <a:r>
              <a:rPr lang="en-US" sz="2400" dirty="0">
                <a:latin typeface="Arial" panose="020B0604020202020204" pitchFamily="34" charset="0"/>
                <a:cs typeface="Arial" panose="020B0604020202020204" pitchFamily="34" charset="0"/>
              </a:rPr>
              <a:t>which is assumed </a:t>
            </a:r>
            <a:r>
              <a:rPr lang="en-US" sz="2400" spc="-5" dirty="0">
                <a:latin typeface="Arial" panose="020B0604020202020204" pitchFamily="34" charset="0"/>
                <a:cs typeface="Arial" panose="020B0604020202020204" pitchFamily="34" charset="0"/>
              </a:rPr>
              <a:t>to </a:t>
            </a:r>
            <a:r>
              <a:rPr lang="en-US" sz="2400" dirty="0">
                <a:latin typeface="Arial" panose="020B0604020202020204" pitchFamily="34" charset="0"/>
                <a:cs typeface="Arial" panose="020B0604020202020204" pitchFamily="34" charset="0"/>
              </a:rPr>
              <a:t>represent  a </a:t>
            </a:r>
            <a:r>
              <a:rPr lang="en-US" sz="2400" spc="-5" dirty="0">
                <a:latin typeface="Arial" panose="020B0604020202020204" pitchFamily="34" charset="0"/>
                <a:cs typeface="Arial" panose="020B0604020202020204" pitchFamily="34" charset="0"/>
              </a:rPr>
              <a:t>digital </a:t>
            </a:r>
            <a:r>
              <a:rPr lang="en-US" sz="2400" dirty="0">
                <a:latin typeface="Arial" panose="020B0604020202020204" pitchFamily="34" charset="0"/>
                <a:cs typeface="Arial" panose="020B0604020202020204" pitchFamily="34" charset="0"/>
              </a:rPr>
              <a:t>1 or 0</a:t>
            </a:r>
            <a:r>
              <a:rPr lang="en-US" sz="2400" spc="-9"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level.</a:t>
            </a:r>
          </a:p>
          <a:p>
            <a:r>
              <a:rPr lang="en-US" sz="2400" dirty="0">
                <a:latin typeface="Arial" panose="020B0604020202020204" pitchFamily="34" charset="0"/>
                <a:cs typeface="Arial" panose="020B0604020202020204" pitchFamily="34" charset="0"/>
              </a:rPr>
              <a:t>If  v</a:t>
            </a:r>
            <a:r>
              <a:rPr lang="en-US" sz="2400" baseline="-25000" dirty="0">
                <a:latin typeface="Arial" panose="020B0604020202020204" pitchFamily="34" charset="0"/>
                <a:cs typeface="Arial" panose="020B0604020202020204" pitchFamily="34" charset="0"/>
              </a:rPr>
              <a:t>in</a:t>
            </a:r>
            <a:r>
              <a:rPr lang="en-US" sz="2400" dirty="0">
                <a:latin typeface="Arial" panose="020B0604020202020204" pitchFamily="34" charset="0"/>
                <a:cs typeface="Arial" panose="020B0604020202020204" pitchFamily="34" charset="0"/>
              </a:rPr>
              <a:t> &gt; v</a:t>
            </a:r>
            <a:r>
              <a:rPr lang="en-US" sz="2400" baseline="-25000" dirty="0">
                <a:latin typeface="Arial" panose="020B0604020202020204" pitchFamily="34" charset="0"/>
                <a:cs typeface="Arial" panose="020B0604020202020204" pitchFamily="34" charset="0"/>
              </a:rPr>
              <a:t>ref</a:t>
            </a:r>
            <a:r>
              <a:rPr lang="en-US" sz="2400" dirty="0">
                <a:latin typeface="Arial" panose="020B0604020202020204" pitchFamily="34" charset="0"/>
                <a:cs typeface="Arial" panose="020B0604020202020204" pitchFamily="34" charset="0"/>
              </a:rPr>
              <a:t> =&gt; v</a:t>
            </a:r>
            <a:r>
              <a:rPr lang="en-US" sz="2400" baseline="-25000" dirty="0">
                <a:latin typeface="Arial" panose="020B0604020202020204" pitchFamily="34" charset="0"/>
                <a:cs typeface="Arial" panose="020B0604020202020204" pitchFamily="34" charset="0"/>
              </a:rPr>
              <a:t>out</a:t>
            </a:r>
            <a:r>
              <a:rPr lang="en-US" sz="2400" dirty="0">
                <a:latin typeface="Arial" panose="020B0604020202020204" pitchFamily="34" charset="0"/>
                <a:cs typeface="Arial" panose="020B0604020202020204" pitchFamily="34" charset="0"/>
              </a:rPr>
              <a:t> = “1”</a:t>
            </a:r>
          </a:p>
          <a:p>
            <a:r>
              <a:rPr lang="en-US" sz="2400" dirty="0">
                <a:latin typeface="Arial" panose="020B0604020202020204" pitchFamily="34" charset="0"/>
                <a:cs typeface="Arial" panose="020B0604020202020204" pitchFamily="34" charset="0"/>
              </a:rPr>
              <a:t>If  v</a:t>
            </a:r>
            <a:r>
              <a:rPr lang="en-US" sz="2400" baseline="-25000" dirty="0">
                <a:latin typeface="Arial" panose="020B0604020202020204" pitchFamily="34" charset="0"/>
                <a:cs typeface="Arial" panose="020B0604020202020204" pitchFamily="34" charset="0"/>
              </a:rPr>
              <a:t>in</a:t>
            </a:r>
            <a:r>
              <a:rPr lang="en-US" sz="2400" dirty="0">
                <a:latin typeface="Arial" panose="020B0604020202020204" pitchFamily="34" charset="0"/>
                <a:cs typeface="Arial" panose="020B0604020202020204" pitchFamily="34" charset="0"/>
              </a:rPr>
              <a:t> &lt; v</a:t>
            </a:r>
            <a:r>
              <a:rPr lang="en-US" sz="2400" baseline="-25000" dirty="0">
                <a:latin typeface="Arial" panose="020B0604020202020204" pitchFamily="34" charset="0"/>
                <a:cs typeface="Arial" panose="020B0604020202020204" pitchFamily="34" charset="0"/>
              </a:rPr>
              <a:t>ref</a:t>
            </a:r>
            <a:r>
              <a:rPr lang="en-US" sz="2400" dirty="0">
                <a:latin typeface="Arial" panose="020B0604020202020204" pitchFamily="34" charset="0"/>
                <a:cs typeface="Arial" panose="020B0604020202020204" pitchFamily="34" charset="0"/>
              </a:rPr>
              <a:t> =&gt; v</a:t>
            </a:r>
            <a:r>
              <a:rPr lang="en-US" sz="2400" baseline="-25000" dirty="0">
                <a:latin typeface="Arial" panose="020B0604020202020204" pitchFamily="34" charset="0"/>
                <a:cs typeface="Arial" panose="020B0604020202020204" pitchFamily="34" charset="0"/>
              </a:rPr>
              <a:t>out</a:t>
            </a:r>
            <a:r>
              <a:rPr lang="en-US" sz="2400" dirty="0">
                <a:latin typeface="Arial" panose="020B0604020202020204" pitchFamily="34" charset="0"/>
                <a:cs typeface="Arial" panose="020B0604020202020204" pitchFamily="34" charset="0"/>
              </a:rPr>
              <a:t> = “0”</a:t>
            </a:r>
          </a:p>
        </p:txBody>
      </p:sp>
      <p:sp>
        <p:nvSpPr>
          <p:cNvPr id="11" name="Title 10">
            <a:extLst>
              <a:ext uri="{FF2B5EF4-FFF2-40B4-BE49-F238E27FC236}">
                <a16:creationId xmlns:a16="http://schemas.microsoft.com/office/drawing/2014/main" id="{8401E556-F44C-4031-ABE4-41D71401C812}"/>
              </a:ext>
            </a:extLst>
          </p:cNvPr>
          <p:cNvSpPr>
            <a:spLocks noGrp="1"/>
          </p:cNvSpPr>
          <p:nvPr>
            <p:ph type="title"/>
          </p:nvPr>
        </p:nvSpPr>
        <p:spPr/>
        <p:txBody>
          <a:bodyPr/>
          <a:lstStyle/>
          <a:p>
            <a:r>
              <a:rPr lang="en-GB" dirty="0"/>
              <a:t>Voltage comparators</a:t>
            </a:r>
          </a:p>
        </p:txBody>
      </p:sp>
      <p:sp>
        <p:nvSpPr>
          <p:cNvPr id="2" name="Slide Number Placeholder 1">
            <a:extLst>
              <a:ext uri="{FF2B5EF4-FFF2-40B4-BE49-F238E27FC236}">
                <a16:creationId xmlns:a16="http://schemas.microsoft.com/office/drawing/2014/main" id="{C1B2AF3F-5038-4B63-B9F8-67FA0E64F13F}"/>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a:t>
            </a:fld>
            <a:endParaRPr lang="en-US" dirty="0"/>
          </a:p>
        </p:txBody>
      </p:sp>
      <p:pic>
        <p:nvPicPr>
          <p:cNvPr id="12" name="Picture 11">
            <a:extLst>
              <a:ext uri="{FF2B5EF4-FFF2-40B4-BE49-F238E27FC236}">
                <a16:creationId xmlns:a16="http://schemas.microsoft.com/office/drawing/2014/main" id="{B6625236-D330-4DC2-BD52-62E2A16A110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57216"/>
          <a:stretch/>
        </p:blipFill>
        <p:spPr>
          <a:xfrm>
            <a:off x="3048000" y="3276600"/>
            <a:ext cx="3718882" cy="1066800"/>
          </a:xfrm>
          <a:prstGeom prst="rect">
            <a:avLst/>
          </a:prstGeom>
        </p:spPr>
      </p:pic>
      <p:sp>
        <p:nvSpPr>
          <p:cNvPr id="3" name="Date Placeholder 2">
            <a:extLst>
              <a:ext uri="{FF2B5EF4-FFF2-40B4-BE49-F238E27FC236}">
                <a16:creationId xmlns:a16="http://schemas.microsoft.com/office/drawing/2014/main" id="{EA5401A3-AC5A-4685-87AF-62E5ABD2BECC}"/>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D552C7DC-4E76-4A8B-8143-25C45ED05C31}"/>
              </a:ext>
            </a:extLst>
          </p:cNvPr>
          <p:cNvSpPr>
            <a:spLocks noGrp="1"/>
          </p:cNvSpPr>
          <p:nvPr>
            <p:ph type="ftr" sz="quarter" idx="11"/>
          </p:nvPr>
        </p:nvSpPr>
        <p:spPr/>
        <p:txBody>
          <a:bodyPr/>
          <a:lstStyle/>
          <a:p>
            <a:r>
              <a:rPr lang="en-US"/>
              <a:t>DN, 2020</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D9775D7-F1B4-4CE4-86F0-B636E4FE1972}"/>
              </a:ext>
            </a:extLst>
          </p:cNvPr>
          <p:cNvSpPr>
            <a:spLocks noGrp="1"/>
          </p:cNvSpPr>
          <p:nvPr>
            <p:ph sz="quarter" idx="1"/>
          </p:nvPr>
        </p:nvSpPr>
        <p:spPr/>
        <p:txBody>
          <a:bodyPr>
            <a:normAutofit/>
          </a:bodyPr>
          <a:lstStyle/>
          <a:p>
            <a:pPr marL="678530" indent="-342900">
              <a:spcAft>
                <a:spcPct val="20000"/>
              </a:spcAft>
            </a:pPr>
            <a:r>
              <a:rPr lang="en-US" sz="2400" dirty="0">
                <a:latin typeface="Arial" panose="020B0604020202020204" pitchFamily="34" charset="0"/>
                <a:cs typeface="Arial" panose="020B0604020202020204" pitchFamily="34" charset="0"/>
              </a:rPr>
              <a:t>Accuracy (offset, noise, resolution)</a:t>
            </a:r>
          </a:p>
          <a:p>
            <a:pPr marL="637382">
              <a:spcAft>
                <a:spcPct val="20000"/>
              </a:spcAft>
            </a:pPr>
            <a:r>
              <a:rPr lang="en-US" sz="2400" dirty="0">
                <a:latin typeface="Arial" panose="020B0604020202020204" pitchFamily="34" charset="0"/>
                <a:cs typeface="Arial" panose="020B0604020202020204" pitchFamily="34" charset="0"/>
              </a:rPr>
              <a:t>Settling time (tracking BW, regeneration speed)</a:t>
            </a:r>
          </a:p>
          <a:p>
            <a:pPr marL="637382">
              <a:spcAft>
                <a:spcPct val="20000"/>
              </a:spcAft>
            </a:pPr>
            <a:r>
              <a:rPr lang="en-US" sz="2400" dirty="0">
                <a:latin typeface="Arial" panose="020B0604020202020204" pitchFamily="34" charset="0"/>
                <a:cs typeface="Arial" panose="020B0604020202020204" pitchFamily="34" charset="0"/>
              </a:rPr>
              <a:t>Sensitivity (gain)</a:t>
            </a:r>
          </a:p>
          <a:p>
            <a:pPr marL="637382">
              <a:spcAft>
                <a:spcPct val="20000"/>
              </a:spcAft>
            </a:pPr>
            <a:r>
              <a:rPr lang="en-US" sz="2400" dirty="0">
                <a:latin typeface="Arial" panose="020B0604020202020204" pitchFamily="34" charset="0"/>
                <a:cs typeface="Arial" panose="020B0604020202020204" pitchFamily="34" charset="0"/>
              </a:rPr>
              <a:t>Metastability (any decision is better than no decision!)</a:t>
            </a:r>
          </a:p>
          <a:p>
            <a:pPr marL="637382">
              <a:spcAft>
                <a:spcPct val="20000"/>
              </a:spcAft>
            </a:pPr>
            <a:r>
              <a:rPr lang="en-US" sz="2400" dirty="0">
                <a:latin typeface="Arial" panose="020B0604020202020204" pitchFamily="34" charset="0"/>
                <a:cs typeface="Arial" panose="020B0604020202020204" pitchFamily="34" charset="0"/>
              </a:rPr>
              <a:t>Overdrive recovery (memory)</a:t>
            </a:r>
          </a:p>
          <a:p>
            <a:pPr marL="637382">
              <a:spcAft>
                <a:spcPct val="20000"/>
              </a:spcAft>
            </a:pPr>
            <a:r>
              <a:rPr lang="en-US" sz="2400" dirty="0">
                <a:latin typeface="Arial" panose="020B0604020202020204" pitchFamily="34" charset="0"/>
                <a:cs typeface="Arial" panose="020B0604020202020204" pitchFamily="34" charset="0"/>
              </a:rPr>
              <a:t>CMRR</a:t>
            </a:r>
          </a:p>
          <a:p>
            <a:pPr marL="637382">
              <a:spcAft>
                <a:spcPct val="20000"/>
              </a:spcAft>
            </a:pPr>
            <a:r>
              <a:rPr lang="en-US" sz="2400" dirty="0">
                <a:latin typeface="Arial" panose="020B0604020202020204" pitchFamily="34" charset="0"/>
                <a:cs typeface="Arial" panose="020B0604020202020204" pitchFamily="34" charset="0"/>
              </a:rPr>
              <a:t>Power consumption</a:t>
            </a:r>
          </a:p>
        </p:txBody>
      </p:sp>
      <p:sp>
        <p:nvSpPr>
          <p:cNvPr id="2" name="Title 1"/>
          <p:cNvSpPr>
            <a:spLocks noGrp="1"/>
          </p:cNvSpPr>
          <p:nvPr>
            <p:ph type="title"/>
          </p:nvPr>
        </p:nvSpPr>
        <p:spPr/>
        <p:txBody>
          <a:bodyPr/>
          <a:lstStyle/>
          <a:p>
            <a:r>
              <a:rPr lang="en-US" dirty="0"/>
              <a:t>Design Considerations</a:t>
            </a:r>
          </a:p>
        </p:txBody>
      </p:sp>
      <p:sp>
        <p:nvSpPr>
          <p:cNvPr id="4" name="Date Placeholder 3">
            <a:extLst>
              <a:ext uri="{FF2B5EF4-FFF2-40B4-BE49-F238E27FC236}">
                <a16:creationId xmlns:a16="http://schemas.microsoft.com/office/drawing/2014/main" id="{48066732-8134-4014-9B35-82EF178DE115}"/>
              </a:ext>
            </a:extLst>
          </p:cNvPr>
          <p:cNvSpPr>
            <a:spLocks noGrp="1"/>
          </p:cNvSpPr>
          <p:nvPr>
            <p:ph type="dt" sz="half" idx="10"/>
          </p:nvPr>
        </p:nvSpPr>
        <p:spPr/>
        <p:txBody>
          <a:bodyPr/>
          <a:lstStyle/>
          <a:p>
            <a:r>
              <a:rPr lang="en-US"/>
              <a:t>V.T.M</a:t>
            </a:r>
            <a:endParaRPr lang="en-US" dirty="0"/>
          </a:p>
        </p:txBody>
      </p:sp>
      <p:sp>
        <p:nvSpPr>
          <p:cNvPr id="5" name="Footer Placeholder 4">
            <a:extLst>
              <a:ext uri="{FF2B5EF4-FFF2-40B4-BE49-F238E27FC236}">
                <a16:creationId xmlns:a16="http://schemas.microsoft.com/office/drawing/2014/main" id="{EF9C2590-992E-4A75-AB09-16B6DB13FD1D}"/>
              </a:ext>
            </a:extLst>
          </p:cNvPr>
          <p:cNvSpPr>
            <a:spLocks noGrp="1"/>
          </p:cNvSpPr>
          <p:nvPr>
            <p:ph type="ftr" sz="quarter" idx="11"/>
          </p:nvPr>
        </p:nvSpPr>
        <p:spPr/>
        <p:txBody>
          <a:bodyPr/>
          <a:lstStyle/>
          <a:p>
            <a:r>
              <a:rPr lang="en-US"/>
              <a:t>DN, 2020</a:t>
            </a:r>
            <a:endParaRPr lang="en-US" dirty="0"/>
          </a:p>
        </p:txBody>
      </p:sp>
      <p:sp>
        <p:nvSpPr>
          <p:cNvPr id="3" name="Slide Number Placeholder 2"/>
          <p:cNvSpPr>
            <a:spLocks noGrp="1"/>
          </p:cNvSpPr>
          <p:nvPr>
            <p:ph type="sldNum" sz="quarter" idx="12"/>
          </p:nvPr>
        </p:nvSpPr>
        <p:spPr/>
        <p:txBody>
          <a:bodyPr>
            <a:normAutofit fontScale="92500"/>
          </a:bodyPr>
          <a:lstStyle/>
          <a:p>
            <a:r>
              <a:rPr lang="en-US" dirty="0"/>
              <a:t>– </a:t>
            </a:r>
            <a:fld id="{4D6827CA-49D8-447A-BCBB-FEAE39770649}" type="slidenum">
              <a:rPr lang="en-US" smtClean="0"/>
              <a:pPr/>
              <a:t>5</a:t>
            </a:fld>
            <a:r>
              <a:rPr lang="en-US" dirty="0"/>
              <a:t> –</a:t>
            </a:r>
          </a:p>
        </p:txBody>
      </p:sp>
    </p:spTree>
    <p:extLst>
      <p:ext uri="{BB962C8B-B14F-4D97-AF65-F5344CB8AC3E}">
        <p14:creationId xmlns:p14="http://schemas.microsoft.com/office/powerpoint/2010/main" val="3675849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B2F557-41A0-459B-8AAD-E4D247FB9355}"/>
                  </a:ext>
                </a:extLst>
              </p:cNvPr>
              <p:cNvSpPr>
                <a:spLocks noGrp="1"/>
              </p:cNvSpPr>
              <p:nvPr>
                <p:ph sz="quarter" idx="1"/>
              </p:nvPr>
            </p:nvSpPr>
            <p:spPr/>
            <p:txBody>
              <a:bodyPr>
                <a:normAutofit/>
              </a:bodyPr>
              <a:lstStyle/>
              <a:p>
                <a:r>
                  <a:rPr lang="en-GB" sz="2400" dirty="0">
                    <a:latin typeface="Arial" panose="020B0604020202020204" pitchFamily="34" charset="0"/>
                    <a:cs typeface="Arial" panose="020B0604020202020204" pitchFamily="34" charset="0"/>
                  </a:rPr>
                  <a:t>Amplify V</a:t>
                </a:r>
                <a:r>
                  <a:rPr lang="en-GB" sz="2400" baseline="-25000" dirty="0">
                    <a:latin typeface="Arial" panose="020B0604020202020204" pitchFamily="34" charset="0"/>
                    <a:cs typeface="Arial" panose="020B0604020202020204" pitchFamily="34" charset="0"/>
                  </a:rPr>
                  <a:t>in </a:t>
                </a:r>
                <a:r>
                  <a:rPr lang="en-GB" sz="2400" dirty="0">
                    <a:latin typeface="Arial" panose="020B0604020202020204" pitchFamily="34" charset="0"/>
                    <a:cs typeface="Arial" panose="020B0604020202020204" pitchFamily="34" charset="0"/>
                  </a:rPr>
                  <a:t>(min) to V</a:t>
                </a:r>
                <a:r>
                  <a:rPr lang="en-GB" sz="2400" baseline="-25000" dirty="0">
                    <a:latin typeface="Arial" panose="020B0604020202020204" pitchFamily="34" charset="0"/>
                    <a:cs typeface="Arial" panose="020B0604020202020204" pitchFamily="34" charset="0"/>
                  </a:rPr>
                  <a:t>DD</a:t>
                </a:r>
              </a:p>
              <a:p>
                <a:pPr marL="0" indent="0">
                  <a:buNone/>
                </a:pPr>
                <a:r>
                  <a:rPr lang="en-GB" sz="2400" dirty="0">
                    <a:latin typeface="Arial" panose="020B0604020202020204" pitchFamily="34" charset="0"/>
                    <a:cs typeface="Arial" panose="020B0604020202020204" pitchFamily="34" charset="0"/>
                  </a:rPr>
                  <a:t>=&gt; V</a:t>
                </a:r>
                <a:r>
                  <a:rPr lang="en-GB" sz="2400" baseline="-25000" dirty="0">
                    <a:latin typeface="Arial" panose="020B0604020202020204" pitchFamily="34" charset="0"/>
                    <a:cs typeface="Arial" panose="020B0604020202020204" pitchFamily="34" charset="0"/>
                  </a:rPr>
                  <a:t>in </a:t>
                </a:r>
                <a:r>
                  <a:rPr lang="en-GB" sz="2400" dirty="0">
                    <a:latin typeface="Arial" panose="020B0604020202020204" pitchFamily="34" charset="0"/>
                    <a:cs typeface="Arial" panose="020B0604020202020204" pitchFamily="34" charset="0"/>
                  </a:rPr>
                  <a:t>(min) determined by ADC resolution</a:t>
                </a:r>
              </a:p>
              <a:p>
                <a:endParaRPr lang="en-GB" sz="2400" dirty="0">
                  <a:latin typeface="Arial" panose="020B0604020202020204" pitchFamily="34" charset="0"/>
                  <a:cs typeface="Arial" panose="020B0604020202020204" pitchFamily="34" charset="0"/>
                </a:endParaRPr>
              </a:p>
              <a:p>
                <a:r>
                  <a:rPr lang="en-GB" sz="2400" u="sng" dirty="0">
                    <a:latin typeface="Arial" panose="020B0604020202020204" pitchFamily="34" charset="0"/>
                    <a:cs typeface="Arial" panose="020B0604020202020204" pitchFamily="34" charset="0"/>
                  </a:rPr>
                  <a:t>Example</a:t>
                </a:r>
                <a:r>
                  <a:rPr lang="en-GB" sz="2400" dirty="0">
                    <a:latin typeface="Arial" panose="020B0604020202020204" pitchFamily="34" charset="0"/>
                    <a:cs typeface="Arial" panose="020B0604020202020204" pitchFamily="34" charset="0"/>
                  </a:rPr>
                  <a:t>: 12-bit ADC with</a:t>
                </a:r>
              </a:p>
              <a:p>
                <a:pPr lvl="1"/>
                <a:r>
                  <a:rPr lang="en-GB" sz="2400" dirty="0" err="1">
                    <a:latin typeface="Arial" panose="020B0604020202020204" pitchFamily="34" charset="0"/>
                    <a:cs typeface="Arial" panose="020B0604020202020204" pitchFamily="34" charset="0"/>
                  </a:rPr>
                  <a:t>V</a:t>
                </a:r>
                <a:r>
                  <a:rPr lang="en-GB" sz="2400" baseline="-25000" dirty="0" err="1">
                    <a:latin typeface="Arial" panose="020B0604020202020204" pitchFamily="34" charset="0"/>
                    <a:cs typeface="Arial" panose="020B0604020202020204" pitchFamily="34" charset="0"/>
                  </a:rPr>
                  <a:t>r</a:t>
                </a:r>
                <a:r>
                  <a:rPr lang="en-GB" sz="2400" dirty="0">
                    <a:latin typeface="Arial" panose="020B0604020202020204" pitchFamily="34" charset="0"/>
                    <a:cs typeface="Arial" panose="020B0604020202020204" pitchFamily="34" charset="0"/>
                  </a:rPr>
                  <a:t> = 1.5V =&gt; 1 LSB = 0.36mV</a:t>
                </a:r>
              </a:p>
              <a:p>
                <a:pPr lvl="1"/>
                <a:r>
                  <a:rPr lang="en-GB" sz="2400" dirty="0">
                    <a:latin typeface="Arial" panose="020B0604020202020204" pitchFamily="34" charset="0"/>
                    <a:cs typeface="Arial" panose="020B0604020202020204" pitchFamily="34" charset="0"/>
                  </a:rPr>
                  <a:t>V</a:t>
                </a:r>
                <a:r>
                  <a:rPr lang="en-GB" sz="2400" baseline="-25000" dirty="0">
                    <a:latin typeface="Arial" panose="020B0604020202020204" pitchFamily="34" charset="0"/>
                    <a:cs typeface="Arial" panose="020B0604020202020204" pitchFamily="34" charset="0"/>
                  </a:rPr>
                  <a:t>DD</a:t>
                </a:r>
                <a:r>
                  <a:rPr lang="en-GB" sz="2400" dirty="0">
                    <a:latin typeface="Arial" panose="020B0604020202020204" pitchFamily="34" charset="0"/>
                    <a:cs typeface="Arial" panose="020B0604020202020204" pitchFamily="34" charset="0"/>
                  </a:rPr>
                  <a:t> = 1.8V</a:t>
                </a:r>
              </a:p>
              <a:p>
                <a:pPr marL="0" indent="0">
                  <a:buNone/>
                </a:pPr>
                <a:r>
                  <a:rPr lang="en-GB" sz="2400" dirty="0">
                    <a:latin typeface="Arial" panose="020B0604020202020204" pitchFamily="34" charset="0"/>
                    <a:cs typeface="Arial" panose="020B0604020202020204" pitchFamily="34" charset="0"/>
                  </a:rPr>
                  <a:t>=&gt; For 1.8V output &amp; 0.5LSB precision</a:t>
                </a:r>
              </a:p>
              <a:p>
                <a:pPr marL="0" indent="0">
                  <a:buNone/>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𝑣</m:t>
                          </m:r>
                        </m:sub>
                      </m:sSub>
                      <m:r>
                        <a:rPr lang="en-GB" sz="2400" i="1">
                          <a:latin typeface="Cambria Math" panose="02040503050406030204" pitchFamily="18" charset="0"/>
                          <a:ea typeface="Cambria Math" panose="02040503050406030204" pitchFamily="18" charset="0"/>
                          <a:cs typeface="Arial"/>
                        </a:rPr>
                        <m:t>= </m:t>
                      </m:r>
                      <m:f>
                        <m:fPr>
                          <m:ctrlPr>
                            <a:rPr lang="en-GB" sz="2400" i="1">
                              <a:latin typeface="Cambria Math" panose="02040503050406030204" pitchFamily="18" charset="0"/>
                              <a:ea typeface="Cambria Math" panose="02040503050406030204" pitchFamily="18" charset="0"/>
                              <a:cs typeface="Arial"/>
                            </a:rPr>
                          </m:ctrlPr>
                        </m:fPr>
                        <m:num>
                          <m:r>
                            <a:rPr lang="en-GB" sz="2400" b="0" i="1" smtClean="0">
                              <a:latin typeface="Cambria Math" panose="02040503050406030204" pitchFamily="18" charset="0"/>
                              <a:ea typeface="Cambria Math" panose="02040503050406030204" pitchFamily="18" charset="0"/>
                              <a:cs typeface="Arial"/>
                            </a:rPr>
                            <m:t>1.8 </m:t>
                          </m:r>
                          <m:r>
                            <a:rPr lang="en-GB" sz="2400" b="0" i="1" smtClean="0">
                              <a:latin typeface="Cambria Math" panose="02040503050406030204" pitchFamily="18" charset="0"/>
                              <a:ea typeface="Cambria Math" panose="02040503050406030204" pitchFamily="18" charset="0"/>
                              <a:cs typeface="Arial"/>
                            </a:rPr>
                            <m:t>𝑉</m:t>
                          </m:r>
                        </m:num>
                        <m:den>
                          <m:r>
                            <a:rPr lang="en-GB" sz="2400" b="0" i="1" smtClean="0">
                              <a:latin typeface="Cambria Math" panose="02040503050406030204" pitchFamily="18" charset="0"/>
                              <a:ea typeface="Cambria Math" panose="02040503050406030204" pitchFamily="18" charset="0"/>
                              <a:cs typeface="Arial"/>
                            </a:rPr>
                            <m:t>0.18 </m:t>
                          </m:r>
                          <m:r>
                            <a:rPr lang="en-GB" sz="2400" b="0" i="1" smtClean="0">
                              <a:latin typeface="Cambria Math" panose="02040503050406030204" pitchFamily="18" charset="0"/>
                              <a:ea typeface="Cambria Math" panose="02040503050406030204" pitchFamily="18" charset="0"/>
                              <a:cs typeface="Arial"/>
                            </a:rPr>
                            <m:t>𝑚𝑉</m:t>
                          </m:r>
                        </m:den>
                      </m:f>
                      <m:r>
                        <a:rPr lang="en-GB" sz="2400" b="0" i="1" smtClean="0">
                          <a:latin typeface="Cambria Math" panose="02040503050406030204" pitchFamily="18" charset="0"/>
                          <a:ea typeface="Cambria Math" panose="02040503050406030204" pitchFamily="18" charset="0"/>
                          <a:cs typeface="Arial"/>
                        </a:rPr>
                        <m:t>=10,000</m:t>
                      </m:r>
                    </m:oMath>
                  </m:oMathPara>
                </a14:m>
                <a:endParaRPr lang="en-US" sz="2400" dirty="0">
                  <a:latin typeface="Arial"/>
                  <a:cs typeface="Arial"/>
                </a:endParaRPr>
              </a:p>
            </p:txBody>
          </p:sp>
        </mc:Choice>
        <mc:Fallback xmlns="">
          <p:sp>
            <p:nvSpPr>
              <p:cNvPr id="3" name="Content Placeholder 2">
                <a:extLst>
                  <a:ext uri="{FF2B5EF4-FFF2-40B4-BE49-F238E27FC236}">
                    <a16:creationId xmlns:a16="http://schemas.microsoft.com/office/drawing/2014/main" id="{96B2F557-41A0-459B-8AAD-E4D247FB9355}"/>
                  </a:ext>
                </a:extLst>
              </p:cNvPr>
              <p:cNvSpPr>
                <a:spLocks noGrp="1" noRot="1" noChangeAspect="1" noMove="1" noResize="1" noEditPoints="1" noAdjustHandles="1" noChangeArrowheads="1" noChangeShapeType="1" noTextEdit="1"/>
              </p:cNvSpPr>
              <p:nvPr>
                <p:ph sz="quarter" idx="1"/>
              </p:nvPr>
            </p:nvSpPr>
            <p:spPr>
              <a:blipFill>
                <a:blip r:embed="rId2"/>
                <a:stretch>
                  <a:fillRect l="-977" t="-1059"/>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A94D3CD0-0C0A-4BCC-BD19-658B40C3D4BD}"/>
              </a:ext>
            </a:extLst>
          </p:cNvPr>
          <p:cNvSpPr>
            <a:spLocks noGrp="1"/>
          </p:cNvSpPr>
          <p:nvPr>
            <p:ph type="title"/>
          </p:nvPr>
        </p:nvSpPr>
        <p:spPr/>
        <p:txBody>
          <a:bodyPr>
            <a:normAutofit/>
          </a:bodyPr>
          <a:lstStyle/>
          <a:p>
            <a:r>
              <a:rPr lang="en-US" dirty="0"/>
              <a:t>High-Gain Amplifiers</a:t>
            </a:r>
            <a:endParaRPr lang="en-GB" dirty="0"/>
          </a:p>
        </p:txBody>
      </p:sp>
      <p:sp>
        <p:nvSpPr>
          <p:cNvPr id="5" name="Slide Number Placeholder 4">
            <a:extLst>
              <a:ext uri="{FF2B5EF4-FFF2-40B4-BE49-F238E27FC236}">
                <a16:creationId xmlns:a16="http://schemas.microsoft.com/office/drawing/2014/main" id="{F5267B08-DC8B-44FF-AF5E-315AB93A75FD}"/>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6</a:t>
            </a:fld>
            <a:endParaRPr lang="en-US" dirty="0"/>
          </a:p>
        </p:txBody>
      </p:sp>
      <p:sp>
        <p:nvSpPr>
          <p:cNvPr id="4" name="object 8">
            <a:extLst>
              <a:ext uri="{FF2B5EF4-FFF2-40B4-BE49-F238E27FC236}">
                <a16:creationId xmlns:a16="http://schemas.microsoft.com/office/drawing/2014/main" id="{4F9B944F-60A9-469A-BF65-EB0B6260D812}"/>
              </a:ext>
            </a:extLst>
          </p:cNvPr>
          <p:cNvSpPr/>
          <p:nvPr/>
        </p:nvSpPr>
        <p:spPr>
          <a:xfrm>
            <a:off x="6248400" y="1510666"/>
            <a:ext cx="3589058" cy="3442334"/>
          </a:xfrm>
          <a:prstGeom prst="rect">
            <a:avLst/>
          </a:prstGeom>
          <a:blipFill>
            <a:blip r:embed="rId3" cstate="print"/>
            <a:stretch>
              <a:fillRect/>
            </a:stretch>
          </a:blipFill>
        </p:spPr>
        <p:txBody>
          <a:bodyPr wrap="square" lIns="0" tIns="0" rIns="0" bIns="0" rtlCol="0"/>
          <a:lstStyle/>
          <a:p>
            <a:endParaRPr sz="1391" dirty="0"/>
          </a:p>
        </p:txBody>
      </p:sp>
      <p:sp>
        <p:nvSpPr>
          <p:cNvPr id="6" name="Date Placeholder 5">
            <a:extLst>
              <a:ext uri="{FF2B5EF4-FFF2-40B4-BE49-F238E27FC236}">
                <a16:creationId xmlns:a16="http://schemas.microsoft.com/office/drawing/2014/main" id="{D2EA1800-F5BF-49BB-A1C0-8F79A130B2C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E91B5516-0E8E-415B-992D-81016D51C3C6}"/>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4181650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D0BFBB-AD24-4423-9C44-CF16AA554C72}"/>
                  </a:ext>
                </a:extLst>
              </p:cNvPr>
              <p:cNvSpPr>
                <a:spLocks noGrp="1"/>
              </p:cNvSpPr>
              <p:nvPr>
                <p:ph sz="quarter" idx="1"/>
              </p:nvPr>
            </p:nvSpPr>
            <p:spPr/>
            <p:txBody>
              <a:bodyPr>
                <a:noAutofit/>
              </a:bodyPr>
              <a:lstStyle/>
              <a:p>
                <a:r>
                  <a:rPr lang="en-US" sz="2400" dirty="0">
                    <a:latin typeface="Arial" panose="020B0604020202020204" pitchFamily="34" charset="0"/>
                    <a:cs typeface="Arial" panose="020B0604020202020204" pitchFamily="34" charset="0"/>
                  </a:rPr>
                  <a:t>Amplifier maximum Gain-Bandwidth product (</a:t>
                </a:r>
                <a:r>
                  <a:rPr lang="en-US" sz="2400" i="1" dirty="0">
                    <a:latin typeface="Arial" panose="020B0604020202020204" pitchFamily="34" charset="0"/>
                    <a:cs typeface="Arial" panose="020B0604020202020204" pitchFamily="34" charset="0"/>
                  </a:rPr>
                  <a:t>f</a:t>
                </a:r>
                <a:r>
                  <a:rPr lang="en-US" sz="2400" i="1" baseline="-25000" dirty="0">
                    <a:latin typeface="Arial" panose="020B0604020202020204" pitchFamily="34" charset="0"/>
                    <a:cs typeface="Arial" panose="020B0604020202020204" pitchFamily="34" charset="0"/>
                  </a:rPr>
                  <a:t>u</a:t>
                </a:r>
                <a:r>
                  <a:rPr lang="en-US" sz="2400" dirty="0">
                    <a:latin typeface="Arial" panose="020B0604020202020204" pitchFamily="34" charset="0"/>
                    <a:cs typeface="Arial" panose="020B0604020202020204" pitchFamily="34" charset="0"/>
                  </a:rPr>
                  <a:t>) for a given technology, typically a function of maximum device </a:t>
                </a:r>
                <a:r>
                  <a:rPr lang="en-US" sz="2400" i="1" dirty="0">
                    <a:latin typeface="Arial" panose="020B0604020202020204" pitchFamily="34" charset="0"/>
                    <a:cs typeface="Arial" panose="020B0604020202020204" pitchFamily="34" charset="0"/>
                  </a:rPr>
                  <a:t>f</a:t>
                </a:r>
                <a:r>
                  <a:rPr lang="en-US" sz="2400" i="1" baseline="-25000" dirty="0">
                    <a:latin typeface="Arial" panose="020B0604020202020204" pitchFamily="34" charset="0"/>
                    <a:cs typeface="Arial" panose="020B0604020202020204" pitchFamily="34" charset="0"/>
                  </a:rPr>
                  <a:t>t</a:t>
                </a:r>
                <a:r>
                  <a:rPr lang="en-US" sz="2400" i="1" dirty="0">
                    <a:latin typeface="Arial" panose="020B0604020202020204" pitchFamily="34" charset="0"/>
                    <a:cs typeface="Arial" panose="020B0604020202020204" pitchFamily="34" charset="0"/>
                  </a:rPr>
                  <a:t>, </a:t>
                </a:r>
                <a14:m>
                  <m:oMath xmlns:m="http://schemas.openxmlformats.org/officeDocument/2006/math">
                    <m:sSub>
                      <m:sSubPr>
                        <m:ctrlPr>
                          <a:rPr lang="en-GB" sz="2400" i="1">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𝑓</m:t>
                        </m:r>
                      </m:e>
                      <m:sub>
                        <m:r>
                          <a:rPr lang="en-GB" sz="2400" b="0" i="1" smtClean="0">
                            <a:latin typeface="Cambria Math" panose="02040503050406030204" pitchFamily="18" charset="0"/>
                            <a:ea typeface="Cambria Math" panose="02040503050406030204" pitchFamily="18" charset="0"/>
                            <a:cs typeface="Arial"/>
                          </a:rPr>
                          <m:t>0</m:t>
                        </m:r>
                      </m:sub>
                    </m:sSub>
                    <m:r>
                      <a:rPr lang="en-GB" sz="2400" i="1">
                        <a:latin typeface="Cambria Math" panose="02040503050406030204" pitchFamily="18" charset="0"/>
                        <a:ea typeface="Cambria Math" panose="02040503050406030204" pitchFamily="18" charset="0"/>
                        <a:cs typeface="Arial"/>
                      </a:rPr>
                      <m:t>= </m:t>
                    </m:r>
                    <m:f>
                      <m:fPr>
                        <m:ctrlPr>
                          <a:rPr lang="en-GB" sz="2400" i="1">
                            <a:latin typeface="Cambria Math" panose="02040503050406030204" pitchFamily="18" charset="0"/>
                            <a:ea typeface="Cambria Math" panose="02040503050406030204" pitchFamily="18" charset="0"/>
                            <a:cs typeface="Arial"/>
                          </a:rPr>
                        </m:ctrlPr>
                      </m:fPr>
                      <m:num>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𝑓</m:t>
                            </m:r>
                          </m:e>
                          <m:sub>
                            <m:r>
                              <a:rPr lang="en-GB" sz="2400" b="0" i="1" smtClean="0">
                                <a:latin typeface="Cambria Math" panose="02040503050406030204" pitchFamily="18" charset="0"/>
                                <a:ea typeface="Cambria Math" panose="02040503050406030204" pitchFamily="18" charset="0"/>
                                <a:cs typeface="Arial"/>
                              </a:rPr>
                              <m:t>𝑢</m:t>
                            </m:r>
                          </m:sub>
                        </m:sSub>
                      </m:num>
                      <m:den>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𝑣</m:t>
                            </m:r>
                          </m:sub>
                        </m:sSub>
                      </m:den>
                    </m:f>
                  </m:oMath>
                </a14:m>
                <a:endParaRPr lang="en-US" sz="2400" dirty="0">
                  <a:latin typeface="Arial" panose="020B0604020202020204" pitchFamily="34" charset="0"/>
                  <a:cs typeface="Arial" panose="020B0604020202020204" pitchFamily="34" charset="0"/>
                </a:endParaRPr>
              </a:p>
              <a:p>
                <a:pPr>
                  <a:lnSpc>
                    <a:spcPct val="120000"/>
                  </a:lnSpc>
                  <a:spcBef>
                    <a:spcPts val="600"/>
                  </a:spcBef>
                  <a:spcAft>
                    <a:spcPts val="600"/>
                  </a:spcAft>
                </a:pPr>
                <a:r>
                  <a:rPr lang="en-US" sz="2400" u="sng" dirty="0">
                    <a:latin typeface="Arial" panose="020B0604020202020204" pitchFamily="34" charset="0"/>
                    <a:cs typeface="Arial" panose="020B0604020202020204" pitchFamily="34" charset="0"/>
                  </a:rPr>
                  <a:t>Example</a:t>
                </a:r>
                <a:r>
                  <a:rPr lang="en-US" sz="2400"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f</a:t>
                </a:r>
                <a:r>
                  <a:rPr lang="en-US" sz="2400" i="1" baseline="-25000" dirty="0" err="1">
                    <a:latin typeface="Arial" panose="020B0604020202020204" pitchFamily="34" charset="0"/>
                    <a:cs typeface="Arial" panose="020B0604020202020204" pitchFamily="34" charset="0"/>
                  </a:rPr>
                  <a:t>u</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10GHz &amp; </a:t>
                </a:r>
                <a:r>
                  <a:rPr lang="en-US" sz="2400" i="1" dirty="0">
                    <a:latin typeface="Arial" panose="020B0604020202020204" pitchFamily="34" charset="0"/>
                    <a:cs typeface="Arial" panose="020B0604020202020204" pitchFamily="34" charset="0"/>
                  </a:rPr>
                  <a:t>A</a:t>
                </a:r>
                <a:r>
                  <a:rPr lang="en-US" sz="2400" i="1" baseline="-25000" dirty="0">
                    <a:latin typeface="Arial" panose="020B0604020202020204" pitchFamily="34" charset="0"/>
                    <a:cs typeface="Arial" panose="020B0604020202020204" pitchFamily="34" charset="0"/>
                  </a:rPr>
                  <a:t>v</a:t>
                </a:r>
                <a:r>
                  <a:rPr lang="en-US" sz="2400" dirty="0">
                    <a:latin typeface="Arial" panose="020B0604020202020204" pitchFamily="34" charset="0"/>
                    <a:cs typeface="Arial" panose="020B0604020202020204" pitchFamily="34" charset="0"/>
                  </a:rPr>
                  <a:t> = 10,000</a:t>
                </a:r>
              </a:p>
              <a:p>
                <a:pPr>
                  <a:lnSpc>
                    <a:spcPct val="120000"/>
                  </a:lnSpc>
                  <a:spcBef>
                    <a:spcPts val="600"/>
                  </a:spcBef>
                  <a:spcAft>
                    <a:spcPts val="600"/>
                  </a:spcAft>
                  <a:buFont typeface="Symbol" panose="05050102010706020507" pitchFamily="18" charset="2"/>
                  <a:buChar char="Þ"/>
                </a:pPr>
                <a:r>
                  <a:rPr lang="en-GB" sz="2400" dirty="0">
                    <a:ea typeface="Cambria Math" panose="02040503050406030204" pitchFamily="18" charset="0"/>
                    <a:cs typeface="Arial"/>
                  </a:rPr>
                  <a:t> </a:t>
                </a:r>
                <a14:m>
                  <m:oMath xmlns:m="http://schemas.openxmlformats.org/officeDocument/2006/math">
                    <m:sSub>
                      <m:sSubPr>
                        <m:ctrlPr>
                          <a:rPr lang="en-GB" sz="2400" i="1">
                            <a:latin typeface="Cambria Math" panose="02040503050406030204" pitchFamily="18" charset="0"/>
                            <a:ea typeface="Cambria Math" panose="02040503050406030204" pitchFamily="18" charset="0"/>
                            <a:cs typeface="Arial"/>
                          </a:rPr>
                        </m:ctrlPr>
                      </m:sSubPr>
                      <m:e>
                        <m:r>
                          <a:rPr lang="en-GB" sz="2400" i="1">
                            <a:latin typeface="Cambria Math" panose="02040503050406030204" pitchFamily="18" charset="0"/>
                            <a:ea typeface="Cambria Math" panose="02040503050406030204" pitchFamily="18" charset="0"/>
                            <a:cs typeface="Arial"/>
                          </a:rPr>
                          <m:t>𝑓</m:t>
                        </m:r>
                      </m:e>
                      <m:sub>
                        <m:r>
                          <a:rPr lang="en-GB" sz="2400" i="1">
                            <a:latin typeface="Cambria Math" panose="02040503050406030204" pitchFamily="18" charset="0"/>
                            <a:ea typeface="Cambria Math" panose="02040503050406030204" pitchFamily="18" charset="0"/>
                            <a:cs typeface="Arial"/>
                          </a:rPr>
                          <m:t>0</m:t>
                        </m:r>
                      </m:sub>
                    </m:sSub>
                    <m:r>
                      <a:rPr lang="en-GB" sz="2400" i="1">
                        <a:latin typeface="Cambria Math" panose="02040503050406030204" pitchFamily="18" charset="0"/>
                        <a:ea typeface="Cambria Math" panose="02040503050406030204" pitchFamily="18" charset="0"/>
                        <a:cs typeface="Arial"/>
                      </a:rPr>
                      <m:t>= </m:t>
                    </m:r>
                    <m:f>
                      <m:fPr>
                        <m:ctrlPr>
                          <a:rPr lang="en-GB" sz="2400" i="1">
                            <a:latin typeface="Cambria Math" panose="02040503050406030204" pitchFamily="18" charset="0"/>
                            <a:ea typeface="Cambria Math" panose="02040503050406030204" pitchFamily="18" charset="0"/>
                            <a:cs typeface="Arial"/>
                          </a:rPr>
                        </m:ctrlPr>
                      </m:fPr>
                      <m:num>
                        <m:r>
                          <a:rPr lang="en-GB" sz="2400" b="0" i="1" smtClean="0">
                            <a:latin typeface="Cambria Math" panose="02040503050406030204" pitchFamily="18" charset="0"/>
                            <a:ea typeface="Cambria Math" panose="02040503050406030204" pitchFamily="18" charset="0"/>
                            <a:cs typeface="Arial"/>
                          </a:rPr>
                          <m:t>10</m:t>
                        </m:r>
                        <m:r>
                          <a:rPr lang="en-GB" sz="2400" b="0" i="1" smtClean="0">
                            <a:latin typeface="Cambria Math" panose="02040503050406030204" pitchFamily="18" charset="0"/>
                            <a:ea typeface="Cambria Math" panose="02040503050406030204" pitchFamily="18" charset="0"/>
                            <a:cs typeface="Arial"/>
                          </a:rPr>
                          <m:t>𝐺𝐻𝑧</m:t>
                        </m:r>
                      </m:num>
                      <m:den>
                        <m:r>
                          <a:rPr lang="en-GB" sz="2400" b="0" i="1" smtClean="0">
                            <a:latin typeface="Cambria Math" panose="02040503050406030204" pitchFamily="18" charset="0"/>
                            <a:ea typeface="Cambria Math" panose="02040503050406030204" pitchFamily="18" charset="0"/>
                            <a:cs typeface="Arial"/>
                          </a:rPr>
                          <m:t>10000</m:t>
                        </m:r>
                      </m:den>
                    </m:f>
                    <m:r>
                      <a:rPr lang="en-GB" sz="2400" b="0" i="1" smtClean="0">
                        <a:latin typeface="Cambria Math" panose="02040503050406030204" pitchFamily="18" charset="0"/>
                        <a:ea typeface="Cambria Math" panose="02040503050406030204" pitchFamily="18" charset="0"/>
                        <a:cs typeface="Arial"/>
                      </a:rPr>
                      <m:t>=1</m:t>
                    </m:r>
                    <m:r>
                      <a:rPr lang="en-GB" sz="2400" b="0" i="1" smtClean="0">
                        <a:latin typeface="Cambria Math" panose="02040503050406030204" pitchFamily="18" charset="0"/>
                        <a:ea typeface="Cambria Math" panose="02040503050406030204" pitchFamily="18" charset="0"/>
                        <a:cs typeface="Arial"/>
                      </a:rPr>
                      <m:t>𝑀𝐻𝑧</m:t>
                    </m:r>
                  </m:oMath>
                </a14:m>
                <a:endParaRPr lang="en-US" sz="2400" dirty="0">
                  <a:latin typeface="Arial" panose="020B0604020202020204" pitchFamily="34" charset="0"/>
                  <a:cs typeface="Arial" panose="020B0604020202020204" pitchFamily="34" charset="0"/>
                </a:endParaRPr>
              </a:p>
              <a:p>
                <a:pPr>
                  <a:lnSpc>
                    <a:spcPct val="120000"/>
                  </a:lnSpc>
                  <a:spcBef>
                    <a:spcPts val="600"/>
                  </a:spcBef>
                  <a:spcAft>
                    <a:spcPts val="600"/>
                  </a:spcAft>
                  <a:buFont typeface="Symbol" panose="05050102010706020507" pitchFamily="18" charset="2"/>
                  <a:buChar char="Þ"/>
                </a:pPr>
                <a:r>
                  <a:rPr lang="en-GB" sz="2400" dirty="0">
                    <a:ea typeface="Cambria Math" panose="02040503050406030204" pitchFamily="18" charset="0"/>
                    <a:cs typeface="Arial"/>
                  </a:rPr>
                  <a:t> </a:t>
                </a:r>
                <a14:m>
                  <m:oMath xmlns:m="http://schemas.openxmlformats.org/officeDocument/2006/math">
                    <m:sSub>
                      <m:sSubPr>
                        <m:ctrlPr>
                          <a:rPr lang="en-GB" sz="2400" i="1">
                            <a:latin typeface="Cambria Math" panose="02040503050406030204" pitchFamily="18" charset="0"/>
                            <a:ea typeface="Cambria Math" panose="02040503050406030204" pitchFamily="18" charset="0"/>
                            <a:cs typeface="Arial"/>
                          </a:rPr>
                        </m:ctrlPr>
                      </m:sSubPr>
                      <m:e>
                        <m:r>
                          <a:rPr lang="en-GB" sz="2400" i="1" smtClean="0">
                            <a:latin typeface="Cambria Math" panose="02040503050406030204" pitchFamily="18" charset="0"/>
                            <a:ea typeface="Cambria Math" panose="02040503050406030204" pitchFamily="18" charset="0"/>
                            <a:cs typeface="Arial"/>
                          </a:rPr>
                          <m:t>𝜏</m:t>
                        </m:r>
                      </m:e>
                      <m:sub>
                        <m:r>
                          <a:rPr lang="en-GB" sz="2400" b="0" i="1" smtClean="0">
                            <a:latin typeface="Cambria Math" panose="02040503050406030204" pitchFamily="18" charset="0"/>
                            <a:ea typeface="Cambria Math" panose="02040503050406030204" pitchFamily="18" charset="0"/>
                            <a:cs typeface="Arial"/>
                          </a:rPr>
                          <m:t>𝑠𝑒𝑡</m:t>
                        </m:r>
                      </m:sub>
                    </m:sSub>
                    <m:r>
                      <a:rPr lang="en-GB" sz="2400" i="1">
                        <a:latin typeface="Cambria Math" panose="02040503050406030204" pitchFamily="18" charset="0"/>
                        <a:ea typeface="Cambria Math" panose="02040503050406030204" pitchFamily="18" charset="0"/>
                        <a:cs typeface="Arial"/>
                      </a:rPr>
                      <m:t>= </m:t>
                    </m:r>
                    <m:f>
                      <m:fPr>
                        <m:ctrlPr>
                          <a:rPr lang="en-GB" sz="2400" i="1">
                            <a:latin typeface="Cambria Math" panose="02040503050406030204" pitchFamily="18" charset="0"/>
                            <a:ea typeface="Cambria Math" panose="02040503050406030204" pitchFamily="18" charset="0"/>
                            <a:cs typeface="Arial"/>
                          </a:rPr>
                        </m:ctrlPr>
                      </m:fPr>
                      <m:num>
                        <m:r>
                          <a:rPr lang="en-GB" sz="2400" i="1">
                            <a:latin typeface="Cambria Math" panose="02040503050406030204" pitchFamily="18" charset="0"/>
                            <a:ea typeface="Cambria Math" panose="02040503050406030204" pitchFamily="18" charset="0"/>
                            <a:cs typeface="Arial"/>
                          </a:rPr>
                          <m:t>1</m:t>
                        </m:r>
                      </m:num>
                      <m:den>
                        <m:r>
                          <a:rPr lang="en-GB" sz="2400" b="0" i="1" smtClean="0">
                            <a:latin typeface="Cambria Math" panose="02040503050406030204" pitchFamily="18" charset="0"/>
                            <a:ea typeface="Cambria Math" panose="02040503050406030204" pitchFamily="18" charset="0"/>
                            <a:cs typeface="Arial"/>
                          </a:rPr>
                          <m:t>2</m:t>
                        </m:r>
                        <m:r>
                          <a:rPr lang="en-GB" sz="2400" b="0" i="1" smtClean="0">
                            <a:latin typeface="Cambria Math" panose="02040503050406030204" pitchFamily="18" charset="0"/>
                            <a:ea typeface="Cambria Math" panose="02040503050406030204" pitchFamily="18" charset="0"/>
                            <a:cs typeface="Arial"/>
                          </a:rPr>
                          <m:t>𝜋</m:t>
                        </m:r>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𝑓</m:t>
                            </m:r>
                          </m:e>
                          <m:sub>
                            <m:r>
                              <a:rPr lang="en-GB" sz="2400" b="0" i="1" smtClean="0">
                                <a:latin typeface="Cambria Math" panose="02040503050406030204" pitchFamily="18" charset="0"/>
                                <a:ea typeface="Cambria Math" panose="02040503050406030204" pitchFamily="18" charset="0"/>
                                <a:cs typeface="Arial"/>
                              </a:rPr>
                              <m:t>0</m:t>
                            </m:r>
                          </m:sub>
                        </m:sSub>
                      </m:den>
                    </m:f>
                    <m:r>
                      <a:rPr lang="en-GB" sz="2400" i="1">
                        <a:latin typeface="Cambria Math" panose="02040503050406030204" pitchFamily="18" charset="0"/>
                        <a:ea typeface="Cambria Math" panose="02040503050406030204" pitchFamily="18" charset="0"/>
                        <a:cs typeface="Arial"/>
                      </a:rPr>
                      <m:t>=</m:t>
                    </m:r>
                    <m:r>
                      <a:rPr lang="en-GB" sz="2400" b="0" i="1" smtClean="0">
                        <a:latin typeface="Cambria Math" panose="02040503050406030204" pitchFamily="18" charset="0"/>
                        <a:ea typeface="Cambria Math" panose="02040503050406030204" pitchFamily="18" charset="0"/>
                        <a:cs typeface="Arial"/>
                      </a:rPr>
                      <m:t>0.16</m:t>
                    </m:r>
                    <m:r>
                      <a:rPr lang="en-GB" sz="2400" b="0" i="1" smtClean="0">
                        <a:latin typeface="Cambria Math" panose="02040503050406030204" pitchFamily="18" charset="0"/>
                        <a:ea typeface="Cambria Math" panose="02040503050406030204" pitchFamily="18" charset="0"/>
                        <a:cs typeface="Arial"/>
                      </a:rPr>
                      <m:t>𝜇</m:t>
                    </m:r>
                    <m:r>
                      <a:rPr lang="en-GB" sz="2400" b="0" i="1" smtClean="0">
                        <a:latin typeface="Cambria Math" panose="02040503050406030204" pitchFamily="18" charset="0"/>
                        <a:ea typeface="Cambria Math" panose="02040503050406030204" pitchFamily="18" charset="0"/>
                        <a:cs typeface="Arial"/>
                      </a:rPr>
                      <m:t>𝑠𝑒𝑐</m:t>
                    </m:r>
                  </m:oMath>
                </a14:m>
                <a:endParaRPr lang="en-US" sz="2400" dirty="0">
                  <a:latin typeface="Arial" panose="020B0604020202020204" pitchFamily="34" charset="0"/>
                  <a:cs typeface="Arial" panose="020B0604020202020204" pitchFamily="34" charset="0"/>
                </a:endParaRPr>
              </a:p>
              <a:p>
                <a:pPr>
                  <a:lnSpc>
                    <a:spcPct val="120000"/>
                  </a:lnSpc>
                  <a:spcBef>
                    <a:spcPts val="600"/>
                  </a:spcBef>
                  <a:spcAft>
                    <a:spcPts val="600"/>
                  </a:spcAft>
                  <a:buFont typeface="Symbol" panose="05050102010706020507" pitchFamily="18" charset="2"/>
                  <a:buChar char="Þ"/>
                </a:pPr>
                <a:r>
                  <a:rPr lang="en-GB" sz="2400" dirty="0">
                    <a:ea typeface="Cambria Math" panose="02040503050406030204" pitchFamily="18" charset="0"/>
                    <a:cs typeface="Arial"/>
                  </a:rPr>
                  <a:t> </a:t>
                </a:r>
                <a14:m>
                  <m:oMath xmlns:m="http://schemas.openxmlformats.org/officeDocument/2006/math">
                    <m:sSub>
                      <m:sSubPr>
                        <m:ctrlPr>
                          <a:rPr lang="en-GB" sz="2400" i="1">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𝑓</m:t>
                        </m:r>
                      </m:e>
                      <m:sub>
                        <m:r>
                          <a:rPr lang="en-GB" sz="2400" b="0" i="1" smtClean="0">
                            <a:latin typeface="Cambria Math" panose="02040503050406030204" pitchFamily="18" charset="0"/>
                            <a:ea typeface="Cambria Math" panose="02040503050406030204" pitchFamily="18" charset="0"/>
                            <a:cs typeface="Arial"/>
                          </a:rPr>
                          <m:t>𝑐𝑙𝑘</m:t>
                        </m:r>
                      </m:sub>
                    </m:sSub>
                    <m:r>
                      <a:rPr lang="en-GB" sz="2400" b="0" i="1" smtClean="0">
                        <a:latin typeface="Cambria Math" panose="02040503050406030204" pitchFamily="18" charset="0"/>
                        <a:ea typeface="Cambria Math" panose="02040503050406030204" pitchFamily="18" charset="0"/>
                        <a:cs typeface="Arial"/>
                      </a:rPr>
                      <m:t>(</m:t>
                    </m:r>
                    <m:r>
                      <a:rPr lang="en-GB" sz="2400" b="0" i="1" smtClean="0">
                        <a:latin typeface="Cambria Math" panose="02040503050406030204" pitchFamily="18" charset="0"/>
                        <a:ea typeface="Cambria Math" panose="02040503050406030204" pitchFamily="18" charset="0"/>
                        <a:cs typeface="Arial"/>
                      </a:rPr>
                      <m:t>𝑚𝑎𝑥</m:t>
                    </m:r>
                    <m:r>
                      <a:rPr lang="en-GB" sz="2400" b="0" i="1" smtClean="0">
                        <a:latin typeface="Cambria Math" panose="02040503050406030204" pitchFamily="18" charset="0"/>
                        <a:ea typeface="Cambria Math" panose="02040503050406030204" pitchFamily="18" charset="0"/>
                        <a:cs typeface="Arial"/>
                      </a:rPr>
                      <m:t>)= </m:t>
                    </m:r>
                    <m:f>
                      <m:fPr>
                        <m:ctrlPr>
                          <a:rPr lang="en-GB" sz="2400" i="1">
                            <a:latin typeface="Cambria Math" panose="02040503050406030204" pitchFamily="18" charset="0"/>
                            <a:ea typeface="Cambria Math" panose="02040503050406030204" pitchFamily="18" charset="0"/>
                            <a:cs typeface="Arial"/>
                          </a:rPr>
                        </m:ctrlPr>
                      </m:fPr>
                      <m:num>
                        <m:r>
                          <a:rPr lang="en-GB" sz="2400" i="1">
                            <a:latin typeface="Cambria Math" panose="02040503050406030204" pitchFamily="18" charset="0"/>
                            <a:ea typeface="Cambria Math" panose="02040503050406030204" pitchFamily="18" charset="0"/>
                            <a:cs typeface="Arial"/>
                          </a:rPr>
                          <m:t>1</m:t>
                        </m:r>
                      </m:num>
                      <m:den>
                        <m:r>
                          <a:rPr lang="en-GB" sz="2400" b="0" i="1" smtClean="0">
                            <a:latin typeface="Cambria Math" panose="02040503050406030204" pitchFamily="18" charset="0"/>
                            <a:ea typeface="Cambria Math" panose="02040503050406030204" pitchFamily="18" charset="0"/>
                            <a:cs typeface="Arial"/>
                          </a:rPr>
                          <m:t>5</m:t>
                        </m:r>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𝜏</m:t>
                            </m:r>
                          </m:e>
                          <m:sub>
                            <m:r>
                              <a:rPr lang="en-GB" sz="2400" b="0" i="1" smtClean="0">
                                <a:latin typeface="Cambria Math" panose="02040503050406030204" pitchFamily="18" charset="0"/>
                                <a:ea typeface="Cambria Math" panose="02040503050406030204" pitchFamily="18" charset="0"/>
                                <a:cs typeface="Arial"/>
                              </a:rPr>
                              <m:t>𝑠𝑒𝑡</m:t>
                            </m:r>
                          </m:sub>
                        </m:sSub>
                      </m:den>
                    </m:f>
                    <m:r>
                      <a:rPr lang="en-GB" sz="2400" i="1">
                        <a:latin typeface="Cambria Math" panose="02040503050406030204" pitchFamily="18" charset="0"/>
                        <a:ea typeface="Cambria Math" panose="02040503050406030204" pitchFamily="18" charset="0"/>
                        <a:cs typeface="Arial"/>
                      </a:rPr>
                      <m:t>=</m:t>
                    </m:r>
                    <m:r>
                      <a:rPr lang="en-GB" sz="2400" b="0" i="0" smtClean="0">
                        <a:latin typeface="Cambria Math" panose="02040503050406030204" pitchFamily="18" charset="0"/>
                        <a:ea typeface="Cambria Math" panose="02040503050406030204" pitchFamily="18" charset="0"/>
                        <a:cs typeface="Arial"/>
                      </a:rPr>
                      <m:t>1.26</m:t>
                    </m:r>
                    <m:r>
                      <m:rPr>
                        <m:sty m:val="p"/>
                      </m:rPr>
                      <a:rPr lang="en-GB" sz="2400" b="0" i="0" smtClean="0">
                        <a:latin typeface="Cambria Math" panose="02040503050406030204" pitchFamily="18" charset="0"/>
                        <a:ea typeface="Cambria Math" panose="02040503050406030204" pitchFamily="18" charset="0"/>
                        <a:cs typeface="Arial"/>
                      </a:rPr>
                      <m:t>MHz</m:t>
                    </m:r>
                  </m:oMath>
                </a14:m>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=&gt; Too slow for majority of applications!</a:t>
                </a:r>
              </a:p>
              <a:p>
                <a:pPr marL="0" indent="0">
                  <a:buNone/>
                </a:pPr>
                <a:r>
                  <a:rPr lang="en-US" sz="2400" dirty="0">
                    <a:latin typeface="Arial" panose="020B0604020202020204" pitchFamily="34" charset="0"/>
                    <a:cs typeface="Arial" panose="020B0604020202020204" pitchFamily="34" charset="0"/>
                  </a:rPr>
                  <a:t>=&gt; Cascade of lower gain stages to broaden operating frequency</a:t>
                </a:r>
              </a:p>
            </p:txBody>
          </p:sp>
        </mc:Choice>
        <mc:Fallback xmlns="">
          <p:sp>
            <p:nvSpPr>
              <p:cNvPr id="3" name="Content Placeholder 2">
                <a:extLst>
                  <a:ext uri="{FF2B5EF4-FFF2-40B4-BE49-F238E27FC236}">
                    <a16:creationId xmlns:a16="http://schemas.microsoft.com/office/drawing/2014/main" id="{88D0BFBB-AD24-4423-9C44-CF16AA554C72}"/>
                  </a:ext>
                </a:extLst>
              </p:cNvPr>
              <p:cNvSpPr>
                <a:spLocks noGrp="1" noRot="1" noChangeAspect="1" noMove="1" noResize="1" noEditPoints="1" noAdjustHandles="1" noChangeArrowheads="1" noChangeShapeType="1" noTextEdit="1"/>
              </p:cNvSpPr>
              <p:nvPr>
                <p:ph sz="quarter" idx="1"/>
              </p:nvPr>
            </p:nvSpPr>
            <p:spPr>
              <a:blipFill>
                <a:blip r:embed="rId2"/>
                <a:stretch>
                  <a:fillRect l="-977" t="-1059"/>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2968B9C1-CDC4-4FE9-89CB-12101BBD4EA5}"/>
              </a:ext>
            </a:extLst>
          </p:cNvPr>
          <p:cNvSpPr>
            <a:spLocks noGrp="1"/>
          </p:cNvSpPr>
          <p:nvPr>
            <p:ph type="title"/>
          </p:nvPr>
        </p:nvSpPr>
        <p:spPr/>
        <p:txBody>
          <a:bodyPr/>
          <a:lstStyle/>
          <a:p>
            <a:r>
              <a:rPr lang="en-GB" dirty="0"/>
              <a:t>Single-Stage Amplification</a:t>
            </a:r>
          </a:p>
        </p:txBody>
      </p:sp>
      <p:sp>
        <p:nvSpPr>
          <p:cNvPr id="4" name="Slide Number Placeholder 3">
            <a:extLst>
              <a:ext uri="{FF2B5EF4-FFF2-40B4-BE49-F238E27FC236}">
                <a16:creationId xmlns:a16="http://schemas.microsoft.com/office/drawing/2014/main" id="{E201B6B0-9557-4052-A160-C4E070FC189B}"/>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a:t>
            </a:fld>
            <a:endParaRPr lang="en-US" dirty="0"/>
          </a:p>
        </p:txBody>
      </p:sp>
      <p:pic>
        <p:nvPicPr>
          <p:cNvPr id="20" name="Picture 19">
            <a:extLst>
              <a:ext uri="{FF2B5EF4-FFF2-40B4-BE49-F238E27FC236}">
                <a16:creationId xmlns:a16="http://schemas.microsoft.com/office/drawing/2014/main" id="{81B02275-5F79-456E-8C2B-7DC79B998427}"/>
              </a:ext>
            </a:extLst>
          </p:cNvPr>
          <p:cNvPicPr>
            <a:picLocks noChangeAspect="1"/>
          </p:cNvPicPr>
          <p:nvPr/>
        </p:nvPicPr>
        <p:blipFill>
          <a:blip r:embed="rId3"/>
          <a:stretch>
            <a:fillRect/>
          </a:stretch>
        </p:blipFill>
        <p:spPr>
          <a:xfrm>
            <a:off x="6172200" y="2971800"/>
            <a:ext cx="3124200" cy="2487228"/>
          </a:xfrm>
          <a:prstGeom prst="rect">
            <a:avLst/>
          </a:prstGeom>
        </p:spPr>
      </p:pic>
      <p:sp>
        <p:nvSpPr>
          <p:cNvPr id="5" name="Date Placeholder 4">
            <a:extLst>
              <a:ext uri="{FF2B5EF4-FFF2-40B4-BE49-F238E27FC236}">
                <a16:creationId xmlns:a16="http://schemas.microsoft.com/office/drawing/2014/main" id="{8ED1EC96-0003-4693-9D9A-6AA10167F26E}"/>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BE05922F-DD99-4438-87D5-0AB9F7558389}"/>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851015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D5F9B-F825-4CFC-96C0-EA8432E88FC1}"/>
              </a:ext>
            </a:extLst>
          </p:cNvPr>
          <p:cNvSpPr>
            <a:spLocks noGrp="1"/>
          </p:cNvSpPr>
          <p:nvPr>
            <p:ph type="title"/>
          </p:nvPr>
        </p:nvSpPr>
        <p:spPr/>
        <p:txBody>
          <a:bodyPr>
            <a:normAutofit/>
          </a:bodyPr>
          <a:lstStyle/>
          <a:p>
            <a:r>
              <a:rPr lang="en-GB" dirty="0"/>
              <a:t>Open Loop Cascade of Amplifiers</a:t>
            </a:r>
          </a:p>
        </p:txBody>
      </p:sp>
      <p:sp>
        <p:nvSpPr>
          <p:cNvPr id="5" name="Slide Number Placeholder 4">
            <a:extLst>
              <a:ext uri="{FF2B5EF4-FFF2-40B4-BE49-F238E27FC236}">
                <a16:creationId xmlns:a16="http://schemas.microsoft.com/office/drawing/2014/main" id="{5BE85FE1-F922-4A86-B59C-D53ED1878E60}"/>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8</a:t>
            </a:fld>
            <a:endParaRPr lang="en-US" dirty="0"/>
          </a:p>
        </p:txBody>
      </p:sp>
      <p:sp>
        <p:nvSpPr>
          <p:cNvPr id="4" name="object 7">
            <a:extLst>
              <a:ext uri="{FF2B5EF4-FFF2-40B4-BE49-F238E27FC236}">
                <a16:creationId xmlns:a16="http://schemas.microsoft.com/office/drawing/2014/main" id="{98AC5271-1E73-4853-969B-F7DA7A63A319}"/>
              </a:ext>
            </a:extLst>
          </p:cNvPr>
          <p:cNvSpPr/>
          <p:nvPr/>
        </p:nvSpPr>
        <p:spPr>
          <a:xfrm>
            <a:off x="2067044" y="1745599"/>
            <a:ext cx="5917606" cy="5241950"/>
          </a:xfrm>
          <a:prstGeom prst="rect">
            <a:avLst/>
          </a:prstGeom>
          <a:blipFill>
            <a:blip r:embed="rId2" cstate="print"/>
            <a:stretch>
              <a:fillRect/>
            </a:stretch>
          </a:blipFill>
        </p:spPr>
        <p:txBody>
          <a:bodyPr wrap="square" lIns="0" tIns="0" rIns="0" bIns="0" rtlCol="0"/>
          <a:lstStyle/>
          <a:p>
            <a:endParaRPr sz="1391" dirty="0"/>
          </a:p>
        </p:txBody>
      </p:sp>
      <p:sp>
        <p:nvSpPr>
          <p:cNvPr id="7" name="Date Placeholder 6">
            <a:extLst>
              <a:ext uri="{FF2B5EF4-FFF2-40B4-BE49-F238E27FC236}">
                <a16:creationId xmlns:a16="http://schemas.microsoft.com/office/drawing/2014/main" id="{2F44B25E-0E00-445C-AF16-0B51BCADF85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C68DE211-B313-4864-8EC3-649B9DB45FDA}"/>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152842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37B355-883A-4D58-B2E2-54A2449705D8}"/>
              </a:ext>
            </a:extLst>
          </p:cNvPr>
          <p:cNvSpPr>
            <a:spLocks noGrp="1"/>
          </p:cNvSpPr>
          <p:nvPr>
            <p:ph sz="quarter" idx="1"/>
          </p:nvPr>
        </p:nvSpPr>
        <p:spPr/>
        <p:txBody>
          <a:bodyPr>
            <a:normAutofit/>
          </a:bodyPr>
          <a:lstStyle/>
          <a:p>
            <a:r>
              <a:rPr lang="en-US" sz="2800" dirty="0">
                <a:latin typeface="Arial" panose="020B0604020202020204" pitchFamily="34" charset="0"/>
                <a:cs typeface="Arial" panose="020B0604020202020204" pitchFamily="34" charset="0"/>
              </a:rPr>
              <a:t>In sampled-data cascade of amplifiers V</a:t>
            </a:r>
            <a:r>
              <a:rPr lang="en-US" sz="2800" baseline="-25000" dirty="0">
                <a:latin typeface="Arial" panose="020B0604020202020204" pitchFamily="34" charset="0"/>
                <a:cs typeface="Arial" panose="020B0604020202020204" pitchFamily="34" charset="0"/>
              </a:rPr>
              <a:t>os</a:t>
            </a:r>
            <a:r>
              <a:rPr lang="en-US" sz="2800" dirty="0">
                <a:latin typeface="Arial" panose="020B0604020202020204" pitchFamily="34" charset="0"/>
                <a:cs typeface="Arial" panose="020B0604020202020204" pitchFamily="34" charset="0"/>
              </a:rPr>
              <a:t> can be cancelled</a:t>
            </a:r>
          </a:p>
          <a:p>
            <a:pPr lvl="1"/>
            <a:r>
              <a:rPr lang="en-US" sz="2400" dirty="0">
                <a:latin typeface="Arial" panose="020B0604020202020204" pitchFamily="34" charset="0"/>
                <a:cs typeface="Arial" panose="020B0604020202020204" pitchFamily="34" charset="0"/>
              </a:rPr>
              <a:t>Store on ac-coupling caps in series with amp stages</a:t>
            </a:r>
          </a:p>
          <a:p>
            <a:r>
              <a:rPr lang="en-US" sz="2800" dirty="0">
                <a:latin typeface="Arial" panose="020B0604020202020204" pitchFamily="34" charset="0"/>
                <a:cs typeface="Arial" panose="020B0604020202020204" pitchFamily="34" charset="0"/>
              </a:rPr>
              <a:t>Offset associated with a specific amp can be cancelled by storing it in series with either the input or the output of that stage</a:t>
            </a:r>
          </a:p>
        </p:txBody>
      </p:sp>
      <p:sp>
        <p:nvSpPr>
          <p:cNvPr id="2" name="Title 1">
            <a:extLst>
              <a:ext uri="{FF2B5EF4-FFF2-40B4-BE49-F238E27FC236}">
                <a16:creationId xmlns:a16="http://schemas.microsoft.com/office/drawing/2014/main" id="{9579D64C-5BFD-43B0-8CF1-417D9860F525}"/>
              </a:ext>
            </a:extLst>
          </p:cNvPr>
          <p:cNvSpPr>
            <a:spLocks noGrp="1"/>
          </p:cNvSpPr>
          <p:nvPr>
            <p:ph type="title"/>
          </p:nvPr>
        </p:nvSpPr>
        <p:spPr/>
        <p:txBody>
          <a:bodyPr/>
          <a:lstStyle/>
          <a:p>
            <a:r>
              <a:rPr lang="en-GB" dirty="0"/>
              <a:t>Offset Cancellation</a:t>
            </a:r>
          </a:p>
        </p:txBody>
      </p:sp>
      <p:sp>
        <p:nvSpPr>
          <p:cNvPr id="4" name="Slide Number Placeholder 3">
            <a:extLst>
              <a:ext uri="{FF2B5EF4-FFF2-40B4-BE49-F238E27FC236}">
                <a16:creationId xmlns:a16="http://schemas.microsoft.com/office/drawing/2014/main" id="{86FB4568-D610-4D44-B5BC-8D8D67E141F5}"/>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9</a:t>
            </a:fld>
            <a:endParaRPr lang="en-US" dirty="0"/>
          </a:p>
        </p:txBody>
      </p:sp>
      <p:sp>
        <p:nvSpPr>
          <p:cNvPr id="5" name="Date Placeholder 4">
            <a:extLst>
              <a:ext uri="{FF2B5EF4-FFF2-40B4-BE49-F238E27FC236}">
                <a16:creationId xmlns:a16="http://schemas.microsoft.com/office/drawing/2014/main" id="{A7EE872F-8F82-40B6-987F-17A90B80EAD8}"/>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0E5A3D7E-9DE5-495E-B007-ABE3432435BC}"/>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34517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AA4C50-A6E0-4988-8910-77D2951EAFCB}"/>
              </a:ext>
            </a:extLst>
          </p:cNvPr>
          <p:cNvSpPr>
            <a:spLocks noGrp="1"/>
          </p:cNvSpPr>
          <p:nvPr>
            <p:ph sz="quarter" idx="1"/>
          </p:nvPr>
        </p:nvSpPr>
        <p:spPr/>
        <p:txBody>
          <a:bodyPr>
            <a:normAutofit/>
          </a:bodyPr>
          <a:lstStyle/>
          <a:p>
            <a:r>
              <a:rPr lang="en-US" dirty="0">
                <a:latin typeface="Arial" panose="020B0604020202020204" pitchFamily="34" charset="0"/>
                <a:cs typeface="Arial" panose="020B0604020202020204" pitchFamily="34" charset="0"/>
              </a:rPr>
              <a:t>Amp modeled as ideal + V</a:t>
            </a:r>
            <a:r>
              <a:rPr lang="en-US" baseline="-25000" dirty="0">
                <a:latin typeface="Arial" panose="020B0604020202020204" pitchFamily="34" charset="0"/>
                <a:cs typeface="Arial" panose="020B0604020202020204" pitchFamily="34" charset="0"/>
              </a:rPr>
              <a:t>os</a:t>
            </a:r>
            <a:r>
              <a:rPr lang="en-US" dirty="0">
                <a:latin typeface="Arial" panose="020B0604020202020204" pitchFamily="34" charset="0"/>
                <a:cs typeface="Arial" panose="020B0604020202020204" pitchFamily="34" charset="0"/>
              </a:rPr>
              <a:t> (input referred)</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Store offset:</a:t>
            </a:r>
          </a:p>
          <a:p>
            <a:pPr lvl="1"/>
            <a:r>
              <a:rPr lang="en-US" dirty="0">
                <a:latin typeface="Arial" panose="020B0604020202020204" pitchFamily="34" charset="0"/>
                <a:cs typeface="Arial" panose="020B0604020202020204" pitchFamily="34" charset="0"/>
              </a:rPr>
              <a:t>S1, S4: open</a:t>
            </a:r>
          </a:p>
          <a:p>
            <a:pPr lvl="1"/>
            <a:r>
              <a:rPr lang="en-US" dirty="0">
                <a:latin typeface="Arial" panose="020B0604020202020204" pitchFamily="34" charset="0"/>
                <a:cs typeface="Arial" panose="020B0604020202020204" pitchFamily="34" charset="0"/>
              </a:rPr>
              <a:t>S2, S3: closed</a:t>
            </a:r>
          </a:p>
          <a:p>
            <a:pPr marL="301752" lvl="1" indent="0">
              <a:buNone/>
            </a:pPr>
            <a:r>
              <a:rPr lang="en-US" dirty="0">
                <a:latin typeface="Arial" panose="020B0604020202020204" pitchFamily="34" charset="0"/>
                <a:cs typeface="Arial" panose="020B0604020202020204" pitchFamily="34" charset="0"/>
              </a:rPr>
              <a:t>=&gt; V</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A</a:t>
            </a:r>
            <a:r>
              <a:rPr lang="en-US" dirty="0">
                <a:latin typeface="Times New Roman" panose="02020603050405020304" pitchFamily="18" charset="0"/>
                <a:cs typeface="Times New Roman" panose="02020603050405020304" pitchFamily="18" charset="0"/>
              </a:rPr>
              <a:t>⸱</a:t>
            </a:r>
            <a:r>
              <a:rPr lang="en-US" dirty="0">
                <a:latin typeface="Arial" panose="020B0604020202020204" pitchFamily="34" charset="0"/>
                <a:cs typeface="Arial" panose="020B0604020202020204" pitchFamily="34" charset="0"/>
              </a:rPr>
              <a:t>V</a:t>
            </a:r>
            <a:r>
              <a:rPr lang="en-US" baseline="-25000" dirty="0">
                <a:latin typeface="Arial" panose="020B0604020202020204" pitchFamily="34" charset="0"/>
                <a:cs typeface="Arial" panose="020B0604020202020204" pitchFamily="34" charset="0"/>
              </a:rPr>
              <a:t>OS</a:t>
            </a:r>
          </a:p>
          <a:p>
            <a:endParaRPr lang="en-GB"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5C7BDCE-CB09-4606-8781-53602AFC7B85}"/>
              </a:ext>
            </a:extLst>
          </p:cNvPr>
          <p:cNvSpPr>
            <a:spLocks noGrp="1"/>
          </p:cNvSpPr>
          <p:nvPr>
            <p:ph type="title"/>
          </p:nvPr>
        </p:nvSpPr>
        <p:spPr/>
        <p:txBody>
          <a:bodyPr>
            <a:normAutofit/>
          </a:bodyPr>
          <a:lstStyle/>
          <a:p>
            <a:r>
              <a:rPr lang="en-GB" dirty="0"/>
              <a:t>Output Series Cancellation</a:t>
            </a:r>
          </a:p>
        </p:txBody>
      </p:sp>
      <p:sp>
        <p:nvSpPr>
          <p:cNvPr id="7" name="Slide Number Placeholder 6">
            <a:extLst>
              <a:ext uri="{FF2B5EF4-FFF2-40B4-BE49-F238E27FC236}">
                <a16:creationId xmlns:a16="http://schemas.microsoft.com/office/drawing/2014/main" id="{AFF8C119-C408-4790-8D30-34E883EDD2AD}"/>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10</a:t>
            </a:fld>
            <a:endParaRPr lang="en-US" dirty="0"/>
          </a:p>
        </p:txBody>
      </p:sp>
      <p:sp>
        <p:nvSpPr>
          <p:cNvPr id="4" name="object 6">
            <a:extLst>
              <a:ext uri="{FF2B5EF4-FFF2-40B4-BE49-F238E27FC236}">
                <a16:creationId xmlns:a16="http://schemas.microsoft.com/office/drawing/2014/main" id="{38C991A4-FADF-458A-B4F8-A24DFB8EB747}"/>
              </a:ext>
            </a:extLst>
          </p:cNvPr>
          <p:cNvSpPr/>
          <p:nvPr/>
        </p:nvSpPr>
        <p:spPr>
          <a:xfrm>
            <a:off x="4278364" y="2303215"/>
            <a:ext cx="5399035" cy="2040185"/>
          </a:xfrm>
          <a:prstGeom prst="rect">
            <a:avLst/>
          </a:prstGeom>
          <a:blipFill>
            <a:blip r:embed="rId2" cstate="print"/>
            <a:stretch>
              <a:fillRect/>
            </a:stretch>
          </a:blipFill>
        </p:spPr>
        <p:txBody>
          <a:bodyPr wrap="square" lIns="0" tIns="0" rIns="0" bIns="0" rtlCol="0"/>
          <a:lstStyle/>
          <a:p>
            <a:endParaRPr sz="1391" dirty="0"/>
          </a:p>
        </p:txBody>
      </p:sp>
      <p:sp>
        <p:nvSpPr>
          <p:cNvPr id="5" name="object 8">
            <a:extLst>
              <a:ext uri="{FF2B5EF4-FFF2-40B4-BE49-F238E27FC236}">
                <a16:creationId xmlns:a16="http://schemas.microsoft.com/office/drawing/2014/main" id="{B1706548-7445-4765-96E5-D1CFE2FB6164}"/>
              </a:ext>
            </a:extLst>
          </p:cNvPr>
          <p:cNvSpPr/>
          <p:nvPr/>
        </p:nvSpPr>
        <p:spPr>
          <a:xfrm>
            <a:off x="5339581" y="5149848"/>
            <a:ext cx="3276600" cy="2040185"/>
          </a:xfrm>
          <a:prstGeom prst="rect">
            <a:avLst/>
          </a:prstGeom>
          <a:blipFill>
            <a:blip r:embed="rId3" cstate="print"/>
            <a:stretch>
              <a:fillRect/>
            </a:stretch>
          </a:blipFill>
        </p:spPr>
        <p:txBody>
          <a:bodyPr wrap="square" lIns="0" tIns="0" rIns="0" bIns="0" rtlCol="0"/>
          <a:lstStyle/>
          <a:p>
            <a:endParaRPr sz="1391" dirty="0"/>
          </a:p>
        </p:txBody>
      </p:sp>
      <p:sp>
        <p:nvSpPr>
          <p:cNvPr id="6" name="Arrow: Down 5">
            <a:extLst>
              <a:ext uri="{FF2B5EF4-FFF2-40B4-BE49-F238E27FC236}">
                <a16:creationId xmlns:a16="http://schemas.microsoft.com/office/drawing/2014/main" id="{643B24E9-96EB-4A6D-A2D1-87E3DA2EA547}"/>
              </a:ext>
            </a:extLst>
          </p:cNvPr>
          <p:cNvSpPr/>
          <p:nvPr/>
        </p:nvSpPr>
        <p:spPr>
          <a:xfrm>
            <a:off x="6711181" y="4379688"/>
            <a:ext cx="533400" cy="497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Date Placeholder 7">
            <a:extLst>
              <a:ext uri="{FF2B5EF4-FFF2-40B4-BE49-F238E27FC236}">
                <a16:creationId xmlns:a16="http://schemas.microsoft.com/office/drawing/2014/main" id="{5981AD6E-3DD9-4AA6-9308-32F226AF93F3}"/>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9" name="Footer Placeholder 8">
            <a:extLst>
              <a:ext uri="{FF2B5EF4-FFF2-40B4-BE49-F238E27FC236}">
                <a16:creationId xmlns:a16="http://schemas.microsoft.com/office/drawing/2014/main" id="{4379C1ED-A2BD-4E9F-A94E-44DE0B7186AD}"/>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377779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1917B-0872-4BA0-9120-8B3C7D82BF75}"/>
              </a:ext>
            </a:extLst>
          </p:cNvPr>
          <p:cNvSpPr>
            <a:spLocks noGrp="1"/>
          </p:cNvSpPr>
          <p:nvPr>
            <p:ph sz="quarter" idx="1"/>
          </p:nvPr>
        </p:nvSpPr>
        <p:spPr/>
        <p:txBody>
          <a:bodyPr>
            <a:normAutofit lnSpcReduction="10000"/>
          </a:bodyPr>
          <a:lstStyle/>
          <a:p>
            <a:r>
              <a:rPr lang="en-US" dirty="0">
                <a:latin typeface="Arial" panose="020B0604020202020204" pitchFamily="34" charset="0"/>
                <a:cs typeface="Arial" panose="020B0604020202020204" pitchFamily="34" charset="0"/>
              </a:rPr>
              <a:t>Amplify:</a:t>
            </a:r>
          </a:p>
          <a:p>
            <a:pPr lvl="1"/>
            <a:r>
              <a:rPr lang="en-US" dirty="0">
                <a:latin typeface="Arial" panose="020B0604020202020204" pitchFamily="34" charset="0"/>
                <a:cs typeface="Arial" panose="020B0604020202020204" pitchFamily="34" charset="0"/>
              </a:rPr>
              <a:t>S2, S3: open</a:t>
            </a:r>
          </a:p>
          <a:p>
            <a:pPr lvl="1"/>
            <a:r>
              <a:rPr lang="en-US" dirty="0">
                <a:latin typeface="Arial" panose="020B0604020202020204" pitchFamily="34" charset="0"/>
                <a:cs typeface="Arial" panose="020B0604020202020204" pitchFamily="34" charset="0"/>
              </a:rPr>
              <a:t>S1, S4: closed</a:t>
            </a:r>
          </a:p>
          <a:p>
            <a:pPr lvl="1"/>
            <a:r>
              <a:rPr lang="en-US" dirty="0">
                <a:latin typeface="Arial" panose="020B0604020202020204" pitchFamily="34" charset="0"/>
                <a:cs typeface="Arial" panose="020B0604020202020204" pitchFamily="34" charset="0"/>
              </a:rPr>
              <a:t>V</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A</a:t>
            </a:r>
            <a:r>
              <a:rPr lang="en-US" dirty="0">
                <a:latin typeface="Times New Roman" panose="02020603050405020304" pitchFamily="18" charset="0"/>
                <a:cs typeface="Times New Roman" panose="02020603050405020304" pitchFamily="18" charset="0"/>
              </a:rPr>
              <a:t>⸱</a:t>
            </a:r>
            <a:r>
              <a:rPr lang="en-US" dirty="0">
                <a:latin typeface="Arial" panose="020B0604020202020204" pitchFamily="34" charset="0"/>
                <a:cs typeface="Arial" panose="020B0604020202020204" pitchFamily="34" charset="0"/>
              </a:rPr>
              <a:t>V</a:t>
            </a:r>
            <a:r>
              <a:rPr lang="en-US" baseline="-25000" dirty="0">
                <a:latin typeface="Arial" panose="020B0604020202020204" pitchFamily="34" charset="0"/>
                <a:cs typeface="Arial" panose="020B0604020202020204" pitchFamily="34" charset="0"/>
              </a:rPr>
              <a:t>OS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Circuit requirements:</a:t>
            </a:r>
          </a:p>
          <a:p>
            <a:pPr lvl="1"/>
            <a:r>
              <a:rPr lang="en-US" dirty="0">
                <a:latin typeface="Arial" panose="020B0604020202020204" pitchFamily="34" charset="0"/>
                <a:cs typeface="Arial" panose="020B0604020202020204" pitchFamily="34" charset="0"/>
              </a:rPr>
              <a:t>Amp not saturate during offset storage</a:t>
            </a:r>
          </a:p>
          <a:p>
            <a:pPr lvl="1"/>
            <a:r>
              <a:rPr lang="en-US" dirty="0">
                <a:latin typeface="Arial" panose="020B0604020202020204" pitchFamily="34" charset="0"/>
                <a:cs typeface="Arial" panose="020B0604020202020204" pitchFamily="34" charset="0"/>
              </a:rPr>
              <a:t>High-impedance (C) load -&gt; C</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not discharged</a:t>
            </a:r>
          </a:p>
          <a:p>
            <a:pPr lvl="1"/>
            <a:r>
              <a:rPr lang="en-US" dirty="0">
                <a:latin typeface="Arial" panose="020B0604020202020204" pitchFamily="34" charset="0"/>
                <a:cs typeface="Arial" panose="020B0604020202020204" pitchFamily="34" charset="0"/>
              </a:rPr>
              <a:t>Cc &gt;&gt; CL to avoid attenuation</a:t>
            </a:r>
          </a:p>
          <a:p>
            <a:pPr lvl="1"/>
            <a:r>
              <a:rPr lang="en-US" dirty="0">
                <a:latin typeface="Arial" panose="020B0604020202020204" pitchFamily="34" charset="0"/>
                <a:cs typeface="Arial" panose="020B0604020202020204" pitchFamily="34" charset="0"/>
              </a:rPr>
              <a:t>Cc &gt;&gt; </a:t>
            </a: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sw</a:t>
            </a:r>
            <a:r>
              <a:rPr lang="en-US" dirty="0">
                <a:latin typeface="Arial" panose="020B0604020202020204" pitchFamily="34" charset="0"/>
                <a:cs typeface="Arial" panose="020B0604020202020204" pitchFamily="34" charset="0"/>
              </a:rPr>
              <a:t> to avoid excessive offset due to charge injection</a:t>
            </a:r>
          </a:p>
        </p:txBody>
      </p:sp>
      <p:sp>
        <p:nvSpPr>
          <p:cNvPr id="2" name="Title 1">
            <a:extLst>
              <a:ext uri="{FF2B5EF4-FFF2-40B4-BE49-F238E27FC236}">
                <a16:creationId xmlns:a16="http://schemas.microsoft.com/office/drawing/2014/main" id="{36CC3ACB-BEAC-4FE1-9B30-05FC5E4A0D90}"/>
              </a:ext>
            </a:extLst>
          </p:cNvPr>
          <p:cNvSpPr>
            <a:spLocks noGrp="1"/>
          </p:cNvSpPr>
          <p:nvPr>
            <p:ph type="title"/>
          </p:nvPr>
        </p:nvSpPr>
        <p:spPr/>
        <p:txBody>
          <a:bodyPr>
            <a:normAutofit/>
          </a:bodyPr>
          <a:lstStyle/>
          <a:p>
            <a:r>
              <a:rPr lang="en-GB" dirty="0"/>
              <a:t>Output Series Cancellation</a:t>
            </a:r>
          </a:p>
        </p:txBody>
      </p:sp>
      <p:sp>
        <p:nvSpPr>
          <p:cNvPr id="5" name="Slide Number Placeholder 4">
            <a:extLst>
              <a:ext uri="{FF2B5EF4-FFF2-40B4-BE49-F238E27FC236}">
                <a16:creationId xmlns:a16="http://schemas.microsoft.com/office/drawing/2014/main" id="{48F1E60E-9613-4F8D-B1E6-3721547D4552}"/>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11</a:t>
            </a:fld>
            <a:endParaRPr lang="en-US" dirty="0"/>
          </a:p>
        </p:txBody>
      </p:sp>
      <p:sp>
        <p:nvSpPr>
          <p:cNvPr id="4" name="object 6">
            <a:extLst>
              <a:ext uri="{FF2B5EF4-FFF2-40B4-BE49-F238E27FC236}">
                <a16:creationId xmlns:a16="http://schemas.microsoft.com/office/drawing/2014/main" id="{313F35F1-F24E-43E5-955F-5C1B63B2ECAB}"/>
              </a:ext>
            </a:extLst>
          </p:cNvPr>
          <p:cNvSpPr/>
          <p:nvPr/>
        </p:nvSpPr>
        <p:spPr>
          <a:xfrm>
            <a:off x="5228636" y="1826409"/>
            <a:ext cx="4372564" cy="2745591"/>
          </a:xfrm>
          <a:prstGeom prst="rect">
            <a:avLst/>
          </a:prstGeom>
          <a:blipFill>
            <a:blip r:embed="rId2" cstate="print"/>
            <a:stretch>
              <a:fillRect/>
            </a:stretch>
          </a:blipFill>
        </p:spPr>
        <p:txBody>
          <a:bodyPr wrap="square" lIns="0" tIns="0" rIns="0" bIns="0" rtlCol="0"/>
          <a:lstStyle/>
          <a:p>
            <a:endParaRPr sz="1391" dirty="0"/>
          </a:p>
        </p:txBody>
      </p:sp>
      <p:sp>
        <p:nvSpPr>
          <p:cNvPr id="6" name="Date Placeholder 5">
            <a:extLst>
              <a:ext uri="{FF2B5EF4-FFF2-40B4-BE49-F238E27FC236}">
                <a16:creationId xmlns:a16="http://schemas.microsoft.com/office/drawing/2014/main" id="{1C496E2B-C836-4C26-AAC5-D791F272175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D223D1C6-E6FF-4ABC-9796-651BF1CEB1D4}"/>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61252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10">
            <a:extLst>
              <a:ext uri="{FF2B5EF4-FFF2-40B4-BE49-F238E27FC236}">
                <a16:creationId xmlns:a16="http://schemas.microsoft.com/office/drawing/2014/main" id="{F154516C-9835-45FA-B8F1-54BC455564AE}"/>
              </a:ext>
            </a:extLst>
          </p:cNvPr>
          <p:cNvSpPr/>
          <p:nvPr/>
        </p:nvSpPr>
        <p:spPr>
          <a:xfrm>
            <a:off x="838200" y="2432614"/>
            <a:ext cx="8077200" cy="2063185"/>
          </a:xfrm>
          <a:prstGeom prst="rect">
            <a:avLst/>
          </a:prstGeom>
          <a:blipFill>
            <a:blip r:embed="rId2" cstate="print"/>
            <a:stretch>
              <a:fillRect/>
            </a:stretch>
          </a:blipFill>
        </p:spPr>
        <p:txBody>
          <a:bodyPr wrap="square" lIns="0" tIns="0" rIns="0" bIns="0" rtlCol="0"/>
          <a:lstStyle/>
          <a:p>
            <a:endParaRPr sz="1391" dirty="0"/>
          </a:p>
        </p:txBody>
      </p:sp>
      <p:sp>
        <p:nvSpPr>
          <p:cNvPr id="3" name="Content Placeholder 2">
            <a:extLst>
              <a:ext uri="{FF2B5EF4-FFF2-40B4-BE49-F238E27FC236}">
                <a16:creationId xmlns:a16="http://schemas.microsoft.com/office/drawing/2014/main" id="{1F63FC83-D838-4C49-A0F1-8C52C5068D34}"/>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Note: Offset storage in capacitors connected in series with amplifier outputs</a:t>
            </a:r>
          </a:p>
          <a:p>
            <a:endParaRPr lang="en-GB" sz="24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37D2EB8C-DF45-4075-8EB3-FFF8D32B21D6}"/>
              </a:ext>
            </a:extLst>
          </p:cNvPr>
          <p:cNvSpPr>
            <a:spLocks noGrp="1"/>
          </p:cNvSpPr>
          <p:nvPr>
            <p:ph type="title"/>
          </p:nvPr>
        </p:nvSpPr>
        <p:spPr/>
        <p:txBody>
          <a:bodyPr>
            <a:normAutofit/>
          </a:bodyPr>
          <a:lstStyle/>
          <a:p>
            <a:r>
              <a:rPr lang="en-US" dirty="0"/>
              <a:t>Cascaded Output Series Cancellation</a:t>
            </a:r>
            <a:endParaRPr lang="en-GB" dirty="0"/>
          </a:p>
        </p:txBody>
      </p:sp>
      <p:sp>
        <p:nvSpPr>
          <p:cNvPr id="6" name="Slide Number Placeholder 5">
            <a:extLst>
              <a:ext uri="{FF2B5EF4-FFF2-40B4-BE49-F238E27FC236}">
                <a16:creationId xmlns:a16="http://schemas.microsoft.com/office/drawing/2014/main" id="{327D8E58-87E3-4C0A-8CD8-EF1888790846}"/>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12</a:t>
            </a:fld>
            <a:endParaRPr lang="en-US" dirty="0"/>
          </a:p>
        </p:txBody>
      </p:sp>
      <p:sp>
        <p:nvSpPr>
          <p:cNvPr id="7" name="Date Placeholder 6">
            <a:extLst>
              <a:ext uri="{FF2B5EF4-FFF2-40B4-BE49-F238E27FC236}">
                <a16:creationId xmlns:a16="http://schemas.microsoft.com/office/drawing/2014/main" id="{4D3846E0-BCE0-4005-B9B4-785254D07F0C}"/>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E1A7AD39-857B-48D5-8A7F-AFEF14B56700}"/>
              </a:ext>
            </a:extLst>
          </p:cNvPr>
          <p:cNvSpPr>
            <a:spLocks noGrp="1"/>
          </p:cNvSpPr>
          <p:nvPr>
            <p:ph type="ftr" sz="quarter" idx="11"/>
          </p:nvPr>
        </p:nvSpPr>
        <p:spPr/>
        <p:txBody>
          <a:bodyPr/>
          <a:lstStyle/>
          <a:p>
            <a:r>
              <a:rPr lang="en-US"/>
              <a:t>DN, 2020</a:t>
            </a:r>
            <a:endParaRPr lang="en-US" dirty="0"/>
          </a:p>
        </p:txBody>
      </p:sp>
      <p:sp>
        <p:nvSpPr>
          <p:cNvPr id="10" name="object 11">
            <a:extLst>
              <a:ext uri="{FF2B5EF4-FFF2-40B4-BE49-F238E27FC236}">
                <a16:creationId xmlns:a16="http://schemas.microsoft.com/office/drawing/2014/main" id="{B91509B5-BE1F-4FE7-B592-F04ABAA57A50}"/>
              </a:ext>
            </a:extLst>
          </p:cNvPr>
          <p:cNvSpPr/>
          <p:nvPr/>
        </p:nvSpPr>
        <p:spPr>
          <a:xfrm>
            <a:off x="5105400" y="4479850"/>
            <a:ext cx="3657600" cy="2515310"/>
          </a:xfrm>
          <a:prstGeom prst="rect">
            <a:avLst/>
          </a:prstGeom>
          <a:blipFill>
            <a:blip r:embed="rId3" cstate="print"/>
            <a:stretch>
              <a:fillRect/>
            </a:stretch>
          </a:blipFill>
        </p:spPr>
        <p:txBody>
          <a:bodyPr wrap="square" lIns="0" tIns="0" rIns="0" bIns="0" rtlCol="0"/>
          <a:lstStyle/>
          <a:p>
            <a:endParaRPr sz="1391" dirty="0"/>
          </a:p>
        </p:txBody>
      </p:sp>
    </p:spTree>
    <p:extLst>
      <p:ext uri="{BB962C8B-B14F-4D97-AF65-F5344CB8AC3E}">
        <p14:creationId xmlns:p14="http://schemas.microsoft.com/office/powerpoint/2010/main" val="3960333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bject 11">
            <a:extLst>
              <a:ext uri="{FF2B5EF4-FFF2-40B4-BE49-F238E27FC236}">
                <a16:creationId xmlns:a16="http://schemas.microsoft.com/office/drawing/2014/main" id="{B786151C-4887-4C92-8C85-1E09285C75FE}"/>
              </a:ext>
            </a:extLst>
          </p:cNvPr>
          <p:cNvSpPr/>
          <p:nvPr/>
        </p:nvSpPr>
        <p:spPr>
          <a:xfrm>
            <a:off x="5105400" y="4479850"/>
            <a:ext cx="3657600" cy="2515310"/>
          </a:xfrm>
          <a:prstGeom prst="rect">
            <a:avLst/>
          </a:prstGeom>
          <a:blipFill>
            <a:blip r:embed="rId2" cstate="print"/>
            <a:stretch>
              <a:fillRect/>
            </a:stretch>
          </a:blipFill>
        </p:spPr>
        <p:txBody>
          <a:bodyPr wrap="square" lIns="0" tIns="0" rIns="0" bIns="0" rtlCol="0"/>
          <a:lstStyle/>
          <a:p>
            <a:endParaRPr sz="1391" dirty="0"/>
          </a:p>
        </p:txBody>
      </p:sp>
      <p:sp>
        <p:nvSpPr>
          <p:cNvPr id="4" name="object 10">
            <a:extLst>
              <a:ext uri="{FF2B5EF4-FFF2-40B4-BE49-F238E27FC236}">
                <a16:creationId xmlns:a16="http://schemas.microsoft.com/office/drawing/2014/main" id="{6FA26B29-A172-467D-8F85-442C8B5FB4F8}"/>
              </a:ext>
            </a:extLst>
          </p:cNvPr>
          <p:cNvSpPr/>
          <p:nvPr/>
        </p:nvSpPr>
        <p:spPr>
          <a:xfrm>
            <a:off x="838200" y="2432614"/>
            <a:ext cx="8077200" cy="2063185"/>
          </a:xfrm>
          <a:prstGeom prst="rect">
            <a:avLst/>
          </a:prstGeom>
          <a:blipFill>
            <a:blip r:embed="rId3" cstate="print"/>
            <a:stretch>
              <a:fillRect/>
            </a:stretch>
          </a:blipFill>
        </p:spPr>
        <p:txBody>
          <a:bodyPr wrap="square" lIns="0" tIns="0" rIns="0" bIns="0" rtlCol="0"/>
          <a:lstStyle/>
          <a:p>
            <a:endParaRPr sz="1391" dirty="0"/>
          </a:p>
        </p:txBody>
      </p:sp>
      <p:sp>
        <p:nvSpPr>
          <p:cNvPr id="19" name="Content Placeholder 2">
            <a:extLst>
              <a:ext uri="{FF2B5EF4-FFF2-40B4-BE49-F238E27FC236}">
                <a16:creationId xmlns:a16="http://schemas.microsoft.com/office/drawing/2014/main" id="{E9DEE733-10B8-4B07-B971-7C0DF19EB08D}"/>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S1: open</a:t>
            </a:r>
          </a:p>
          <a:p>
            <a:r>
              <a:rPr lang="en-US" sz="2400" dirty="0">
                <a:latin typeface="Arial" panose="020B0604020202020204" pitchFamily="34" charset="0"/>
                <a:cs typeface="Arial" panose="020B0604020202020204" pitchFamily="34" charset="0"/>
              </a:rPr>
              <a:t>S2, S3, S4, S5: closed</a:t>
            </a:r>
          </a:p>
        </p:txBody>
      </p:sp>
      <p:sp>
        <p:nvSpPr>
          <p:cNvPr id="2" name="Title 1">
            <a:extLst>
              <a:ext uri="{FF2B5EF4-FFF2-40B4-BE49-F238E27FC236}">
                <a16:creationId xmlns:a16="http://schemas.microsoft.com/office/drawing/2014/main" id="{37D2EB8C-DF45-4075-8EB3-FFF8D32B21D6}"/>
              </a:ext>
            </a:extLst>
          </p:cNvPr>
          <p:cNvSpPr>
            <a:spLocks noGrp="1"/>
          </p:cNvSpPr>
          <p:nvPr>
            <p:ph type="title"/>
          </p:nvPr>
        </p:nvSpPr>
        <p:spPr/>
        <p:txBody>
          <a:bodyPr>
            <a:normAutofit/>
          </a:bodyPr>
          <a:lstStyle/>
          <a:p>
            <a:r>
              <a:rPr lang="en-US" dirty="0"/>
              <a:t>Cascaded Output Series Cancellation</a:t>
            </a:r>
            <a:endParaRPr lang="en-GB" dirty="0"/>
          </a:p>
        </p:txBody>
      </p:sp>
      <p:sp>
        <p:nvSpPr>
          <p:cNvPr id="3" name="Slide Number Placeholder 2">
            <a:extLst>
              <a:ext uri="{FF2B5EF4-FFF2-40B4-BE49-F238E27FC236}">
                <a16:creationId xmlns:a16="http://schemas.microsoft.com/office/drawing/2014/main" id="{A67B0065-9A33-4659-963D-8CF581B04F7C}"/>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13</a:t>
            </a:fld>
            <a:endParaRPr lang="en-US" dirty="0"/>
          </a:p>
        </p:txBody>
      </p:sp>
      <p:sp>
        <p:nvSpPr>
          <p:cNvPr id="7" name="object 12">
            <a:extLst>
              <a:ext uri="{FF2B5EF4-FFF2-40B4-BE49-F238E27FC236}">
                <a16:creationId xmlns:a16="http://schemas.microsoft.com/office/drawing/2014/main" id="{41E5D8CF-26BF-4C8D-8B0B-866D39074C0A}"/>
              </a:ext>
            </a:extLst>
          </p:cNvPr>
          <p:cNvSpPr/>
          <p:nvPr/>
        </p:nvSpPr>
        <p:spPr>
          <a:xfrm>
            <a:off x="1733549"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11" name="object 12">
            <a:extLst>
              <a:ext uri="{FF2B5EF4-FFF2-40B4-BE49-F238E27FC236}">
                <a16:creationId xmlns:a16="http://schemas.microsoft.com/office/drawing/2014/main" id="{9E5DA452-E99E-48E8-8318-7EE5E63F321D}"/>
              </a:ext>
            </a:extLst>
          </p:cNvPr>
          <p:cNvSpPr/>
          <p:nvPr/>
        </p:nvSpPr>
        <p:spPr>
          <a:xfrm>
            <a:off x="3916680" y="351282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12" name="object 12">
            <a:extLst>
              <a:ext uri="{FF2B5EF4-FFF2-40B4-BE49-F238E27FC236}">
                <a16:creationId xmlns:a16="http://schemas.microsoft.com/office/drawing/2014/main" id="{92E749CC-C0C7-4F6E-8506-FCD5252CF5CD}"/>
              </a:ext>
            </a:extLst>
          </p:cNvPr>
          <p:cNvSpPr/>
          <p:nvPr/>
        </p:nvSpPr>
        <p:spPr>
          <a:xfrm>
            <a:off x="6096000"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3D300E8E-3A95-4020-A5EC-8E7AF8ACAC25}"/>
              </a:ext>
            </a:extLst>
          </p:cNvPr>
          <p:cNvSpPr/>
          <p:nvPr/>
        </p:nvSpPr>
        <p:spPr>
          <a:xfrm>
            <a:off x="8229601"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21" name="object 11">
            <a:extLst>
              <a:ext uri="{FF2B5EF4-FFF2-40B4-BE49-F238E27FC236}">
                <a16:creationId xmlns:a16="http://schemas.microsoft.com/office/drawing/2014/main" id="{084BEF4C-AB0E-4A34-A21E-3F809A7DAD1A}"/>
              </a:ext>
            </a:extLst>
          </p:cNvPr>
          <p:cNvSpPr/>
          <p:nvPr/>
        </p:nvSpPr>
        <p:spPr>
          <a:xfrm flipH="1">
            <a:off x="6096000" y="4724400"/>
            <a:ext cx="76200" cy="1922527"/>
          </a:xfrm>
          <a:custGeom>
            <a:avLst/>
            <a:gdLst/>
            <a:ahLst/>
            <a:cxnLst/>
            <a:rect l="l" t="t" r="r" b="b"/>
            <a:pathLst>
              <a:path h="1123950">
                <a:moveTo>
                  <a:pt x="0" y="0"/>
                </a:moveTo>
                <a:lnTo>
                  <a:pt x="0" y="1123950"/>
                </a:lnTo>
              </a:path>
            </a:pathLst>
          </a:custGeom>
          <a:ln w="38100">
            <a:solidFill>
              <a:srgbClr val="0070C0"/>
            </a:solidFill>
          </a:ln>
        </p:spPr>
        <p:txBody>
          <a:bodyPr wrap="square" lIns="0" tIns="0" rIns="0" bIns="0" rtlCol="0"/>
          <a:lstStyle/>
          <a:p>
            <a:endParaRPr/>
          </a:p>
        </p:txBody>
      </p:sp>
      <p:sp>
        <p:nvSpPr>
          <p:cNvPr id="5" name="Date Placeholder 4">
            <a:extLst>
              <a:ext uri="{FF2B5EF4-FFF2-40B4-BE49-F238E27FC236}">
                <a16:creationId xmlns:a16="http://schemas.microsoft.com/office/drawing/2014/main" id="{CA3DAEC2-3329-4D2D-949A-267CF8E36B9C}"/>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22512DC6-B59D-4C00-BFF8-C43995289D20}"/>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305346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1">
            <a:extLst>
              <a:ext uri="{FF2B5EF4-FFF2-40B4-BE49-F238E27FC236}">
                <a16:creationId xmlns:a16="http://schemas.microsoft.com/office/drawing/2014/main" id="{68F88D36-F24F-48FD-85EB-9D8281144268}"/>
              </a:ext>
            </a:extLst>
          </p:cNvPr>
          <p:cNvSpPr/>
          <p:nvPr/>
        </p:nvSpPr>
        <p:spPr>
          <a:xfrm>
            <a:off x="5105400" y="4479850"/>
            <a:ext cx="3657600" cy="2515310"/>
          </a:xfrm>
          <a:prstGeom prst="rect">
            <a:avLst/>
          </a:prstGeom>
          <a:blipFill>
            <a:blip r:embed="rId2" cstate="print"/>
            <a:stretch>
              <a:fillRect/>
            </a:stretch>
          </a:blipFill>
        </p:spPr>
        <p:txBody>
          <a:bodyPr wrap="square" lIns="0" tIns="0" rIns="0" bIns="0" rtlCol="0"/>
          <a:lstStyle/>
          <a:p>
            <a:endParaRPr sz="1391" dirty="0"/>
          </a:p>
        </p:txBody>
      </p:sp>
      <p:sp>
        <p:nvSpPr>
          <p:cNvPr id="4" name="object 10">
            <a:extLst>
              <a:ext uri="{FF2B5EF4-FFF2-40B4-BE49-F238E27FC236}">
                <a16:creationId xmlns:a16="http://schemas.microsoft.com/office/drawing/2014/main" id="{6FA26B29-A172-467D-8F85-442C8B5FB4F8}"/>
              </a:ext>
            </a:extLst>
          </p:cNvPr>
          <p:cNvSpPr/>
          <p:nvPr/>
        </p:nvSpPr>
        <p:spPr>
          <a:xfrm>
            <a:off x="838200" y="2432614"/>
            <a:ext cx="8077200" cy="2063185"/>
          </a:xfrm>
          <a:prstGeom prst="rect">
            <a:avLst/>
          </a:prstGeom>
          <a:blipFill>
            <a:blip r:embed="rId3" cstate="print"/>
            <a:stretch>
              <a:fillRect/>
            </a:stretch>
          </a:blipFill>
        </p:spPr>
        <p:txBody>
          <a:bodyPr wrap="square" lIns="0" tIns="0" rIns="0" bIns="0" rtlCol="0"/>
          <a:lstStyle/>
          <a:p>
            <a:endParaRPr sz="1391" dirty="0"/>
          </a:p>
        </p:txBody>
      </p:sp>
      <p:sp>
        <p:nvSpPr>
          <p:cNvPr id="19" name="Content Placeholder 2">
            <a:extLst>
              <a:ext uri="{FF2B5EF4-FFF2-40B4-BE49-F238E27FC236}">
                <a16:creationId xmlns:a16="http://schemas.microsoft.com/office/drawing/2014/main" id="{E9DEE733-10B8-4B07-B971-7C0DF19EB08D}"/>
              </a:ext>
            </a:extLst>
          </p:cNvPr>
          <p:cNvSpPr>
            <a:spLocks noGrp="1"/>
          </p:cNvSpPr>
          <p:nvPr>
            <p:ph sz="quarter" idx="1"/>
          </p:nvPr>
        </p:nvSpPr>
        <p:spPr/>
        <p:txBody>
          <a:bodyPr>
            <a:noAutofit/>
          </a:body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S3: open</a:t>
            </a:r>
          </a:p>
          <a:p>
            <a:r>
              <a:rPr lang="en-US" sz="2400" spc="-5" dirty="0">
                <a:latin typeface="Arial"/>
                <a:cs typeface="Arial"/>
              </a:rPr>
              <a:t>Feedthrough of S3:</a:t>
            </a:r>
            <a:r>
              <a:rPr lang="en-US" sz="2400" spc="-80" dirty="0">
                <a:latin typeface="Times New Roman"/>
                <a:cs typeface="Times New Roman"/>
              </a:rPr>
              <a:t> </a:t>
            </a:r>
            <a:r>
              <a:rPr lang="en-US" sz="2400" spc="-5" dirty="0">
                <a:latin typeface="Arial"/>
                <a:cs typeface="Arial"/>
              </a:rPr>
              <a:t>offset on</a:t>
            </a:r>
            <a:r>
              <a:rPr lang="en-US" sz="2400" spc="-30" dirty="0">
                <a:latin typeface="Arial"/>
                <a:cs typeface="Arial"/>
              </a:rPr>
              <a:t> </a:t>
            </a:r>
            <a:r>
              <a:rPr lang="en-US" sz="2400" dirty="0">
                <a:latin typeface="Arial"/>
                <a:cs typeface="Arial"/>
              </a:rPr>
              <a:t>X</a:t>
            </a:r>
          </a:p>
          <a:p>
            <a:r>
              <a:rPr lang="en-US" sz="2400" spc="-5" dirty="0">
                <a:latin typeface="Arial"/>
                <a:cs typeface="Arial"/>
              </a:rPr>
              <a:t>Switch </a:t>
            </a:r>
            <a:r>
              <a:rPr lang="en-US" sz="2400" dirty="0">
                <a:latin typeface="Arial"/>
                <a:cs typeface="Arial"/>
              </a:rPr>
              <a:t>offset, </a:t>
            </a:r>
            <a:r>
              <a:rPr lang="en-US" sz="2400" spc="-5" dirty="0">
                <a:latin typeface="Symbol"/>
                <a:cs typeface="Symbol"/>
              </a:rPr>
              <a:t></a:t>
            </a:r>
            <a:r>
              <a:rPr lang="en-US" sz="2400" spc="-7" baseline="-21367" dirty="0">
                <a:latin typeface="Symbol"/>
                <a:cs typeface="Symbol"/>
              </a:rPr>
              <a:t></a:t>
            </a:r>
            <a:r>
              <a:rPr lang="en-US" sz="2400" spc="-7" baseline="-21367" dirty="0">
                <a:latin typeface="Times New Roman"/>
                <a:cs typeface="Times New Roman"/>
              </a:rPr>
              <a:t> </a:t>
            </a:r>
            <a:r>
              <a:rPr lang="en-US" sz="2400" spc="-5" dirty="0">
                <a:latin typeface="Arial"/>
                <a:cs typeface="Arial"/>
              </a:rPr>
              <a:t>induced on </a:t>
            </a:r>
            <a:r>
              <a:rPr lang="en-US" sz="2400" dirty="0">
                <a:latin typeface="Arial"/>
                <a:cs typeface="Arial"/>
              </a:rPr>
              <a:t>X</a:t>
            </a:r>
          </a:p>
          <a:p>
            <a:r>
              <a:rPr lang="en-US" sz="2400" spc="-5" dirty="0">
                <a:latin typeface="Arial"/>
                <a:cs typeface="Arial"/>
              </a:rPr>
              <a:t>S4 remains closed, offset </a:t>
            </a:r>
          </a:p>
          <a:p>
            <a:pPr marL="0" indent="0">
              <a:buNone/>
            </a:pPr>
            <a:r>
              <a:rPr lang="en-US" sz="2400" spc="-5" dirty="0">
                <a:latin typeface="Arial"/>
                <a:cs typeface="Arial"/>
              </a:rPr>
              <a:t>associated with </a:t>
            </a:r>
            <a:r>
              <a:rPr lang="en-US" sz="2400" spc="-5" dirty="0">
                <a:latin typeface="Symbol"/>
                <a:cs typeface="Symbol"/>
              </a:rPr>
              <a:t></a:t>
            </a:r>
            <a:r>
              <a:rPr lang="en-US" sz="2400" spc="-7" baseline="-21367" dirty="0">
                <a:latin typeface="Symbol"/>
                <a:cs typeface="Symbol"/>
              </a:rPr>
              <a:t></a:t>
            </a:r>
            <a:r>
              <a:rPr lang="en-US" sz="2400" spc="-80" dirty="0">
                <a:latin typeface="Arial" panose="020B0604020202020204" pitchFamily="34" charset="0"/>
                <a:cs typeface="Arial" panose="020B0604020202020204" pitchFamily="34" charset="0"/>
              </a:rPr>
              <a:t> </a:t>
            </a:r>
            <a:r>
              <a:rPr lang="en-US" sz="2400" spc="-5" dirty="0">
                <a:latin typeface="Arial"/>
                <a:cs typeface="Arial"/>
              </a:rPr>
              <a:t>stored on</a:t>
            </a:r>
            <a:r>
              <a:rPr lang="en-US" sz="2400" spc="-85" dirty="0">
                <a:latin typeface="Arial"/>
                <a:cs typeface="Arial"/>
              </a:rPr>
              <a:t> </a:t>
            </a:r>
            <a:r>
              <a:rPr lang="en-US" sz="2400" spc="-5" dirty="0">
                <a:latin typeface="Arial"/>
                <a:cs typeface="Arial"/>
              </a:rPr>
              <a:t>C2</a:t>
            </a:r>
            <a:endParaRPr lang="en-US" sz="2400" dirty="0">
              <a:latin typeface="Arial"/>
              <a:cs typeface="Arial"/>
            </a:endParaRPr>
          </a:p>
        </p:txBody>
      </p:sp>
      <p:sp>
        <p:nvSpPr>
          <p:cNvPr id="2" name="Title 1">
            <a:extLst>
              <a:ext uri="{FF2B5EF4-FFF2-40B4-BE49-F238E27FC236}">
                <a16:creationId xmlns:a16="http://schemas.microsoft.com/office/drawing/2014/main" id="{37D2EB8C-DF45-4075-8EB3-FFF8D32B21D6}"/>
              </a:ext>
            </a:extLst>
          </p:cNvPr>
          <p:cNvSpPr>
            <a:spLocks noGrp="1"/>
          </p:cNvSpPr>
          <p:nvPr>
            <p:ph type="title"/>
          </p:nvPr>
        </p:nvSpPr>
        <p:spPr/>
        <p:txBody>
          <a:bodyPr>
            <a:normAutofit/>
          </a:bodyPr>
          <a:lstStyle/>
          <a:p>
            <a:r>
              <a:rPr lang="en-US" dirty="0"/>
              <a:t>Cascaded Output Series Cancellation</a:t>
            </a:r>
            <a:endParaRPr lang="en-GB" dirty="0"/>
          </a:p>
        </p:txBody>
      </p:sp>
      <p:sp>
        <p:nvSpPr>
          <p:cNvPr id="3" name="Slide Number Placeholder 2">
            <a:extLst>
              <a:ext uri="{FF2B5EF4-FFF2-40B4-BE49-F238E27FC236}">
                <a16:creationId xmlns:a16="http://schemas.microsoft.com/office/drawing/2014/main" id="{98B90D5A-88F9-4E70-98D6-0CC180E7998E}"/>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14</a:t>
            </a:fld>
            <a:endParaRPr lang="en-US" dirty="0"/>
          </a:p>
        </p:txBody>
      </p:sp>
      <p:sp>
        <p:nvSpPr>
          <p:cNvPr id="7" name="object 12">
            <a:extLst>
              <a:ext uri="{FF2B5EF4-FFF2-40B4-BE49-F238E27FC236}">
                <a16:creationId xmlns:a16="http://schemas.microsoft.com/office/drawing/2014/main" id="{41E5D8CF-26BF-4C8D-8B0B-866D39074C0A}"/>
              </a:ext>
            </a:extLst>
          </p:cNvPr>
          <p:cNvSpPr/>
          <p:nvPr/>
        </p:nvSpPr>
        <p:spPr>
          <a:xfrm>
            <a:off x="1733549"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12" name="object 12">
            <a:extLst>
              <a:ext uri="{FF2B5EF4-FFF2-40B4-BE49-F238E27FC236}">
                <a16:creationId xmlns:a16="http://schemas.microsoft.com/office/drawing/2014/main" id="{92E749CC-C0C7-4F6E-8506-FCD5252CF5CD}"/>
              </a:ext>
            </a:extLst>
          </p:cNvPr>
          <p:cNvSpPr/>
          <p:nvPr/>
        </p:nvSpPr>
        <p:spPr>
          <a:xfrm>
            <a:off x="6096000"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3D300E8E-3A95-4020-A5EC-8E7AF8ACAC25}"/>
              </a:ext>
            </a:extLst>
          </p:cNvPr>
          <p:cNvSpPr/>
          <p:nvPr/>
        </p:nvSpPr>
        <p:spPr>
          <a:xfrm>
            <a:off x="8229601"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21" name="object 11">
            <a:extLst>
              <a:ext uri="{FF2B5EF4-FFF2-40B4-BE49-F238E27FC236}">
                <a16:creationId xmlns:a16="http://schemas.microsoft.com/office/drawing/2014/main" id="{084BEF4C-AB0E-4A34-A21E-3F809A7DAD1A}"/>
              </a:ext>
            </a:extLst>
          </p:cNvPr>
          <p:cNvSpPr/>
          <p:nvPr/>
        </p:nvSpPr>
        <p:spPr>
          <a:xfrm flipH="1">
            <a:off x="6629400" y="4724400"/>
            <a:ext cx="76200" cy="1922527"/>
          </a:xfrm>
          <a:custGeom>
            <a:avLst/>
            <a:gdLst/>
            <a:ahLst/>
            <a:cxnLst/>
            <a:rect l="l" t="t" r="r" b="b"/>
            <a:pathLst>
              <a:path h="1123950">
                <a:moveTo>
                  <a:pt x="0" y="0"/>
                </a:moveTo>
                <a:lnTo>
                  <a:pt x="0" y="1123950"/>
                </a:lnTo>
              </a:path>
            </a:pathLst>
          </a:custGeom>
          <a:ln w="38100">
            <a:solidFill>
              <a:srgbClr val="0070C0"/>
            </a:solidFill>
          </a:ln>
        </p:spPr>
        <p:txBody>
          <a:bodyPr wrap="square" lIns="0" tIns="0" rIns="0" bIns="0" rtlCol="0"/>
          <a:lstStyle/>
          <a:p>
            <a:endParaRPr/>
          </a:p>
        </p:txBody>
      </p:sp>
      <p:sp>
        <p:nvSpPr>
          <p:cNvPr id="5" name="Date Placeholder 4">
            <a:extLst>
              <a:ext uri="{FF2B5EF4-FFF2-40B4-BE49-F238E27FC236}">
                <a16:creationId xmlns:a16="http://schemas.microsoft.com/office/drawing/2014/main" id="{5B9A6922-39E2-464D-B2A8-13E468181216}"/>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17843BC8-2D42-448B-86CC-965BD2560191}"/>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4221233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1">
            <a:extLst>
              <a:ext uri="{FF2B5EF4-FFF2-40B4-BE49-F238E27FC236}">
                <a16:creationId xmlns:a16="http://schemas.microsoft.com/office/drawing/2014/main" id="{54158D23-6843-49AA-9EF0-9940BBE4B2A2}"/>
              </a:ext>
            </a:extLst>
          </p:cNvPr>
          <p:cNvSpPr/>
          <p:nvPr/>
        </p:nvSpPr>
        <p:spPr>
          <a:xfrm>
            <a:off x="5105400" y="4479850"/>
            <a:ext cx="3657600" cy="2515310"/>
          </a:xfrm>
          <a:prstGeom prst="rect">
            <a:avLst/>
          </a:prstGeom>
          <a:blipFill>
            <a:blip r:embed="rId2" cstate="print"/>
            <a:stretch>
              <a:fillRect/>
            </a:stretch>
          </a:blipFill>
        </p:spPr>
        <p:txBody>
          <a:bodyPr wrap="square" lIns="0" tIns="0" rIns="0" bIns="0" rtlCol="0"/>
          <a:lstStyle/>
          <a:p>
            <a:endParaRPr sz="1391" dirty="0"/>
          </a:p>
        </p:txBody>
      </p:sp>
      <p:sp>
        <p:nvSpPr>
          <p:cNvPr id="4" name="object 10">
            <a:extLst>
              <a:ext uri="{FF2B5EF4-FFF2-40B4-BE49-F238E27FC236}">
                <a16:creationId xmlns:a16="http://schemas.microsoft.com/office/drawing/2014/main" id="{6FA26B29-A172-467D-8F85-442C8B5FB4F8}"/>
              </a:ext>
            </a:extLst>
          </p:cNvPr>
          <p:cNvSpPr/>
          <p:nvPr/>
        </p:nvSpPr>
        <p:spPr>
          <a:xfrm>
            <a:off x="838200" y="2432614"/>
            <a:ext cx="8077200" cy="2063185"/>
          </a:xfrm>
          <a:prstGeom prst="rect">
            <a:avLst/>
          </a:prstGeom>
          <a:blipFill>
            <a:blip r:embed="rId3" cstate="print"/>
            <a:stretch>
              <a:fillRect/>
            </a:stretch>
          </a:blipFill>
        </p:spPr>
        <p:txBody>
          <a:bodyPr wrap="square" lIns="0" tIns="0" rIns="0" bIns="0" rtlCol="0"/>
          <a:lstStyle/>
          <a:p>
            <a:endParaRPr sz="1391" dirty="0"/>
          </a:p>
        </p:txBody>
      </p:sp>
      <p:sp>
        <p:nvSpPr>
          <p:cNvPr id="19" name="Content Placeholder 2">
            <a:extLst>
              <a:ext uri="{FF2B5EF4-FFF2-40B4-BE49-F238E27FC236}">
                <a16:creationId xmlns:a16="http://schemas.microsoft.com/office/drawing/2014/main" id="{E9DEE733-10B8-4B07-B971-7C0DF19EB08D}"/>
              </a:ext>
            </a:extLst>
          </p:cNvPr>
          <p:cNvSpPr>
            <a:spLocks noGrp="1"/>
          </p:cNvSpPr>
          <p:nvPr>
            <p:ph sz="quarter" idx="1"/>
          </p:nvPr>
        </p:nvSpPr>
        <p:spPr/>
        <p:txBody>
          <a:bodyPr>
            <a:noAutofit/>
          </a:body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S4: open</a:t>
            </a:r>
          </a:p>
          <a:p>
            <a:r>
              <a:rPr lang="en-US" sz="2400" spc="-5" dirty="0">
                <a:latin typeface="Arial"/>
                <a:cs typeface="Arial"/>
              </a:rPr>
              <a:t>Feedthrough of S4:</a:t>
            </a:r>
            <a:r>
              <a:rPr lang="en-US" sz="2400" spc="-80" dirty="0">
                <a:latin typeface="Times New Roman"/>
                <a:cs typeface="Times New Roman"/>
              </a:rPr>
              <a:t> </a:t>
            </a:r>
            <a:r>
              <a:rPr lang="en-US" sz="2400" spc="-5" dirty="0">
                <a:latin typeface="Arial"/>
                <a:cs typeface="Arial"/>
              </a:rPr>
              <a:t>offset on</a:t>
            </a:r>
            <a:r>
              <a:rPr lang="en-US" sz="2400" spc="-30" dirty="0">
                <a:latin typeface="Arial"/>
                <a:cs typeface="Arial"/>
              </a:rPr>
              <a:t> Y</a:t>
            </a:r>
            <a:endParaRPr lang="en-US" sz="2400" dirty="0">
              <a:latin typeface="Arial"/>
              <a:cs typeface="Arial"/>
            </a:endParaRPr>
          </a:p>
          <a:p>
            <a:r>
              <a:rPr lang="en-US" sz="2400" spc="-5" dirty="0">
                <a:latin typeface="Arial"/>
                <a:cs typeface="Arial"/>
              </a:rPr>
              <a:t>Switch </a:t>
            </a:r>
            <a:r>
              <a:rPr lang="en-US" sz="2400" dirty="0">
                <a:latin typeface="Arial"/>
                <a:cs typeface="Arial"/>
              </a:rPr>
              <a:t>offset, </a:t>
            </a:r>
            <a:r>
              <a:rPr lang="en-US" sz="2400" spc="-5" dirty="0">
                <a:latin typeface="Symbol"/>
                <a:cs typeface="Symbol"/>
              </a:rPr>
              <a:t></a:t>
            </a:r>
            <a:r>
              <a:rPr lang="en-US" sz="2400" spc="-7" baseline="-21367" dirty="0">
                <a:latin typeface="Symbol"/>
                <a:cs typeface="Symbol"/>
              </a:rPr>
              <a:t>4</a:t>
            </a:r>
            <a:r>
              <a:rPr lang="en-US" sz="2400" spc="-7" baseline="-21367" dirty="0">
                <a:latin typeface="Times New Roman"/>
                <a:cs typeface="Times New Roman"/>
              </a:rPr>
              <a:t> </a:t>
            </a:r>
            <a:r>
              <a:rPr lang="en-US" sz="2400" spc="-5" dirty="0">
                <a:latin typeface="Arial"/>
                <a:cs typeface="Arial"/>
              </a:rPr>
              <a:t>induced on Y</a:t>
            </a:r>
            <a:endParaRPr lang="en-US" sz="2400" dirty="0">
              <a:latin typeface="Arial"/>
              <a:cs typeface="Arial"/>
            </a:endParaRPr>
          </a:p>
          <a:p>
            <a:r>
              <a:rPr lang="en-US" sz="2400" spc="-5" dirty="0">
                <a:latin typeface="Arial"/>
                <a:cs typeface="Arial"/>
              </a:rPr>
              <a:t>S5 remains closed, offset </a:t>
            </a:r>
          </a:p>
          <a:p>
            <a:pPr marL="0" indent="0">
              <a:buNone/>
            </a:pPr>
            <a:r>
              <a:rPr lang="en-US" sz="2400" spc="-5" dirty="0">
                <a:latin typeface="Arial"/>
                <a:cs typeface="Arial"/>
              </a:rPr>
              <a:t>associated with </a:t>
            </a:r>
            <a:r>
              <a:rPr lang="en-US" sz="2400" spc="-5" dirty="0">
                <a:latin typeface="Symbol"/>
                <a:cs typeface="Symbol"/>
              </a:rPr>
              <a:t></a:t>
            </a:r>
            <a:r>
              <a:rPr lang="en-US" sz="2400" spc="-5" baseline="-25000" dirty="0">
                <a:latin typeface="Symbol"/>
                <a:cs typeface="Symbol"/>
              </a:rPr>
              <a:t>4</a:t>
            </a:r>
            <a:r>
              <a:rPr lang="en-US" sz="2400" spc="-80" dirty="0">
                <a:latin typeface="Arial" panose="020B0604020202020204" pitchFamily="34" charset="0"/>
                <a:cs typeface="Arial" panose="020B0604020202020204" pitchFamily="34" charset="0"/>
              </a:rPr>
              <a:t> </a:t>
            </a:r>
            <a:r>
              <a:rPr lang="en-US" sz="2400" spc="-5" dirty="0">
                <a:latin typeface="Arial"/>
                <a:cs typeface="Arial"/>
              </a:rPr>
              <a:t>stored on</a:t>
            </a:r>
            <a:r>
              <a:rPr lang="en-US" sz="2400" spc="-85" dirty="0">
                <a:latin typeface="Arial"/>
                <a:cs typeface="Arial"/>
              </a:rPr>
              <a:t> </a:t>
            </a:r>
            <a:r>
              <a:rPr lang="en-US" sz="2400" spc="-5" dirty="0">
                <a:latin typeface="Arial"/>
                <a:cs typeface="Arial"/>
              </a:rPr>
              <a:t>C3</a:t>
            </a:r>
            <a:endParaRPr lang="en-US" sz="2400" dirty="0">
              <a:latin typeface="Arial"/>
              <a:cs typeface="Arial"/>
            </a:endParaRPr>
          </a:p>
        </p:txBody>
      </p:sp>
      <p:sp>
        <p:nvSpPr>
          <p:cNvPr id="2" name="Title 1">
            <a:extLst>
              <a:ext uri="{FF2B5EF4-FFF2-40B4-BE49-F238E27FC236}">
                <a16:creationId xmlns:a16="http://schemas.microsoft.com/office/drawing/2014/main" id="{37D2EB8C-DF45-4075-8EB3-FFF8D32B21D6}"/>
              </a:ext>
            </a:extLst>
          </p:cNvPr>
          <p:cNvSpPr>
            <a:spLocks noGrp="1"/>
          </p:cNvSpPr>
          <p:nvPr>
            <p:ph type="title"/>
          </p:nvPr>
        </p:nvSpPr>
        <p:spPr/>
        <p:txBody>
          <a:bodyPr>
            <a:normAutofit/>
          </a:bodyPr>
          <a:lstStyle/>
          <a:p>
            <a:r>
              <a:rPr lang="en-US" dirty="0"/>
              <a:t>Cascaded Output Series Cancellation</a:t>
            </a:r>
            <a:endParaRPr lang="en-GB" dirty="0"/>
          </a:p>
        </p:txBody>
      </p:sp>
      <p:sp>
        <p:nvSpPr>
          <p:cNvPr id="3" name="Slide Number Placeholder 2">
            <a:extLst>
              <a:ext uri="{FF2B5EF4-FFF2-40B4-BE49-F238E27FC236}">
                <a16:creationId xmlns:a16="http://schemas.microsoft.com/office/drawing/2014/main" id="{2CD44599-D7A3-48DB-8955-59AF73CE4AD5}"/>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15</a:t>
            </a:fld>
            <a:endParaRPr lang="en-US" dirty="0"/>
          </a:p>
        </p:txBody>
      </p:sp>
      <p:sp>
        <p:nvSpPr>
          <p:cNvPr id="7" name="object 12">
            <a:extLst>
              <a:ext uri="{FF2B5EF4-FFF2-40B4-BE49-F238E27FC236}">
                <a16:creationId xmlns:a16="http://schemas.microsoft.com/office/drawing/2014/main" id="{41E5D8CF-26BF-4C8D-8B0B-866D39074C0A}"/>
              </a:ext>
            </a:extLst>
          </p:cNvPr>
          <p:cNvSpPr/>
          <p:nvPr/>
        </p:nvSpPr>
        <p:spPr>
          <a:xfrm>
            <a:off x="1733549"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3D300E8E-3A95-4020-A5EC-8E7AF8ACAC25}"/>
              </a:ext>
            </a:extLst>
          </p:cNvPr>
          <p:cNvSpPr/>
          <p:nvPr/>
        </p:nvSpPr>
        <p:spPr>
          <a:xfrm>
            <a:off x="8229601" y="3505200"/>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21" name="object 11">
            <a:extLst>
              <a:ext uri="{FF2B5EF4-FFF2-40B4-BE49-F238E27FC236}">
                <a16:creationId xmlns:a16="http://schemas.microsoft.com/office/drawing/2014/main" id="{084BEF4C-AB0E-4A34-A21E-3F809A7DAD1A}"/>
              </a:ext>
            </a:extLst>
          </p:cNvPr>
          <p:cNvSpPr/>
          <p:nvPr/>
        </p:nvSpPr>
        <p:spPr>
          <a:xfrm flipH="1">
            <a:off x="7239000" y="4724400"/>
            <a:ext cx="76200" cy="1922527"/>
          </a:xfrm>
          <a:custGeom>
            <a:avLst/>
            <a:gdLst/>
            <a:ahLst/>
            <a:cxnLst/>
            <a:rect l="l" t="t" r="r" b="b"/>
            <a:pathLst>
              <a:path h="1123950">
                <a:moveTo>
                  <a:pt x="0" y="0"/>
                </a:moveTo>
                <a:lnTo>
                  <a:pt x="0" y="1123950"/>
                </a:lnTo>
              </a:path>
            </a:pathLst>
          </a:custGeom>
          <a:ln w="38100">
            <a:solidFill>
              <a:srgbClr val="0070C0"/>
            </a:solidFill>
          </a:ln>
        </p:spPr>
        <p:txBody>
          <a:bodyPr wrap="square" lIns="0" tIns="0" rIns="0" bIns="0" rtlCol="0"/>
          <a:lstStyle/>
          <a:p>
            <a:endParaRPr/>
          </a:p>
        </p:txBody>
      </p:sp>
      <p:sp>
        <p:nvSpPr>
          <p:cNvPr id="5" name="Date Placeholder 4">
            <a:extLst>
              <a:ext uri="{FF2B5EF4-FFF2-40B4-BE49-F238E27FC236}">
                <a16:creationId xmlns:a16="http://schemas.microsoft.com/office/drawing/2014/main" id="{C737139D-8194-4BCA-9D2B-233D773692C7}"/>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84914096-52FC-4BF7-A71D-9028104FBC18}"/>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213743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1">
            <a:extLst>
              <a:ext uri="{FF2B5EF4-FFF2-40B4-BE49-F238E27FC236}">
                <a16:creationId xmlns:a16="http://schemas.microsoft.com/office/drawing/2014/main" id="{315CF391-520E-4F7C-9B14-8E566F869F28}"/>
              </a:ext>
            </a:extLst>
          </p:cNvPr>
          <p:cNvSpPr/>
          <p:nvPr/>
        </p:nvSpPr>
        <p:spPr>
          <a:xfrm>
            <a:off x="5105400" y="4479850"/>
            <a:ext cx="3657600" cy="2515310"/>
          </a:xfrm>
          <a:prstGeom prst="rect">
            <a:avLst/>
          </a:prstGeom>
          <a:blipFill>
            <a:blip r:embed="rId2" cstate="print"/>
            <a:stretch>
              <a:fillRect/>
            </a:stretch>
          </a:blipFill>
        </p:spPr>
        <p:txBody>
          <a:bodyPr wrap="square" lIns="0" tIns="0" rIns="0" bIns="0" rtlCol="0"/>
          <a:lstStyle/>
          <a:p>
            <a:endParaRPr sz="1391" dirty="0"/>
          </a:p>
        </p:txBody>
      </p:sp>
      <p:sp>
        <p:nvSpPr>
          <p:cNvPr id="4" name="object 10">
            <a:extLst>
              <a:ext uri="{FF2B5EF4-FFF2-40B4-BE49-F238E27FC236}">
                <a16:creationId xmlns:a16="http://schemas.microsoft.com/office/drawing/2014/main" id="{6FA26B29-A172-467D-8F85-442C8B5FB4F8}"/>
              </a:ext>
            </a:extLst>
          </p:cNvPr>
          <p:cNvSpPr/>
          <p:nvPr/>
        </p:nvSpPr>
        <p:spPr>
          <a:xfrm>
            <a:off x="838200" y="2432614"/>
            <a:ext cx="8077200" cy="2063185"/>
          </a:xfrm>
          <a:prstGeom prst="rect">
            <a:avLst/>
          </a:prstGeom>
          <a:blipFill>
            <a:blip r:embed="rId3" cstate="print"/>
            <a:stretch>
              <a:fillRect/>
            </a:stretch>
          </a:blipFill>
        </p:spPr>
        <p:txBody>
          <a:bodyPr wrap="square" lIns="0" tIns="0" rIns="0" bIns="0" rtlCol="0"/>
          <a:lstStyle/>
          <a:p>
            <a:endParaRPr sz="1391" dirty="0"/>
          </a:p>
        </p:txBody>
      </p:sp>
      <p:sp>
        <p:nvSpPr>
          <p:cNvPr id="19" name="Content Placeholder 2">
            <a:extLst>
              <a:ext uri="{FF2B5EF4-FFF2-40B4-BE49-F238E27FC236}">
                <a16:creationId xmlns:a16="http://schemas.microsoft.com/office/drawing/2014/main" id="{E9DEE733-10B8-4B07-B971-7C0DF19EB08D}"/>
              </a:ext>
            </a:extLst>
          </p:cNvPr>
          <p:cNvSpPr>
            <a:spLocks noGrp="1"/>
          </p:cNvSpPr>
          <p:nvPr>
            <p:ph sz="quarter" idx="1"/>
          </p:nvPr>
        </p:nvSpPr>
        <p:spPr/>
        <p:txBody>
          <a:bodyPr>
            <a:noAutofit/>
          </a:body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S2, S5: open, S1: closed</a:t>
            </a:r>
          </a:p>
          <a:p>
            <a:r>
              <a:rPr lang="en-US" sz="2400" spc="-5" dirty="0">
                <a:latin typeface="Arial"/>
                <a:cs typeface="Arial"/>
              </a:rPr>
              <a:t>Input connected to low </a:t>
            </a:r>
          </a:p>
          <a:p>
            <a:pPr marL="0" indent="0">
              <a:buNone/>
            </a:pPr>
            <a:r>
              <a:rPr lang="en-US" sz="2400" spc="-5" dirty="0">
                <a:latin typeface="Arial"/>
                <a:cs typeface="Arial"/>
              </a:rPr>
              <a:t>impedance source charge </a:t>
            </a:r>
          </a:p>
          <a:p>
            <a:pPr marL="0" indent="0">
              <a:buNone/>
            </a:pPr>
            <a:r>
              <a:rPr lang="en-US" sz="2400" spc="-5" dirty="0">
                <a:latin typeface="Arial"/>
                <a:cs typeface="Arial"/>
              </a:rPr>
              <a:t>injection: not of major</a:t>
            </a:r>
            <a:r>
              <a:rPr lang="en-US" sz="2400" spc="20" dirty="0">
                <a:latin typeface="Arial"/>
                <a:cs typeface="Arial"/>
              </a:rPr>
              <a:t> </a:t>
            </a:r>
            <a:r>
              <a:rPr lang="en-US" sz="2400" spc="-5" dirty="0">
                <a:latin typeface="Arial"/>
                <a:cs typeface="Arial"/>
              </a:rPr>
              <a:t>concern</a:t>
            </a:r>
            <a:endParaRPr lang="en-US" sz="2400" dirty="0">
              <a:latin typeface="Arial"/>
              <a:cs typeface="Arial"/>
            </a:endParaRPr>
          </a:p>
          <a:p>
            <a:r>
              <a:rPr lang="en-US" sz="2400" spc="-5" dirty="0">
                <a:latin typeface="Arial"/>
                <a:cs typeface="Arial"/>
              </a:rPr>
              <a:t>Switch </a:t>
            </a:r>
            <a:r>
              <a:rPr lang="en-US" sz="2400" dirty="0">
                <a:latin typeface="Arial"/>
                <a:cs typeface="Arial"/>
              </a:rPr>
              <a:t>offset, </a:t>
            </a:r>
            <a:r>
              <a:rPr lang="en-US" sz="2400" spc="-5" dirty="0">
                <a:latin typeface="Symbol"/>
                <a:cs typeface="Symbol"/>
              </a:rPr>
              <a:t></a:t>
            </a:r>
            <a:r>
              <a:rPr lang="en-US" sz="2400" spc="-7" baseline="-21367" dirty="0">
                <a:latin typeface="Symbol"/>
                <a:cs typeface="Symbol"/>
              </a:rPr>
              <a:t></a:t>
            </a:r>
            <a:r>
              <a:rPr lang="en-US" sz="2400" spc="-7" baseline="-21367" dirty="0">
                <a:latin typeface="Times New Roman"/>
                <a:cs typeface="Times New Roman"/>
              </a:rPr>
              <a:t> </a:t>
            </a:r>
            <a:r>
              <a:rPr lang="en-US" sz="2400" spc="-5" dirty="0">
                <a:latin typeface="Arial"/>
                <a:cs typeface="Arial"/>
              </a:rPr>
              <a:t>introduced due</a:t>
            </a:r>
          </a:p>
          <a:p>
            <a:pPr marL="0" indent="0">
              <a:buNone/>
            </a:pPr>
            <a:r>
              <a:rPr lang="en-US" sz="2400" spc="-5" dirty="0">
                <a:latin typeface="Arial"/>
                <a:cs typeface="Arial"/>
              </a:rPr>
              <a:t>to S5</a:t>
            </a:r>
            <a:r>
              <a:rPr lang="en-US" sz="2400" spc="-80" dirty="0">
                <a:latin typeface="Arial"/>
                <a:cs typeface="Arial"/>
              </a:rPr>
              <a:t> </a:t>
            </a:r>
            <a:r>
              <a:rPr lang="en-US" sz="2400" spc="-5" dirty="0">
                <a:latin typeface="Arial"/>
                <a:cs typeface="Arial"/>
              </a:rPr>
              <a:t>opening</a:t>
            </a:r>
            <a:endParaRPr lang="en-US" sz="2400" dirty="0">
              <a:latin typeface="Arial"/>
              <a:cs typeface="Arial"/>
            </a:endParaRPr>
          </a:p>
        </p:txBody>
      </p:sp>
      <p:sp>
        <p:nvSpPr>
          <p:cNvPr id="2" name="Title 1">
            <a:extLst>
              <a:ext uri="{FF2B5EF4-FFF2-40B4-BE49-F238E27FC236}">
                <a16:creationId xmlns:a16="http://schemas.microsoft.com/office/drawing/2014/main" id="{37D2EB8C-DF45-4075-8EB3-FFF8D32B21D6}"/>
              </a:ext>
            </a:extLst>
          </p:cNvPr>
          <p:cNvSpPr>
            <a:spLocks noGrp="1"/>
          </p:cNvSpPr>
          <p:nvPr>
            <p:ph type="title"/>
          </p:nvPr>
        </p:nvSpPr>
        <p:spPr/>
        <p:txBody>
          <a:bodyPr>
            <a:normAutofit/>
          </a:bodyPr>
          <a:lstStyle/>
          <a:p>
            <a:r>
              <a:rPr lang="en-US" dirty="0"/>
              <a:t>Cascaded Output Series Cancellation</a:t>
            </a:r>
            <a:endParaRPr lang="en-GB" dirty="0"/>
          </a:p>
        </p:txBody>
      </p:sp>
      <p:sp>
        <p:nvSpPr>
          <p:cNvPr id="3" name="Slide Number Placeholder 2">
            <a:extLst>
              <a:ext uri="{FF2B5EF4-FFF2-40B4-BE49-F238E27FC236}">
                <a16:creationId xmlns:a16="http://schemas.microsoft.com/office/drawing/2014/main" id="{13D0CFE3-E874-42B4-BFC4-A04A9D558475}"/>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16</a:t>
            </a:fld>
            <a:endParaRPr lang="en-US" dirty="0"/>
          </a:p>
        </p:txBody>
      </p:sp>
      <p:sp>
        <p:nvSpPr>
          <p:cNvPr id="7" name="object 12">
            <a:extLst>
              <a:ext uri="{FF2B5EF4-FFF2-40B4-BE49-F238E27FC236}">
                <a16:creationId xmlns:a16="http://schemas.microsoft.com/office/drawing/2014/main" id="{41E5D8CF-26BF-4C8D-8B0B-866D39074C0A}"/>
              </a:ext>
            </a:extLst>
          </p:cNvPr>
          <p:cNvSpPr/>
          <p:nvPr/>
        </p:nvSpPr>
        <p:spPr>
          <a:xfrm rot="5400000">
            <a:off x="1424941" y="3060469"/>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21" name="object 11">
            <a:extLst>
              <a:ext uri="{FF2B5EF4-FFF2-40B4-BE49-F238E27FC236}">
                <a16:creationId xmlns:a16="http://schemas.microsoft.com/office/drawing/2014/main" id="{084BEF4C-AB0E-4A34-A21E-3F809A7DAD1A}"/>
              </a:ext>
            </a:extLst>
          </p:cNvPr>
          <p:cNvSpPr/>
          <p:nvPr/>
        </p:nvSpPr>
        <p:spPr>
          <a:xfrm flipH="1">
            <a:off x="8153400" y="4724400"/>
            <a:ext cx="76200" cy="1922527"/>
          </a:xfrm>
          <a:custGeom>
            <a:avLst/>
            <a:gdLst/>
            <a:ahLst/>
            <a:cxnLst/>
            <a:rect l="l" t="t" r="r" b="b"/>
            <a:pathLst>
              <a:path h="1123950">
                <a:moveTo>
                  <a:pt x="0" y="0"/>
                </a:moveTo>
                <a:lnTo>
                  <a:pt x="0" y="1123950"/>
                </a:lnTo>
              </a:path>
            </a:pathLst>
          </a:custGeom>
          <a:ln w="38100">
            <a:solidFill>
              <a:srgbClr val="0070C0"/>
            </a:solidFill>
          </a:ln>
        </p:spPr>
        <p:txBody>
          <a:bodyPr wrap="square" lIns="0" tIns="0" rIns="0" bIns="0" rtlCol="0"/>
          <a:lstStyle/>
          <a:p>
            <a:endParaRPr/>
          </a:p>
        </p:txBody>
      </p:sp>
      <p:sp>
        <p:nvSpPr>
          <p:cNvPr id="5" name="Date Placeholder 4">
            <a:extLst>
              <a:ext uri="{FF2B5EF4-FFF2-40B4-BE49-F238E27FC236}">
                <a16:creationId xmlns:a16="http://schemas.microsoft.com/office/drawing/2014/main" id="{C8D28371-E9D0-453F-B247-FD98228365ED}"/>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FEAB9DAA-631A-4477-96F1-6B125DFB79EB}"/>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295205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1">
            <a:extLst>
              <a:ext uri="{FF2B5EF4-FFF2-40B4-BE49-F238E27FC236}">
                <a16:creationId xmlns:a16="http://schemas.microsoft.com/office/drawing/2014/main" id="{5894DD27-9B20-46EF-9580-30EC22E7EE62}"/>
              </a:ext>
            </a:extLst>
          </p:cNvPr>
          <p:cNvSpPr/>
          <p:nvPr/>
        </p:nvSpPr>
        <p:spPr>
          <a:xfrm>
            <a:off x="5105400" y="4479850"/>
            <a:ext cx="3657600" cy="2515310"/>
          </a:xfrm>
          <a:prstGeom prst="rect">
            <a:avLst/>
          </a:prstGeom>
          <a:blipFill>
            <a:blip r:embed="rId2" cstate="print"/>
            <a:stretch>
              <a:fillRect/>
            </a:stretch>
          </a:blipFill>
        </p:spPr>
        <p:txBody>
          <a:bodyPr wrap="square" lIns="0" tIns="0" rIns="0" bIns="0" rtlCol="0"/>
          <a:lstStyle/>
          <a:p>
            <a:endParaRPr sz="1391" dirty="0"/>
          </a:p>
        </p:txBody>
      </p:sp>
      <p:sp>
        <p:nvSpPr>
          <p:cNvPr id="4" name="object 10">
            <a:extLst>
              <a:ext uri="{FF2B5EF4-FFF2-40B4-BE49-F238E27FC236}">
                <a16:creationId xmlns:a16="http://schemas.microsoft.com/office/drawing/2014/main" id="{6FA26B29-A172-467D-8F85-442C8B5FB4F8}"/>
              </a:ext>
            </a:extLst>
          </p:cNvPr>
          <p:cNvSpPr/>
          <p:nvPr/>
        </p:nvSpPr>
        <p:spPr>
          <a:xfrm>
            <a:off x="838200" y="2432614"/>
            <a:ext cx="8077200" cy="2063185"/>
          </a:xfrm>
          <a:prstGeom prst="rect">
            <a:avLst/>
          </a:prstGeom>
          <a:blipFill>
            <a:blip r:embed="rId3" cstate="print"/>
            <a:stretch>
              <a:fillRect/>
            </a:stretch>
          </a:blipFill>
        </p:spPr>
        <p:txBody>
          <a:bodyPr wrap="square" lIns="0" tIns="0" rIns="0" bIns="0" rtlCol="0"/>
          <a:lstStyle/>
          <a:p>
            <a:endParaRPr sz="1391" dirty="0"/>
          </a:p>
        </p:txBody>
      </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E9DEE733-10B8-4B07-B971-7C0DF19EB08D}"/>
                  </a:ext>
                </a:extLst>
              </p:cNvPr>
              <p:cNvSpPr>
                <a:spLocks noGrp="1"/>
              </p:cNvSpPr>
              <p:nvPr>
                <p:ph sz="quarter" idx="1"/>
              </p:nvPr>
            </p:nvSpPr>
            <p:spPr/>
            <p:txBody>
              <a:bodyPr>
                <a:noAutofit/>
              </a:bodyPr>
              <a:lstStyle/>
              <a:p>
                <a:pPr marL="79978">
                  <a:spcBef>
                    <a:spcPts val="768"/>
                  </a:spcBef>
                </a:pPr>
                <a:endParaRPr lang="en-GB" sz="2400" i="1" dirty="0">
                  <a:latin typeface="Cambria Math" panose="02040503050406030204" pitchFamily="18" charset="0"/>
                  <a:ea typeface="Cambria Math" panose="02040503050406030204" pitchFamily="18" charset="0"/>
                  <a:cs typeface="Arial"/>
                </a:endParaRPr>
              </a:p>
              <a:p>
                <a:pPr marL="79978">
                  <a:spcBef>
                    <a:spcPts val="768"/>
                  </a:spcBef>
                </a:pPr>
                <a:endParaRPr lang="en-GB" sz="2400" i="1" dirty="0">
                  <a:latin typeface="Cambria Math" panose="02040503050406030204" pitchFamily="18" charset="0"/>
                  <a:ea typeface="Cambria Math" panose="02040503050406030204" pitchFamily="18" charset="0"/>
                  <a:cs typeface="Arial"/>
                </a:endParaRPr>
              </a:p>
              <a:p>
                <a:pPr marL="79978">
                  <a:spcBef>
                    <a:spcPts val="768"/>
                  </a:spcBef>
                </a:pPr>
                <a:endParaRPr lang="en-GB" sz="2400" i="1" dirty="0">
                  <a:latin typeface="Cambria Math" panose="02040503050406030204" pitchFamily="18" charset="0"/>
                  <a:ea typeface="Cambria Math" panose="02040503050406030204" pitchFamily="18" charset="0"/>
                  <a:cs typeface="Arial"/>
                </a:endParaRPr>
              </a:p>
              <a:p>
                <a:pPr marL="79978">
                  <a:spcBef>
                    <a:spcPts val="768"/>
                  </a:spcBef>
                </a:pPr>
                <a:endParaRPr lang="en-GB" sz="2400" i="1" dirty="0">
                  <a:latin typeface="Cambria Math" panose="02040503050406030204" pitchFamily="18" charset="0"/>
                  <a:ea typeface="Cambria Math" panose="02040503050406030204" pitchFamily="18" charset="0"/>
                  <a:cs typeface="Arial"/>
                </a:endParaRPr>
              </a:p>
              <a:p>
                <a:pPr marL="79978">
                  <a:spcBef>
                    <a:spcPts val="768"/>
                  </a:spcBef>
                </a:pPr>
                <a:endParaRPr lang="en-GB" sz="2400" i="1" dirty="0">
                  <a:latin typeface="Cambria Math" panose="02040503050406030204" pitchFamily="18" charset="0"/>
                  <a:ea typeface="Cambria Math" panose="02040503050406030204" pitchFamily="18" charset="0"/>
                  <a:cs typeface="Arial"/>
                </a:endParaRPr>
              </a:p>
              <a:p>
                <a:pPr marL="79978">
                  <a:spcBef>
                    <a:spcPts val="768"/>
                  </a:spcBef>
                </a:pPr>
                <a:endParaRPr lang="en-GB" sz="2400" i="1" dirty="0">
                  <a:latin typeface="Cambria Math" panose="02040503050406030204" pitchFamily="18" charset="0"/>
                  <a:ea typeface="Cambria Math" panose="02040503050406030204" pitchFamily="18" charset="0"/>
                  <a:cs typeface="Arial"/>
                </a:endParaRPr>
              </a:p>
              <a:p>
                <a:pPr marL="79978">
                  <a:spcBef>
                    <a:spcPts val="768"/>
                  </a:spcBef>
                </a:pPr>
                <a:endParaRPr lang="en-GB" sz="2400" i="1" dirty="0">
                  <a:latin typeface="Cambria Math" panose="02040503050406030204" pitchFamily="18" charset="0"/>
                  <a:ea typeface="Cambria Math" panose="02040503050406030204" pitchFamily="18" charset="0"/>
                  <a:cs typeface="Arial"/>
                </a:endParaRPr>
              </a:p>
              <a:p>
                <a:pPr marL="79978">
                  <a:spcBef>
                    <a:spcPts val="768"/>
                  </a:spcBef>
                </a:pPr>
                <a14:m>
                  <m:oMath xmlns:m="http://schemas.openxmlformats.org/officeDocument/2006/math">
                    <m:sSub>
                      <m:sSubPr>
                        <m:ctrlPr>
                          <a:rPr lang="en-GB" sz="240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𝑉</m:t>
                        </m:r>
                      </m:e>
                      <m:sub>
                        <m:r>
                          <a:rPr lang="en-GB" sz="2400" b="0" i="1" smtClean="0">
                            <a:latin typeface="Cambria Math" panose="02040503050406030204" pitchFamily="18" charset="0"/>
                            <a:ea typeface="Cambria Math" panose="02040503050406030204" pitchFamily="18" charset="0"/>
                            <a:cs typeface="Arial"/>
                          </a:rPr>
                          <m:t>𝑜𝑢</m:t>
                        </m:r>
                        <m:r>
                          <a:rPr lang="en-GB" sz="2400" i="1">
                            <a:latin typeface="Cambria Math" panose="02040503050406030204" pitchFamily="18" charset="0"/>
                            <a:ea typeface="Cambria Math" panose="02040503050406030204" pitchFamily="18" charset="0"/>
                            <a:cs typeface="Arial"/>
                          </a:rPr>
                          <m:t>𝑡</m:t>
                        </m:r>
                      </m:sub>
                    </m:sSub>
                    <m:r>
                      <a:rPr lang="en-GB" sz="2400" i="1">
                        <a:latin typeface="Cambria Math" panose="02040503050406030204" pitchFamily="18" charset="0"/>
                        <a:ea typeface="Cambria Math" panose="02040503050406030204" pitchFamily="18" charset="0"/>
                        <a:cs typeface="Arial"/>
                      </a:rPr>
                      <m:t>=</m:t>
                    </m:r>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1</m:t>
                        </m:r>
                      </m:sub>
                    </m:sSub>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2</m:t>
                        </m:r>
                      </m:sub>
                    </m:sSub>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3</m:t>
                        </m:r>
                      </m:sub>
                    </m:sSub>
                    <m:d>
                      <m:dPr>
                        <m:ctrlPr>
                          <a:rPr lang="en-GB" sz="2400" b="0" i="1" smtClean="0">
                            <a:latin typeface="Cambria Math" panose="02040503050406030204" pitchFamily="18" charset="0"/>
                            <a:ea typeface="Cambria Math" panose="02040503050406030204" pitchFamily="18" charset="0"/>
                            <a:cs typeface="Arial"/>
                          </a:rPr>
                        </m:ctrlPr>
                      </m:dPr>
                      <m:e>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𝑉</m:t>
                            </m:r>
                          </m:e>
                          <m:sub>
                            <m:r>
                              <a:rPr lang="en-GB" sz="2400" b="0" i="1" smtClean="0">
                                <a:latin typeface="Cambria Math" panose="02040503050406030204" pitchFamily="18" charset="0"/>
                                <a:ea typeface="Cambria Math" panose="02040503050406030204" pitchFamily="18" charset="0"/>
                                <a:cs typeface="Arial"/>
                              </a:rPr>
                              <m:t>𝑖𝑛</m:t>
                            </m:r>
                          </m:sub>
                        </m:sSub>
                        <m:r>
                          <a:rPr lang="en-GB" sz="2400" b="0" i="1" smtClean="0">
                            <a:latin typeface="Cambria Math" panose="02040503050406030204" pitchFamily="18" charset="0"/>
                            <a:ea typeface="Cambria Math" panose="02040503050406030204" pitchFamily="18" charset="0"/>
                            <a:cs typeface="Arial"/>
                          </a:rPr>
                          <m:t>+</m:t>
                        </m:r>
                        <m:f>
                          <m:fPr>
                            <m:ctrlPr>
                              <a:rPr lang="en-GB" sz="2400" i="1">
                                <a:latin typeface="Cambria Math" panose="02040503050406030204" pitchFamily="18" charset="0"/>
                                <a:ea typeface="Cambria Math" panose="02040503050406030204" pitchFamily="18" charset="0"/>
                                <a:cs typeface="Arial"/>
                              </a:rPr>
                            </m:ctrlPr>
                          </m:fPr>
                          <m:num>
                            <m:sSub>
                              <m:sSubPr>
                                <m:ctrlPr>
                                  <a:rPr lang="en-GB" sz="2400" b="0" i="1" smtClean="0">
                                    <a:latin typeface="Cambria Math" panose="02040503050406030204" pitchFamily="18" charset="0"/>
                                    <a:ea typeface="Cambria Math" panose="02040503050406030204" pitchFamily="18" charset="0"/>
                                    <a:cs typeface="Arial"/>
                                  </a:rPr>
                                </m:ctrlPr>
                              </m:sSubPr>
                              <m:e>
                                <m:r>
                                  <a:rPr lang="en-GB" sz="2400" i="1">
                                    <a:latin typeface="Cambria Math" panose="02040503050406030204" pitchFamily="18" charset="0"/>
                                    <a:ea typeface="Cambria Math" panose="02040503050406030204" pitchFamily="18" charset="0"/>
                                    <a:cs typeface="Arial"/>
                                  </a:rPr>
                                  <m:t>𝜀</m:t>
                                </m:r>
                              </m:e>
                              <m:sub>
                                <m:r>
                                  <a:rPr lang="en-GB" sz="2400" b="0" i="1" smtClean="0">
                                    <a:latin typeface="Cambria Math" panose="02040503050406030204" pitchFamily="18" charset="0"/>
                                    <a:ea typeface="Cambria Math" panose="02040503050406030204" pitchFamily="18" charset="0"/>
                                    <a:cs typeface="Arial"/>
                                  </a:rPr>
                                  <m:t>5</m:t>
                                </m:r>
                              </m:sub>
                            </m:sSub>
                          </m:num>
                          <m:den>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1</m:t>
                                </m:r>
                              </m:sub>
                            </m:sSub>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2</m:t>
                                </m:r>
                              </m:sub>
                            </m:sSub>
                            <m:sSub>
                              <m:sSubPr>
                                <m:ctrlPr>
                                  <a:rPr lang="en-GB" sz="2400" b="0" i="1" smtClean="0">
                                    <a:latin typeface="Cambria Math" panose="02040503050406030204" pitchFamily="18" charset="0"/>
                                    <a:ea typeface="Cambria Math" panose="02040503050406030204" pitchFamily="18" charset="0"/>
                                    <a:cs typeface="Arial"/>
                                  </a:rPr>
                                </m:ctrlPr>
                              </m:sSubPr>
                              <m:e>
                                <m:r>
                                  <a:rPr lang="en-GB" sz="2400" b="0" i="1" smtClean="0">
                                    <a:latin typeface="Cambria Math" panose="02040503050406030204" pitchFamily="18" charset="0"/>
                                    <a:ea typeface="Cambria Math" panose="02040503050406030204" pitchFamily="18" charset="0"/>
                                    <a:cs typeface="Arial"/>
                                  </a:rPr>
                                  <m:t>𝐴</m:t>
                                </m:r>
                              </m:e>
                              <m:sub>
                                <m:r>
                                  <a:rPr lang="en-GB" sz="2400" b="0" i="1" smtClean="0">
                                    <a:latin typeface="Cambria Math" panose="02040503050406030204" pitchFamily="18" charset="0"/>
                                    <a:ea typeface="Cambria Math" panose="02040503050406030204" pitchFamily="18" charset="0"/>
                                    <a:cs typeface="Arial"/>
                                  </a:rPr>
                                  <m:t>3</m:t>
                                </m:r>
                              </m:sub>
                            </m:sSub>
                          </m:den>
                        </m:f>
                      </m:e>
                    </m:d>
                    <m:r>
                      <a:rPr lang="en-GB" sz="2400" i="1">
                        <a:latin typeface="Cambria Math" panose="02040503050406030204" pitchFamily="18" charset="0"/>
                        <a:ea typeface="Cambria Math" panose="02040503050406030204" pitchFamily="18" charset="0"/>
                        <a:cs typeface="Arial"/>
                      </a:rPr>
                      <m:t> </m:t>
                    </m:r>
                  </m:oMath>
                </a14:m>
                <a:endParaRPr lang="en-US" sz="2400" dirty="0">
                  <a:latin typeface="Arial" panose="020B0604020202020204" pitchFamily="34" charset="0"/>
                  <a:cs typeface="Arial" panose="020B0604020202020204" pitchFamily="34" charset="0"/>
                </a:endParaRPr>
              </a:p>
              <a:p>
                <a:pPr marL="79978">
                  <a:spcBef>
                    <a:spcPts val="768"/>
                  </a:spcBef>
                </a:pPr>
                <a:endParaRPr lang="en-US" sz="2400" dirty="0">
                  <a:latin typeface="Arial"/>
                  <a:cs typeface="Arial"/>
                </a:endParaRPr>
              </a:p>
              <a:p>
                <a:pPr marL="79978">
                  <a:spcBef>
                    <a:spcPts val="278"/>
                  </a:spcBef>
                </a:pPr>
                <a:r>
                  <a:rPr lang="en-US" sz="2400" spc="-4" dirty="0">
                    <a:latin typeface="Arial"/>
                    <a:cs typeface="Arial"/>
                  </a:rPr>
                  <a:t>Input-Referred Offset: </a:t>
                </a:r>
                <a14:m>
                  <m:oMath xmlns:m="http://schemas.openxmlformats.org/officeDocument/2006/math">
                    <m:f>
                      <m:fPr>
                        <m:ctrlPr>
                          <a:rPr lang="en-GB" sz="2400" i="1">
                            <a:latin typeface="Cambria Math" panose="02040503050406030204" pitchFamily="18" charset="0"/>
                            <a:ea typeface="Cambria Math" panose="02040503050406030204" pitchFamily="18" charset="0"/>
                            <a:cs typeface="Arial"/>
                          </a:rPr>
                        </m:ctrlPr>
                      </m:fPr>
                      <m:num>
                        <m:sSub>
                          <m:sSubPr>
                            <m:ctrlPr>
                              <a:rPr lang="en-GB" sz="2400" i="1">
                                <a:latin typeface="Cambria Math" panose="02040503050406030204" pitchFamily="18" charset="0"/>
                                <a:ea typeface="Cambria Math" panose="02040503050406030204" pitchFamily="18" charset="0"/>
                                <a:cs typeface="Arial"/>
                              </a:rPr>
                            </m:ctrlPr>
                          </m:sSubPr>
                          <m:e>
                            <m:r>
                              <a:rPr lang="en-GB" sz="2400" i="1">
                                <a:latin typeface="Cambria Math" panose="02040503050406030204" pitchFamily="18" charset="0"/>
                                <a:ea typeface="Cambria Math" panose="02040503050406030204" pitchFamily="18" charset="0"/>
                                <a:cs typeface="Arial"/>
                              </a:rPr>
                              <m:t>𝜀</m:t>
                            </m:r>
                          </m:e>
                          <m:sub>
                            <m:r>
                              <a:rPr lang="en-GB" sz="2400" i="1">
                                <a:latin typeface="Cambria Math" panose="02040503050406030204" pitchFamily="18" charset="0"/>
                                <a:ea typeface="Cambria Math" panose="02040503050406030204" pitchFamily="18" charset="0"/>
                                <a:cs typeface="Arial"/>
                              </a:rPr>
                              <m:t>5</m:t>
                            </m:r>
                          </m:sub>
                        </m:sSub>
                      </m:num>
                      <m:den>
                        <m:sSub>
                          <m:sSubPr>
                            <m:ctrlPr>
                              <a:rPr lang="en-GB" sz="2400" i="1">
                                <a:latin typeface="Cambria Math" panose="02040503050406030204" pitchFamily="18" charset="0"/>
                                <a:ea typeface="Cambria Math" panose="02040503050406030204" pitchFamily="18" charset="0"/>
                                <a:cs typeface="Arial"/>
                              </a:rPr>
                            </m:ctrlPr>
                          </m:sSubPr>
                          <m:e>
                            <m:r>
                              <a:rPr lang="en-GB" sz="2400" i="1">
                                <a:latin typeface="Cambria Math" panose="02040503050406030204" pitchFamily="18" charset="0"/>
                                <a:ea typeface="Cambria Math" panose="02040503050406030204" pitchFamily="18" charset="0"/>
                                <a:cs typeface="Arial"/>
                              </a:rPr>
                              <m:t>𝐴</m:t>
                            </m:r>
                          </m:e>
                          <m:sub>
                            <m:r>
                              <a:rPr lang="en-GB" sz="2400" i="1">
                                <a:latin typeface="Cambria Math" panose="02040503050406030204" pitchFamily="18" charset="0"/>
                                <a:ea typeface="Cambria Math" panose="02040503050406030204" pitchFamily="18" charset="0"/>
                                <a:cs typeface="Arial"/>
                              </a:rPr>
                              <m:t>1</m:t>
                            </m:r>
                          </m:sub>
                        </m:sSub>
                        <m:sSub>
                          <m:sSubPr>
                            <m:ctrlPr>
                              <a:rPr lang="en-GB" sz="2400" i="1">
                                <a:latin typeface="Cambria Math" panose="02040503050406030204" pitchFamily="18" charset="0"/>
                                <a:ea typeface="Cambria Math" panose="02040503050406030204" pitchFamily="18" charset="0"/>
                                <a:cs typeface="Arial"/>
                              </a:rPr>
                            </m:ctrlPr>
                          </m:sSubPr>
                          <m:e>
                            <m:r>
                              <a:rPr lang="en-GB" sz="2400" i="1">
                                <a:latin typeface="Cambria Math" panose="02040503050406030204" pitchFamily="18" charset="0"/>
                                <a:ea typeface="Cambria Math" panose="02040503050406030204" pitchFamily="18" charset="0"/>
                                <a:cs typeface="Arial"/>
                              </a:rPr>
                              <m:t>𝐴</m:t>
                            </m:r>
                          </m:e>
                          <m:sub>
                            <m:r>
                              <a:rPr lang="en-GB" sz="2400" i="1">
                                <a:latin typeface="Cambria Math" panose="02040503050406030204" pitchFamily="18" charset="0"/>
                                <a:ea typeface="Cambria Math" panose="02040503050406030204" pitchFamily="18" charset="0"/>
                                <a:cs typeface="Arial"/>
                              </a:rPr>
                              <m:t>2</m:t>
                            </m:r>
                          </m:sub>
                        </m:sSub>
                        <m:sSub>
                          <m:sSubPr>
                            <m:ctrlPr>
                              <a:rPr lang="en-GB" sz="2400" i="1">
                                <a:latin typeface="Cambria Math" panose="02040503050406030204" pitchFamily="18" charset="0"/>
                                <a:ea typeface="Cambria Math" panose="02040503050406030204" pitchFamily="18" charset="0"/>
                                <a:cs typeface="Arial"/>
                              </a:rPr>
                            </m:ctrlPr>
                          </m:sSubPr>
                          <m:e>
                            <m:r>
                              <a:rPr lang="en-GB" sz="2400" i="1">
                                <a:latin typeface="Cambria Math" panose="02040503050406030204" pitchFamily="18" charset="0"/>
                                <a:ea typeface="Cambria Math" panose="02040503050406030204" pitchFamily="18" charset="0"/>
                                <a:cs typeface="Arial"/>
                              </a:rPr>
                              <m:t>𝐴</m:t>
                            </m:r>
                          </m:e>
                          <m:sub>
                            <m:r>
                              <a:rPr lang="en-GB" sz="2400" i="1">
                                <a:latin typeface="Cambria Math" panose="02040503050406030204" pitchFamily="18" charset="0"/>
                                <a:ea typeface="Cambria Math" panose="02040503050406030204" pitchFamily="18" charset="0"/>
                                <a:cs typeface="Arial"/>
                              </a:rPr>
                              <m:t>3</m:t>
                            </m:r>
                          </m:sub>
                        </m:sSub>
                      </m:den>
                    </m:f>
                  </m:oMath>
                </a14:m>
                <a:r>
                  <a:rPr lang="en-US" sz="2400" dirty="0">
                    <a:latin typeface="Arial"/>
                    <a:cs typeface="Arial"/>
                  </a:rPr>
                  <a:t> </a:t>
                </a:r>
                <a:endParaRPr lang="en-US" sz="2400" baseline="-21367" dirty="0">
                  <a:latin typeface="Arial"/>
                  <a:cs typeface="Arial"/>
                </a:endParaRPr>
              </a:p>
            </p:txBody>
          </p:sp>
        </mc:Choice>
        <mc:Fallback xmlns="">
          <p:sp>
            <p:nvSpPr>
              <p:cNvPr id="19" name="Content Placeholder 2">
                <a:extLst>
                  <a:ext uri="{FF2B5EF4-FFF2-40B4-BE49-F238E27FC236}">
                    <a16:creationId xmlns:a16="http://schemas.microsoft.com/office/drawing/2014/main" id="{E9DEE733-10B8-4B07-B971-7C0DF19EB08D}"/>
                  </a:ext>
                </a:extLst>
              </p:cNvPr>
              <p:cNvSpPr>
                <a:spLocks noGrp="1" noRot="1" noChangeAspect="1" noMove="1" noResize="1" noEditPoints="1" noAdjustHandles="1" noChangeArrowheads="1" noChangeShapeType="1" noTextEdit="1"/>
              </p:cNvSpPr>
              <p:nvPr>
                <p:ph sz="quarter" idx="1"/>
              </p:nvPr>
            </p:nvSpPr>
            <p:spPr>
              <a:blipFill>
                <a:blip r:embed="rId4"/>
                <a:stretch>
                  <a:fillRect l="-456"/>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37D2EB8C-DF45-4075-8EB3-FFF8D32B21D6}"/>
              </a:ext>
            </a:extLst>
          </p:cNvPr>
          <p:cNvSpPr>
            <a:spLocks noGrp="1"/>
          </p:cNvSpPr>
          <p:nvPr>
            <p:ph type="title"/>
          </p:nvPr>
        </p:nvSpPr>
        <p:spPr/>
        <p:txBody>
          <a:bodyPr>
            <a:normAutofit/>
          </a:bodyPr>
          <a:lstStyle/>
          <a:p>
            <a:r>
              <a:rPr lang="en-US" dirty="0"/>
              <a:t>Cascaded Output Series Cancellation</a:t>
            </a:r>
            <a:endParaRPr lang="en-GB" dirty="0"/>
          </a:p>
        </p:txBody>
      </p:sp>
      <p:sp>
        <p:nvSpPr>
          <p:cNvPr id="3" name="Slide Number Placeholder 2">
            <a:extLst>
              <a:ext uri="{FF2B5EF4-FFF2-40B4-BE49-F238E27FC236}">
                <a16:creationId xmlns:a16="http://schemas.microsoft.com/office/drawing/2014/main" id="{32F0A30C-46EE-44D4-B2C6-2989FEF464C7}"/>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17</a:t>
            </a:fld>
            <a:endParaRPr lang="en-US" dirty="0"/>
          </a:p>
        </p:txBody>
      </p:sp>
      <p:sp>
        <p:nvSpPr>
          <p:cNvPr id="7" name="object 12">
            <a:extLst>
              <a:ext uri="{FF2B5EF4-FFF2-40B4-BE49-F238E27FC236}">
                <a16:creationId xmlns:a16="http://schemas.microsoft.com/office/drawing/2014/main" id="{41E5D8CF-26BF-4C8D-8B0B-866D39074C0A}"/>
              </a:ext>
            </a:extLst>
          </p:cNvPr>
          <p:cNvSpPr/>
          <p:nvPr/>
        </p:nvSpPr>
        <p:spPr>
          <a:xfrm rot="5400000">
            <a:off x="1424941" y="3060469"/>
            <a:ext cx="45719" cy="457200"/>
          </a:xfrm>
          <a:custGeom>
            <a:avLst/>
            <a:gdLst/>
            <a:ahLst/>
            <a:cxnLst/>
            <a:rect l="l" t="t" r="r" b="b"/>
            <a:pathLst>
              <a:path h="220344">
                <a:moveTo>
                  <a:pt x="0" y="0"/>
                </a:moveTo>
                <a:lnTo>
                  <a:pt x="0" y="220218"/>
                </a:lnTo>
              </a:path>
            </a:pathLst>
          </a:custGeom>
          <a:ln w="38100">
            <a:solidFill>
              <a:srgbClr val="FF0000"/>
            </a:solidFill>
          </a:ln>
        </p:spPr>
        <p:txBody>
          <a:bodyPr wrap="square" lIns="0" tIns="0" rIns="0" bIns="0" rtlCol="0"/>
          <a:lstStyle/>
          <a:p>
            <a:endParaRPr/>
          </a:p>
        </p:txBody>
      </p:sp>
      <p:sp>
        <p:nvSpPr>
          <p:cNvPr id="21" name="object 11">
            <a:extLst>
              <a:ext uri="{FF2B5EF4-FFF2-40B4-BE49-F238E27FC236}">
                <a16:creationId xmlns:a16="http://schemas.microsoft.com/office/drawing/2014/main" id="{084BEF4C-AB0E-4A34-A21E-3F809A7DAD1A}"/>
              </a:ext>
            </a:extLst>
          </p:cNvPr>
          <p:cNvSpPr/>
          <p:nvPr/>
        </p:nvSpPr>
        <p:spPr>
          <a:xfrm flipH="1">
            <a:off x="8153400" y="4724400"/>
            <a:ext cx="76200" cy="1922527"/>
          </a:xfrm>
          <a:custGeom>
            <a:avLst/>
            <a:gdLst/>
            <a:ahLst/>
            <a:cxnLst/>
            <a:rect l="l" t="t" r="r" b="b"/>
            <a:pathLst>
              <a:path h="1123950">
                <a:moveTo>
                  <a:pt x="0" y="0"/>
                </a:moveTo>
                <a:lnTo>
                  <a:pt x="0" y="1123950"/>
                </a:lnTo>
              </a:path>
            </a:pathLst>
          </a:custGeom>
          <a:ln w="38100">
            <a:solidFill>
              <a:srgbClr val="0070C0"/>
            </a:solidFill>
          </a:ln>
        </p:spPr>
        <p:txBody>
          <a:bodyPr wrap="square" lIns="0" tIns="0" rIns="0" bIns="0" rtlCol="0"/>
          <a:lstStyle/>
          <a:p>
            <a:endParaRPr/>
          </a:p>
        </p:txBody>
      </p:sp>
      <p:sp>
        <p:nvSpPr>
          <p:cNvPr id="5" name="Date Placeholder 4">
            <a:extLst>
              <a:ext uri="{FF2B5EF4-FFF2-40B4-BE49-F238E27FC236}">
                <a16:creationId xmlns:a16="http://schemas.microsoft.com/office/drawing/2014/main" id="{1A0DCB5D-D6CB-4A30-B47B-FEF0DEA2CFBD}"/>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7A51D76E-C1E4-46A1-B325-2237C3099F46}"/>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458595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9CE5D4-D737-4DE1-B0FE-69AB41C4AB5E}"/>
              </a:ext>
            </a:extLst>
          </p:cNvPr>
          <p:cNvSpPr>
            <a:spLocks noGrp="1"/>
          </p:cNvSpPr>
          <p:nvPr>
            <p:ph sz="quarter" idx="1"/>
          </p:nvPr>
        </p:nvSpPr>
        <p:spPr/>
        <p:txBody>
          <a:bodyPr>
            <a:normAutofit/>
          </a:bodyPr>
          <a:lstStyle/>
          <a:p>
            <a:r>
              <a:rPr lang="en-US" sz="2800" dirty="0">
                <a:latin typeface="Arial" panose="020B0604020202020204" pitchFamily="34" charset="0"/>
                <a:cs typeface="Arial" panose="020B0604020202020204" pitchFamily="34" charset="0"/>
              </a:rPr>
              <a:t>Advantages:</a:t>
            </a:r>
          </a:p>
          <a:p>
            <a:pPr lvl="1"/>
            <a:r>
              <a:rPr lang="en-US" sz="2400" dirty="0">
                <a:latin typeface="Arial" panose="020B0604020202020204" pitchFamily="34" charset="0"/>
                <a:cs typeface="Arial" panose="020B0604020202020204" pitchFamily="34" charset="0"/>
              </a:rPr>
              <a:t>Almost compete cancellation</a:t>
            </a:r>
          </a:p>
          <a:p>
            <a:pPr lvl="1"/>
            <a:r>
              <a:rPr lang="en-US" sz="2400" dirty="0">
                <a:latin typeface="Arial" panose="020B0604020202020204" pitchFamily="34" charset="0"/>
                <a:cs typeface="Arial" panose="020B0604020202020204" pitchFamily="34" charset="0"/>
              </a:rPr>
              <a:t>Closed-loop stability not required</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Disadvantages:</a:t>
            </a:r>
          </a:p>
          <a:p>
            <a:pPr lvl="1"/>
            <a:r>
              <a:rPr lang="en-US" sz="2400" dirty="0">
                <a:latin typeface="Arial" panose="020B0604020202020204" pitchFamily="34" charset="0"/>
                <a:cs typeface="Arial" panose="020B0604020202020204" pitchFamily="34" charset="0"/>
              </a:rPr>
              <a:t>Gain per stage must be small</a:t>
            </a:r>
          </a:p>
          <a:p>
            <a:pPr lvl="1"/>
            <a:r>
              <a:rPr lang="en-US" sz="2400" dirty="0">
                <a:latin typeface="Arial" panose="020B0604020202020204" pitchFamily="34" charset="0"/>
                <a:cs typeface="Arial" panose="020B0604020202020204" pitchFamily="34" charset="0"/>
              </a:rPr>
              <a:t>Offset storage C in the signal path =&gt; could slow  down overall performance</a:t>
            </a:r>
          </a:p>
          <a:p>
            <a:endParaRPr lang="en-GB" sz="28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4C1995A-58E1-4F18-B85D-9DB2753DAD66}"/>
              </a:ext>
            </a:extLst>
          </p:cNvPr>
          <p:cNvSpPr>
            <a:spLocks noGrp="1"/>
          </p:cNvSpPr>
          <p:nvPr>
            <p:ph type="title"/>
          </p:nvPr>
        </p:nvSpPr>
        <p:spPr/>
        <p:txBody>
          <a:bodyPr/>
          <a:lstStyle/>
          <a:p>
            <a:r>
              <a:rPr lang="en-US" dirty="0"/>
              <a:t>Cascaded Output Series Cancellation</a:t>
            </a:r>
            <a:endParaRPr lang="en-GB" dirty="0"/>
          </a:p>
        </p:txBody>
      </p:sp>
      <p:sp>
        <p:nvSpPr>
          <p:cNvPr id="4" name="Slide Number Placeholder 3">
            <a:extLst>
              <a:ext uri="{FF2B5EF4-FFF2-40B4-BE49-F238E27FC236}">
                <a16:creationId xmlns:a16="http://schemas.microsoft.com/office/drawing/2014/main" id="{C53A6610-5F0B-4900-B932-29EB3F0EE785}"/>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18</a:t>
            </a:fld>
            <a:endParaRPr lang="en-US" dirty="0"/>
          </a:p>
        </p:txBody>
      </p:sp>
      <p:sp>
        <p:nvSpPr>
          <p:cNvPr id="5" name="Date Placeholder 4">
            <a:extLst>
              <a:ext uri="{FF2B5EF4-FFF2-40B4-BE49-F238E27FC236}">
                <a16:creationId xmlns:a16="http://schemas.microsoft.com/office/drawing/2014/main" id="{B0DD2D6C-D7F5-4678-A700-E75C448705A6}"/>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F95338DE-300B-4CAC-8F27-1197BB92BEF4}"/>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128493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48AB2-0761-4422-8B27-2EC0DD5FE536}"/>
              </a:ext>
            </a:extLst>
          </p:cNvPr>
          <p:cNvSpPr>
            <a:spLocks noGrp="1"/>
          </p:cNvSpPr>
          <p:nvPr>
            <p:ph type="title"/>
          </p:nvPr>
        </p:nvSpPr>
        <p:spPr/>
        <p:txBody>
          <a:bodyPr>
            <a:normAutofit/>
          </a:bodyPr>
          <a:lstStyle/>
          <a:p>
            <a:r>
              <a:rPr lang="en-GB" dirty="0"/>
              <a:t>Input Series Cancellation</a:t>
            </a:r>
          </a:p>
        </p:txBody>
      </p:sp>
      <p:sp>
        <p:nvSpPr>
          <p:cNvPr id="5" name="Slide Number Placeholder 4">
            <a:extLst>
              <a:ext uri="{FF2B5EF4-FFF2-40B4-BE49-F238E27FC236}">
                <a16:creationId xmlns:a16="http://schemas.microsoft.com/office/drawing/2014/main" id="{7984D5EC-BF85-4D30-AFDF-5A348139BCC1}"/>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19</a:t>
            </a:fld>
            <a:endParaRPr lang="en-US" dirty="0"/>
          </a:p>
        </p:txBody>
      </p:sp>
      <p:sp>
        <p:nvSpPr>
          <p:cNvPr id="4" name="object 10">
            <a:extLst>
              <a:ext uri="{FF2B5EF4-FFF2-40B4-BE49-F238E27FC236}">
                <a16:creationId xmlns:a16="http://schemas.microsoft.com/office/drawing/2014/main" id="{9E9D06C7-0407-4667-8CE5-8ACF993EB2DD}"/>
              </a:ext>
            </a:extLst>
          </p:cNvPr>
          <p:cNvSpPr/>
          <p:nvPr/>
        </p:nvSpPr>
        <p:spPr>
          <a:xfrm>
            <a:off x="1714500" y="2667000"/>
            <a:ext cx="6629399" cy="3809999"/>
          </a:xfrm>
          <a:prstGeom prst="rect">
            <a:avLst/>
          </a:prstGeom>
          <a:blipFill>
            <a:blip r:embed="rId2" cstate="print"/>
            <a:stretch>
              <a:fillRect/>
            </a:stretch>
          </a:blipFill>
        </p:spPr>
        <p:txBody>
          <a:bodyPr wrap="square" lIns="0" tIns="0" rIns="0" bIns="0" rtlCol="0"/>
          <a:lstStyle/>
          <a:p>
            <a:endParaRPr sz="1391" dirty="0"/>
          </a:p>
        </p:txBody>
      </p:sp>
      <p:sp>
        <p:nvSpPr>
          <p:cNvPr id="7" name="Date Placeholder 6">
            <a:extLst>
              <a:ext uri="{FF2B5EF4-FFF2-40B4-BE49-F238E27FC236}">
                <a16:creationId xmlns:a16="http://schemas.microsoft.com/office/drawing/2014/main" id="{6C8FAE55-7478-4342-BCC9-5CAADEE6BCA6}"/>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DEE378B6-122E-4797-8F47-99D29E75FB42}"/>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4245670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DE1FFC-971A-47C3-9F03-40F58C196032}"/>
              </a:ext>
            </a:extLst>
          </p:cNvPr>
          <p:cNvSpPr>
            <a:spLocks noGrp="1"/>
          </p:cNvSpPr>
          <p:nvPr>
            <p:ph sz="quarter" idx="1"/>
          </p:nvPr>
        </p:nvSpPr>
        <p:spPr/>
        <p:txBody>
          <a:bodyPr>
            <a:normAutofit/>
          </a:bodyPr>
          <a:lstStyle/>
          <a:p>
            <a:r>
              <a:rPr lang="en-GB" sz="2400" dirty="0">
                <a:latin typeface="Arial" panose="020B0604020202020204" pitchFamily="34" charset="0"/>
                <a:cs typeface="Arial" panose="020B0604020202020204" pitchFamily="34" charset="0"/>
              </a:rPr>
              <a:t>Store offset:</a:t>
            </a:r>
          </a:p>
          <a:p>
            <a:endParaRPr lang="en-GB" sz="2400" dirty="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Note: Mandates closed-loop</a:t>
            </a:r>
          </a:p>
          <a:p>
            <a:pPr marL="0" indent="0">
              <a:buNone/>
            </a:pPr>
            <a:r>
              <a:rPr lang="en-GB" sz="2400" dirty="0">
                <a:latin typeface="Arial" panose="020B0604020202020204" pitchFamily="34" charset="0"/>
                <a:cs typeface="Arial" panose="020B0604020202020204" pitchFamily="34" charset="0"/>
              </a:rPr>
              <a:t>stability</a:t>
            </a:r>
          </a:p>
          <a:p>
            <a:endParaRPr lang="en-GB" sz="2400" dirty="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E374140E-16C0-4B3C-B645-D177D4C92D4F}"/>
              </a:ext>
            </a:extLst>
          </p:cNvPr>
          <p:cNvSpPr>
            <a:spLocks noGrp="1"/>
          </p:cNvSpPr>
          <p:nvPr>
            <p:ph type="title"/>
          </p:nvPr>
        </p:nvSpPr>
        <p:spPr/>
        <p:txBody>
          <a:bodyPr/>
          <a:lstStyle/>
          <a:p>
            <a:r>
              <a:rPr lang="en-GB" dirty="0"/>
              <a:t>Input Series Cancellation</a:t>
            </a:r>
          </a:p>
        </p:txBody>
      </p:sp>
      <p:sp>
        <p:nvSpPr>
          <p:cNvPr id="5" name="Slide Number Placeholder 4">
            <a:extLst>
              <a:ext uri="{FF2B5EF4-FFF2-40B4-BE49-F238E27FC236}">
                <a16:creationId xmlns:a16="http://schemas.microsoft.com/office/drawing/2014/main" id="{8CD055E9-F2AE-4B00-8807-13BE03EA85CC}"/>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20</a:t>
            </a:fld>
            <a:endParaRPr lang="en-US" dirty="0"/>
          </a:p>
        </p:txBody>
      </p:sp>
      <p:sp>
        <p:nvSpPr>
          <p:cNvPr id="4" name="object 5">
            <a:extLst>
              <a:ext uri="{FF2B5EF4-FFF2-40B4-BE49-F238E27FC236}">
                <a16:creationId xmlns:a16="http://schemas.microsoft.com/office/drawing/2014/main" id="{003E0648-5148-4EB5-A4C3-1ADB37381B75}"/>
              </a:ext>
            </a:extLst>
          </p:cNvPr>
          <p:cNvSpPr/>
          <p:nvPr/>
        </p:nvSpPr>
        <p:spPr>
          <a:xfrm>
            <a:off x="5181600" y="2362200"/>
            <a:ext cx="4274820" cy="3810000"/>
          </a:xfrm>
          <a:prstGeom prst="rect">
            <a:avLst/>
          </a:prstGeom>
          <a:blipFill>
            <a:blip r:embed="rId2" cstate="print"/>
            <a:stretch>
              <a:fillRect/>
            </a:stretch>
          </a:blipFill>
        </p:spPr>
        <p:txBody>
          <a:bodyPr wrap="square" lIns="0" tIns="0" rIns="0" bIns="0" rtlCol="0"/>
          <a:lstStyle/>
          <a:p>
            <a:endParaRPr sz="1391" dirty="0"/>
          </a:p>
        </p:txBody>
      </p:sp>
      <p:sp>
        <p:nvSpPr>
          <p:cNvPr id="6" name="Date Placeholder 5">
            <a:extLst>
              <a:ext uri="{FF2B5EF4-FFF2-40B4-BE49-F238E27FC236}">
                <a16:creationId xmlns:a16="http://schemas.microsoft.com/office/drawing/2014/main" id="{56745539-F839-49B5-BB71-C5293956CE28}"/>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751BC0B1-ED07-4053-BC74-36170F117A0A}"/>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4129183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EBB706-0AAB-478B-81CB-4A902BF91A5D}"/>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Amplify:</a:t>
            </a:r>
          </a:p>
          <a:p>
            <a:pPr lvl="1"/>
            <a:r>
              <a:rPr lang="en-US" sz="2180" dirty="0">
                <a:latin typeface="Arial" panose="020B0604020202020204" pitchFamily="34" charset="0"/>
                <a:cs typeface="Arial" panose="020B0604020202020204" pitchFamily="34" charset="0"/>
              </a:rPr>
              <a:t>S2, S3: open</a:t>
            </a:r>
          </a:p>
          <a:p>
            <a:pPr lvl="1"/>
            <a:r>
              <a:rPr lang="en-US" sz="2180" dirty="0">
                <a:latin typeface="Arial" panose="020B0604020202020204" pitchFamily="34" charset="0"/>
                <a:cs typeface="Arial" panose="020B0604020202020204" pitchFamily="34" charset="0"/>
              </a:rPr>
              <a:t>S1: closed</a:t>
            </a:r>
          </a:p>
          <a:p>
            <a:endParaRPr lang="en-GB" sz="24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18BE5BB-91CF-4814-B377-BFACA82AC489}"/>
              </a:ext>
            </a:extLst>
          </p:cNvPr>
          <p:cNvSpPr>
            <a:spLocks noGrp="1"/>
          </p:cNvSpPr>
          <p:nvPr>
            <p:ph type="title"/>
          </p:nvPr>
        </p:nvSpPr>
        <p:spPr/>
        <p:txBody>
          <a:bodyPr/>
          <a:lstStyle/>
          <a:p>
            <a:r>
              <a:rPr lang="en-GB" dirty="0"/>
              <a:t>Input Series Cancellation</a:t>
            </a:r>
          </a:p>
        </p:txBody>
      </p:sp>
      <p:sp>
        <p:nvSpPr>
          <p:cNvPr id="5" name="Slide Number Placeholder 4">
            <a:extLst>
              <a:ext uri="{FF2B5EF4-FFF2-40B4-BE49-F238E27FC236}">
                <a16:creationId xmlns:a16="http://schemas.microsoft.com/office/drawing/2014/main" id="{BB667CE0-0940-4067-B933-4C6125CB9A95}"/>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21</a:t>
            </a:fld>
            <a:endParaRPr lang="en-US" dirty="0"/>
          </a:p>
        </p:txBody>
      </p:sp>
      <p:sp>
        <p:nvSpPr>
          <p:cNvPr id="4" name="object 13">
            <a:extLst>
              <a:ext uri="{FF2B5EF4-FFF2-40B4-BE49-F238E27FC236}">
                <a16:creationId xmlns:a16="http://schemas.microsoft.com/office/drawing/2014/main" id="{383C1E2D-6727-4B03-8C34-7F1AFA65DE0E}"/>
              </a:ext>
            </a:extLst>
          </p:cNvPr>
          <p:cNvSpPr/>
          <p:nvPr/>
        </p:nvSpPr>
        <p:spPr>
          <a:xfrm>
            <a:off x="3810000" y="2343302"/>
            <a:ext cx="5257800" cy="4590898"/>
          </a:xfrm>
          <a:prstGeom prst="rect">
            <a:avLst/>
          </a:prstGeom>
          <a:blipFill>
            <a:blip r:embed="rId2" cstate="print"/>
            <a:stretch>
              <a:fillRect/>
            </a:stretch>
          </a:blipFill>
        </p:spPr>
        <p:txBody>
          <a:bodyPr wrap="square" lIns="0" tIns="0" rIns="0" bIns="0" rtlCol="0"/>
          <a:lstStyle/>
          <a:p>
            <a:endParaRPr sz="1391" dirty="0"/>
          </a:p>
        </p:txBody>
      </p:sp>
      <p:sp>
        <p:nvSpPr>
          <p:cNvPr id="6" name="Date Placeholder 5">
            <a:extLst>
              <a:ext uri="{FF2B5EF4-FFF2-40B4-BE49-F238E27FC236}">
                <a16:creationId xmlns:a16="http://schemas.microsoft.com/office/drawing/2014/main" id="{0AFCEB9A-FD7F-41DE-AEFE-F27CBE84F9D2}"/>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417523DF-1DC3-4830-A9BD-056BC7F3BA05}"/>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106743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A80DC9-4D68-4381-9349-2055C50E4603}"/>
              </a:ext>
            </a:extLst>
          </p:cNvPr>
          <p:cNvSpPr>
            <a:spLocks noGrp="1"/>
          </p:cNvSpPr>
          <p:nvPr>
            <p:ph sz="quarter" idx="1"/>
          </p:nvPr>
        </p:nvSpPr>
        <p:spPr/>
        <p:txBody>
          <a:bodyPr>
            <a:normAutofit/>
          </a:bodyPr>
          <a:lstStyle/>
          <a:p>
            <a:r>
              <a:rPr lang="en-US" sz="2400" dirty="0">
                <a:latin typeface="Symbol"/>
                <a:cs typeface="Symbol"/>
              </a:rPr>
              <a:t></a:t>
            </a:r>
            <a:r>
              <a:rPr lang="en-US" sz="2400" baseline="-23148" dirty="0">
                <a:latin typeface="Arial"/>
                <a:cs typeface="Arial"/>
              </a:rPr>
              <a:t>2</a:t>
            </a:r>
            <a:r>
              <a:rPr lang="en-US" sz="2400" dirty="0">
                <a:latin typeface="Arial"/>
                <a:cs typeface="Arial"/>
              </a:rPr>
              <a:t>:</a:t>
            </a:r>
            <a:r>
              <a:rPr lang="en-US" sz="2400" baseline="-23148" dirty="0">
                <a:latin typeface="Arial"/>
                <a:cs typeface="Arial"/>
              </a:rPr>
              <a:t> </a:t>
            </a:r>
            <a:r>
              <a:rPr lang="en-US" sz="2400" spc="-12" dirty="0">
                <a:latin typeface="Arial"/>
                <a:cs typeface="Arial"/>
              </a:rPr>
              <a:t>charge </a:t>
            </a:r>
            <a:r>
              <a:rPr lang="en-US" sz="2400" spc="-4" dirty="0">
                <a:latin typeface="Arial"/>
                <a:cs typeface="Arial"/>
              </a:rPr>
              <a:t>injection associated with opening of</a:t>
            </a:r>
            <a:r>
              <a:rPr lang="en-US" sz="2400" dirty="0">
                <a:latin typeface="Arial"/>
                <a:cs typeface="Arial"/>
              </a:rPr>
              <a:t> </a:t>
            </a:r>
            <a:r>
              <a:rPr lang="en-US" sz="2400" spc="-4" dirty="0">
                <a:latin typeface="Arial"/>
                <a:cs typeface="Arial"/>
              </a:rPr>
              <a:t>S4</a:t>
            </a:r>
            <a:endParaRPr lang="en-US" sz="2400" dirty="0">
              <a:latin typeface="Arial"/>
              <a:cs typeface="Arial"/>
            </a:endParaRPr>
          </a:p>
          <a:p>
            <a:endParaRPr lang="en-GB" sz="2400" dirty="0"/>
          </a:p>
        </p:txBody>
      </p:sp>
      <p:sp>
        <p:nvSpPr>
          <p:cNvPr id="2" name="Title 1">
            <a:extLst>
              <a:ext uri="{FF2B5EF4-FFF2-40B4-BE49-F238E27FC236}">
                <a16:creationId xmlns:a16="http://schemas.microsoft.com/office/drawing/2014/main" id="{445A678F-C625-4476-A34F-7D17EE40AF07}"/>
              </a:ext>
            </a:extLst>
          </p:cNvPr>
          <p:cNvSpPr>
            <a:spLocks noGrp="1"/>
          </p:cNvSpPr>
          <p:nvPr>
            <p:ph type="title"/>
          </p:nvPr>
        </p:nvSpPr>
        <p:spPr/>
        <p:txBody>
          <a:bodyPr/>
          <a:lstStyle/>
          <a:p>
            <a:r>
              <a:rPr lang="en-GB" dirty="0"/>
              <a:t>Cascaded Input Series Cancellation</a:t>
            </a:r>
          </a:p>
        </p:txBody>
      </p:sp>
      <p:sp>
        <p:nvSpPr>
          <p:cNvPr id="6" name="Slide Number Placeholder 5">
            <a:extLst>
              <a:ext uri="{FF2B5EF4-FFF2-40B4-BE49-F238E27FC236}">
                <a16:creationId xmlns:a16="http://schemas.microsoft.com/office/drawing/2014/main" id="{26C578FF-CB87-4B03-8FE4-7E103230FA8F}"/>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22</a:t>
            </a:fld>
            <a:endParaRPr lang="en-US" dirty="0"/>
          </a:p>
        </p:txBody>
      </p:sp>
      <p:sp>
        <p:nvSpPr>
          <p:cNvPr id="4" name="object 6">
            <a:extLst>
              <a:ext uri="{FF2B5EF4-FFF2-40B4-BE49-F238E27FC236}">
                <a16:creationId xmlns:a16="http://schemas.microsoft.com/office/drawing/2014/main" id="{008F54D1-C384-4802-8C83-CE8F4C0BA0B9}"/>
              </a:ext>
            </a:extLst>
          </p:cNvPr>
          <p:cNvSpPr/>
          <p:nvPr/>
        </p:nvSpPr>
        <p:spPr>
          <a:xfrm>
            <a:off x="754380" y="3048000"/>
            <a:ext cx="3817620" cy="2209799"/>
          </a:xfrm>
          <a:prstGeom prst="rect">
            <a:avLst/>
          </a:prstGeom>
          <a:blipFill>
            <a:blip r:embed="rId2" cstate="print"/>
            <a:stretch>
              <a:fillRect/>
            </a:stretch>
          </a:blipFill>
        </p:spPr>
        <p:txBody>
          <a:bodyPr wrap="square" lIns="0" tIns="0" rIns="0" bIns="0" rtlCol="0"/>
          <a:lstStyle/>
          <a:p>
            <a:endParaRPr sz="1391" dirty="0"/>
          </a:p>
        </p:txBody>
      </p:sp>
      <p:sp>
        <p:nvSpPr>
          <p:cNvPr id="5" name="object 9">
            <a:extLst>
              <a:ext uri="{FF2B5EF4-FFF2-40B4-BE49-F238E27FC236}">
                <a16:creationId xmlns:a16="http://schemas.microsoft.com/office/drawing/2014/main" id="{159F8FEA-39B9-484F-815F-EE4C5DCD1B9C}"/>
              </a:ext>
            </a:extLst>
          </p:cNvPr>
          <p:cNvSpPr/>
          <p:nvPr/>
        </p:nvSpPr>
        <p:spPr>
          <a:xfrm>
            <a:off x="4735283" y="2286000"/>
            <a:ext cx="4865917" cy="3429000"/>
          </a:xfrm>
          <a:prstGeom prst="rect">
            <a:avLst/>
          </a:prstGeom>
          <a:blipFill>
            <a:blip r:embed="rId3" cstate="print"/>
            <a:stretch>
              <a:fillRect/>
            </a:stretch>
          </a:blipFill>
        </p:spPr>
        <p:txBody>
          <a:bodyPr wrap="square" lIns="0" tIns="0" rIns="0" bIns="0" rtlCol="0"/>
          <a:lstStyle/>
          <a:p>
            <a:endParaRPr sz="1391" dirty="0"/>
          </a:p>
        </p:txBody>
      </p:sp>
      <p:sp>
        <p:nvSpPr>
          <p:cNvPr id="7" name="Date Placeholder 6">
            <a:extLst>
              <a:ext uri="{FF2B5EF4-FFF2-40B4-BE49-F238E27FC236}">
                <a16:creationId xmlns:a16="http://schemas.microsoft.com/office/drawing/2014/main" id="{FCD46AA3-7DED-4D1B-95D6-21ABE363290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B32EAE8E-79A8-413E-8C57-FAD1EB44F086}"/>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177609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63150-C422-432F-A527-A68140544B28}"/>
              </a:ext>
            </a:extLst>
          </p:cNvPr>
          <p:cNvSpPr>
            <a:spLocks noGrp="1"/>
          </p:cNvSpPr>
          <p:nvPr>
            <p:ph sz="quarter" idx="1"/>
          </p:nvPr>
        </p:nvSpPr>
        <p:spPr/>
        <p:txBody>
          <a:bodyPr>
            <a:normAutofit/>
          </a:bodyPr>
          <a:lstStyle/>
          <a:p>
            <a:r>
              <a:rPr lang="en-US" sz="2800" dirty="0">
                <a:latin typeface="Arial" panose="020B0604020202020204" pitchFamily="34" charset="0"/>
                <a:cs typeface="Arial" panose="020B0604020202020204" pitchFamily="34" charset="0"/>
              </a:rPr>
              <a:t>Advantages:</a:t>
            </a:r>
          </a:p>
          <a:p>
            <a:pPr lvl="1"/>
            <a:r>
              <a:rPr lang="en-US" sz="2580" dirty="0">
                <a:latin typeface="Arial" panose="020B0604020202020204" pitchFamily="34" charset="0"/>
                <a:cs typeface="Arial" panose="020B0604020202020204" pitchFamily="34" charset="0"/>
              </a:rPr>
              <a:t>In applications such as C-array successive approximation ADCs can use C-array to store offset</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Disadvantages:</a:t>
            </a:r>
          </a:p>
          <a:p>
            <a:pPr lvl="1"/>
            <a:r>
              <a:rPr lang="en-US" sz="2580" dirty="0">
                <a:latin typeface="Arial" panose="020B0604020202020204" pitchFamily="34" charset="0"/>
                <a:cs typeface="Arial" panose="020B0604020202020204" pitchFamily="34" charset="0"/>
              </a:rPr>
              <a:t>Cancellation not complete</a:t>
            </a:r>
          </a:p>
          <a:p>
            <a:pPr lvl="1"/>
            <a:r>
              <a:rPr lang="en-US" sz="2580" dirty="0">
                <a:latin typeface="Arial" panose="020B0604020202020204" pitchFamily="34" charset="0"/>
                <a:cs typeface="Arial" panose="020B0604020202020204" pitchFamily="34" charset="0"/>
              </a:rPr>
              <a:t>Requires closed loop stability</a:t>
            </a:r>
          </a:p>
          <a:p>
            <a:pPr lvl="1"/>
            <a:r>
              <a:rPr lang="en-US" sz="2580" dirty="0">
                <a:latin typeface="Arial" panose="020B0604020202020204" pitchFamily="34" charset="0"/>
                <a:cs typeface="Arial" panose="020B0604020202020204" pitchFamily="34" charset="0"/>
              </a:rPr>
              <a:t>Offset storage C in the signal path, could slow down overall performance</a:t>
            </a:r>
          </a:p>
          <a:p>
            <a:endParaRPr lang="en-GB" sz="28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5DE2A85-63EE-4099-8328-44518ED9A4B2}"/>
              </a:ext>
            </a:extLst>
          </p:cNvPr>
          <p:cNvSpPr>
            <a:spLocks noGrp="1"/>
          </p:cNvSpPr>
          <p:nvPr>
            <p:ph type="title"/>
          </p:nvPr>
        </p:nvSpPr>
        <p:spPr/>
        <p:txBody>
          <a:bodyPr/>
          <a:lstStyle/>
          <a:p>
            <a:r>
              <a:rPr lang="en-GB" dirty="0"/>
              <a:t>Input Series Cancellation</a:t>
            </a:r>
          </a:p>
        </p:txBody>
      </p:sp>
      <p:sp>
        <p:nvSpPr>
          <p:cNvPr id="4" name="Slide Number Placeholder 3">
            <a:extLst>
              <a:ext uri="{FF2B5EF4-FFF2-40B4-BE49-F238E27FC236}">
                <a16:creationId xmlns:a16="http://schemas.microsoft.com/office/drawing/2014/main" id="{CE24255F-050C-4E37-8B36-980DA11DA626}"/>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23</a:t>
            </a:fld>
            <a:endParaRPr lang="en-US" dirty="0"/>
          </a:p>
        </p:txBody>
      </p:sp>
      <p:sp>
        <p:nvSpPr>
          <p:cNvPr id="5" name="Date Placeholder 4">
            <a:extLst>
              <a:ext uri="{FF2B5EF4-FFF2-40B4-BE49-F238E27FC236}">
                <a16:creationId xmlns:a16="http://schemas.microsoft.com/office/drawing/2014/main" id="{11FF34DA-C977-4272-947B-3D179DF64A8E}"/>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6AC4C0A4-C02E-4DFB-92ED-2888B67FB501}"/>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957551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BDFDBE-0000-42CA-83A6-600A155586EF}"/>
              </a:ext>
            </a:extLst>
          </p:cNvPr>
          <p:cNvSpPr>
            <a:spLocks noGrp="1"/>
          </p:cNvSpPr>
          <p:nvPr>
            <p:ph sz="quarter" idx="1"/>
          </p:nvPr>
        </p:nvSpPr>
        <p:spPr/>
        <p:txBody>
          <a:bodyPr>
            <a:normAutofit fontScale="92500" lnSpcReduction="10000"/>
          </a:bodyPr>
          <a:lstStyle/>
          <a:p>
            <a:r>
              <a:rPr lang="en-US" dirty="0">
                <a:latin typeface="Arial" panose="020B0604020202020204" pitchFamily="34" charset="0"/>
                <a:cs typeface="Arial" panose="020B0604020202020204" pitchFamily="34" charset="0"/>
              </a:rPr>
              <a:t>Fully differential gain stages: 1</a:t>
            </a:r>
            <a:r>
              <a:rPr lang="en-US" baseline="30000" dirty="0">
                <a:latin typeface="Arial" panose="020B0604020202020204" pitchFamily="34" charset="0"/>
                <a:cs typeface="Arial" panose="020B0604020202020204" pitchFamily="34" charset="0"/>
              </a:rPr>
              <a:t>st</a:t>
            </a:r>
            <a:r>
              <a:rPr lang="en-US" dirty="0">
                <a:latin typeface="Arial" panose="020B0604020202020204" pitchFamily="34" charset="0"/>
                <a:cs typeface="Arial" panose="020B0604020202020204" pitchFamily="34" charset="0"/>
              </a:rPr>
              <a:t> order cancellation of switch feedthrough offset</a:t>
            </a:r>
          </a:p>
          <a:p>
            <a:r>
              <a:rPr lang="en-US" dirty="0">
                <a:latin typeface="Arial" panose="020B0604020202020204" pitchFamily="34" charset="0"/>
                <a:cs typeface="Arial" panose="020B0604020202020204" pitchFamily="34" charset="0"/>
              </a:rPr>
              <a:t>Output series offset cancellation</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Input series offset cancellation</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Combined input &amp; output series </a:t>
            </a:r>
          </a:p>
          <a:p>
            <a:pPr marL="0" indent="0">
              <a:buNone/>
            </a:pPr>
            <a:r>
              <a:rPr lang="en-US" dirty="0">
                <a:latin typeface="Arial" panose="020B0604020202020204" pitchFamily="34" charset="0"/>
                <a:cs typeface="Arial" panose="020B0604020202020204" pitchFamily="34" charset="0"/>
              </a:rPr>
              <a:t>   offset cancellation</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EF3BBF64-E37F-4B31-8566-59D2C71BC298}"/>
              </a:ext>
            </a:extLst>
          </p:cNvPr>
          <p:cNvSpPr>
            <a:spLocks noGrp="1"/>
          </p:cNvSpPr>
          <p:nvPr>
            <p:ph type="title"/>
          </p:nvPr>
        </p:nvSpPr>
        <p:spPr/>
        <p:txBody>
          <a:bodyPr>
            <a:normAutofit/>
          </a:bodyPr>
          <a:lstStyle/>
          <a:p>
            <a:r>
              <a:rPr lang="en-US" dirty="0"/>
              <a:t>Cascade of Gain Stages</a:t>
            </a:r>
            <a:endParaRPr lang="en-GB" dirty="0"/>
          </a:p>
        </p:txBody>
      </p:sp>
      <p:sp>
        <p:nvSpPr>
          <p:cNvPr id="7" name="Slide Number Placeholder 6">
            <a:extLst>
              <a:ext uri="{FF2B5EF4-FFF2-40B4-BE49-F238E27FC236}">
                <a16:creationId xmlns:a16="http://schemas.microsoft.com/office/drawing/2014/main" id="{881B735F-ACD6-465B-82DC-E781FB5B9491}"/>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24</a:t>
            </a:fld>
            <a:endParaRPr lang="en-US" dirty="0"/>
          </a:p>
        </p:txBody>
      </p:sp>
      <p:sp>
        <p:nvSpPr>
          <p:cNvPr id="4" name="object 6">
            <a:extLst>
              <a:ext uri="{FF2B5EF4-FFF2-40B4-BE49-F238E27FC236}">
                <a16:creationId xmlns:a16="http://schemas.microsoft.com/office/drawing/2014/main" id="{39B7DA13-D34B-42D3-8FD3-63D836C592E7}"/>
              </a:ext>
            </a:extLst>
          </p:cNvPr>
          <p:cNvSpPr/>
          <p:nvPr/>
        </p:nvSpPr>
        <p:spPr>
          <a:xfrm>
            <a:off x="5867400" y="3846576"/>
            <a:ext cx="3657599" cy="1716024"/>
          </a:xfrm>
          <a:prstGeom prst="rect">
            <a:avLst/>
          </a:prstGeom>
          <a:blipFill>
            <a:blip r:embed="rId2" cstate="print"/>
            <a:stretch>
              <a:fillRect/>
            </a:stretch>
          </a:blipFill>
        </p:spPr>
        <p:txBody>
          <a:bodyPr wrap="square" lIns="0" tIns="0" rIns="0" bIns="0" rtlCol="0"/>
          <a:lstStyle/>
          <a:p>
            <a:endParaRPr sz="1391" dirty="0"/>
          </a:p>
        </p:txBody>
      </p:sp>
      <p:sp>
        <p:nvSpPr>
          <p:cNvPr id="5" name="object 9">
            <a:extLst>
              <a:ext uri="{FF2B5EF4-FFF2-40B4-BE49-F238E27FC236}">
                <a16:creationId xmlns:a16="http://schemas.microsoft.com/office/drawing/2014/main" id="{730B5BC4-0863-456C-8606-CFDA50407F59}"/>
              </a:ext>
            </a:extLst>
          </p:cNvPr>
          <p:cNvSpPr/>
          <p:nvPr/>
        </p:nvSpPr>
        <p:spPr>
          <a:xfrm>
            <a:off x="5971308" y="2133600"/>
            <a:ext cx="3553691" cy="1600200"/>
          </a:xfrm>
          <a:prstGeom prst="rect">
            <a:avLst/>
          </a:prstGeom>
          <a:blipFill>
            <a:blip r:embed="rId3" cstate="print"/>
            <a:stretch>
              <a:fillRect/>
            </a:stretch>
          </a:blipFill>
        </p:spPr>
        <p:txBody>
          <a:bodyPr wrap="square" lIns="0" tIns="0" rIns="0" bIns="0" rtlCol="0"/>
          <a:lstStyle/>
          <a:p>
            <a:endParaRPr sz="1391" dirty="0"/>
          </a:p>
        </p:txBody>
      </p:sp>
      <p:sp>
        <p:nvSpPr>
          <p:cNvPr id="6" name="object 13">
            <a:extLst>
              <a:ext uri="{FF2B5EF4-FFF2-40B4-BE49-F238E27FC236}">
                <a16:creationId xmlns:a16="http://schemas.microsoft.com/office/drawing/2014/main" id="{F5E079EE-CE34-4355-8F5D-46D8A1498D63}"/>
              </a:ext>
            </a:extLst>
          </p:cNvPr>
          <p:cNvSpPr/>
          <p:nvPr/>
        </p:nvSpPr>
        <p:spPr>
          <a:xfrm>
            <a:off x="5867400" y="5578394"/>
            <a:ext cx="3657599" cy="1600200"/>
          </a:xfrm>
          <a:prstGeom prst="rect">
            <a:avLst/>
          </a:prstGeom>
          <a:blipFill>
            <a:blip r:embed="rId4" cstate="print"/>
            <a:stretch>
              <a:fillRect/>
            </a:stretch>
          </a:blipFill>
        </p:spPr>
        <p:txBody>
          <a:bodyPr wrap="square" lIns="0" tIns="0" rIns="0" bIns="0" rtlCol="0"/>
          <a:lstStyle/>
          <a:p>
            <a:endParaRPr/>
          </a:p>
        </p:txBody>
      </p:sp>
      <p:sp>
        <p:nvSpPr>
          <p:cNvPr id="8" name="Date Placeholder 7">
            <a:extLst>
              <a:ext uri="{FF2B5EF4-FFF2-40B4-BE49-F238E27FC236}">
                <a16:creationId xmlns:a16="http://schemas.microsoft.com/office/drawing/2014/main" id="{5AF34868-33F4-40F7-A8C0-4F821C1D9139}"/>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9" name="Footer Placeholder 8">
            <a:extLst>
              <a:ext uri="{FF2B5EF4-FFF2-40B4-BE49-F238E27FC236}">
                <a16:creationId xmlns:a16="http://schemas.microsoft.com/office/drawing/2014/main" id="{C1AF3192-BCD6-44D8-9CD6-A1D4B96A0F9D}"/>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363866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Content Placeholder 78">
            <a:extLst>
              <a:ext uri="{FF2B5EF4-FFF2-40B4-BE49-F238E27FC236}">
                <a16:creationId xmlns:a16="http://schemas.microsoft.com/office/drawing/2014/main" id="{09F03E18-F12D-4A1D-A033-EA1B1992E2B6}"/>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Compares two input voltages  at time </a:t>
            </a:r>
            <a:r>
              <a:rPr lang="en-US" sz="2400" i="1" dirty="0" err="1">
                <a:latin typeface="Arial" panose="020B0604020202020204" pitchFamily="34" charset="0"/>
                <a:cs typeface="Arial" panose="020B0604020202020204" pitchFamily="34" charset="0"/>
              </a:rPr>
              <a:t>t</a:t>
            </a:r>
            <a:r>
              <a:rPr lang="en-US" sz="2400" i="1" baseline="-25000" dirty="0" err="1">
                <a:latin typeface="Arial" panose="020B0604020202020204" pitchFamily="34" charset="0"/>
                <a:cs typeface="Arial" panose="020B0604020202020204" pitchFamily="34" charset="0"/>
              </a:rPr>
              <a:t>x</a:t>
            </a:r>
            <a:r>
              <a:rPr lang="en-US" sz="2400" dirty="0">
                <a:latin typeface="Arial" panose="020B0604020202020204" pitchFamily="34" charset="0"/>
                <a:cs typeface="Arial" panose="020B0604020202020204" pitchFamily="34" charset="0"/>
              </a:rPr>
              <a:t> &amp; generates a digital  output:</a:t>
            </a:r>
          </a:p>
          <a:p>
            <a:pPr lvl="1"/>
            <a:r>
              <a:rPr lang="en-US" sz="2400" dirty="0">
                <a:latin typeface="Arial" panose="020B0604020202020204" pitchFamily="34" charset="0"/>
                <a:cs typeface="Arial" panose="020B0604020202020204" pitchFamily="34" charset="0"/>
              </a:rPr>
              <a:t>If  V</a:t>
            </a:r>
            <a:r>
              <a:rPr lang="en-US" sz="2400" baseline="-25000" dirty="0">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 &gt; V</a:t>
            </a:r>
            <a:r>
              <a:rPr lang="en-US" sz="2400" baseline="-25000" dirty="0">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 =&gt; V</a:t>
            </a:r>
            <a:r>
              <a:rPr lang="en-US" sz="2400" baseline="-25000" dirty="0">
                <a:latin typeface="Arial" panose="020B0604020202020204" pitchFamily="34" charset="0"/>
                <a:cs typeface="Arial" panose="020B0604020202020204" pitchFamily="34" charset="0"/>
              </a:rPr>
              <a:t>out</a:t>
            </a:r>
            <a:r>
              <a:rPr lang="en-US" sz="2400" dirty="0">
                <a:latin typeface="Arial" panose="020B0604020202020204" pitchFamily="34" charset="0"/>
                <a:cs typeface="Arial" panose="020B0604020202020204" pitchFamily="34" charset="0"/>
              </a:rPr>
              <a:t> = “1”</a:t>
            </a:r>
          </a:p>
          <a:p>
            <a:pPr lvl="1"/>
            <a:r>
              <a:rPr lang="en-US" sz="2400" dirty="0">
                <a:latin typeface="Arial" panose="020B0604020202020204" pitchFamily="34" charset="0"/>
                <a:cs typeface="Arial" panose="020B0604020202020204" pitchFamily="34" charset="0"/>
              </a:rPr>
              <a:t>If  V</a:t>
            </a:r>
            <a:r>
              <a:rPr lang="en-US" sz="2400" baseline="-25000" dirty="0">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 &lt; V</a:t>
            </a:r>
            <a:r>
              <a:rPr lang="en-US" sz="2400" baseline="-25000" dirty="0">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 =&gt; V</a:t>
            </a:r>
            <a:r>
              <a:rPr lang="en-US" sz="2400" baseline="-25000" dirty="0">
                <a:latin typeface="Arial" panose="020B0604020202020204" pitchFamily="34" charset="0"/>
                <a:cs typeface="Arial" panose="020B0604020202020204" pitchFamily="34" charset="0"/>
              </a:rPr>
              <a:t>out</a:t>
            </a:r>
            <a:r>
              <a:rPr lang="en-US" sz="2400" dirty="0">
                <a:latin typeface="Arial" panose="020B0604020202020204" pitchFamily="34" charset="0"/>
                <a:cs typeface="Arial" panose="020B0604020202020204" pitchFamily="34" charset="0"/>
              </a:rPr>
              <a:t> = “0”</a:t>
            </a:r>
          </a:p>
        </p:txBody>
      </p:sp>
      <p:sp>
        <p:nvSpPr>
          <p:cNvPr id="67" name="Title 66">
            <a:extLst>
              <a:ext uri="{FF2B5EF4-FFF2-40B4-BE49-F238E27FC236}">
                <a16:creationId xmlns:a16="http://schemas.microsoft.com/office/drawing/2014/main" id="{0912C62D-B744-4760-9243-9D4597854D36}"/>
              </a:ext>
            </a:extLst>
          </p:cNvPr>
          <p:cNvSpPr>
            <a:spLocks noGrp="1"/>
          </p:cNvSpPr>
          <p:nvPr>
            <p:ph type="title"/>
          </p:nvPr>
        </p:nvSpPr>
        <p:spPr/>
        <p:txBody>
          <a:bodyPr/>
          <a:lstStyle/>
          <a:p>
            <a:r>
              <a:rPr lang="en-GB" dirty="0"/>
              <a:t>Latched Comparators</a:t>
            </a:r>
          </a:p>
        </p:txBody>
      </p:sp>
      <p:sp>
        <p:nvSpPr>
          <p:cNvPr id="2" name="Slide Number Placeholder 1">
            <a:extLst>
              <a:ext uri="{FF2B5EF4-FFF2-40B4-BE49-F238E27FC236}">
                <a16:creationId xmlns:a16="http://schemas.microsoft.com/office/drawing/2014/main" id="{351EB17D-1DC8-483F-A7E5-B74CBFA95958}"/>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25</a:t>
            </a:fld>
            <a:endParaRPr lang="en-US" dirty="0"/>
          </a:p>
        </p:txBody>
      </p:sp>
      <p:pic>
        <p:nvPicPr>
          <p:cNvPr id="69" name="Picture 68">
            <a:extLst>
              <a:ext uri="{FF2B5EF4-FFF2-40B4-BE49-F238E27FC236}">
                <a16:creationId xmlns:a16="http://schemas.microsoft.com/office/drawing/2014/main" id="{0F9655F1-390C-4885-BE24-BA7133EE759B}"/>
              </a:ext>
            </a:extLst>
          </p:cNvPr>
          <p:cNvPicPr>
            <a:picLocks noChangeAspect="1"/>
          </p:cNvPicPr>
          <p:nvPr/>
        </p:nvPicPr>
        <p:blipFill>
          <a:blip r:embed="rId2"/>
          <a:stretch>
            <a:fillRect/>
          </a:stretch>
        </p:blipFill>
        <p:spPr>
          <a:xfrm>
            <a:off x="5029200" y="2286000"/>
            <a:ext cx="4242887" cy="4370014"/>
          </a:xfrm>
          <a:prstGeom prst="rect">
            <a:avLst/>
          </a:prstGeom>
        </p:spPr>
      </p:pic>
      <p:pic>
        <p:nvPicPr>
          <p:cNvPr id="78" name="Picture 77">
            <a:extLst>
              <a:ext uri="{FF2B5EF4-FFF2-40B4-BE49-F238E27FC236}">
                <a16:creationId xmlns:a16="http://schemas.microsoft.com/office/drawing/2014/main" id="{17D1644D-DD58-4082-972C-C7F98900528B}"/>
              </a:ext>
            </a:extLst>
          </p:cNvPr>
          <p:cNvPicPr>
            <a:picLocks noChangeAspect="1"/>
          </p:cNvPicPr>
          <p:nvPr/>
        </p:nvPicPr>
        <p:blipFill>
          <a:blip r:embed="rId3"/>
          <a:stretch>
            <a:fillRect/>
          </a:stretch>
        </p:blipFill>
        <p:spPr>
          <a:xfrm>
            <a:off x="754380" y="4244619"/>
            <a:ext cx="3994238" cy="2156181"/>
          </a:xfrm>
          <a:prstGeom prst="rect">
            <a:avLst/>
          </a:prstGeom>
        </p:spPr>
      </p:pic>
      <p:sp>
        <p:nvSpPr>
          <p:cNvPr id="3" name="Date Placeholder 2">
            <a:extLst>
              <a:ext uri="{FF2B5EF4-FFF2-40B4-BE49-F238E27FC236}">
                <a16:creationId xmlns:a16="http://schemas.microsoft.com/office/drawing/2014/main" id="{ADD163BC-77BC-4E8A-AC68-2E0D4B7C7CB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F848D308-7997-4FF3-BF2D-FFAE8E8B4579}"/>
              </a:ext>
            </a:extLst>
          </p:cNvPr>
          <p:cNvSpPr>
            <a:spLocks noGrp="1"/>
          </p:cNvSpPr>
          <p:nvPr>
            <p:ph type="ftr" sz="quarter" idx="11"/>
          </p:nvPr>
        </p:nvSpPr>
        <p:spPr/>
        <p:txBody>
          <a:bodyPr/>
          <a:lstStyle/>
          <a:p>
            <a:r>
              <a:rPr lang="en-US"/>
              <a:t>DN, 2020</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86520E-1FD1-40C0-84C5-9BF35E231E6C}"/>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Comparator amplification need not be linear =&gt; can use a latch =&gt; regeneration</a:t>
            </a:r>
          </a:p>
          <a:p>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Latch =&gt; Amplification + positive feedback</a:t>
            </a:r>
          </a:p>
          <a:p>
            <a:endParaRPr lang="en-US" sz="2800" dirty="0">
              <a:latin typeface="Arial" panose="020B0604020202020204" pitchFamily="34" charset="0"/>
              <a:cs typeface="Arial" panose="020B0604020202020204" pitchFamily="34" charset="0"/>
            </a:endParaRPr>
          </a:p>
          <a:p>
            <a:endParaRPr lang="en-GB" sz="28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C68C83F8-0A07-499F-8956-2BFCD0F3C4BB}"/>
              </a:ext>
            </a:extLst>
          </p:cNvPr>
          <p:cNvSpPr>
            <a:spLocks noGrp="1"/>
          </p:cNvSpPr>
          <p:nvPr>
            <p:ph type="title"/>
          </p:nvPr>
        </p:nvSpPr>
        <p:spPr/>
        <p:txBody>
          <a:bodyPr/>
          <a:lstStyle/>
          <a:p>
            <a:r>
              <a:rPr lang="en-GB" dirty="0"/>
              <a:t>Latched Comparators</a:t>
            </a:r>
          </a:p>
        </p:txBody>
      </p:sp>
      <p:sp>
        <p:nvSpPr>
          <p:cNvPr id="5" name="Slide Number Placeholder 4">
            <a:extLst>
              <a:ext uri="{FF2B5EF4-FFF2-40B4-BE49-F238E27FC236}">
                <a16:creationId xmlns:a16="http://schemas.microsoft.com/office/drawing/2014/main" id="{D7368DA3-5261-4009-9158-77529AB4EABE}"/>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26</a:t>
            </a:fld>
            <a:endParaRPr lang="en-US" dirty="0"/>
          </a:p>
        </p:txBody>
      </p:sp>
      <p:pic>
        <p:nvPicPr>
          <p:cNvPr id="4" name="Picture 3">
            <a:extLst>
              <a:ext uri="{FF2B5EF4-FFF2-40B4-BE49-F238E27FC236}">
                <a16:creationId xmlns:a16="http://schemas.microsoft.com/office/drawing/2014/main" id="{50E9D1F1-CEAE-4758-8314-3EFBE1A9B28C}"/>
              </a:ext>
            </a:extLst>
          </p:cNvPr>
          <p:cNvPicPr>
            <a:picLocks noChangeAspect="1"/>
          </p:cNvPicPr>
          <p:nvPr/>
        </p:nvPicPr>
        <p:blipFill>
          <a:blip r:embed="rId2"/>
          <a:stretch>
            <a:fillRect/>
          </a:stretch>
        </p:blipFill>
        <p:spPr>
          <a:xfrm>
            <a:off x="754380" y="3352800"/>
            <a:ext cx="8470240" cy="1894061"/>
          </a:xfrm>
          <a:prstGeom prst="rect">
            <a:avLst/>
          </a:prstGeom>
        </p:spPr>
      </p:pic>
      <p:sp>
        <p:nvSpPr>
          <p:cNvPr id="6" name="Date Placeholder 5">
            <a:extLst>
              <a:ext uri="{FF2B5EF4-FFF2-40B4-BE49-F238E27FC236}">
                <a16:creationId xmlns:a16="http://schemas.microsoft.com/office/drawing/2014/main" id="{38ACFD82-4C72-4211-A5D6-762D2B0C6BB1}"/>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CE3761DB-E980-4875-96C3-DD8C3ADD6E5A}"/>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72214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26D10B-BA6A-4E91-94D6-2077439DF07A}"/>
              </a:ext>
            </a:extLst>
          </p:cNvPr>
          <p:cNvSpPr>
            <a:spLocks noGrp="1"/>
          </p:cNvSpPr>
          <p:nvPr>
            <p:ph type="title"/>
          </p:nvPr>
        </p:nvSpPr>
        <p:spPr/>
        <p:txBody>
          <a:bodyPr/>
          <a:lstStyle/>
          <a:p>
            <a:r>
              <a:rPr lang="en-GB" dirty="0"/>
              <a:t>Simplest Form of Latch</a:t>
            </a:r>
          </a:p>
        </p:txBody>
      </p:sp>
      <p:sp>
        <p:nvSpPr>
          <p:cNvPr id="3" name="Slide Number Placeholder 2">
            <a:extLst>
              <a:ext uri="{FF2B5EF4-FFF2-40B4-BE49-F238E27FC236}">
                <a16:creationId xmlns:a16="http://schemas.microsoft.com/office/drawing/2014/main" id="{035C5AA5-05C5-49DA-AC33-F98341D9AFAC}"/>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27</a:t>
            </a:fld>
            <a:endParaRPr lang="en-US" dirty="0"/>
          </a:p>
        </p:txBody>
      </p:sp>
      <p:pic>
        <p:nvPicPr>
          <p:cNvPr id="4" name="Picture 3">
            <a:extLst>
              <a:ext uri="{FF2B5EF4-FFF2-40B4-BE49-F238E27FC236}">
                <a16:creationId xmlns:a16="http://schemas.microsoft.com/office/drawing/2014/main" id="{BA29FF1C-B3BF-485C-8DAB-FF67CE169CFB}"/>
              </a:ext>
            </a:extLst>
          </p:cNvPr>
          <p:cNvPicPr>
            <a:picLocks noChangeAspect="1"/>
          </p:cNvPicPr>
          <p:nvPr/>
        </p:nvPicPr>
        <p:blipFill>
          <a:blip r:embed="rId2"/>
          <a:stretch>
            <a:fillRect/>
          </a:stretch>
        </p:blipFill>
        <p:spPr>
          <a:xfrm>
            <a:off x="1504298" y="2286000"/>
            <a:ext cx="7049803" cy="4176563"/>
          </a:xfrm>
          <a:prstGeom prst="rect">
            <a:avLst/>
          </a:prstGeom>
        </p:spPr>
      </p:pic>
      <p:sp>
        <p:nvSpPr>
          <p:cNvPr id="7" name="Date Placeholder 6">
            <a:extLst>
              <a:ext uri="{FF2B5EF4-FFF2-40B4-BE49-F238E27FC236}">
                <a16:creationId xmlns:a16="http://schemas.microsoft.com/office/drawing/2014/main" id="{025DF447-FBF8-4A8C-9E70-E7966C6E049D}"/>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3DB387E2-959B-4093-80CF-DA2FFD43DB39}"/>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76628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55D18AA-B980-4952-86B2-45E48C07AFBE}"/>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Active pull-up and pull-down → full CMOS logic levels</a:t>
            </a:r>
          </a:p>
          <a:p>
            <a:r>
              <a:rPr lang="en-US" sz="2400" dirty="0">
                <a:latin typeface="Arial" panose="020B0604020202020204" pitchFamily="34" charset="0"/>
                <a:cs typeface="Arial" panose="020B0604020202020204" pitchFamily="34" charset="0"/>
              </a:rPr>
              <a:t>Very fast!</a:t>
            </a:r>
          </a:p>
          <a:p>
            <a:r>
              <a:rPr lang="en-US" sz="2400" dirty="0">
                <a:latin typeface="Arial" panose="020B0604020202020204" pitchFamily="34" charset="0"/>
                <a:cs typeface="Arial" panose="020B0604020202020204" pitchFamily="34" charset="0"/>
              </a:rPr>
              <a:t>Q+ and Q- are not well defined in reset mode (Φ = 1)</a:t>
            </a:r>
          </a:p>
          <a:p>
            <a:r>
              <a:rPr lang="en-US" sz="2400" dirty="0">
                <a:latin typeface="Arial" panose="020B0604020202020204" pitchFamily="34" charset="0"/>
                <a:cs typeface="Arial" panose="020B0604020202020204" pitchFamily="34" charset="0"/>
              </a:rPr>
              <a:t>Large short-circuit current in reset mode</a:t>
            </a:r>
          </a:p>
          <a:p>
            <a:r>
              <a:rPr lang="en-US" sz="2400" dirty="0">
                <a:latin typeface="Arial" panose="020B0604020202020204" pitchFamily="34" charset="0"/>
                <a:cs typeface="Arial" panose="020B0604020202020204" pitchFamily="34" charset="0"/>
              </a:rPr>
              <a:t>Zero DC current after full regeneration</a:t>
            </a:r>
          </a:p>
          <a:p>
            <a:r>
              <a:rPr lang="en-US" sz="2400" dirty="0">
                <a:latin typeface="Arial" panose="020B0604020202020204" pitchFamily="34" charset="0"/>
                <a:cs typeface="Arial" panose="020B0604020202020204" pitchFamily="34" charset="0"/>
              </a:rPr>
              <a:t>Very noisy</a:t>
            </a:r>
          </a:p>
        </p:txBody>
      </p:sp>
      <p:sp>
        <p:nvSpPr>
          <p:cNvPr id="2" name="Title 1"/>
          <p:cNvSpPr>
            <a:spLocks noGrp="1"/>
          </p:cNvSpPr>
          <p:nvPr>
            <p:ph type="title"/>
          </p:nvPr>
        </p:nvSpPr>
        <p:spPr/>
        <p:txBody>
          <a:bodyPr/>
          <a:lstStyle/>
          <a:p>
            <a:r>
              <a:rPr lang="en-US" dirty="0"/>
              <a:t>Static Latch</a:t>
            </a:r>
          </a:p>
        </p:txBody>
      </p:sp>
      <p:sp>
        <p:nvSpPr>
          <p:cNvPr id="3" name="Slide Number Placeholder 2">
            <a:extLst>
              <a:ext uri="{FF2B5EF4-FFF2-40B4-BE49-F238E27FC236}">
                <a16:creationId xmlns:a16="http://schemas.microsoft.com/office/drawing/2014/main" id="{9489F427-D733-4CB2-BBF1-E2AB733324E9}"/>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28</a:t>
            </a:fld>
            <a:endParaRPr lang="en-US" dirty="0"/>
          </a:p>
        </p:txBody>
      </p:sp>
      <p:sp>
        <p:nvSpPr>
          <p:cNvPr id="5" name="Rectangle 3"/>
          <p:cNvSpPr>
            <a:spLocks noChangeArrowheads="1"/>
          </p:cNvSpPr>
          <p:nvPr/>
        </p:nvSpPr>
        <p:spPr bwMode="auto">
          <a:xfrm>
            <a:off x="6118861" y="1825625"/>
            <a:ext cx="3015774" cy="4826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4953" indent="-244475">
              <a:spcBef>
                <a:spcPct val="20000"/>
              </a:spcBef>
              <a:spcAft>
                <a:spcPct val="20000"/>
              </a:spcAft>
              <a:buFontTx/>
              <a:buChar char="•"/>
            </a:pPr>
            <a:endParaRPr lang="en-US" sz="1980"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6249" y="3733800"/>
            <a:ext cx="4283551" cy="3466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a:extLst>
              <a:ext uri="{FF2B5EF4-FFF2-40B4-BE49-F238E27FC236}">
                <a16:creationId xmlns:a16="http://schemas.microsoft.com/office/drawing/2014/main" id="{B14ECD2D-8A51-454F-9099-AEF66CED6277}"/>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AEBF4892-AF9A-499F-A0E8-17D41926A377}"/>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43843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7E01A09-21B1-4084-8412-683052962B65}"/>
              </a:ext>
            </a:extLst>
          </p:cNvPr>
          <p:cNvSpPr>
            <a:spLocks noGrp="1"/>
          </p:cNvSpPr>
          <p:nvPr>
            <p:ph sz="quarter" idx="1"/>
          </p:nvPr>
        </p:nvSpPr>
        <p:spPr/>
        <p:txBody>
          <a:bodyPr/>
          <a:lstStyle/>
          <a:p>
            <a:r>
              <a:rPr lang="en-US" sz="2400" dirty="0">
                <a:latin typeface="Arial" panose="020B0604020202020204" pitchFamily="34" charset="0"/>
                <a:cs typeface="Arial" panose="020B0604020202020204" pitchFamily="34" charset="0"/>
              </a:rPr>
              <a:t>Diode divider disabled in reset mode → less short-circuit current</a:t>
            </a:r>
          </a:p>
          <a:p>
            <a:r>
              <a:rPr lang="en-US" sz="2400" dirty="0">
                <a:latin typeface="Arial" panose="020B0604020202020204" pitchFamily="34" charset="0"/>
                <a:cs typeface="Arial" panose="020B0604020202020204" pitchFamily="34" charset="0"/>
              </a:rPr>
              <a:t>Pull-up not as fast</a:t>
            </a:r>
          </a:p>
          <a:p>
            <a:r>
              <a:rPr lang="en-US" sz="2400" dirty="0">
                <a:latin typeface="Arial" panose="020B0604020202020204" pitchFamily="34" charset="0"/>
                <a:cs typeface="Arial" panose="020B0604020202020204" pitchFamily="34" charset="0"/>
              </a:rPr>
              <a:t>Q+ and Q- are still not well defined in reset mode (Φ = 1)</a:t>
            </a:r>
          </a:p>
          <a:p>
            <a:r>
              <a:rPr lang="en-US" sz="2400" dirty="0">
                <a:latin typeface="Arial" panose="020B0604020202020204" pitchFamily="34" charset="0"/>
                <a:cs typeface="Arial" panose="020B0604020202020204" pitchFamily="34" charset="0"/>
              </a:rPr>
              <a:t>Zero DC current after full regeneration</a:t>
            </a:r>
          </a:p>
          <a:p>
            <a:r>
              <a:rPr lang="en-US" sz="2400" dirty="0">
                <a:latin typeface="Arial" panose="020B0604020202020204" pitchFamily="34" charset="0"/>
                <a:cs typeface="Arial" panose="020B0604020202020204" pitchFamily="34" charset="0"/>
              </a:rPr>
              <a:t>Still very noisy</a:t>
            </a:r>
          </a:p>
          <a:p>
            <a:endParaRPr lang="en-US"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p:txBody>
          <a:bodyPr/>
          <a:lstStyle/>
          <a:p>
            <a:r>
              <a:rPr lang="en-US" dirty="0"/>
              <a:t>Semi-Dynamic Latch</a:t>
            </a:r>
          </a:p>
        </p:txBody>
      </p:sp>
      <p:sp>
        <p:nvSpPr>
          <p:cNvPr id="3" name="Slide Number Placeholder 2">
            <a:extLst>
              <a:ext uri="{FF2B5EF4-FFF2-40B4-BE49-F238E27FC236}">
                <a16:creationId xmlns:a16="http://schemas.microsoft.com/office/drawing/2014/main" id="{614AEA2D-DC53-4189-BEF1-D673DE42FF8C}"/>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29</a:t>
            </a:fld>
            <a:endParaRPr lang="en-US" dirty="0"/>
          </a:p>
        </p:txBody>
      </p:sp>
      <p:sp>
        <p:nvSpPr>
          <p:cNvPr id="5" name="Rectangle 3"/>
          <p:cNvSpPr>
            <a:spLocks noChangeArrowheads="1"/>
          </p:cNvSpPr>
          <p:nvPr/>
        </p:nvSpPr>
        <p:spPr bwMode="auto">
          <a:xfrm>
            <a:off x="6118861" y="2295367"/>
            <a:ext cx="3015774" cy="402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4953" indent="-244475">
              <a:spcBef>
                <a:spcPct val="20000"/>
              </a:spcBef>
              <a:spcAft>
                <a:spcPct val="20000"/>
              </a:spcAft>
              <a:buFontTx/>
              <a:buChar char="•"/>
            </a:pPr>
            <a:endParaRPr lang="en-US" sz="1980"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3366395"/>
            <a:ext cx="4283551" cy="3843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a:extLst>
              <a:ext uri="{FF2B5EF4-FFF2-40B4-BE49-F238E27FC236}">
                <a16:creationId xmlns:a16="http://schemas.microsoft.com/office/drawing/2014/main" id="{A206711B-F382-4BCF-BD8E-9E190F1679B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A35C3BFA-AFEE-4B95-B51D-2CE71A3A53FC}"/>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494424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F36B155-5642-41FD-8C1F-5FF7BE8E6B91}"/>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Constant current → very quiet</a:t>
            </a:r>
          </a:p>
          <a:p>
            <a:r>
              <a:rPr lang="en-US" sz="2400" dirty="0">
                <a:latin typeface="Arial" panose="020B0604020202020204" pitchFamily="34" charset="0"/>
                <a:cs typeface="Arial" panose="020B0604020202020204" pitchFamily="34" charset="0"/>
              </a:rPr>
              <a:t>Higher gain in tracking mode</a:t>
            </a:r>
          </a:p>
          <a:p>
            <a:r>
              <a:rPr lang="en-US" sz="2400" dirty="0">
                <a:latin typeface="Arial" panose="020B0604020202020204" pitchFamily="34" charset="0"/>
                <a:cs typeface="Arial" panose="020B0604020202020204" pitchFamily="34" charset="0"/>
              </a:rPr>
              <a:t>Cannot produce full logic levels</a:t>
            </a:r>
          </a:p>
          <a:p>
            <a:r>
              <a:rPr lang="en-US" sz="2400" dirty="0">
                <a:latin typeface="Arial" panose="020B0604020202020204" pitchFamily="34" charset="0"/>
                <a:cs typeface="Arial" panose="020B0604020202020204" pitchFamily="34" charset="0"/>
              </a:rPr>
              <a:t>Fast</a:t>
            </a:r>
          </a:p>
        </p:txBody>
      </p:sp>
      <p:sp>
        <p:nvSpPr>
          <p:cNvPr id="2" name="Title 1"/>
          <p:cNvSpPr>
            <a:spLocks noGrp="1"/>
          </p:cNvSpPr>
          <p:nvPr>
            <p:ph type="title"/>
          </p:nvPr>
        </p:nvSpPr>
        <p:spPr/>
        <p:txBody>
          <a:bodyPr/>
          <a:lstStyle/>
          <a:p>
            <a:r>
              <a:rPr lang="en-US" dirty="0"/>
              <a:t>Current-Steering Latch</a:t>
            </a:r>
          </a:p>
        </p:txBody>
      </p:sp>
      <p:sp>
        <p:nvSpPr>
          <p:cNvPr id="3" name="Slide Number Placeholder 2">
            <a:extLst>
              <a:ext uri="{FF2B5EF4-FFF2-40B4-BE49-F238E27FC236}">
                <a16:creationId xmlns:a16="http://schemas.microsoft.com/office/drawing/2014/main" id="{600FC529-66D4-4548-A489-283C5B2C36DC}"/>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30</a:t>
            </a:fld>
            <a:endParaRPr lang="en-US" dirty="0"/>
          </a:p>
        </p:txBody>
      </p:sp>
      <p:sp>
        <p:nvSpPr>
          <p:cNvPr id="5" name="Rectangle 3"/>
          <p:cNvSpPr>
            <a:spLocks noChangeArrowheads="1"/>
          </p:cNvSpPr>
          <p:nvPr/>
        </p:nvSpPr>
        <p:spPr bwMode="auto">
          <a:xfrm>
            <a:off x="6957060" y="2445545"/>
            <a:ext cx="2413318" cy="3619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4953" indent="-244475">
              <a:spcBef>
                <a:spcPct val="20000"/>
              </a:spcBef>
              <a:spcAft>
                <a:spcPct val="20000"/>
              </a:spcAft>
              <a:buFontTx/>
              <a:buChar char="•"/>
            </a:pPr>
            <a:endParaRPr lang="en-US" sz="1980" baseline="-25000"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6621" y="3581400"/>
            <a:ext cx="5760878" cy="3628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a:extLst>
              <a:ext uri="{FF2B5EF4-FFF2-40B4-BE49-F238E27FC236}">
                <a16:creationId xmlns:a16="http://schemas.microsoft.com/office/drawing/2014/main" id="{CBC437A2-770C-40C3-8B10-E2BA8E2F3CEA}"/>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FAC0E552-A9E3-4A7F-AF4C-3034F30CD891}"/>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028021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33ABF04-E436-4002-8A52-BF8D248E424B}"/>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Zero DC current in reset mode</a:t>
            </a:r>
          </a:p>
          <a:p>
            <a:r>
              <a:rPr lang="en-US" sz="2400" dirty="0">
                <a:latin typeface="Arial" panose="020B0604020202020204" pitchFamily="34" charset="0"/>
                <a:cs typeface="Arial" panose="020B0604020202020204" pitchFamily="34" charset="0"/>
              </a:rPr>
              <a:t>Q+ and Q- are both reset to “0”</a:t>
            </a:r>
          </a:p>
          <a:p>
            <a:r>
              <a:rPr lang="en-US" sz="2400" dirty="0">
                <a:latin typeface="Arial" panose="020B0604020202020204" pitchFamily="34" charset="0"/>
                <a:cs typeface="Arial" panose="020B0604020202020204" pitchFamily="34" charset="0"/>
              </a:rPr>
              <a:t>Full logic level after regeneration</a:t>
            </a:r>
          </a:p>
          <a:p>
            <a:r>
              <a:rPr lang="en-US" sz="2400" dirty="0">
                <a:latin typeface="Arial" panose="020B0604020202020204" pitchFamily="34" charset="0"/>
                <a:cs typeface="Arial" panose="020B0604020202020204" pitchFamily="34" charset="0"/>
              </a:rPr>
              <a:t>Slow</a:t>
            </a:r>
          </a:p>
        </p:txBody>
      </p:sp>
      <p:sp>
        <p:nvSpPr>
          <p:cNvPr id="2" name="Title 1"/>
          <p:cNvSpPr>
            <a:spLocks noGrp="1"/>
          </p:cNvSpPr>
          <p:nvPr>
            <p:ph type="title"/>
          </p:nvPr>
        </p:nvSpPr>
        <p:spPr/>
        <p:txBody>
          <a:bodyPr/>
          <a:lstStyle/>
          <a:p>
            <a:r>
              <a:rPr lang="en-US" dirty="0"/>
              <a:t>Dynamic Latch</a:t>
            </a:r>
          </a:p>
        </p:txBody>
      </p:sp>
      <p:sp>
        <p:nvSpPr>
          <p:cNvPr id="3" name="Slide Number Placeholder 2">
            <a:extLst>
              <a:ext uri="{FF2B5EF4-FFF2-40B4-BE49-F238E27FC236}">
                <a16:creationId xmlns:a16="http://schemas.microsoft.com/office/drawing/2014/main" id="{77D7E7E9-C552-4EC9-9172-999283789AD5}"/>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31</a:t>
            </a:fld>
            <a:endParaRPr lang="en-US" dirty="0"/>
          </a:p>
        </p:txBody>
      </p:sp>
      <p:sp>
        <p:nvSpPr>
          <p:cNvPr id="5" name="Rectangle 3"/>
          <p:cNvSpPr>
            <a:spLocks noChangeArrowheads="1"/>
          </p:cNvSpPr>
          <p:nvPr/>
        </p:nvSpPr>
        <p:spPr bwMode="auto">
          <a:xfrm>
            <a:off x="6321425" y="2209800"/>
            <a:ext cx="2814955" cy="3270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4953" indent="-244475">
              <a:spcBef>
                <a:spcPct val="20000"/>
              </a:spcBef>
              <a:spcAft>
                <a:spcPct val="20000"/>
              </a:spcAft>
              <a:buFontTx/>
              <a:buChar char="•"/>
            </a:pPr>
            <a:endParaRPr lang="en-US" sz="1980" dirty="0"/>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8127" y="2971800"/>
            <a:ext cx="5611673" cy="42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a:extLst>
              <a:ext uri="{FF2B5EF4-FFF2-40B4-BE49-F238E27FC236}">
                <a16:creationId xmlns:a16="http://schemas.microsoft.com/office/drawing/2014/main" id="{3C970A1D-700E-44C0-A4CE-C882B1298857}"/>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01FDB091-87EF-4057-AB2D-4A4B4A626DAB}"/>
              </a:ext>
            </a:extLst>
          </p:cNvPr>
          <p:cNvSpPr>
            <a:spLocks noGrp="1"/>
          </p:cNvSpPr>
          <p:nvPr>
            <p:ph type="ftr" sz="quarter" idx="11"/>
          </p:nvPr>
        </p:nvSpPr>
        <p:spPr/>
        <p:txBody>
          <a:bodyPr/>
          <a:lstStyle/>
          <a:p>
            <a:r>
              <a:rPr lang="en-US"/>
              <a:t>DN, 2020</a:t>
            </a:r>
            <a:endParaRPr lang="en-US" dirty="0"/>
          </a:p>
        </p:txBody>
      </p:sp>
      <p:sp>
        <p:nvSpPr>
          <p:cNvPr id="10" name="TextBox 9">
            <a:extLst>
              <a:ext uri="{FF2B5EF4-FFF2-40B4-BE49-F238E27FC236}">
                <a16:creationId xmlns:a16="http://schemas.microsoft.com/office/drawing/2014/main" id="{7FDECC35-D3D9-4042-8752-A7EE1D61BFC9}"/>
              </a:ext>
            </a:extLst>
          </p:cNvPr>
          <p:cNvSpPr txBox="1"/>
          <p:nvPr/>
        </p:nvSpPr>
        <p:spPr>
          <a:xfrm>
            <a:off x="6308725" y="4114800"/>
            <a:ext cx="685800" cy="769441"/>
          </a:xfrm>
          <a:prstGeom prst="rect">
            <a:avLst/>
          </a:prstGeom>
          <a:noFill/>
        </p:spPr>
        <p:txBody>
          <a:bodyPr wrap="square">
            <a:spAutoFit/>
          </a:bodyPr>
          <a:lstStyle/>
          <a:p>
            <a:r>
              <a:rPr lang="en-US" sz="4400" b="1" dirty="0">
                <a:solidFill>
                  <a:srgbClr val="FF0000"/>
                </a:solidFill>
                <a:latin typeface="Arial" panose="020B0604020202020204" pitchFamily="34" charset="0"/>
                <a:cs typeface="Arial" panose="020B0604020202020204" pitchFamily="34" charset="0"/>
              </a:rPr>
              <a:t>X</a:t>
            </a:r>
            <a:endParaRPr lang="en-US" b="1" dirty="0">
              <a:solidFill>
                <a:srgbClr val="FF0000"/>
              </a:solidFill>
            </a:endParaRPr>
          </a:p>
        </p:txBody>
      </p:sp>
      <p:sp>
        <p:nvSpPr>
          <p:cNvPr id="11" name="TextBox 10">
            <a:extLst>
              <a:ext uri="{FF2B5EF4-FFF2-40B4-BE49-F238E27FC236}">
                <a16:creationId xmlns:a16="http://schemas.microsoft.com/office/drawing/2014/main" id="{9F3831C1-9729-4486-9EDB-2F96DBB359D4}"/>
              </a:ext>
            </a:extLst>
          </p:cNvPr>
          <p:cNvSpPr txBox="1"/>
          <p:nvPr/>
        </p:nvSpPr>
        <p:spPr>
          <a:xfrm>
            <a:off x="7239000" y="4114800"/>
            <a:ext cx="685800" cy="769441"/>
          </a:xfrm>
          <a:prstGeom prst="rect">
            <a:avLst/>
          </a:prstGeom>
          <a:noFill/>
        </p:spPr>
        <p:txBody>
          <a:bodyPr wrap="square">
            <a:spAutoFit/>
          </a:bodyPr>
          <a:lstStyle/>
          <a:p>
            <a:r>
              <a:rPr lang="en-US" b="1" dirty="0">
                <a:solidFill>
                  <a:srgbClr val="FF0000"/>
                </a:solidFill>
                <a:latin typeface="Arial" panose="020B0604020202020204" pitchFamily="34" charset="0"/>
                <a:cs typeface="Arial" panose="020B0604020202020204" pitchFamily="34" charset="0"/>
              </a:rPr>
              <a:t>Y</a:t>
            </a:r>
            <a:endParaRPr lang="en-US" b="1" dirty="0">
              <a:solidFill>
                <a:srgbClr val="FF0000"/>
              </a:solidFill>
            </a:endParaRPr>
          </a:p>
        </p:txBody>
      </p:sp>
      <p:sp>
        <p:nvSpPr>
          <p:cNvPr id="12" name="TextBox 11">
            <a:extLst>
              <a:ext uri="{FF2B5EF4-FFF2-40B4-BE49-F238E27FC236}">
                <a16:creationId xmlns:a16="http://schemas.microsoft.com/office/drawing/2014/main" id="{FA164C01-A647-4D61-8B32-93DABC8483B3}"/>
              </a:ext>
            </a:extLst>
          </p:cNvPr>
          <p:cNvSpPr txBox="1"/>
          <p:nvPr/>
        </p:nvSpPr>
        <p:spPr>
          <a:xfrm>
            <a:off x="6308725" y="5402759"/>
            <a:ext cx="685800" cy="769441"/>
          </a:xfrm>
          <a:prstGeom prst="rect">
            <a:avLst/>
          </a:prstGeom>
          <a:noFill/>
        </p:spPr>
        <p:txBody>
          <a:bodyPr wrap="square">
            <a:spAutoFit/>
          </a:bodyPr>
          <a:lstStyle/>
          <a:p>
            <a:r>
              <a:rPr lang="en-US" b="1" dirty="0">
                <a:solidFill>
                  <a:srgbClr val="FF0000"/>
                </a:solidFill>
                <a:latin typeface="Arial" panose="020B0604020202020204" pitchFamily="34" charset="0"/>
                <a:cs typeface="Arial" panose="020B0604020202020204" pitchFamily="34" charset="0"/>
              </a:rPr>
              <a:t>M</a:t>
            </a:r>
            <a:endParaRPr lang="en-US" b="1" dirty="0">
              <a:solidFill>
                <a:srgbClr val="FF0000"/>
              </a:solidFill>
            </a:endParaRPr>
          </a:p>
        </p:txBody>
      </p:sp>
      <p:sp>
        <p:nvSpPr>
          <p:cNvPr id="13" name="TextBox 12">
            <a:extLst>
              <a:ext uri="{FF2B5EF4-FFF2-40B4-BE49-F238E27FC236}">
                <a16:creationId xmlns:a16="http://schemas.microsoft.com/office/drawing/2014/main" id="{EB93F7D8-BAF0-4892-919C-DDD9AB9D35A9}"/>
              </a:ext>
            </a:extLst>
          </p:cNvPr>
          <p:cNvSpPr txBox="1"/>
          <p:nvPr/>
        </p:nvSpPr>
        <p:spPr>
          <a:xfrm>
            <a:off x="7239000" y="5402759"/>
            <a:ext cx="685800" cy="769441"/>
          </a:xfrm>
          <a:prstGeom prst="rect">
            <a:avLst/>
          </a:prstGeom>
          <a:noFill/>
        </p:spPr>
        <p:txBody>
          <a:bodyPr wrap="square">
            <a:spAutoFit/>
          </a:bodyPr>
          <a:lstStyle/>
          <a:p>
            <a:r>
              <a:rPr lang="en-US" b="1" dirty="0">
                <a:solidFill>
                  <a:srgbClr val="FF0000"/>
                </a:solidFill>
                <a:latin typeface="Arial" panose="020B0604020202020204" pitchFamily="34" charset="0"/>
                <a:cs typeface="Arial" panose="020B0604020202020204" pitchFamily="34" charset="0"/>
              </a:rPr>
              <a:t>N</a:t>
            </a:r>
            <a:endParaRPr lang="en-US" b="1" dirty="0">
              <a:solidFill>
                <a:srgbClr val="FF0000"/>
              </a:solidFill>
            </a:endParaRPr>
          </a:p>
        </p:txBody>
      </p:sp>
    </p:spTree>
    <p:extLst>
      <p:ext uri="{BB962C8B-B14F-4D97-AF65-F5344CB8AC3E}">
        <p14:creationId xmlns:p14="http://schemas.microsoft.com/office/powerpoint/2010/main" val="3858331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4B8C3BA-8FD8-4AC4-A35C-3E7FF1D2AC26}"/>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Zero DC current in reset mode</a:t>
            </a:r>
          </a:p>
          <a:p>
            <a:r>
              <a:rPr lang="en-US" sz="2400" dirty="0">
                <a:latin typeface="Arial" panose="020B0604020202020204" pitchFamily="34" charset="0"/>
                <a:cs typeface="Arial" panose="020B0604020202020204" pitchFamily="34" charset="0"/>
              </a:rPr>
              <a:t>Q+ and Q- are both reset to “0”</a:t>
            </a:r>
          </a:p>
          <a:p>
            <a:r>
              <a:rPr lang="en-US" sz="2400" dirty="0">
                <a:latin typeface="Arial" panose="020B0604020202020204" pitchFamily="34" charset="0"/>
                <a:cs typeface="Arial" panose="020B0604020202020204" pitchFamily="34" charset="0"/>
              </a:rPr>
              <a:t>Full logic level after regeneration</a:t>
            </a:r>
          </a:p>
          <a:p>
            <a:r>
              <a:rPr lang="en-US" sz="2400" dirty="0">
                <a:latin typeface="Arial" panose="020B0604020202020204" pitchFamily="34" charset="0"/>
                <a:cs typeface="Arial" panose="020B0604020202020204" pitchFamily="34" charset="0"/>
              </a:rPr>
              <a:t>Slow</a:t>
            </a:r>
          </a:p>
        </p:txBody>
      </p:sp>
      <p:sp>
        <p:nvSpPr>
          <p:cNvPr id="2" name="Title 1"/>
          <p:cNvSpPr>
            <a:spLocks noGrp="1"/>
          </p:cNvSpPr>
          <p:nvPr>
            <p:ph type="title"/>
          </p:nvPr>
        </p:nvSpPr>
        <p:spPr/>
        <p:txBody>
          <a:bodyPr/>
          <a:lstStyle/>
          <a:p>
            <a:r>
              <a:rPr lang="en-US" dirty="0"/>
              <a:t>Modified Dynamic Latch</a:t>
            </a:r>
          </a:p>
        </p:txBody>
      </p:sp>
      <p:sp>
        <p:nvSpPr>
          <p:cNvPr id="3" name="Slide Number Placeholder 2">
            <a:extLst>
              <a:ext uri="{FF2B5EF4-FFF2-40B4-BE49-F238E27FC236}">
                <a16:creationId xmlns:a16="http://schemas.microsoft.com/office/drawing/2014/main" id="{4EDCF2E0-DA4B-435F-A4E5-D748EFFBB6CB}"/>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32</a:t>
            </a:fld>
            <a:endParaRPr 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018198"/>
            <a:ext cx="4953000" cy="422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3"/>
          <p:cNvSpPr>
            <a:spLocks noChangeArrowheads="1"/>
          </p:cNvSpPr>
          <p:nvPr/>
        </p:nvSpPr>
        <p:spPr bwMode="auto">
          <a:xfrm>
            <a:off x="6321425" y="2209800"/>
            <a:ext cx="2814955" cy="3270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4953" indent="-244475">
              <a:spcBef>
                <a:spcPct val="20000"/>
              </a:spcBef>
              <a:spcAft>
                <a:spcPct val="20000"/>
              </a:spcAft>
              <a:buFontTx/>
              <a:buChar char="•"/>
            </a:pPr>
            <a:endParaRPr lang="en-US" sz="1980" dirty="0"/>
          </a:p>
        </p:txBody>
      </p:sp>
      <p:sp>
        <p:nvSpPr>
          <p:cNvPr id="4" name="Date Placeholder 3">
            <a:extLst>
              <a:ext uri="{FF2B5EF4-FFF2-40B4-BE49-F238E27FC236}">
                <a16:creationId xmlns:a16="http://schemas.microsoft.com/office/drawing/2014/main" id="{E107D348-5A70-4149-8A3D-5AB6FD9313C9}"/>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5" name="Footer Placeholder 4">
            <a:extLst>
              <a:ext uri="{FF2B5EF4-FFF2-40B4-BE49-F238E27FC236}">
                <a16:creationId xmlns:a16="http://schemas.microsoft.com/office/drawing/2014/main" id="{692B07CC-DAC8-4A20-B2F9-AD5384EA8011}"/>
              </a:ext>
            </a:extLst>
          </p:cNvPr>
          <p:cNvSpPr>
            <a:spLocks noGrp="1"/>
          </p:cNvSpPr>
          <p:nvPr>
            <p:ph type="ftr" sz="quarter" idx="11"/>
          </p:nvPr>
        </p:nvSpPr>
        <p:spPr/>
        <p:txBody>
          <a:bodyPr/>
          <a:lstStyle/>
          <a:p>
            <a:r>
              <a:rPr lang="en-US"/>
              <a:t>DN, 2020</a:t>
            </a:r>
            <a:endParaRPr lang="en-US" dirty="0"/>
          </a:p>
        </p:txBody>
      </p:sp>
      <p:sp>
        <p:nvSpPr>
          <p:cNvPr id="9" name="TextBox 8">
            <a:extLst>
              <a:ext uri="{FF2B5EF4-FFF2-40B4-BE49-F238E27FC236}">
                <a16:creationId xmlns:a16="http://schemas.microsoft.com/office/drawing/2014/main" id="{DDDC004A-B7E6-417F-946C-84876B82DAF0}"/>
              </a:ext>
            </a:extLst>
          </p:cNvPr>
          <p:cNvSpPr txBox="1"/>
          <p:nvPr/>
        </p:nvSpPr>
        <p:spPr>
          <a:xfrm>
            <a:off x="6553200" y="4183559"/>
            <a:ext cx="685800" cy="769441"/>
          </a:xfrm>
          <a:prstGeom prst="rect">
            <a:avLst/>
          </a:prstGeom>
          <a:noFill/>
        </p:spPr>
        <p:txBody>
          <a:bodyPr wrap="square">
            <a:spAutoFit/>
          </a:bodyPr>
          <a:lstStyle/>
          <a:p>
            <a:r>
              <a:rPr lang="en-US" sz="4400" b="1" dirty="0">
                <a:solidFill>
                  <a:srgbClr val="FF0000"/>
                </a:solidFill>
                <a:latin typeface="Arial" panose="020B0604020202020204" pitchFamily="34" charset="0"/>
                <a:cs typeface="Arial" panose="020B0604020202020204" pitchFamily="34" charset="0"/>
              </a:rPr>
              <a:t>X</a:t>
            </a:r>
            <a:endParaRPr lang="en-US" b="1" dirty="0">
              <a:solidFill>
                <a:srgbClr val="FF0000"/>
              </a:solidFill>
            </a:endParaRPr>
          </a:p>
        </p:txBody>
      </p:sp>
      <p:sp>
        <p:nvSpPr>
          <p:cNvPr id="10" name="TextBox 9">
            <a:extLst>
              <a:ext uri="{FF2B5EF4-FFF2-40B4-BE49-F238E27FC236}">
                <a16:creationId xmlns:a16="http://schemas.microsoft.com/office/drawing/2014/main" id="{08A71CB2-F6D0-4AA8-9BA8-E79BDD547E09}"/>
              </a:ext>
            </a:extLst>
          </p:cNvPr>
          <p:cNvSpPr txBox="1"/>
          <p:nvPr/>
        </p:nvSpPr>
        <p:spPr>
          <a:xfrm>
            <a:off x="8229600" y="4183559"/>
            <a:ext cx="685800" cy="769441"/>
          </a:xfrm>
          <a:prstGeom prst="rect">
            <a:avLst/>
          </a:prstGeom>
          <a:noFill/>
        </p:spPr>
        <p:txBody>
          <a:bodyPr wrap="square">
            <a:spAutoFit/>
          </a:bodyPr>
          <a:lstStyle/>
          <a:p>
            <a:r>
              <a:rPr lang="en-US" b="1" dirty="0">
                <a:solidFill>
                  <a:srgbClr val="FF0000"/>
                </a:solidFill>
                <a:latin typeface="Arial" panose="020B0604020202020204" pitchFamily="34" charset="0"/>
                <a:cs typeface="Arial" panose="020B0604020202020204" pitchFamily="34" charset="0"/>
              </a:rPr>
              <a:t>Y</a:t>
            </a:r>
            <a:endParaRPr lang="en-US" b="1" dirty="0">
              <a:solidFill>
                <a:srgbClr val="FF0000"/>
              </a:solidFill>
            </a:endParaRPr>
          </a:p>
        </p:txBody>
      </p:sp>
      <p:sp>
        <p:nvSpPr>
          <p:cNvPr id="11" name="TextBox 10">
            <a:extLst>
              <a:ext uri="{FF2B5EF4-FFF2-40B4-BE49-F238E27FC236}">
                <a16:creationId xmlns:a16="http://schemas.microsoft.com/office/drawing/2014/main" id="{486F278C-9E8B-418B-893E-56B7E20B6EC9}"/>
              </a:ext>
            </a:extLst>
          </p:cNvPr>
          <p:cNvSpPr txBox="1"/>
          <p:nvPr/>
        </p:nvSpPr>
        <p:spPr>
          <a:xfrm>
            <a:off x="7661592" y="5128597"/>
            <a:ext cx="685800" cy="769441"/>
          </a:xfrm>
          <a:prstGeom prst="rect">
            <a:avLst/>
          </a:prstGeom>
          <a:noFill/>
        </p:spPr>
        <p:txBody>
          <a:bodyPr wrap="square">
            <a:spAutoFit/>
          </a:bodyPr>
          <a:lstStyle/>
          <a:p>
            <a:r>
              <a:rPr lang="en-US" b="1" dirty="0">
                <a:solidFill>
                  <a:srgbClr val="FF0000"/>
                </a:solidFill>
                <a:latin typeface="Arial" panose="020B0604020202020204" pitchFamily="34" charset="0"/>
                <a:cs typeface="Arial" panose="020B0604020202020204" pitchFamily="34" charset="0"/>
              </a:rPr>
              <a:t>M</a:t>
            </a:r>
            <a:endParaRPr lang="en-US" b="1" dirty="0">
              <a:solidFill>
                <a:srgbClr val="FF0000"/>
              </a:solidFill>
            </a:endParaRPr>
          </a:p>
        </p:txBody>
      </p:sp>
      <p:sp>
        <p:nvSpPr>
          <p:cNvPr id="12" name="TextBox 11">
            <a:extLst>
              <a:ext uri="{FF2B5EF4-FFF2-40B4-BE49-F238E27FC236}">
                <a16:creationId xmlns:a16="http://schemas.microsoft.com/office/drawing/2014/main" id="{87B2B9A2-FE8A-4E31-A5CC-7AE0A65F56E2}"/>
              </a:ext>
            </a:extLst>
          </p:cNvPr>
          <p:cNvSpPr txBox="1"/>
          <p:nvPr/>
        </p:nvSpPr>
        <p:spPr>
          <a:xfrm>
            <a:off x="6553200" y="5128598"/>
            <a:ext cx="685800" cy="769441"/>
          </a:xfrm>
          <a:prstGeom prst="rect">
            <a:avLst/>
          </a:prstGeom>
          <a:noFill/>
        </p:spPr>
        <p:txBody>
          <a:bodyPr wrap="square">
            <a:spAutoFit/>
          </a:bodyPr>
          <a:lstStyle/>
          <a:p>
            <a:r>
              <a:rPr lang="en-US" b="1" dirty="0">
                <a:solidFill>
                  <a:srgbClr val="FF0000"/>
                </a:solidFill>
                <a:latin typeface="Arial" panose="020B0604020202020204" pitchFamily="34" charset="0"/>
                <a:cs typeface="Arial" panose="020B0604020202020204" pitchFamily="34" charset="0"/>
              </a:rPr>
              <a:t>N</a:t>
            </a:r>
            <a:endParaRPr lang="en-US" b="1" dirty="0">
              <a:solidFill>
                <a:srgbClr val="FF0000"/>
              </a:solidFill>
            </a:endParaRPr>
          </a:p>
        </p:txBody>
      </p:sp>
    </p:spTree>
    <p:extLst>
      <p:ext uri="{BB962C8B-B14F-4D97-AF65-F5344CB8AC3E}">
        <p14:creationId xmlns:p14="http://schemas.microsoft.com/office/powerpoint/2010/main" val="3999168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itle 195">
            <a:extLst>
              <a:ext uri="{FF2B5EF4-FFF2-40B4-BE49-F238E27FC236}">
                <a16:creationId xmlns:a16="http://schemas.microsoft.com/office/drawing/2014/main" id="{A19A477F-3506-4C96-866E-ED396BF2BA72}"/>
              </a:ext>
            </a:extLst>
          </p:cNvPr>
          <p:cNvSpPr>
            <a:spLocks noGrp="1"/>
          </p:cNvSpPr>
          <p:nvPr>
            <p:ph type="title"/>
          </p:nvPr>
        </p:nvSpPr>
        <p:spPr/>
        <p:txBody>
          <a:bodyPr/>
          <a:lstStyle/>
          <a:p>
            <a:r>
              <a:rPr lang="en-GB" dirty="0"/>
              <a:t>Comparator Dynamic Behavior</a:t>
            </a:r>
          </a:p>
        </p:txBody>
      </p:sp>
      <p:sp>
        <p:nvSpPr>
          <p:cNvPr id="3" name="Slide Number Placeholder 2">
            <a:extLst>
              <a:ext uri="{FF2B5EF4-FFF2-40B4-BE49-F238E27FC236}">
                <a16:creationId xmlns:a16="http://schemas.microsoft.com/office/drawing/2014/main" id="{C1999147-7D4B-4E1B-A987-2E2FFC7960A8}"/>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33</a:t>
            </a:fld>
            <a:endParaRPr lang="en-US" dirty="0"/>
          </a:p>
        </p:txBody>
      </p:sp>
      <p:pic>
        <p:nvPicPr>
          <p:cNvPr id="236" name="Picture 235">
            <a:extLst>
              <a:ext uri="{FF2B5EF4-FFF2-40B4-BE49-F238E27FC236}">
                <a16:creationId xmlns:a16="http://schemas.microsoft.com/office/drawing/2014/main" id="{E7AE7AA4-9634-44B7-B4E8-39CBA7192953}"/>
              </a:ext>
            </a:extLst>
          </p:cNvPr>
          <p:cNvPicPr>
            <a:picLocks noChangeAspect="1"/>
          </p:cNvPicPr>
          <p:nvPr/>
        </p:nvPicPr>
        <p:blipFill>
          <a:blip r:embed="rId2"/>
          <a:stretch>
            <a:fillRect/>
          </a:stretch>
        </p:blipFill>
        <p:spPr>
          <a:xfrm>
            <a:off x="1447800" y="1752600"/>
            <a:ext cx="7145697" cy="5181600"/>
          </a:xfrm>
          <a:prstGeom prst="rect">
            <a:avLst/>
          </a:prstGeom>
        </p:spPr>
      </p:pic>
      <p:sp>
        <p:nvSpPr>
          <p:cNvPr id="5" name="Date Placeholder 4">
            <a:extLst>
              <a:ext uri="{FF2B5EF4-FFF2-40B4-BE49-F238E27FC236}">
                <a16:creationId xmlns:a16="http://schemas.microsoft.com/office/drawing/2014/main" id="{1BA3AC36-9842-4344-8201-F45B4C4F13BA}"/>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C6782679-E9F1-4F31-85ED-6BA5E7101D5E}"/>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413414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35065-8DFB-4CD5-B275-53688C47F22E}"/>
              </a:ext>
            </a:extLst>
          </p:cNvPr>
          <p:cNvSpPr>
            <a:spLocks noGrp="1"/>
          </p:cNvSpPr>
          <p:nvPr>
            <p:ph type="title"/>
          </p:nvPr>
        </p:nvSpPr>
        <p:spPr/>
        <p:txBody>
          <a:bodyPr/>
          <a:lstStyle/>
          <a:p>
            <a:r>
              <a:rPr lang="en-GB" dirty="0"/>
              <a:t>Comparator Resolution</a:t>
            </a:r>
          </a:p>
        </p:txBody>
      </p:sp>
      <p:sp>
        <p:nvSpPr>
          <p:cNvPr id="4" name="Slide Number Placeholder 3">
            <a:extLst>
              <a:ext uri="{FF2B5EF4-FFF2-40B4-BE49-F238E27FC236}">
                <a16:creationId xmlns:a16="http://schemas.microsoft.com/office/drawing/2014/main" id="{9458CE84-A142-477C-A649-A573BA1257A8}"/>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34</a:t>
            </a:fld>
            <a:endParaRPr lang="en-US" dirty="0"/>
          </a:p>
        </p:txBody>
      </p:sp>
      <p:sp>
        <p:nvSpPr>
          <p:cNvPr id="50" name="object 53">
            <a:extLst>
              <a:ext uri="{FF2B5EF4-FFF2-40B4-BE49-F238E27FC236}">
                <a16:creationId xmlns:a16="http://schemas.microsoft.com/office/drawing/2014/main" id="{C66AB71C-3CA0-423F-B1D9-FE93575FD9BB}"/>
              </a:ext>
            </a:extLst>
          </p:cNvPr>
          <p:cNvSpPr txBox="1"/>
          <p:nvPr/>
        </p:nvSpPr>
        <p:spPr>
          <a:xfrm>
            <a:off x="6120486" y="6325930"/>
            <a:ext cx="3785514" cy="440797"/>
          </a:xfrm>
          <a:prstGeom prst="rect">
            <a:avLst/>
          </a:prstGeom>
        </p:spPr>
        <p:txBody>
          <a:bodyPr vert="horz" wrap="square" lIns="0" tIns="9814" rIns="0" bIns="0" rtlCol="0">
            <a:spAutoFit/>
          </a:bodyPr>
          <a:lstStyle/>
          <a:p>
            <a:pPr>
              <a:spcBef>
                <a:spcPts val="77"/>
              </a:spcBef>
            </a:pPr>
            <a:r>
              <a:rPr lang="en-US" sz="2800" b="1" spc="4" dirty="0">
                <a:latin typeface="Symbol"/>
                <a:cs typeface="Times New Roman"/>
              </a:rPr>
              <a:t>D</a:t>
            </a:r>
            <a:r>
              <a:rPr sz="2800" b="1" spc="4" dirty="0">
                <a:latin typeface="Times New Roman"/>
                <a:cs typeface="Times New Roman"/>
              </a:rPr>
              <a:t>t </a:t>
            </a:r>
            <a:r>
              <a:rPr sz="2800" b="1" dirty="0">
                <a:latin typeface="Times New Roman"/>
                <a:cs typeface="Times New Roman"/>
              </a:rPr>
              <a:t>=</a:t>
            </a:r>
            <a:r>
              <a:rPr sz="2800" b="1" spc="23" dirty="0">
                <a:latin typeface="Times New Roman"/>
                <a:cs typeface="Times New Roman"/>
              </a:rPr>
              <a:t> </a:t>
            </a:r>
            <a:r>
              <a:rPr sz="2800" b="1" spc="-19" dirty="0">
                <a:latin typeface="Times New Roman"/>
                <a:cs typeface="Times New Roman"/>
              </a:rPr>
              <a:t>(g</a:t>
            </a:r>
            <a:r>
              <a:rPr sz="2800" b="1" spc="-29" baseline="-23148" dirty="0">
                <a:latin typeface="Times New Roman"/>
                <a:cs typeface="Times New Roman"/>
              </a:rPr>
              <a:t>m</a:t>
            </a:r>
            <a:r>
              <a:rPr sz="2800" b="1" spc="-19" dirty="0">
                <a:latin typeface="Times New Roman"/>
                <a:cs typeface="Times New Roman"/>
              </a:rPr>
              <a:t>/C).ln(V</a:t>
            </a:r>
            <a:r>
              <a:rPr sz="2800" b="1" spc="-29" baseline="-23148" dirty="0">
                <a:latin typeface="Times New Roman"/>
                <a:cs typeface="Times New Roman"/>
              </a:rPr>
              <a:t>in1</a:t>
            </a:r>
            <a:r>
              <a:rPr sz="2800" b="1" spc="-19" dirty="0">
                <a:latin typeface="Times New Roman"/>
                <a:cs typeface="Times New Roman"/>
              </a:rPr>
              <a:t>/V</a:t>
            </a:r>
            <a:r>
              <a:rPr sz="2800" b="1" spc="-29" baseline="-23148" dirty="0">
                <a:latin typeface="Times New Roman"/>
                <a:cs typeface="Times New Roman"/>
              </a:rPr>
              <a:t>in2</a:t>
            </a:r>
            <a:r>
              <a:rPr sz="2800" b="1" spc="-19" dirty="0">
                <a:latin typeface="Times New Roman"/>
                <a:cs typeface="Times New Roman"/>
              </a:rPr>
              <a:t>)</a:t>
            </a:r>
            <a:endParaRPr sz="2800" dirty="0">
              <a:latin typeface="Times New Roman"/>
              <a:cs typeface="Times New Roman"/>
            </a:endParaRPr>
          </a:p>
        </p:txBody>
      </p:sp>
      <p:pic>
        <p:nvPicPr>
          <p:cNvPr id="53" name="Picture 52">
            <a:extLst>
              <a:ext uri="{FF2B5EF4-FFF2-40B4-BE49-F238E27FC236}">
                <a16:creationId xmlns:a16="http://schemas.microsoft.com/office/drawing/2014/main" id="{A5748373-AC2E-4572-B153-D939FAF4DA93}"/>
              </a:ext>
            </a:extLst>
          </p:cNvPr>
          <p:cNvPicPr>
            <a:picLocks noChangeAspect="1"/>
          </p:cNvPicPr>
          <p:nvPr/>
        </p:nvPicPr>
        <p:blipFill>
          <a:blip r:embed="rId2"/>
          <a:stretch>
            <a:fillRect/>
          </a:stretch>
        </p:blipFill>
        <p:spPr>
          <a:xfrm>
            <a:off x="1512775" y="2133600"/>
            <a:ext cx="7032849" cy="4192330"/>
          </a:xfrm>
          <a:prstGeom prst="rect">
            <a:avLst/>
          </a:prstGeom>
        </p:spPr>
      </p:pic>
      <p:sp>
        <p:nvSpPr>
          <p:cNvPr id="6" name="Date Placeholder 5">
            <a:extLst>
              <a:ext uri="{FF2B5EF4-FFF2-40B4-BE49-F238E27FC236}">
                <a16:creationId xmlns:a16="http://schemas.microsoft.com/office/drawing/2014/main" id="{ED405849-32BA-4684-9602-6336E15DA9C0}"/>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951F9EF7-19CB-452D-9BD6-AFF236004354}"/>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483304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CF4476-7C57-432A-987B-D1CAAA0DB8F2}"/>
              </a:ext>
            </a:extLst>
          </p:cNvPr>
          <p:cNvSpPr>
            <a:spLocks noGrp="1"/>
          </p:cNvSpPr>
          <p:nvPr>
            <p:ph sz="quarter" idx="1"/>
          </p:nvPr>
        </p:nvSpPr>
        <p:spPr/>
        <p:txBody>
          <a:bodyPr>
            <a:normAutofit/>
          </a:bodyPr>
          <a:lstStyle/>
          <a:p>
            <a:r>
              <a:rPr lang="en-US" sz="2800" dirty="0">
                <a:latin typeface="Arial" panose="020B0604020202020204" pitchFamily="34" charset="0"/>
                <a:cs typeface="Arial" panose="020B0604020202020204" pitchFamily="34" charset="0"/>
              </a:rPr>
              <a:t>Much faster compared to cascade of open-loop amplifiers</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Main problem associated with latch-only comparator topology</a:t>
            </a:r>
          </a:p>
          <a:p>
            <a:pPr lvl="1"/>
            <a:r>
              <a:rPr lang="en-US" sz="2400" dirty="0">
                <a:latin typeface="Arial" panose="020B0604020202020204" pitchFamily="34" charset="0"/>
                <a:cs typeface="Arial" panose="020B0604020202020204" pitchFamily="34" charset="0"/>
              </a:rPr>
              <a:t>High input-referred offset voltage (as high as 100mV!)</a:t>
            </a:r>
          </a:p>
          <a:p>
            <a:pPr lvl="2"/>
            <a:r>
              <a:rPr lang="en-US" sz="2000" dirty="0">
                <a:latin typeface="Arial" panose="020B0604020202020204" pitchFamily="34" charset="0"/>
                <a:cs typeface="Arial" panose="020B0604020202020204" pitchFamily="34" charset="0"/>
              </a:rPr>
              <a:t>Solution: Use preamplifier to amplify the signal and reduce overall input-referred offset</a:t>
            </a:r>
          </a:p>
          <a:p>
            <a:endParaRPr lang="en-GB" sz="28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8F6600B6-29C3-4D35-A197-4E21BD01B437}"/>
              </a:ext>
            </a:extLst>
          </p:cNvPr>
          <p:cNvSpPr>
            <a:spLocks noGrp="1"/>
          </p:cNvSpPr>
          <p:nvPr>
            <p:ph type="title"/>
          </p:nvPr>
        </p:nvSpPr>
        <p:spPr/>
        <p:txBody>
          <a:bodyPr/>
          <a:lstStyle/>
          <a:p>
            <a:r>
              <a:rPr lang="en-GB" dirty="0"/>
              <a:t>Latch-Only Comparator</a:t>
            </a:r>
          </a:p>
        </p:txBody>
      </p:sp>
      <p:sp>
        <p:nvSpPr>
          <p:cNvPr id="4" name="Slide Number Placeholder 3">
            <a:extLst>
              <a:ext uri="{FF2B5EF4-FFF2-40B4-BE49-F238E27FC236}">
                <a16:creationId xmlns:a16="http://schemas.microsoft.com/office/drawing/2014/main" id="{F47917C0-F047-4623-8463-8774F45AFFBA}"/>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35</a:t>
            </a:fld>
            <a:endParaRPr lang="en-US" dirty="0"/>
          </a:p>
        </p:txBody>
      </p:sp>
      <p:sp>
        <p:nvSpPr>
          <p:cNvPr id="5" name="Date Placeholder 4">
            <a:extLst>
              <a:ext uri="{FF2B5EF4-FFF2-40B4-BE49-F238E27FC236}">
                <a16:creationId xmlns:a16="http://schemas.microsoft.com/office/drawing/2014/main" id="{88AB359B-6C64-4EAA-BF91-3FC368535C32}"/>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46E2F284-8D4F-4A7D-9464-1C74C9479198}"/>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64950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2857C6-F1CA-4DD1-BEA2-A12E13836957}"/>
                  </a:ext>
                </a:extLst>
              </p:cNvPr>
              <p:cNvSpPr>
                <a:spLocks noGrp="1"/>
              </p:cNvSpPr>
              <p:nvPr>
                <p:ph sz="quarter" idx="1"/>
              </p:nvPr>
            </p:nvSpPr>
            <p:spPr/>
            <p:txBody>
              <a:bodyPr>
                <a:normAutofit/>
              </a:bodyPr>
              <a:lstStyle/>
              <a:p>
                <a:r>
                  <a:rPr lang="en-US" sz="2400" spc="-5" dirty="0">
                    <a:latin typeface="Arial"/>
                    <a:cs typeface="Arial"/>
                  </a:rPr>
                  <a:t>Latch </a:t>
                </a:r>
                <a:r>
                  <a:rPr lang="en-US" sz="2400" dirty="0">
                    <a:latin typeface="Arial"/>
                    <a:cs typeface="Arial"/>
                  </a:rPr>
                  <a:t>offset attenuated </a:t>
                </a:r>
                <a:r>
                  <a:rPr lang="en-US" sz="2400" spc="-5" dirty="0">
                    <a:latin typeface="Arial"/>
                    <a:cs typeface="Arial"/>
                  </a:rPr>
                  <a:t>by preamp gain when referred to preamp input. Assuming the two </a:t>
                </a:r>
                <a:r>
                  <a:rPr lang="en-US" sz="2400" dirty="0">
                    <a:latin typeface="Arial"/>
                    <a:cs typeface="Arial"/>
                  </a:rPr>
                  <a:t>offset </a:t>
                </a:r>
                <a:r>
                  <a:rPr lang="en-US" sz="2400" spc="-5" dirty="0">
                    <a:latin typeface="Arial"/>
                    <a:cs typeface="Arial"/>
                  </a:rPr>
                  <a:t>sources are</a:t>
                </a:r>
                <a:r>
                  <a:rPr lang="en-US" sz="2400" spc="30" dirty="0">
                    <a:latin typeface="Arial"/>
                    <a:cs typeface="Arial"/>
                  </a:rPr>
                  <a:t> </a:t>
                </a:r>
                <a:r>
                  <a:rPr lang="en-US" sz="2400" spc="-5" dirty="0">
                    <a:latin typeface="Arial"/>
                    <a:cs typeface="Arial"/>
                  </a:rPr>
                  <a:t>uncorrelated</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cs typeface="Arial"/>
                            </a:rPr>
                          </m:ctrlPr>
                        </m:sSubPr>
                        <m:e>
                          <m:r>
                            <a:rPr lang="en-GB" sz="2400" i="1" smtClean="0">
                              <a:latin typeface="Cambria Math" panose="02040503050406030204" pitchFamily="18" charset="0"/>
                              <a:ea typeface="Cambria Math" panose="02040503050406030204" pitchFamily="18" charset="0"/>
                              <a:cs typeface="Arial"/>
                            </a:rPr>
                            <m:t>𝜎</m:t>
                          </m:r>
                        </m:e>
                        <m:sub>
                          <m:r>
                            <a:rPr lang="en-US" sz="2400" b="0" i="1" smtClean="0">
                              <a:latin typeface="Cambria Math" panose="02040503050406030204" pitchFamily="18" charset="0"/>
                              <a:ea typeface="Cambria Math" panose="02040503050406030204" pitchFamily="18" charset="0"/>
                              <a:cs typeface="Arial"/>
                            </a:rPr>
                            <m:t>𝑖𝑛𝑝𝑢𝑡</m:t>
                          </m:r>
                          <m:r>
                            <a:rPr lang="en-US" sz="2400" b="0" i="1" smtClean="0">
                              <a:latin typeface="Cambria Math" panose="02040503050406030204" pitchFamily="18" charset="0"/>
                              <a:ea typeface="Cambria Math" panose="02040503050406030204" pitchFamily="18" charset="0"/>
                              <a:cs typeface="Arial"/>
                            </a:rPr>
                            <m:t>_</m:t>
                          </m:r>
                          <m:r>
                            <a:rPr lang="en-US" sz="2400" b="0" i="1" smtClean="0">
                              <a:latin typeface="Cambria Math" panose="02040503050406030204" pitchFamily="18" charset="0"/>
                              <a:ea typeface="Cambria Math" panose="02040503050406030204" pitchFamily="18" charset="0"/>
                              <a:cs typeface="Arial"/>
                            </a:rPr>
                            <m:t>𝑟𝑒𝑓𝑒𝑟𝑟𝑒𝑑</m:t>
                          </m:r>
                          <m:r>
                            <a:rPr lang="en-US" sz="2400" b="0" i="1" smtClean="0">
                              <a:latin typeface="Cambria Math" panose="02040503050406030204" pitchFamily="18" charset="0"/>
                              <a:ea typeface="Cambria Math" panose="02040503050406030204" pitchFamily="18" charset="0"/>
                              <a:cs typeface="Arial"/>
                            </a:rPr>
                            <m:t>_</m:t>
                          </m:r>
                          <m:r>
                            <a:rPr lang="en-US" sz="2400" b="0" i="1" smtClean="0">
                              <a:latin typeface="Cambria Math" panose="02040503050406030204" pitchFamily="18" charset="0"/>
                              <a:ea typeface="Cambria Math" panose="02040503050406030204" pitchFamily="18" charset="0"/>
                              <a:cs typeface="Arial"/>
                            </a:rPr>
                            <m:t>𝑜𝑠</m:t>
                          </m:r>
                        </m:sub>
                      </m:sSub>
                      <m:r>
                        <a:rPr lang="en-GB" sz="2400" i="1">
                          <a:latin typeface="Cambria Math" panose="02040503050406030204" pitchFamily="18" charset="0"/>
                          <a:ea typeface="Cambria Math" panose="02040503050406030204" pitchFamily="18" charset="0"/>
                          <a:cs typeface="Arial"/>
                        </a:rPr>
                        <m:t>=</m:t>
                      </m:r>
                      <m:rad>
                        <m:radPr>
                          <m:degHide m:val="on"/>
                          <m:ctrlPr>
                            <a:rPr lang="en-GB" sz="2400" i="1" smtClean="0">
                              <a:latin typeface="Cambria Math" panose="02040503050406030204" pitchFamily="18" charset="0"/>
                              <a:ea typeface="Cambria Math" panose="02040503050406030204" pitchFamily="18" charset="0"/>
                              <a:cs typeface="Arial"/>
                            </a:rPr>
                          </m:ctrlPr>
                        </m:radPr>
                        <m:deg/>
                        <m:e>
                          <m:sSubSup>
                            <m:sSubSupPr>
                              <m:ctrlPr>
                                <a:rPr lang="en-US" sz="2400" b="0" i="1" smtClean="0">
                                  <a:latin typeface="Cambria Math" panose="02040503050406030204" pitchFamily="18" charset="0"/>
                                  <a:ea typeface="Cambria Math" panose="02040503050406030204" pitchFamily="18" charset="0"/>
                                  <a:cs typeface="Arial"/>
                                </a:rPr>
                              </m:ctrlPr>
                            </m:sSubSupPr>
                            <m:e>
                              <m:r>
                                <a:rPr lang="en-GB" sz="2400" i="1">
                                  <a:latin typeface="Cambria Math" panose="02040503050406030204" pitchFamily="18" charset="0"/>
                                  <a:ea typeface="Cambria Math" panose="02040503050406030204" pitchFamily="18" charset="0"/>
                                  <a:cs typeface="Arial"/>
                                </a:rPr>
                                <m:t>𝜎</m:t>
                              </m:r>
                            </m:e>
                            <m:sub>
                              <m:r>
                                <a:rPr lang="en-US" sz="2400" b="0" i="1" smtClean="0">
                                  <a:latin typeface="Cambria Math" panose="02040503050406030204" pitchFamily="18" charset="0"/>
                                  <a:ea typeface="Cambria Math" panose="02040503050406030204" pitchFamily="18" charset="0"/>
                                  <a:cs typeface="Arial"/>
                                </a:rPr>
                                <m:t>𝑉𝑜𝑠</m:t>
                              </m:r>
                              <m:r>
                                <a:rPr lang="en-US" sz="2400" i="1">
                                  <a:latin typeface="Cambria Math" panose="02040503050406030204" pitchFamily="18" charset="0"/>
                                  <a:ea typeface="Cambria Math" panose="02040503050406030204" pitchFamily="18" charset="0"/>
                                  <a:cs typeface="Arial"/>
                                </a:rPr>
                                <m:t>_</m:t>
                              </m:r>
                              <m:r>
                                <a:rPr lang="en-US" sz="2400" b="0" i="1" smtClean="0">
                                  <a:latin typeface="Cambria Math" panose="02040503050406030204" pitchFamily="18" charset="0"/>
                                  <a:ea typeface="Cambria Math" panose="02040503050406030204" pitchFamily="18" charset="0"/>
                                  <a:cs typeface="Arial"/>
                                </a:rPr>
                                <m:t>𝑃𝑟𝑒𝑎𝑚𝑝</m:t>
                              </m:r>
                            </m:sub>
                            <m:sup>
                              <m:r>
                                <a:rPr lang="en-US" sz="2400" b="0" i="1" smtClean="0">
                                  <a:latin typeface="Cambria Math" panose="02040503050406030204" pitchFamily="18" charset="0"/>
                                  <a:ea typeface="Cambria Math" panose="02040503050406030204" pitchFamily="18" charset="0"/>
                                  <a:cs typeface="Arial"/>
                                </a:rPr>
                                <m:t>2</m:t>
                              </m:r>
                            </m:sup>
                          </m:sSubSup>
                          <m:r>
                            <a:rPr lang="en-GB" sz="2400" i="1">
                              <a:latin typeface="Cambria Math" panose="02040503050406030204" pitchFamily="18" charset="0"/>
                              <a:ea typeface="Cambria Math" panose="02040503050406030204" pitchFamily="18" charset="0"/>
                              <a:cs typeface="Arial"/>
                            </a:rPr>
                            <m:t>+</m:t>
                          </m:r>
                          <m:f>
                            <m:fPr>
                              <m:ctrlPr>
                                <a:rPr lang="en-GB" sz="2400" i="1">
                                  <a:latin typeface="Cambria Math" panose="02040503050406030204" pitchFamily="18" charset="0"/>
                                  <a:ea typeface="Cambria Math" panose="02040503050406030204" pitchFamily="18" charset="0"/>
                                  <a:cs typeface="Arial"/>
                                </a:rPr>
                              </m:ctrlPr>
                            </m:fPr>
                            <m:num>
                              <m:r>
                                <a:rPr lang="en-US" sz="2400" b="0" i="1" smtClean="0">
                                  <a:latin typeface="Cambria Math" panose="02040503050406030204" pitchFamily="18" charset="0"/>
                                  <a:ea typeface="Cambria Math" panose="02040503050406030204" pitchFamily="18" charset="0"/>
                                  <a:cs typeface="Arial"/>
                                </a:rPr>
                                <m:t>1</m:t>
                              </m:r>
                            </m:num>
                            <m:den>
                              <m:sSubSup>
                                <m:sSubSupPr>
                                  <m:ctrlPr>
                                    <a:rPr lang="en-US" sz="2400" b="0" i="1" smtClean="0">
                                      <a:latin typeface="Cambria Math" panose="02040503050406030204" pitchFamily="18" charset="0"/>
                                      <a:ea typeface="Cambria Math" panose="02040503050406030204" pitchFamily="18" charset="0"/>
                                      <a:cs typeface="Arial"/>
                                    </a:rPr>
                                  </m:ctrlPr>
                                </m:sSubSupPr>
                                <m:e>
                                  <m:r>
                                    <a:rPr lang="en-GB" sz="2400" i="1">
                                      <a:latin typeface="Cambria Math" panose="02040503050406030204" pitchFamily="18" charset="0"/>
                                      <a:ea typeface="Cambria Math" panose="02040503050406030204" pitchFamily="18" charset="0"/>
                                      <a:cs typeface="Arial"/>
                                    </a:rPr>
                                    <m:t>𝐴</m:t>
                                  </m:r>
                                </m:e>
                                <m:sub>
                                  <m:r>
                                    <a:rPr lang="en-US" sz="2400" b="0" i="1" smtClean="0">
                                      <a:latin typeface="Cambria Math" panose="02040503050406030204" pitchFamily="18" charset="0"/>
                                      <a:ea typeface="Cambria Math" panose="02040503050406030204" pitchFamily="18" charset="0"/>
                                      <a:cs typeface="Arial"/>
                                    </a:rPr>
                                    <m:t>𝑣</m:t>
                                  </m:r>
                                </m:sub>
                                <m:sup>
                                  <m:r>
                                    <a:rPr lang="en-US" sz="2400" b="0" i="1" smtClean="0">
                                      <a:latin typeface="Cambria Math" panose="02040503050406030204" pitchFamily="18" charset="0"/>
                                      <a:ea typeface="Cambria Math" panose="02040503050406030204" pitchFamily="18" charset="0"/>
                                      <a:cs typeface="Arial"/>
                                    </a:rPr>
                                    <m:t>2</m:t>
                                  </m:r>
                                </m:sup>
                              </m:sSubSup>
                            </m:den>
                          </m:f>
                          <m:sSubSup>
                            <m:sSubSupPr>
                              <m:ctrlPr>
                                <a:rPr lang="en-US" sz="2400" i="1">
                                  <a:latin typeface="Cambria Math" panose="02040503050406030204" pitchFamily="18" charset="0"/>
                                  <a:ea typeface="Cambria Math" panose="02040503050406030204" pitchFamily="18" charset="0"/>
                                  <a:cs typeface="Arial"/>
                                </a:rPr>
                              </m:ctrlPr>
                            </m:sSubSupPr>
                            <m:e>
                              <m:r>
                                <a:rPr lang="en-GB" sz="2400" i="1">
                                  <a:latin typeface="Cambria Math" panose="02040503050406030204" pitchFamily="18" charset="0"/>
                                  <a:ea typeface="Cambria Math" panose="02040503050406030204" pitchFamily="18" charset="0"/>
                                  <a:cs typeface="Arial"/>
                                </a:rPr>
                                <m:t>𝜎</m:t>
                              </m:r>
                            </m:e>
                            <m:sub>
                              <m:r>
                                <a:rPr lang="en-US" sz="2400" i="1">
                                  <a:latin typeface="Cambria Math" panose="02040503050406030204" pitchFamily="18" charset="0"/>
                                  <a:ea typeface="Cambria Math" panose="02040503050406030204" pitchFamily="18" charset="0"/>
                                  <a:cs typeface="Arial"/>
                                </a:rPr>
                                <m:t>𝑉𝑜𝑠</m:t>
                              </m:r>
                              <m:r>
                                <a:rPr lang="en-US" sz="2400" i="1">
                                  <a:latin typeface="Cambria Math" panose="02040503050406030204" pitchFamily="18" charset="0"/>
                                  <a:ea typeface="Cambria Math" panose="02040503050406030204" pitchFamily="18" charset="0"/>
                                  <a:cs typeface="Arial"/>
                                </a:rPr>
                                <m:t>_</m:t>
                              </m:r>
                              <m:r>
                                <a:rPr lang="en-US" sz="2400" b="0" i="1" smtClean="0">
                                  <a:latin typeface="Cambria Math" panose="02040503050406030204" pitchFamily="18" charset="0"/>
                                  <a:ea typeface="Cambria Math" panose="02040503050406030204" pitchFamily="18" charset="0"/>
                                  <a:cs typeface="Arial"/>
                                </a:rPr>
                                <m:t>𝐿𝑎𝑡𝑐h</m:t>
                              </m:r>
                            </m:sub>
                            <m:sup>
                              <m:r>
                                <a:rPr lang="en-US" sz="2400" i="1">
                                  <a:latin typeface="Cambria Math" panose="02040503050406030204" pitchFamily="18" charset="0"/>
                                  <a:ea typeface="Cambria Math" panose="02040503050406030204" pitchFamily="18" charset="0"/>
                                  <a:cs typeface="Arial"/>
                                </a:rPr>
                                <m:t>2</m:t>
                              </m:r>
                            </m:sup>
                          </m:sSubSup>
                        </m:e>
                      </m:rad>
                    </m:oMath>
                  </m:oMathPara>
                </a14:m>
                <a:endParaRPr lang="en-US" sz="2400" dirty="0">
                  <a:latin typeface="Arial"/>
                  <a:cs typeface="Arial"/>
                </a:endParaRPr>
              </a:p>
              <a:p>
                <a:r>
                  <a:rPr lang="en-US" sz="2400" dirty="0">
                    <a:latin typeface="Arial" panose="020B0604020202020204" pitchFamily="34" charset="0"/>
                    <a:cs typeface="Arial" panose="020B0604020202020204" pitchFamily="34" charset="0"/>
                  </a:rPr>
                  <a:t>To reduce the effect of latch offset =&gt; high preamp gain desirable</a:t>
                </a:r>
              </a:p>
              <a:p>
                <a:r>
                  <a:rPr lang="en-US" sz="2400" dirty="0">
                    <a:latin typeface="Arial" panose="020B0604020202020204" pitchFamily="34" charset="0"/>
                    <a:cs typeface="Arial" panose="020B0604020202020204" pitchFamily="34" charset="0"/>
                  </a:rPr>
                  <a:t>Fast comparator =&gt; low preamp gain</a:t>
                </a:r>
              </a:p>
              <a:p>
                <a:pPr marL="0" indent="0">
                  <a:buNone/>
                </a:pPr>
                <a:r>
                  <a:rPr lang="en-US" sz="2400" dirty="0">
                    <a:latin typeface="Arial" panose="020B0604020202020204" pitchFamily="34" charset="0"/>
                    <a:cs typeface="Arial" panose="020B0604020202020204" pitchFamily="34" charset="0"/>
                  </a:rPr>
                  <a:t>=&gt; Compromise speed vs. input-referred latch offset</a:t>
                </a:r>
              </a:p>
            </p:txBody>
          </p:sp>
        </mc:Choice>
        <mc:Fallback xmlns="">
          <p:sp>
            <p:nvSpPr>
              <p:cNvPr id="3" name="Content Placeholder 2">
                <a:extLst>
                  <a:ext uri="{FF2B5EF4-FFF2-40B4-BE49-F238E27FC236}">
                    <a16:creationId xmlns:a16="http://schemas.microsoft.com/office/drawing/2014/main" id="{852857C6-F1CA-4DD1-BEA2-A12E13836957}"/>
                  </a:ext>
                </a:extLst>
              </p:cNvPr>
              <p:cNvSpPr>
                <a:spLocks noGrp="1" noRot="1" noChangeAspect="1" noMove="1" noResize="1" noEditPoints="1" noAdjustHandles="1" noChangeArrowheads="1" noChangeShapeType="1" noTextEdit="1"/>
              </p:cNvSpPr>
              <p:nvPr>
                <p:ph sz="quarter" idx="1"/>
              </p:nvPr>
            </p:nvSpPr>
            <p:spPr>
              <a:blipFill>
                <a:blip r:embed="rId2"/>
                <a:stretch>
                  <a:fillRect l="-977" t="-1059" r="-65"/>
                </a:stretch>
              </a:blipFill>
            </p:spPr>
            <p:txBody>
              <a:bodyPr/>
              <a:lstStyle/>
              <a:p>
                <a:r>
                  <a:rPr lang="en-GB">
                    <a:noFill/>
                  </a:rPr>
                  <a:t> </a:t>
                </a:r>
              </a:p>
            </p:txBody>
          </p:sp>
        </mc:Fallback>
      </mc:AlternateContent>
      <p:sp>
        <p:nvSpPr>
          <p:cNvPr id="9" name="Title 8">
            <a:extLst>
              <a:ext uri="{FF2B5EF4-FFF2-40B4-BE49-F238E27FC236}">
                <a16:creationId xmlns:a16="http://schemas.microsoft.com/office/drawing/2014/main" id="{CAA8D932-5179-45C3-B4D4-8D665D774E4C}"/>
              </a:ext>
            </a:extLst>
          </p:cNvPr>
          <p:cNvSpPr>
            <a:spLocks noGrp="1"/>
          </p:cNvSpPr>
          <p:nvPr>
            <p:ph type="title"/>
          </p:nvPr>
        </p:nvSpPr>
        <p:spPr/>
        <p:txBody>
          <a:bodyPr/>
          <a:lstStyle/>
          <a:p>
            <a:r>
              <a:rPr lang="en-GB" dirty="0"/>
              <a:t>Pre-Amplifier + Latch</a:t>
            </a:r>
          </a:p>
        </p:txBody>
      </p:sp>
      <p:sp>
        <p:nvSpPr>
          <p:cNvPr id="6" name="Date Placeholder 5">
            <a:extLst>
              <a:ext uri="{FF2B5EF4-FFF2-40B4-BE49-F238E27FC236}">
                <a16:creationId xmlns:a16="http://schemas.microsoft.com/office/drawing/2014/main" id="{3C755D15-65ED-4358-BE09-BA89DDB23ECB}"/>
              </a:ext>
            </a:extLst>
          </p:cNvPr>
          <p:cNvSpPr>
            <a:spLocks noGrp="1"/>
          </p:cNvSpPr>
          <p:nvPr>
            <p:ph type="dt" sz="half" idx="10"/>
          </p:nvPr>
        </p:nvSpPr>
        <p:spPr/>
        <p:txBody>
          <a:bodyPr/>
          <a:lstStyle/>
          <a:p>
            <a:r>
              <a:rPr lang="en-US"/>
              <a:t>V.T.M</a:t>
            </a:r>
            <a:endParaRPr lang="en-US" dirty="0"/>
          </a:p>
        </p:txBody>
      </p:sp>
      <p:sp>
        <p:nvSpPr>
          <p:cNvPr id="7" name="Footer Placeholder 6">
            <a:extLst>
              <a:ext uri="{FF2B5EF4-FFF2-40B4-BE49-F238E27FC236}">
                <a16:creationId xmlns:a16="http://schemas.microsoft.com/office/drawing/2014/main" id="{EA41CAF9-4635-466B-B2F6-D27E1FC40373}"/>
              </a:ext>
            </a:extLst>
          </p:cNvPr>
          <p:cNvSpPr>
            <a:spLocks noGrp="1"/>
          </p:cNvSpPr>
          <p:nvPr>
            <p:ph type="ftr" sz="quarter" idx="11"/>
          </p:nvPr>
        </p:nvSpPr>
        <p:spPr/>
        <p:txBody>
          <a:bodyPr/>
          <a:lstStyle/>
          <a:p>
            <a:r>
              <a:rPr lang="en-US"/>
              <a:t>DN, 2020</a:t>
            </a:r>
            <a:endParaRPr lang="en-US" dirty="0"/>
          </a:p>
        </p:txBody>
      </p:sp>
      <p:sp>
        <p:nvSpPr>
          <p:cNvPr id="5" name="Slide Number Placeholder 4">
            <a:extLst>
              <a:ext uri="{FF2B5EF4-FFF2-40B4-BE49-F238E27FC236}">
                <a16:creationId xmlns:a16="http://schemas.microsoft.com/office/drawing/2014/main" id="{559C8BD9-FBBD-42CC-B4A0-EDF613B82224}"/>
              </a:ext>
            </a:extLst>
          </p:cNvPr>
          <p:cNvSpPr>
            <a:spLocks noGrp="1"/>
          </p:cNvSpPr>
          <p:nvPr>
            <p:ph type="sldNum" sz="quarter" idx="12"/>
          </p:nvPr>
        </p:nvSpPr>
        <p:spPr/>
        <p:txBody>
          <a:bodyPr/>
          <a:lstStyle/>
          <a:p>
            <a:fld id="{B6F15528-21DE-4FAA-801E-634DDDAF4B2B}" type="slidenum">
              <a:rPr lang="en-US" smtClean="0"/>
              <a:t>36</a:t>
            </a:fld>
            <a:endParaRPr lang="en-US" dirty="0"/>
          </a:p>
        </p:txBody>
      </p:sp>
      <p:pic>
        <p:nvPicPr>
          <p:cNvPr id="4" name="Picture 3">
            <a:extLst>
              <a:ext uri="{FF2B5EF4-FFF2-40B4-BE49-F238E27FC236}">
                <a16:creationId xmlns:a16="http://schemas.microsoft.com/office/drawing/2014/main" id="{4429CF2B-60FE-47B4-A642-22BAAFD966BF}"/>
              </a:ext>
            </a:extLst>
          </p:cNvPr>
          <p:cNvPicPr>
            <a:picLocks noChangeAspect="1"/>
          </p:cNvPicPr>
          <p:nvPr/>
        </p:nvPicPr>
        <p:blipFill>
          <a:blip r:embed="rId3"/>
          <a:stretch>
            <a:fillRect/>
          </a:stretch>
        </p:blipFill>
        <p:spPr>
          <a:xfrm>
            <a:off x="1371600" y="4645430"/>
            <a:ext cx="7315200" cy="2593570"/>
          </a:xfrm>
          <a:prstGeom prst="rect">
            <a:avLst/>
          </a:prstGeom>
        </p:spPr>
      </p:pic>
    </p:spTree>
    <p:extLst>
      <p:ext uri="{BB962C8B-B14F-4D97-AF65-F5344CB8AC3E}">
        <p14:creationId xmlns:p14="http://schemas.microsoft.com/office/powerpoint/2010/main" val="4151136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66190182-0011-4ECF-AD57-044C0141211B}"/>
              </a:ext>
            </a:extLst>
          </p:cNvPr>
          <p:cNvSpPr>
            <a:spLocks noGrp="1"/>
          </p:cNvSpPr>
          <p:nvPr>
            <p:ph type="title"/>
          </p:nvPr>
        </p:nvSpPr>
        <p:spPr/>
        <p:txBody>
          <a:bodyPr/>
          <a:lstStyle/>
          <a:p>
            <a:r>
              <a:rPr lang="en-GB" dirty="0"/>
              <a:t>CMOS Comparator Example</a:t>
            </a:r>
          </a:p>
        </p:txBody>
      </p:sp>
      <p:sp>
        <p:nvSpPr>
          <p:cNvPr id="3" name="Slide Number Placeholder 2">
            <a:extLst>
              <a:ext uri="{FF2B5EF4-FFF2-40B4-BE49-F238E27FC236}">
                <a16:creationId xmlns:a16="http://schemas.microsoft.com/office/drawing/2014/main" id="{1027AE3B-5250-4B30-A44A-24D8A136A64E}"/>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37</a:t>
            </a:fld>
            <a:endParaRPr lang="en-US" dirty="0"/>
          </a:p>
        </p:txBody>
      </p:sp>
      <p:sp>
        <p:nvSpPr>
          <p:cNvPr id="15" name="object 4">
            <a:extLst>
              <a:ext uri="{FF2B5EF4-FFF2-40B4-BE49-F238E27FC236}">
                <a16:creationId xmlns:a16="http://schemas.microsoft.com/office/drawing/2014/main" id="{06308E9C-CF48-4CE5-9702-2D77AD279E0E}"/>
              </a:ext>
            </a:extLst>
          </p:cNvPr>
          <p:cNvSpPr/>
          <p:nvPr/>
        </p:nvSpPr>
        <p:spPr>
          <a:xfrm>
            <a:off x="1035662" y="1742136"/>
            <a:ext cx="7980370" cy="5324686"/>
          </a:xfrm>
          <a:prstGeom prst="rect">
            <a:avLst/>
          </a:prstGeom>
          <a:blipFill>
            <a:blip r:embed="rId2" cstate="print"/>
            <a:stretch>
              <a:fillRect/>
            </a:stretch>
          </a:blipFill>
        </p:spPr>
        <p:txBody>
          <a:bodyPr wrap="square" lIns="0" tIns="0" rIns="0" bIns="0" rtlCol="0"/>
          <a:lstStyle/>
          <a:p>
            <a:endParaRPr/>
          </a:p>
        </p:txBody>
      </p:sp>
      <p:sp>
        <p:nvSpPr>
          <p:cNvPr id="5" name="Date Placeholder 4">
            <a:extLst>
              <a:ext uri="{FF2B5EF4-FFF2-40B4-BE49-F238E27FC236}">
                <a16:creationId xmlns:a16="http://schemas.microsoft.com/office/drawing/2014/main" id="{AAC05D72-F97B-467F-9DF5-FE58DE01E1B2}"/>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84CCDED3-82BF-4B08-BA9B-F259A6BC722C}"/>
              </a:ext>
            </a:extLst>
          </p:cNvPr>
          <p:cNvSpPr>
            <a:spLocks noGrp="1"/>
          </p:cNvSpPr>
          <p:nvPr>
            <p:ph type="ftr" sz="quarter" idx="11"/>
          </p:nvPr>
        </p:nvSpPr>
        <p:spPr/>
        <p:txBody>
          <a:bodyPr/>
          <a:lstStyle/>
          <a:p>
            <a:r>
              <a:rPr lang="en-US"/>
              <a:t>DN, 2020</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87C51D6-1846-4017-8568-9B0F2F290942}"/>
              </a:ext>
            </a:extLst>
          </p:cNvPr>
          <p:cNvSpPr>
            <a:spLocks noGrp="1"/>
          </p:cNvSpPr>
          <p:nvPr>
            <p:ph sz="quarter" idx="1"/>
          </p:nvPr>
        </p:nvSpPr>
        <p:spPr/>
        <p:txBody>
          <a:bodyPr>
            <a:noAutofit/>
          </a:bodyPr>
          <a:lstStyle/>
          <a:p>
            <a:pPr marL="393700" indent="-381000">
              <a:lnSpc>
                <a:spcPct val="100000"/>
              </a:lnSpc>
              <a:spcBef>
                <a:spcPts val="855"/>
              </a:spcBef>
              <a:buAutoNum type="arabicPeriod"/>
              <a:tabLst>
                <a:tab pos="393700" algn="l"/>
                <a:tab pos="394335" algn="l"/>
              </a:tabLst>
            </a:pPr>
            <a:r>
              <a:rPr lang="en-US" sz="3200" spc="-5" dirty="0">
                <a:solidFill>
                  <a:schemeClr val="bg1">
                    <a:lumMod val="50000"/>
                  </a:schemeClr>
                </a:solidFill>
                <a:latin typeface="Arial"/>
                <a:cs typeface="Arial"/>
              </a:rPr>
              <a:t>CMOS Comparators</a:t>
            </a:r>
          </a:p>
          <a:p>
            <a:pPr marL="393700" indent="-381000">
              <a:lnSpc>
                <a:spcPct val="100000"/>
              </a:lnSpc>
              <a:spcBef>
                <a:spcPts val="855"/>
              </a:spcBef>
              <a:buAutoNum type="arabicPeriod"/>
              <a:tabLst>
                <a:tab pos="393700" algn="l"/>
                <a:tab pos="394335" algn="l"/>
              </a:tabLst>
            </a:pPr>
            <a:r>
              <a:rPr lang="en-US" sz="3200" spc="-5" dirty="0">
                <a:latin typeface="Arial"/>
                <a:cs typeface="Arial"/>
              </a:rPr>
              <a:t>Analog Digital Converters</a:t>
            </a:r>
          </a:p>
        </p:txBody>
      </p:sp>
      <p:sp>
        <p:nvSpPr>
          <p:cNvPr id="7" name="Title 6">
            <a:extLst>
              <a:ext uri="{FF2B5EF4-FFF2-40B4-BE49-F238E27FC236}">
                <a16:creationId xmlns:a16="http://schemas.microsoft.com/office/drawing/2014/main" id="{FCA78B80-686C-4B97-8A96-88E129580C96}"/>
              </a:ext>
            </a:extLst>
          </p:cNvPr>
          <p:cNvSpPr>
            <a:spLocks noGrp="1"/>
          </p:cNvSpPr>
          <p:nvPr>
            <p:ph type="title"/>
          </p:nvPr>
        </p:nvSpPr>
        <p:spPr/>
        <p:txBody>
          <a:bodyPr/>
          <a:lstStyle/>
          <a:p>
            <a:r>
              <a:rPr lang="en-US" dirty="0"/>
              <a:t>Overview</a:t>
            </a:r>
            <a:endParaRPr lang="en-GB" dirty="0"/>
          </a:p>
        </p:txBody>
      </p:sp>
      <p:sp>
        <p:nvSpPr>
          <p:cNvPr id="3" name="Date Placeholder 2">
            <a:extLst>
              <a:ext uri="{FF2B5EF4-FFF2-40B4-BE49-F238E27FC236}">
                <a16:creationId xmlns:a16="http://schemas.microsoft.com/office/drawing/2014/main" id="{5FEA3462-1AEE-419E-8697-16FC229EA1B0}"/>
              </a:ext>
            </a:extLst>
          </p:cNvPr>
          <p:cNvSpPr>
            <a:spLocks noGrp="1"/>
          </p:cNvSpPr>
          <p:nvPr>
            <p:ph type="dt" sz="half" idx="10"/>
          </p:nvPr>
        </p:nvSpPr>
        <p:spPr>
          <a:xfrm>
            <a:off x="6370320" y="7258982"/>
            <a:ext cx="3349447" cy="414528"/>
          </a:xfrm>
        </p:spPr>
        <p:txBody>
          <a:bodyPr/>
          <a:lstStyle/>
          <a:p>
            <a:pPr marL="12700">
              <a:lnSpc>
                <a:spcPct val="100000"/>
              </a:lnSpc>
              <a:spcBef>
                <a:spcPts val="5"/>
              </a:spcBef>
            </a:pPr>
            <a:r>
              <a:rPr lang="en-US" spc="-5"/>
              <a:t>V.T.M</a:t>
            </a:r>
            <a:endParaRPr lang="en-US" spc="-5" dirty="0"/>
          </a:p>
        </p:txBody>
      </p:sp>
      <p:sp>
        <p:nvSpPr>
          <p:cNvPr id="5" name="Footer Placeholder 4">
            <a:extLst>
              <a:ext uri="{FF2B5EF4-FFF2-40B4-BE49-F238E27FC236}">
                <a16:creationId xmlns:a16="http://schemas.microsoft.com/office/drawing/2014/main" id="{C45FF1AD-C8E5-4E74-AFB6-ED1666B541DD}"/>
              </a:ext>
            </a:extLst>
          </p:cNvPr>
          <p:cNvSpPr>
            <a:spLocks noGrp="1"/>
          </p:cNvSpPr>
          <p:nvPr>
            <p:ph type="ftr" sz="quarter" idx="11"/>
          </p:nvPr>
        </p:nvSpPr>
        <p:spPr>
          <a:xfrm>
            <a:off x="335280" y="7265628"/>
            <a:ext cx="3939540" cy="414528"/>
          </a:xfrm>
        </p:spPr>
        <p:txBody>
          <a:bodyPr/>
          <a:lstStyle/>
          <a:p>
            <a:pPr marL="12700">
              <a:lnSpc>
                <a:spcPct val="100000"/>
              </a:lnSpc>
              <a:spcBef>
                <a:spcPts val="5"/>
              </a:spcBef>
            </a:pPr>
            <a:r>
              <a:rPr lang="en-US" spc="-10"/>
              <a:t>DN, 2020</a:t>
            </a:r>
            <a:endParaRPr lang="en-US" spc="-5" dirty="0"/>
          </a:p>
        </p:txBody>
      </p:sp>
      <p:sp>
        <p:nvSpPr>
          <p:cNvPr id="6" name="Slide Number Placeholder 5">
            <a:extLst>
              <a:ext uri="{FF2B5EF4-FFF2-40B4-BE49-F238E27FC236}">
                <a16:creationId xmlns:a16="http://schemas.microsoft.com/office/drawing/2014/main" id="{1A638CC1-2CA4-447C-A13C-680295F772E3}"/>
              </a:ext>
            </a:extLst>
          </p:cNvPr>
          <p:cNvSpPr>
            <a:spLocks noGrp="1"/>
          </p:cNvSpPr>
          <p:nvPr>
            <p:ph type="sldNum" sz="quarter" idx="12"/>
          </p:nvPr>
        </p:nvSpPr>
        <p:spPr>
          <a:xfrm>
            <a:off x="4777740" y="1178865"/>
            <a:ext cx="502920" cy="500168"/>
          </a:xfrm>
        </p:spPr>
        <p:txBody>
          <a:bodyPr/>
          <a:lstStyle/>
          <a:p>
            <a:pPr marL="25400">
              <a:lnSpc>
                <a:spcPct val="100000"/>
              </a:lnSpc>
              <a:spcBef>
                <a:spcPts val="5"/>
              </a:spcBef>
            </a:pPr>
            <a:fld id="{81D60167-4931-47E6-BA6A-407CBD079E47}" type="slidenum">
              <a:rPr lang="en-US" smtClean="0"/>
              <a:t>38</a:t>
            </a:fld>
            <a:endParaRPr lang="en-US" dirty="0"/>
          </a:p>
        </p:txBody>
      </p:sp>
    </p:spTree>
    <p:extLst>
      <p:ext uri="{BB962C8B-B14F-4D97-AF65-F5344CB8AC3E}">
        <p14:creationId xmlns:p14="http://schemas.microsoft.com/office/powerpoint/2010/main" val="915451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6264EF9-1EF6-476B-8F03-0311EEF59912}"/>
              </a:ext>
            </a:extLst>
          </p:cNvPr>
          <p:cNvSpPr>
            <a:spLocks noGrp="1"/>
          </p:cNvSpPr>
          <p:nvPr>
            <p:ph sz="quarter" idx="1"/>
          </p:nvPr>
        </p:nvSpPr>
        <p:spPr/>
        <p:txBody>
          <a:bodyPr>
            <a:normAutofit/>
          </a:bodyPr>
          <a:lstStyle/>
          <a:p>
            <a:r>
              <a:rPr lang="en-US" sz="2400" dirty="0">
                <a:latin typeface="Arial" panose="020B0604020202020204" pitchFamily="34" charset="0"/>
                <a:cs typeface="Arial" panose="020B0604020202020204" pitchFamily="34" charset="0"/>
              </a:rPr>
              <a:t>An electronic circuit which transforms a signal from analog (continuous) to digital (discrete) form.</a:t>
            </a:r>
          </a:p>
          <a:p>
            <a:r>
              <a:rPr lang="en-US" sz="2400" dirty="0">
                <a:latin typeface="Arial" panose="020B0604020202020204" pitchFamily="34" charset="0"/>
                <a:cs typeface="Arial" panose="020B0604020202020204" pitchFamily="34" charset="0"/>
              </a:rPr>
              <a:t>Analog signals are directly measurable quantities.</a:t>
            </a:r>
          </a:p>
          <a:p>
            <a:r>
              <a:rPr lang="en-US" sz="2400" dirty="0">
                <a:latin typeface="Arial" panose="020B0604020202020204" pitchFamily="34" charset="0"/>
                <a:cs typeface="Arial" panose="020B0604020202020204" pitchFamily="34" charset="0"/>
              </a:rPr>
              <a:t>Digital signals only have two states. For digital computer, we refer to binary states, 0 and 1.</a:t>
            </a:r>
          </a:p>
          <a:p>
            <a:pPr marL="0" indent="0" algn="ctr">
              <a:buNone/>
            </a:pPr>
            <a:r>
              <a:rPr lang="en-US" sz="2800" spc="-5" dirty="0"/>
              <a:t>Why </a:t>
            </a:r>
            <a:r>
              <a:rPr lang="en-US" sz="2800" spc="-10" dirty="0"/>
              <a:t>ADC </a:t>
            </a:r>
            <a:r>
              <a:rPr lang="en-US" sz="2800" spc="-5" dirty="0"/>
              <a:t>is needed?</a:t>
            </a:r>
            <a:endParaRPr lang="en-US" sz="28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Microprocessors can only perform complex processing on digitized signals.</a:t>
            </a:r>
          </a:p>
          <a:p>
            <a:r>
              <a:rPr lang="en-US" sz="2400" dirty="0">
                <a:latin typeface="Arial" panose="020B0604020202020204" pitchFamily="34" charset="0"/>
                <a:cs typeface="Arial" panose="020B0604020202020204" pitchFamily="34" charset="0"/>
              </a:rPr>
              <a:t>When signals are in digital form, they are less susceptible to the deleterious effects of additive noise.</a:t>
            </a:r>
          </a:p>
          <a:p>
            <a:r>
              <a:rPr lang="en-US" sz="2400" dirty="0">
                <a:latin typeface="Arial" panose="020B0604020202020204" pitchFamily="34" charset="0"/>
                <a:cs typeface="Arial" panose="020B0604020202020204" pitchFamily="34" charset="0"/>
              </a:rPr>
              <a:t>ADC provides a link between the analog world of transducers and the digital world of signal processing and data handling.</a:t>
            </a:r>
          </a:p>
          <a:p>
            <a:endParaRPr lang="en-GB" sz="2400" dirty="0">
              <a:latin typeface="Arial" panose="020B0604020202020204" pitchFamily="34" charset="0"/>
              <a:cs typeface="Arial" panose="020B0604020202020204" pitchFamily="34" charset="0"/>
            </a:endParaRPr>
          </a:p>
        </p:txBody>
      </p:sp>
      <p:sp>
        <p:nvSpPr>
          <p:cNvPr id="5" name="Title 4">
            <a:extLst>
              <a:ext uri="{FF2B5EF4-FFF2-40B4-BE49-F238E27FC236}">
                <a16:creationId xmlns:a16="http://schemas.microsoft.com/office/drawing/2014/main" id="{22BCD5DC-A002-4A4A-AE5E-88A7C9830B26}"/>
              </a:ext>
            </a:extLst>
          </p:cNvPr>
          <p:cNvSpPr>
            <a:spLocks noGrp="1"/>
          </p:cNvSpPr>
          <p:nvPr>
            <p:ph type="title"/>
          </p:nvPr>
        </p:nvSpPr>
        <p:spPr/>
        <p:txBody>
          <a:bodyPr/>
          <a:lstStyle/>
          <a:p>
            <a:r>
              <a:rPr lang="en-US" spc="-5" dirty="0"/>
              <a:t>What is</a:t>
            </a:r>
            <a:r>
              <a:rPr lang="en-US" spc="-80" dirty="0"/>
              <a:t> </a:t>
            </a:r>
            <a:r>
              <a:rPr lang="en-US" spc="-10" dirty="0"/>
              <a:t>ADC?</a:t>
            </a:r>
            <a:endParaRPr lang="en-GB" dirty="0"/>
          </a:p>
        </p:txBody>
      </p:sp>
      <p:sp>
        <p:nvSpPr>
          <p:cNvPr id="3" name="Date Placeholder 2">
            <a:extLst>
              <a:ext uri="{FF2B5EF4-FFF2-40B4-BE49-F238E27FC236}">
                <a16:creationId xmlns:a16="http://schemas.microsoft.com/office/drawing/2014/main" id="{847896D0-B66A-4288-90D0-703595A1A87D}"/>
              </a:ext>
            </a:extLst>
          </p:cNvPr>
          <p:cNvSpPr>
            <a:spLocks noGrp="1"/>
          </p:cNvSpPr>
          <p:nvPr>
            <p:ph type="dt" sz="half" idx="10"/>
          </p:nvPr>
        </p:nvSpPr>
        <p:spPr/>
        <p:txBody>
          <a:bodyPr/>
          <a:lstStyle/>
          <a:p>
            <a:r>
              <a:rPr lang="en-US"/>
              <a:t>V.T.M</a:t>
            </a:r>
            <a:endParaRPr lang="en-US" dirty="0"/>
          </a:p>
        </p:txBody>
      </p:sp>
      <p:sp>
        <p:nvSpPr>
          <p:cNvPr id="6" name="Footer Placeholder 5">
            <a:extLst>
              <a:ext uri="{FF2B5EF4-FFF2-40B4-BE49-F238E27FC236}">
                <a16:creationId xmlns:a16="http://schemas.microsoft.com/office/drawing/2014/main" id="{20EB6EF0-A9C7-4E76-BBB0-148615ECE61C}"/>
              </a:ext>
            </a:extLst>
          </p:cNvPr>
          <p:cNvSpPr>
            <a:spLocks noGrp="1"/>
          </p:cNvSpPr>
          <p:nvPr>
            <p:ph type="ftr" sz="quarter" idx="11"/>
          </p:nvPr>
        </p:nvSpPr>
        <p:spPr/>
        <p:txBody>
          <a:bodyPr/>
          <a:lstStyle/>
          <a:p>
            <a:r>
              <a:rPr lang="en-US" dirty="0"/>
              <a:t>DN, 2020</a:t>
            </a:r>
          </a:p>
        </p:txBody>
      </p:sp>
      <p:sp>
        <p:nvSpPr>
          <p:cNvPr id="2" name="Slide Number Placeholder 1">
            <a:extLst>
              <a:ext uri="{FF2B5EF4-FFF2-40B4-BE49-F238E27FC236}">
                <a16:creationId xmlns:a16="http://schemas.microsoft.com/office/drawing/2014/main" id="{DE1D4EC5-56B2-4A43-B66D-2643CCA10FA2}"/>
              </a:ext>
            </a:extLst>
          </p:cNvPr>
          <p:cNvSpPr>
            <a:spLocks noGrp="1"/>
          </p:cNvSpPr>
          <p:nvPr>
            <p:ph type="sldNum" sz="quarter" idx="12"/>
          </p:nvPr>
        </p:nvSpPr>
        <p:spPr/>
        <p:txBody>
          <a:bodyPr/>
          <a:lstStyle/>
          <a:p>
            <a:fld id="{B6F15528-21DE-4FAA-801E-634DDDAF4B2B}" type="slidenum">
              <a:rPr lang="en-US" smtClean="0"/>
              <a:t>39</a:t>
            </a:fld>
            <a:endParaRPr lang="en-US" dirty="0"/>
          </a:p>
        </p:txBody>
      </p:sp>
    </p:spTree>
    <p:extLst>
      <p:ext uri="{BB962C8B-B14F-4D97-AF65-F5344CB8AC3E}">
        <p14:creationId xmlns:p14="http://schemas.microsoft.com/office/powerpoint/2010/main" val="34053795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45">
            <a:extLst>
              <a:ext uri="{FF2B5EF4-FFF2-40B4-BE49-F238E27FC236}">
                <a16:creationId xmlns:a16="http://schemas.microsoft.com/office/drawing/2014/main" id="{CF44E12F-A970-44FB-9E42-8CDCF91EBEE4}"/>
              </a:ext>
            </a:extLst>
          </p:cNvPr>
          <p:cNvSpPr>
            <a:spLocks noChangeArrowheads="1"/>
          </p:cNvSpPr>
          <p:nvPr/>
        </p:nvSpPr>
        <p:spPr bwMode="auto">
          <a:xfrm>
            <a:off x="0" y="7406641"/>
            <a:ext cx="2095500" cy="249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44" name="Rectangle 46">
            <a:extLst>
              <a:ext uri="{FF2B5EF4-FFF2-40B4-BE49-F238E27FC236}">
                <a16:creationId xmlns:a16="http://schemas.microsoft.com/office/drawing/2014/main" id="{383341DE-11CC-468E-9D1B-7A126012B6F5}"/>
              </a:ext>
            </a:extLst>
          </p:cNvPr>
          <p:cNvSpPr>
            <a:spLocks noChangeArrowheads="1"/>
          </p:cNvSpPr>
          <p:nvPr/>
        </p:nvSpPr>
        <p:spPr bwMode="auto">
          <a:xfrm>
            <a:off x="3436620" y="6987540"/>
            <a:ext cx="318516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45" name="Rectangle 47">
            <a:extLst>
              <a:ext uri="{FF2B5EF4-FFF2-40B4-BE49-F238E27FC236}">
                <a16:creationId xmlns:a16="http://schemas.microsoft.com/office/drawing/2014/main" id="{B75EE3A3-E032-45A0-AA25-F9FEA2B9EAD0}"/>
              </a:ext>
            </a:extLst>
          </p:cNvPr>
          <p:cNvSpPr>
            <a:spLocks noChangeArrowheads="1"/>
          </p:cNvSpPr>
          <p:nvPr/>
        </p:nvSpPr>
        <p:spPr bwMode="auto">
          <a:xfrm>
            <a:off x="754380" y="6987540"/>
            <a:ext cx="209550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46" name="Rectangle 48">
            <a:extLst>
              <a:ext uri="{FF2B5EF4-FFF2-40B4-BE49-F238E27FC236}">
                <a16:creationId xmlns:a16="http://schemas.microsoft.com/office/drawing/2014/main" id="{E1E4E32A-6899-4DCB-A6A2-B78D2DD8F775}"/>
              </a:ext>
            </a:extLst>
          </p:cNvPr>
          <p:cNvSpPr>
            <a:spLocks noChangeArrowheads="1"/>
          </p:cNvSpPr>
          <p:nvPr/>
        </p:nvSpPr>
        <p:spPr bwMode="auto">
          <a:xfrm>
            <a:off x="3436620" y="6987540"/>
            <a:ext cx="318516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47" name="Rectangle 49">
            <a:extLst>
              <a:ext uri="{FF2B5EF4-FFF2-40B4-BE49-F238E27FC236}">
                <a16:creationId xmlns:a16="http://schemas.microsoft.com/office/drawing/2014/main" id="{F74AD633-AB3C-4EA7-A998-916009CD660C}"/>
              </a:ext>
            </a:extLst>
          </p:cNvPr>
          <p:cNvSpPr>
            <a:spLocks noChangeArrowheads="1"/>
          </p:cNvSpPr>
          <p:nvPr/>
        </p:nvSpPr>
        <p:spPr bwMode="auto">
          <a:xfrm>
            <a:off x="754380" y="6987540"/>
            <a:ext cx="209550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48" name="Rectangle 50">
            <a:extLst>
              <a:ext uri="{FF2B5EF4-FFF2-40B4-BE49-F238E27FC236}">
                <a16:creationId xmlns:a16="http://schemas.microsoft.com/office/drawing/2014/main" id="{337FBCE7-466E-48A9-A0BB-2874DA6B8533}"/>
              </a:ext>
            </a:extLst>
          </p:cNvPr>
          <p:cNvSpPr>
            <a:spLocks noChangeArrowheads="1"/>
          </p:cNvSpPr>
          <p:nvPr/>
        </p:nvSpPr>
        <p:spPr bwMode="auto">
          <a:xfrm>
            <a:off x="3436620" y="6987540"/>
            <a:ext cx="318516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grpSp>
        <p:nvGrpSpPr>
          <p:cNvPr id="10249" name="Group 52">
            <a:extLst>
              <a:ext uri="{FF2B5EF4-FFF2-40B4-BE49-F238E27FC236}">
                <a16:creationId xmlns:a16="http://schemas.microsoft.com/office/drawing/2014/main" id="{32DF0B75-56E9-400D-9C14-AF2BB0DA1665}"/>
              </a:ext>
            </a:extLst>
          </p:cNvPr>
          <p:cNvGrpSpPr>
            <a:grpSpLocks/>
          </p:cNvGrpSpPr>
          <p:nvPr/>
        </p:nvGrpSpPr>
        <p:grpSpPr bwMode="auto">
          <a:xfrm>
            <a:off x="251461" y="2042160"/>
            <a:ext cx="9372125" cy="4414520"/>
            <a:chOff x="97" y="1304"/>
            <a:chExt cx="5367" cy="2528"/>
          </a:xfrm>
        </p:grpSpPr>
        <p:sp>
          <p:nvSpPr>
            <p:cNvPr id="10251" name="Rectangle 53">
              <a:extLst>
                <a:ext uri="{FF2B5EF4-FFF2-40B4-BE49-F238E27FC236}">
                  <a16:creationId xmlns:a16="http://schemas.microsoft.com/office/drawing/2014/main" id="{864CE611-31F8-4056-9872-3164CE544A2C}"/>
                </a:ext>
              </a:extLst>
            </p:cNvPr>
            <p:cNvSpPr>
              <a:spLocks noChangeArrowheads="1"/>
            </p:cNvSpPr>
            <p:nvPr/>
          </p:nvSpPr>
          <p:spPr bwMode="auto">
            <a:xfrm>
              <a:off x="440" y="1304"/>
              <a:ext cx="368" cy="1088"/>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52" name="Rectangle 54">
              <a:extLst>
                <a:ext uri="{FF2B5EF4-FFF2-40B4-BE49-F238E27FC236}">
                  <a16:creationId xmlns:a16="http://schemas.microsoft.com/office/drawing/2014/main" id="{EFCF1ABE-0263-4631-86E9-55F504D91574}"/>
                </a:ext>
              </a:extLst>
            </p:cNvPr>
            <p:cNvSpPr>
              <a:spLocks noChangeArrowheads="1"/>
            </p:cNvSpPr>
            <p:nvPr/>
          </p:nvSpPr>
          <p:spPr bwMode="auto">
            <a:xfrm>
              <a:off x="2024" y="1592"/>
              <a:ext cx="800" cy="560"/>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53" name="Rectangle 55">
              <a:extLst>
                <a:ext uri="{FF2B5EF4-FFF2-40B4-BE49-F238E27FC236}">
                  <a16:creationId xmlns:a16="http://schemas.microsoft.com/office/drawing/2014/main" id="{1208D227-D164-4B14-BE17-DD28AC40B87A}"/>
                </a:ext>
              </a:extLst>
            </p:cNvPr>
            <p:cNvSpPr>
              <a:spLocks noChangeArrowheads="1"/>
            </p:cNvSpPr>
            <p:nvPr/>
          </p:nvSpPr>
          <p:spPr bwMode="auto">
            <a:xfrm>
              <a:off x="3272" y="1592"/>
              <a:ext cx="800" cy="560"/>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54" name="Rectangle 56">
              <a:extLst>
                <a:ext uri="{FF2B5EF4-FFF2-40B4-BE49-F238E27FC236}">
                  <a16:creationId xmlns:a16="http://schemas.microsoft.com/office/drawing/2014/main" id="{EA7BAFAB-BA26-4AF5-B47B-F76C00D94EB7}"/>
                </a:ext>
              </a:extLst>
            </p:cNvPr>
            <p:cNvSpPr>
              <a:spLocks noChangeArrowheads="1"/>
            </p:cNvSpPr>
            <p:nvPr/>
          </p:nvSpPr>
          <p:spPr bwMode="auto">
            <a:xfrm>
              <a:off x="4616" y="1592"/>
              <a:ext cx="848" cy="2192"/>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55" name="Rectangle 57">
              <a:extLst>
                <a:ext uri="{FF2B5EF4-FFF2-40B4-BE49-F238E27FC236}">
                  <a16:creationId xmlns:a16="http://schemas.microsoft.com/office/drawing/2014/main" id="{D34E7CF4-0E9D-4C43-A6D1-1169B19082F4}"/>
                </a:ext>
              </a:extLst>
            </p:cNvPr>
            <p:cNvSpPr>
              <a:spLocks noChangeArrowheads="1"/>
            </p:cNvSpPr>
            <p:nvPr/>
          </p:nvSpPr>
          <p:spPr bwMode="auto">
            <a:xfrm>
              <a:off x="2024" y="3032"/>
              <a:ext cx="800" cy="560"/>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56" name="Rectangle 58">
              <a:extLst>
                <a:ext uri="{FF2B5EF4-FFF2-40B4-BE49-F238E27FC236}">
                  <a16:creationId xmlns:a16="http://schemas.microsoft.com/office/drawing/2014/main" id="{EF3E5930-BB75-4462-9FD4-B9C2D1A93343}"/>
                </a:ext>
              </a:extLst>
            </p:cNvPr>
            <p:cNvSpPr>
              <a:spLocks noChangeArrowheads="1"/>
            </p:cNvSpPr>
            <p:nvPr/>
          </p:nvSpPr>
          <p:spPr bwMode="auto">
            <a:xfrm>
              <a:off x="3272" y="3032"/>
              <a:ext cx="800" cy="560"/>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57" name="Rectangle 59">
              <a:extLst>
                <a:ext uri="{FF2B5EF4-FFF2-40B4-BE49-F238E27FC236}">
                  <a16:creationId xmlns:a16="http://schemas.microsoft.com/office/drawing/2014/main" id="{FA84FA45-66B7-42D2-B04A-36631555A647}"/>
                </a:ext>
              </a:extLst>
            </p:cNvPr>
            <p:cNvSpPr>
              <a:spLocks noChangeArrowheads="1"/>
            </p:cNvSpPr>
            <p:nvPr/>
          </p:nvSpPr>
          <p:spPr bwMode="auto">
            <a:xfrm>
              <a:off x="440" y="2744"/>
              <a:ext cx="368" cy="1088"/>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58" name="Line 60">
              <a:extLst>
                <a:ext uri="{FF2B5EF4-FFF2-40B4-BE49-F238E27FC236}">
                  <a16:creationId xmlns:a16="http://schemas.microsoft.com/office/drawing/2014/main" id="{6CA75664-13D2-4227-8FA3-70BFFBA4A1EA}"/>
                </a:ext>
              </a:extLst>
            </p:cNvPr>
            <p:cNvSpPr>
              <a:spLocks noChangeShapeType="1"/>
            </p:cNvSpPr>
            <p:nvPr/>
          </p:nvSpPr>
          <p:spPr bwMode="auto">
            <a:xfrm>
              <a:off x="97" y="1392"/>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59" name="Line 61">
              <a:extLst>
                <a:ext uri="{FF2B5EF4-FFF2-40B4-BE49-F238E27FC236}">
                  <a16:creationId xmlns:a16="http://schemas.microsoft.com/office/drawing/2014/main" id="{6C17080C-B958-498F-AB23-A1E4E68C2FDC}"/>
                </a:ext>
              </a:extLst>
            </p:cNvPr>
            <p:cNvSpPr>
              <a:spLocks noChangeShapeType="1"/>
            </p:cNvSpPr>
            <p:nvPr/>
          </p:nvSpPr>
          <p:spPr bwMode="auto">
            <a:xfrm>
              <a:off x="97" y="1680"/>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0" name="Line 62">
              <a:extLst>
                <a:ext uri="{FF2B5EF4-FFF2-40B4-BE49-F238E27FC236}">
                  <a16:creationId xmlns:a16="http://schemas.microsoft.com/office/drawing/2014/main" id="{A14A7FE0-FC85-43AC-8C8B-2D69BE4D8768}"/>
                </a:ext>
              </a:extLst>
            </p:cNvPr>
            <p:cNvSpPr>
              <a:spLocks noChangeShapeType="1"/>
            </p:cNvSpPr>
            <p:nvPr/>
          </p:nvSpPr>
          <p:spPr bwMode="auto">
            <a:xfrm>
              <a:off x="97" y="2016"/>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1" name="Line 63">
              <a:extLst>
                <a:ext uri="{FF2B5EF4-FFF2-40B4-BE49-F238E27FC236}">
                  <a16:creationId xmlns:a16="http://schemas.microsoft.com/office/drawing/2014/main" id="{98AE6060-358D-4F13-92D6-84E006409B50}"/>
                </a:ext>
              </a:extLst>
            </p:cNvPr>
            <p:cNvSpPr>
              <a:spLocks noChangeShapeType="1"/>
            </p:cNvSpPr>
            <p:nvPr/>
          </p:nvSpPr>
          <p:spPr bwMode="auto">
            <a:xfrm>
              <a:off x="97" y="2256"/>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2" name="Line 64">
              <a:extLst>
                <a:ext uri="{FF2B5EF4-FFF2-40B4-BE49-F238E27FC236}">
                  <a16:creationId xmlns:a16="http://schemas.microsoft.com/office/drawing/2014/main" id="{7FD7050C-74F0-4E36-B7E8-057F88E29642}"/>
                </a:ext>
              </a:extLst>
            </p:cNvPr>
            <p:cNvSpPr>
              <a:spLocks noChangeShapeType="1"/>
            </p:cNvSpPr>
            <p:nvPr/>
          </p:nvSpPr>
          <p:spPr bwMode="auto">
            <a:xfrm>
              <a:off x="817" y="1872"/>
              <a:ext cx="383"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3" name="Line 65">
              <a:extLst>
                <a:ext uri="{FF2B5EF4-FFF2-40B4-BE49-F238E27FC236}">
                  <a16:creationId xmlns:a16="http://schemas.microsoft.com/office/drawing/2014/main" id="{09181815-A88F-4569-A2C4-3661ECACFDF3}"/>
                </a:ext>
              </a:extLst>
            </p:cNvPr>
            <p:cNvSpPr>
              <a:spLocks noChangeShapeType="1"/>
            </p:cNvSpPr>
            <p:nvPr/>
          </p:nvSpPr>
          <p:spPr bwMode="auto">
            <a:xfrm>
              <a:off x="1729" y="1872"/>
              <a:ext cx="287"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4" name="Line 66">
              <a:extLst>
                <a:ext uri="{FF2B5EF4-FFF2-40B4-BE49-F238E27FC236}">
                  <a16:creationId xmlns:a16="http://schemas.microsoft.com/office/drawing/2014/main" id="{685E79F6-5D23-496C-8C2E-C1DA05FB3A26}"/>
                </a:ext>
              </a:extLst>
            </p:cNvPr>
            <p:cNvSpPr>
              <a:spLocks noChangeShapeType="1"/>
            </p:cNvSpPr>
            <p:nvPr/>
          </p:nvSpPr>
          <p:spPr bwMode="auto">
            <a:xfrm>
              <a:off x="2833" y="1872"/>
              <a:ext cx="431"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5" name="Line 67">
              <a:extLst>
                <a:ext uri="{FF2B5EF4-FFF2-40B4-BE49-F238E27FC236}">
                  <a16:creationId xmlns:a16="http://schemas.microsoft.com/office/drawing/2014/main" id="{D468BA06-027B-4FE8-A757-D003664C787D}"/>
                </a:ext>
              </a:extLst>
            </p:cNvPr>
            <p:cNvSpPr>
              <a:spLocks noChangeShapeType="1"/>
            </p:cNvSpPr>
            <p:nvPr/>
          </p:nvSpPr>
          <p:spPr bwMode="auto">
            <a:xfrm>
              <a:off x="4081" y="1872"/>
              <a:ext cx="527"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6" name="Line 68">
              <a:extLst>
                <a:ext uri="{FF2B5EF4-FFF2-40B4-BE49-F238E27FC236}">
                  <a16:creationId xmlns:a16="http://schemas.microsoft.com/office/drawing/2014/main" id="{48B02D68-CAD1-4898-994A-4D000642DF5E}"/>
                </a:ext>
              </a:extLst>
            </p:cNvPr>
            <p:cNvSpPr>
              <a:spLocks noChangeShapeType="1"/>
            </p:cNvSpPr>
            <p:nvPr/>
          </p:nvSpPr>
          <p:spPr bwMode="auto">
            <a:xfrm flipH="1">
              <a:off x="4081" y="3312"/>
              <a:ext cx="527"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7" name="Line 69">
              <a:extLst>
                <a:ext uri="{FF2B5EF4-FFF2-40B4-BE49-F238E27FC236}">
                  <a16:creationId xmlns:a16="http://schemas.microsoft.com/office/drawing/2014/main" id="{142D4C0B-87D6-475F-A167-0BA3AF24F4BF}"/>
                </a:ext>
              </a:extLst>
            </p:cNvPr>
            <p:cNvSpPr>
              <a:spLocks noChangeShapeType="1"/>
            </p:cNvSpPr>
            <p:nvPr/>
          </p:nvSpPr>
          <p:spPr bwMode="auto">
            <a:xfrm flipH="1">
              <a:off x="2833" y="3312"/>
              <a:ext cx="431"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8" name="Line 70">
              <a:extLst>
                <a:ext uri="{FF2B5EF4-FFF2-40B4-BE49-F238E27FC236}">
                  <a16:creationId xmlns:a16="http://schemas.microsoft.com/office/drawing/2014/main" id="{4BD0B254-7B25-49D2-8490-5E3A5292F1FC}"/>
                </a:ext>
              </a:extLst>
            </p:cNvPr>
            <p:cNvSpPr>
              <a:spLocks noChangeShapeType="1"/>
            </p:cNvSpPr>
            <p:nvPr/>
          </p:nvSpPr>
          <p:spPr bwMode="auto">
            <a:xfrm flipH="1">
              <a:off x="1681" y="3312"/>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69" name="Line 71">
              <a:extLst>
                <a:ext uri="{FF2B5EF4-FFF2-40B4-BE49-F238E27FC236}">
                  <a16:creationId xmlns:a16="http://schemas.microsoft.com/office/drawing/2014/main" id="{14F90B63-D93C-437A-BC0F-3E44252A830E}"/>
                </a:ext>
              </a:extLst>
            </p:cNvPr>
            <p:cNvSpPr>
              <a:spLocks noChangeShapeType="1"/>
            </p:cNvSpPr>
            <p:nvPr/>
          </p:nvSpPr>
          <p:spPr bwMode="auto">
            <a:xfrm flipH="1">
              <a:off x="817" y="3312"/>
              <a:ext cx="383"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70" name="Line 72">
              <a:extLst>
                <a:ext uri="{FF2B5EF4-FFF2-40B4-BE49-F238E27FC236}">
                  <a16:creationId xmlns:a16="http://schemas.microsoft.com/office/drawing/2014/main" id="{36A184EC-A758-421D-AADE-76C926A7BE2A}"/>
                </a:ext>
              </a:extLst>
            </p:cNvPr>
            <p:cNvSpPr>
              <a:spLocks noChangeShapeType="1"/>
            </p:cNvSpPr>
            <p:nvPr/>
          </p:nvSpPr>
          <p:spPr bwMode="auto">
            <a:xfrm flipH="1">
              <a:off x="97" y="3696"/>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71" name="Line 73">
              <a:extLst>
                <a:ext uri="{FF2B5EF4-FFF2-40B4-BE49-F238E27FC236}">
                  <a16:creationId xmlns:a16="http://schemas.microsoft.com/office/drawing/2014/main" id="{3217FCD9-05EA-4044-837E-C5036713D5DA}"/>
                </a:ext>
              </a:extLst>
            </p:cNvPr>
            <p:cNvSpPr>
              <a:spLocks noChangeShapeType="1"/>
            </p:cNvSpPr>
            <p:nvPr/>
          </p:nvSpPr>
          <p:spPr bwMode="auto">
            <a:xfrm flipH="1">
              <a:off x="97" y="3456"/>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72" name="Line 74">
              <a:extLst>
                <a:ext uri="{FF2B5EF4-FFF2-40B4-BE49-F238E27FC236}">
                  <a16:creationId xmlns:a16="http://schemas.microsoft.com/office/drawing/2014/main" id="{1CD45D74-FF46-4160-96DA-E70D5C14993B}"/>
                </a:ext>
              </a:extLst>
            </p:cNvPr>
            <p:cNvSpPr>
              <a:spLocks noChangeShapeType="1"/>
            </p:cNvSpPr>
            <p:nvPr/>
          </p:nvSpPr>
          <p:spPr bwMode="auto">
            <a:xfrm flipH="1">
              <a:off x="97" y="3168"/>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73" name="Line 75">
              <a:extLst>
                <a:ext uri="{FF2B5EF4-FFF2-40B4-BE49-F238E27FC236}">
                  <a16:creationId xmlns:a16="http://schemas.microsoft.com/office/drawing/2014/main" id="{335E4A01-E356-4BE5-B0F1-340FE97F490C}"/>
                </a:ext>
              </a:extLst>
            </p:cNvPr>
            <p:cNvSpPr>
              <a:spLocks noChangeShapeType="1"/>
            </p:cNvSpPr>
            <p:nvPr/>
          </p:nvSpPr>
          <p:spPr bwMode="auto">
            <a:xfrm flipH="1">
              <a:off x="97" y="2880"/>
              <a:ext cx="33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74" name="Rectangle 76">
              <a:extLst>
                <a:ext uri="{FF2B5EF4-FFF2-40B4-BE49-F238E27FC236}">
                  <a16:creationId xmlns:a16="http://schemas.microsoft.com/office/drawing/2014/main" id="{45D3F24F-644C-4695-A931-FB21ED97B5D7}"/>
                </a:ext>
              </a:extLst>
            </p:cNvPr>
            <p:cNvSpPr>
              <a:spLocks noChangeArrowheads="1"/>
            </p:cNvSpPr>
            <p:nvPr/>
          </p:nvSpPr>
          <p:spPr bwMode="auto">
            <a:xfrm>
              <a:off x="425" y="1778"/>
              <a:ext cx="404"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MUX</a:t>
              </a:r>
            </a:p>
          </p:txBody>
        </p:sp>
        <p:sp>
          <p:nvSpPr>
            <p:cNvPr id="10275" name="Rectangle 77">
              <a:extLst>
                <a:ext uri="{FF2B5EF4-FFF2-40B4-BE49-F238E27FC236}">
                  <a16:creationId xmlns:a16="http://schemas.microsoft.com/office/drawing/2014/main" id="{2B1CF93C-40A4-437C-BC48-70BB9967F008}"/>
                </a:ext>
              </a:extLst>
            </p:cNvPr>
            <p:cNvSpPr>
              <a:spLocks noChangeArrowheads="1"/>
            </p:cNvSpPr>
            <p:nvPr/>
          </p:nvSpPr>
          <p:spPr bwMode="auto">
            <a:xfrm>
              <a:off x="2003" y="1649"/>
              <a:ext cx="84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540" b="1"/>
                <a:t>ANALOG</a:t>
              </a:r>
            </a:p>
            <a:p>
              <a:r>
                <a:rPr lang="en-US" altLang="en-US" sz="1540" b="1"/>
                <a:t>SIGNAL</a:t>
              </a:r>
            </a:p>
            <a:p>
              <a:r>
                <a:rPr lang="en-US" altLang="en-US" sz="1540" b="1"/>
                <a:t>PROCESSOR</a:t>
              </a:r>
            </a:p>
          </p:txBody>
        </p:sp>
        <p:sp>
          <p:nvSpPr>
            <p:cNvPr id="10276" name="Rectangle 78">
              <a:extLst>
                <a:ext uri="{FF2B5EF4-FFF2-40B4-BE49-F238E27FC236}">
                  <a16:creationId xmlns:a16="http://schemas.microsoft.com/office/drawing/2014/main" id="{CBF61DC1-4A48-4665-A9B1-12A0DC4CE820}"/>
                </a:ext>
              </a:extLst>
            </p:cNvPr>
            <p:cNvSpPr>
              <a:spLocks noChangeArrowheads="1"/>
            </p:cNvSpPr>
            <p:nvPr/>
          </p:nvSpPr>
          <p:spPr bwMode="auto">
            <a:xfrm>
              <a:off x="3267" y="1688"/>
              <a:ext cx="82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540" b="1"/>
                <a:t>A - D</a:t>
              </a:r>
            </a:p>
            <a:p>
              <a:r>
                <a:rPr lang="en-US" altLang="en-US" sz="1540" b="1"/>
                <a:t>CONVERTER</a:t>
              </a:r>
            </a:p>
          </p:txBody>
        </p:sp>
        <p:sp>
          <p:nvSpPr>
            <p:cNvPr id="10277" name="Rectangle 79">
              <a:extLst>
                <a:ext uri="{FF2B5EF4-FFF2-40B4-BE49-F238E27FC236}">
                  <a16:creationId xmlns:a16="http://schemas.microsoft.com/office/drawing/2014/main" id="{CED3F9AD-1954-4BF7-9AD8-7F9D25E8F5FA}"/>
                </a:ext>
              </a:extLst>
            </p:cNvPr>
            <p:cNvSpPr>
              <a:spLocks noChangeArrowheads="1"/>
            </p:cNvSpPr>
            <p:nvPr/>
          </p:nvSpPr>
          <p:spPr bwMode="auto">
            <a:xfrm>
              <a:off x="3264" y="3149"/>
              <a:ext cx="82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540" b="1"/>
                <a:t>D - A</a:t>
              </a:r>
            </a:p>
            <a:p>
              <a:r>
                <a:rPr lang="en-US" altLang="en-US" sz="1540" b="1"/>
                <a:t>CONVERTER</a:t>
              </a:r>
            </a:p>
          </p:txBody>
        </p:sp>
        <p:sp>
          <p:nvSpPr>
            <p:cNvPr id="10278" name="Rectangle 80">
              <a:extLst>
                <a:ext uri="{FF2B5EF4-FFF2-40B4-BE49-F238E27FC236}">
                  <a16:creationId xmlns:a16="http://schemas.microsoft.com/office/drawing/2014/main" id="{BE18CA55-4407-454F-8CB7-1468B6EE5568}"/>
                </a:ext>
              </a:extLst>
            </p:cNvPr>
            <p:cNvSpPr>
              <a:spLocks noChangeArrowheads="1"/>
            </p:cNvSpPr>
            <p:nvPr/>
          </p:nvSpPr>
          <p:spPr bwMode="auto">
            <a:xfrm>
              <a:off x="2009" y="3074"/>
              <a:ext cx="84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540" b="1"/>
                <a:t>ANALOG</a:t>
              </a:r>
            </a:p>
            <a:p>
              <a:r>
                <a:rPr lang="en-US" altLang="en-US" sz="1540" b="1"/>
                <a:t>SIGNAL</a:t>
              </a:r>
            </a:p>
            <a:p>
              <a:r>
                <a:rPr lang="en-US" altLang="en-US" sz="1540" b="1"/>
                <a:t>PROCESSOR</a:t>
              </a:r>
            </a:p>
          </p:txBody>
        </p:sp>
        <p:sp>
          <p:nvSpPr>
            <p:cNvPr id="10279" name="Rectangle 81">
              <a:extLst>
                <a:ext uri="{FF2B5EF4-FFF2-40B4-BE49-F238E27FC236}">
                  <a16:creationId xmlns:a16="http://schemas.microsoft.com/office/drawing/2014/main" id="{8CA0FD0B-1945-4FD4-8954-A0222E4AD863}"/>
                </a:ext>
              </a:extLst>
            </p:cNvPr>
            <p:cNvSpPr>
              <a:spLocks noChangeArrowheads="1"/>
            </p:cNvSpPr>
            <p:nvPr/>
          </p:nvSpPr>
          <p:spPr bwMode="auto">
            <a:xfrm>
              <a:off x="422" y="3176"/>
              <a:ext cx="404"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MUX</a:t>
              </a:r>
            </a:p>
          </p:txBody>
        </p:sp>
        <p:sp>
          <p:nvSpPr>
            <p:cNvPr id="10280" name="Rectangle 82">
              <a:extLst>
                <a:ext uri="{FF2B5EF4-FFF2-40B4-BE49-F238E27FC236}">
                  <a16:creationId xmlns:a16="http://schemas.microsoft.com/office/drawing/2014/main" id="{633FDD96-7922-4CCB-84D9-103F8982E3D2}"/>
                </a:ext>
              </a:extLst>
            </p:cNvPr>
            <p:cNvSpPr>
              <a:spLocks noChangeArrowheads="1"/>
            </p:cNvSpPr>
            <p:nvPr/>
          </p:nvSpPr>
          <p:spPr bwMode="auto">
            <a:xfrm>
              <a:off x="4621" y="2354"/>
              <a:ext cx="840"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540" b="1"/>
                <a:t>MICRO</a:t>
              </a:r>
            </a:p>
            <a:p>
              <a:r>
                <a:rPr lang="en-US" altLang="en-US" sz="1540" b="1"/>
                <a:t>PROCESSOR</a:t>
              </a:r>
            </a:p>
            <a:p>
              <a:r>
                <a:rPr lang="en-US" altLang="en-US" sz="1540" b="1"/>
                <a:t>OR</a:t>
              </a:r>
            </a:p>
            <a:p>
              <a:r>
                <a:rPr lang="en-US" altLang="en-US" sz="1540" b="1"/>
                <a:t>DSP</a:t>
              </a:r>
            </a:p>
            <a:p>
              <a:r>
                <a:rPr lang="en-US" altLang="en-US" sz="1540" b="1"/>
                <a:t>PROCESSOR</a:t>
              </a:r>
            </a:p>
          </p:txBody>
        </p:sp>
        <p:sp>
          <p:nvSpPr>
            <p:cNvPr id="10281" name="Line 83">
              <a:extLst>
                <a:ext uri="{FF2B5EF4-FFF2-40B4-BE49-F238E27FC236}">
                  <a16:creationId xmlns:a16="http://schemas.microsoft.com/office/drawing/2014/main" id="{E2886529-4D73-4A15-B03F-1FDC4F177CB2}"/>
                </a:ext>
              </a:extLst>
            </p:cNvPr>
            <p:cNvSpPr>
              <a:spLocks noChangeShapeType="1"/>
            </p:cNvSpPr>
            <p:nvPr/>
          </p:nvSpPr>
          <p:spPr bwMode="auto">
            <a:xfrm>
              <a:off x="3696" y="2161"/>
              <a:ext cx="0" cy="863"/>
            </a:xfrm>
            <a:prstGeom prst="line">
              <a:avLst/>
            </a:prstGeom>
            <a:noFill/>
            <a:ln w="254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82" name="Rectangle 84">
              <a:extLst>
                <a:ext uri="{FF2B5EF4-FFF2-40B4-BE49-F238E27FC236}">
                  <a16:creationId xmlns:a16="http://schemas.microsoft.com/office/drawing/2014/main" id="{B9139CF6-C613-4C96-974C-59C7793D27A3}"/>
                </a:ext>
              </a:extLst>
            </p:cNvPr>
            <p:cNvSpPr>
              <a:spLocks noChangeArrowheads="1"/>
            </p:cNvSpPr>
            <p:nvPr/>
          </p:nvSpPr>
          <p:spPr bwMode="auto">
            <a:xfrm>
              <a:off x="3272" y="2444"/>
              <a:ext cx="800" cy="230"/>
            </a:xfrm>
            <a:prstGeom prst="rect">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83" name="Rectangle 85">
              <a:extLst>
                <a:ext uri="{FF2B5EF4-FFF2-40B4-BE49-F238E27FC236}">
                  <a16:creationId xmlns:a16="http://schemas.microsoft.com/office/drawing/2014/main" id="{BBBA838F-1FA0-4F64-8E75-53F493BD6D0C}"/>
                </a:ext>
              </a:extLst>
            </p:cNvPr>
            <p:cNvSpPr>
              <a:spLocks noChangeArrowheads="1"/>
            </p:cNvSpPr>
            <p:nvPr/>
          </p:nvSpPr>
          <p:spPr bwMode="auto">
            <a:xfrm>
              <a:off x="3278" y="2462"/>
              <a:ext cx="81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540" b="1"/>
                <a:t>REFERENCE</a:t>
              </a:r>
            </a:p>
          </p:txBody>
        </p:sp>
        <p:sp>
          <p:nvSpPr>
            <p:cNvPr id="10284" name="Rectangle 86">
              <a:extLst>
                <a:ext uri="{FF2B5EF4-FFF2-40B4-BE49-F238E27FC236}">
                  <a16:creationId xmlns:a16="http://schemas.microsoft.com/office/drawing/2014/main" id="{5DDFF37C-D35B-49FF-998C-4213554F7BCF}"/>
                </a:ext>
              </a:extLst>
            </p:cNvPr>
            <p:cNvSpPr>
              <a:spLocks noChangeArrowheads="1"/>
            </p:cNvSpPr>
            <p:nvPr/>
          </p:nvSpPr>
          <p:spPr bwMode="auto">
            <a:xfrm>
              <a:off x="1961" y="2333"/>
              <a:ext cx="997" cy="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buFontTx/>
                <a:buChar char="•"/>
              </a:pPr>
              <a:r>
                <a:rPr lang="en-US" altLang="en-US" sz="1320" b="1"/>
                <a:t> Multiplier/Divider</a:t>
              </a:r>
            </a:p>
            <a:p>
              <a:pPr algn="l">
                <a:buFontTx/>
                <a:buChar char="•"/>
              </a:pPr>
              <a:r>
                <a:rPr lang="en-US" altLang="en-US" sz="1320" b="1"/>
                <a:t> Log Amplifier</a:t>
              </a:r>
            </a:p>
            <a:p>
              <a:pPr algn="l">
                <a:buFontTx/>
                <a:buChar char="•"/>
              </a:pPr>
              <a:r>
                <a:rPr lang="en-US" altLang="en-US" sz="1320" b="1"/>
                <a:t> rms-dc Converter</a:t>
              </a:r>
            </a:p>
            <a:p>
              <a:pPr algn="l">
                <a:buFontTx/>
                <a:buChar char="•"/>
              </a:pPr>
              <a:r>
                <a:rPr lang="en-US" altLang="en-US" sz="1320" b="1"/>
                <a:t> F-V/V-F Converter</a:t>
              </a:r>
            </a:p>
          </p:txBody>
        </p:sp>
        <p:sp>
          <p:nvSpPr>
            <p:cNvPr id="10285" name="Rectangle 87">
              <a:extLst>
                <a:ext uri="{FF2B5EF4-FFF2-40B4-BE49-F238E27FC236}">
                  <a16:creationId xmlns:a16="http://schemas.microsoft.com/office/drawing/2014/main" id="{70B53F55-84D8-4945-96FD-12C91BA210FA}"/>
                </a:ext>
              </a:extLst>
            </p:cNvPr>
            <p:cNvSpPr>
              <a:spLocks noChangeArrowheads="1"/>
            </p:cNvSpPr>
            <p:nvPr/>
          </p:nvSpPr>
          <p:spPr bwMode="auto">
            <a:xfrm>
              <a:off x="857" y="2333"/>
              <a:ext cx="1151" cy="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buFontTx/>
                <a:buChar char="•"/>
              </a:pPr>
              <a:r>
                <a:rPr lang="en-US" altLang="en-US" sz="1320" b="1"/>
                <a:t> Operational Amp</a:t>
              </a:r>
            </a:p>
            <a:p>
              <a:pPr algn="l">
                <a:buFontTx/>
                <a:buChar char="•"/>
              </a:pPr>
              <a:r>
                <a:rPr lang="en-US" altLang="en-US" sz="1320" b="1"/>
                <a:t> Differential Amp</a:t>
              </a:r>
            </a:p>
            <a:p>
              <a:pPr algn="l">
                <a:buFontTx/>
                <a:buChar char="•"/>
              </a:pPr>
              <a:r>
                <a:rPr lang="en-US" altLang="en-US" sz="1320" b="1"/>
                <a:t> Instrumentation Amp</a:t>
              </a:r>
            </a:p>
            <a:p>
              <a:pPr algn="l">
                <a:buFontTx/>
                <a:buChar char="•"/>
              </a:pPr>
              <a:r>
                <a:rPr lang="en-US" altLang="en-US" sz="1320" b="1"/>
                <a:t> Isolation Amp</a:t>
              </a:r>
            </a:p>
          </p:txBody>
        </p:sp>
        <p:sp>
          <p:nvSpPr>
            <p:cNvPr id="10286" name="Line 88">
              <a:extLst>
                <a:ext uri="{FF2B5EF4-FFF2-40B4-BE49-F238E27FC236}">
                  <a16:creationId xmlns:a16="http://schemas.microsoft.com/office/drawing/2014/main" id="{F1060619-D5E6-4762-8FF1-3D292CDA50CA}"/>
                </a:ext>
              </a:extLst>
            </p:cNvPr>
            <p:cNvSpPr>
              <a:spLocks noChangeShapeType="1"/>
            </p:cNvSpPr>
            <p:nvPr/>
          </p:nvSpPr>
          <p:spPr bwMode="auto">
            <a:xfrm flipV="1">
              <a:off x="4349" y="3245"/>
              <a:ext cx="135" cy="13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87" name="Line 89">
              <a:extLst>
                <a:ext uri="{FF2B5EF4-FFF2-40B4-BE49-F238E27FC236}">
                  <a16:creationId xmlns:a16="http://schemas.microsoft.com/office/drawing/2014/main" id="{853B2335-66C6-4019-B2FF-B62F3F8FDF71}"/>
                </a:ext>
              </a:extLst>
            </p:cNvPr>
            <p:cNvSpPr>
              <a:spLocks noChangeShapeType="1"/>
            </p:cNvSpPr>
            <p:nvPr/>
          </p:nvSpPr>
          <p:spPr bwMode="auto">
            <a:xfrm flipV="1">
              <a:off x="4253" y="1805"/>
              <a:ext cx="135" cy="13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10288" name="Rectangle 90">
              <a:extLst>
                <a:ext uri="{FF2B5EF4-FFF2-40B4-BE49-F238E27FC236}">
                  <a16:creationId xmlns:a16="http://schemas.microsoft.com/office/drawing/2014/main" id="{72C259F0-27CB-4CED-8888-267F8EC404D3}"/>
                </a:ext>
              </a:extLst>
            </p:cNvPr>
            <p:cNvSpPr>
              <a:spLocks noChangeArrowheads="1"/>
            </p:cNvSpPr>
            <p:nvPr/>
          </p:nvSpPr>
          <p:spPr bwMode="auto">
            <a:xfrm>
              <a:off x="4011" y="1550"/>
              <a:ext cx="46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540" b="1" dirty="0"/>
                <a:t>N</a:t>
              </a:r>
            </a:p>
            <a:p>
              <a:r>
                <a:rPr lang="en-US" altLang="en-US" sz="1540" b="1" dirty="0"/>
                <a:t>bits</a:t>
              </a:r>
            </a:p>
          </p:txBody>
        </p:sp>
        <p:sp>
          <p:nvSpPr>
            <p:cNvPr id="10289" name="Rectangle 91">
              <a:extLst>
                <a:ext uri="{FF2B5EF4-FFF2-40B4-BE49-F238E27FC236}">
                  <a16:creationId xmlns:a16="http://schemas.microsoft.com/office/drawing/2014/main" id="{906DBCF2-EA09-4BCB-BBD1-1D23B4CD267A}"/>
                </a:ext>
              </a:extLst>
            </p:cNvPr>
            <p:cNvSpPr>
              <a:spLocks noChangeArrowheads="1"/>
            </p:cNvSpPr>
            <p:nvPr/>
          </p:nvSpPr>
          <p:spPr bwMode="auto">
            <a:xfrm>
              <a:off x="4273" y="3320"/>
              <a:ext cx="31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540" b="1" dirty="0"/>
                <a:t>N</a:t>
              </a:r>
            </a:p>
            <a:p>
              <a:r>
                <a:rPr lang="en-US" altLang="en-US" sz="1540" b="1" dirty="0"/>
                <a:t>bits</a:t>
              </a:r>
            </a:p>
          </p:txBody>
        </p:sp>
        <p:sp>
          <p:nvSpPr>
            <p:cNvPr id="10290" name="AutoShape 92">
              <a:extLst>
                <a:ext uri="{FF2B5EF4-FFF2-40B4-BE49-F238E27FC236}">
                  <a16:creationId xmlns:a16="http://schemas.microsoft.com/office/drawing/2014/main" id="{508BA453-B0E9-4881-AAF7-C7FCC0F95504}"/>
                </a:ext>
              </a:extLst>
            </p:cNvPr>
            <p:cNvSpPr>
              <a:spLocks noChangeArrowheads="1"/>
            </p:cNvSpPr>
            <p:nvPr/>
          </p:nvSpPr>
          <p:spPr bwMode="auto">
            <a:xfrm rot="5400000">
              <a:off x="1196" y="1604"/>
              <a:ext cx="560" cy="536"/>
            </a:xfrm>
            <a:prstGeom prst="triangle">
              <a:avLst>
                <a:gd name="adj" fmla="val 49986"/>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10291" name="AutoShape 93">
              <a:extLst>
                <a:ext uri="{FF2B5EF4-FFF2-40B4-BE49-F238E27FC236}">
                  <a16:creationId xmlns:a16="http://schemas.microsoft.com/office/drawing/2014/main" id="{7F424690-D848-4A3F-AB49-4330A97091E0}"/>
                </a:ext>
              </a:extLst>
            </p:cNvPr>
            <p:cNvSpPr>
              <a:spLocks noChangeArrowheads="1"/>
            </p:cNvSpPr>
            <p:nvPr/>
          </p:nvSpPr>
          <p:spPr bwMode="auto">
            <a:xfrm rot="16200000" flipH="1">
              <a:off x="1124" y="3044"/>
              <a:ext cx="560" cy="536"/>
            </a:xfrm>
            <a:prstGeom prst="triangle">
              <a:avLst>
                <a:gd name="adj" fmla="val 49986"/>
              </a:avLst>
            </a:prstGeom>
            <a:solidFill>
              <a:schemeClr val="bg1"/>
            </a:solidFill>
            <a:ln w="25400">
              <a:solidFill>
                <a:schemeClr val="tx1"/>
              </a:solidFill>
              <a:miter lim="800000"/>
              <a:headEnd/>
              <a:tailEnd/>
            </a:ln>
            <a:effectLst>
              <a:outerShdw dist="107763" dir="2700000" algn="ctr" rotWithShape="0">
                <a:srgbClr val="00279F"/>
              </a:outerShdw>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grpSp>
      <p:sp>
        <p:nvSpPr>
          <p:cNvPr id="10250" name="Oval 94">
            <a:extLst>
              <a:ext uri="{FF2B5EF4-FFF2-40B4-BE49-F238E27FC236}">
                <a16:creationId xmlns:a16="http://schemas.microsoft.com/office/drawing/2014/main" id="{A3A8EE7C-56FF-4C92-9E0D-8310D874B355}"/>
              </a:ext>
            </a:extLst>
          </p:cNvPr>
          <p:cNvSpPr>
            <a:spLocks noChangeArrowheads="1"/>
          </p:cNvSpPr>
          <p:nvPr/>
        </p:nvSpPr>
        <p:spPr bwMode="auto">
          <a:xfrm>
            <a:off x="5420360" y="2098040"/>
            <a:ext cx="2374900" cy="1788160"/>
          </a:xfrm>
          <a:prstGeom prst="ellipse">
            <a:avLst/>
          </a:prstGeom>
          <a:noFill/>
          <a:ln w="50800">
            <a:solidFill>
              <a:schemeClr val="hlink"/>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5" name="Title 4">
            <a:extLst>
              <a:ext uri="{FF2B5EF4-FFF2-40B4-BE49-F238E27FC236}">
                <a16:creationId xmlns:a16="http://schemas.microsoft.com/office/drawing/2014/main" id="{F1FD9D8B-1BC1-4499-9200-8F970D3445AA}"/>
              </a:ext>
            </a:extLst>
          </p:cNvPr>
          <p:cNvSpPr>
            <a:spLocks noGrp="1"/>
          </p:cNvSpPr>
          <p:nvPr>
            <p:ph type="title"/>
          </p:nvPr>
        </p:nvSpPr>
        <p:spPr/>
        <p:txBody>
          <a:bodyPr/>
          <a:lstStyle/>
          <a:p>
            <a:r>
              <a:rPr lang="en-GB" dirty="0"/>
              <a:t>The Measurement &amp; Control Loop</a:t>
            </a:r>
          </a:p>
        </p:txBody>
      </p:sp>
      <p:sp>
        <p:nvSpPr>
          <p:cNvPr id="3" name="Slide Number Placeholder 2">
            <a:extLst>
              <a:ext uri="{FF2B5EF4-FFF2-40B4-BE49-F238E27FC236}">
                <a16:creationId xmlns:a16="http://schemas.microsoft.com/office/drawing/2014/main" id="{8E86C2F8-AF11-4D2F-A6C4-3F285EEA7076}"/>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40</a:t>
            </a:fld>
            <a:endParaRPr lang="en-US" dirty="0"/>
          </a:p>
        </p:txBody>
      </p:sp>
      <p:sp>
        <p:nvSpPr>
          <p:cNvPr id="6" name="Date Placeholder 5">
            <a:extLst>
              <a:ext uri="{FF2B5EF4-FFF2-40B4-BE49-F238E27FC236}">
                <a16:creationId xmlns:a16="http://schemas.microsoft.com/office/drawing/2014/main" id="{8BB3249F-22BA-46BD-B3AE-57C328B44916}"/>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39E2D941-497C-4C26-867B-B8610E9835CD}"/>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73452596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961381" y="4309819"/>
            <a:ext cx="1198245" cy="949960"/>
          </a:xfrm>
          <a:custGeom>
            <a:avLst/>
            <a:gdLst/>
            <a:ahLst/>
            <a:cxnLst/>
            <a:rect l="l" t="t" r="r" b="b"/>
            <a:pathLst>
              <a:path w="1198245" h="949960">
                <a:moveTo>
                  <a:pt x="0" y="454203"/>
                </a:moveTo>
                <a:lnTo>
                  <a:pt x="12987" y="433073"/>
                </a:lnTo>
                <a:lnTo>
                  <a:pt x="28320" y="402360"/>
                </a:lnTo>
                <a:lnTo>
                  <a:pt x="45826" y="364049"/>
                </a:lnTo>
                <a:lnTo>
                  <a:pt x="65332" y="320126"/>
                </a:lnTo>
                <a:lnTo>
                  <a:pt x="86663" y="272578"/>
                </a:lnTo>
                <a:lnTo>
                  <a:pt x="109648" y="223390"/>
                </a:lnTo>
                <a:lnTo>
                  <a:pt x="134111" y="174549"/>
                </a:lnTo>
                <a:lnTo>
                  <a:pt x="159882" y="128040"/>
                </a:lnTo>
                <a:lnTo>
                  <a:pt x="186785" y="85850"/>
                </a:lnTo>
                <a:lnTo>
                  <a:pt x="214648" y="49965"/>
                </a:lnTo>
                <a:lnTo>
                  <a:pt x="243297" y="22371"/>
                </a:lnTo>
                <a:lnTo>
                  <a:pt x="302262" y="0"/>
                </a:lnTo>
                <a:lnTo>
                  <a:pt x="332231" y="9195"/>
                </a:lnTo>
                <a:lnTo>
                  <a:pt x="373291" y="47818"/>
                </a:lnTo>
                <a:lnTo>
                  <a:pt x="417827" y="114594"/>
                </a:lnTo>
                <a:lnTo>
                  <a:pt x="441163" y="156569"/>
                </a:lnTo>
                <a:lnTo>
                  <a:pt x="465084" y="203218"/>
                </a:lnTo>
                <a:lnTo>
                  <a:pt x="489496" y="253751"/>
                </a:lnTo>
                <a:lnTo>
                  <a:pt x="514305" y="307381"/>
                </a:lnTo>
                <a:lnTo>
                  <a:pt x="539417" y="363319"/>
                </a:lnTo>
                <a:lnTo>
                  <a:pt x="564736" y="420778"/>
                </a:lnTo>
                <a:lnTo>
                  <a:pt x="590168" y="478968"/>
                </a:lnTo>
                <a:lnTo>
                  <a:pt x="615620" y="537101"/>
                </a:lnTo>
                <a:lnTo>
                  <a:pt x="640996" y="594389"/>
                </a:lnTo>
                <a:lnTo>
                  <a:pt x="666202" y="650044"/>
                </a:lnTo>
                <a:lnTo>
                  <a:pt x="691143" y="703277"/>
                </a:lnTo>
                <a:lnTo>
                  <a:pt x="715725" y="753300"/>
                </a:lnTo>
                <a:lnTo>
                  <a:pt x="739854" y="799325"/>
                </a:lnTo>
                <a:lnTo>
                  <a:pt x="763435" y="840563"/>
                </a:lnTo>
                <a:lnTo>
                  <a:pt x="786374" y="876227"/>
                </a:lnTo>
                <a:lnTo>
                  <a:pt x="829947" y="927675"/>
                </a:lnTo>
                <a:lnTo>
                  <a:pt x="878867" y="949627"/>
                </a:lnTo>
                <a:lnTo>
                  <a:pt x="906935" y="944664"/>
                </a:lnTo>
                <a:lnTo>
                  <a:pt x="961528" y="903013"/>
                </a:lnTo>
                <a:lnTo>
                  <a:pt x="987890" y="869521"/>
                </a:lnTo>
                <a:lnTo>
                  <a:pt x="1013520" y="829716"/>
                </a:lnTo>
                <a:lnTo>
                  <a:pt x="1038338" y="785197"/>
                </a:lnTo>
                <a:lnTo>
                  <a:pt x="1062261" y="737563"/>
                </a:lnTo>
                <a:lnTo>
                  <a:pt x="1085209" y="688411"/>
                </a:lnTo>
                <a:lnTo>
                  <a:pt x="1107101" y="639340"/>
                </a:lnTo>
                <a:lnTo>
                  <a:pt x="1127854" y="591950"/>
                </a:lnTo>
                <a:lnTo>
                  <a:pt x="1147389" y="547837"/>
                </a:lnTo>
                <a:lnTo>
                  <a:pt x="1165622" y="508601"/>
                </a:lnTo>
                <a:lnTo>
                  <a:pt x="1182474" y="475841"/>
                </a:lnTo>
                <a:lnTo>
                  <a:pt x="1197863" y="451155"/>
                </a:lnTo>
              </a:path>
            </a:pathLst>
          </a:custGeom>
          <a:ln w="18287">
            <a:solidFill>
              <a:srgbClr val="FF4C00"/>
            </a:solidFill>
          </a:ln>
        </p:spPr>
        <p:txBody>
          <a:bodyPr wrap="square" lIns="0" tIns="0" rIns="0" bIns="0" rtlCol="0"/>
          <a:lstStyle/>
          <a:p>
            <a:endParaRPr dirty="0"/>
          </a:p>
        </p:txBody>
      </p:sp>
      <p:sp>
        <p:nvSpPr>
          <p:cNvPr id="4" name="object 4"/>
          <p:cNvSpPr/>
          <p:nvPr/>
        </p:nvSpPr>
        <p:spPr>
          <a:xfrm>
            <a:off x="2815589" y="2624326"/>
            <a:ext cx="1993900" cy="2502535"/>
          </a:xfrm>
          <a:custGeom>
            <a:avLst/>
            <a:gdLst/>
            <a:ahLst/>
            <a:cxnLst/>
            <a:rect l="l" t="t" r="r" b="b"/>
            <a:pathLst>
              <a:path w="1993900" h="2502535">
                <a:moveTo>
                  <a:pt x="0" y="2502408"/>
                </a:moveTo>
                <a:lnTo>
                  <a:pt x="1993391" y="2502408"/>
                </a:lnTo>
                <a:lnTo>
                  <a:pt x="1993391" y="0"/>
                </a:lnTo>
                <a:lnTo>
                  <a:pt x="0" y="0"/>
                </a:lnTo>
                <a:lnTo>
                  <a:pt x="0" y="2502408"/>
                </a:lnTo>
                <a:close/>
              </a:path>
            </a:pathLst>
          </a:custGeom>
          <a:solidFill>
            <a:srgbClr val="D4FEFF">
              <a:alpha val="50000"/>
            </a:srgbClr>
          </a:solidFill>
        </p:spPr>
        <p:txBody>
          <a:bodyPr wrap="square" lIns="0" tIns="0" rIns="0" bIns="0" rtlCol="0"/>
          <a:lstStyle/>
          <a:p>
            <a:endParaRPr dirty="0"/>
          </a:p>
        </p:txBody>
      </p:sp>
      <p:sp>
        <p:nvSpPr>
          <p:cNvPr id="5" name="object 5"/>
          <p:cNvSpPr/>
          <p:nvPr/>
        </p:nvSpPr>
        <p:spPr>
          <a:xfrm>
            <a:off x="2817114" y="2625850"/>
            <a:ext cx="1993900" cy="2502535"/>
          </a:xfrm>
          <a:custGeom>
            <a:avLst/>
            <a:gdLst/>
            <a:ahLst/>
            <a:cxnLst/>
            <a:rect l="l" t="t" r="r" b="b"/>
            <a:pathLst>
              <a:path w="1993900" h="2502535">
                <a:moveTo>
                  <a:pt x="0" y="0"/>
                </a:moveTo>
                <a:lnTo>
                  <a:pt x="1993391" y="0"/>
                </a:lnTo>
                <a:lnTo>
                  <a:pt x="1993391" y="2502407"/>
                </a:lnTo>
                <a:lnTo>
                  <a:pt x="0" y="2502407"/>
                </a:lnTo>
                <a:lnTo>
                  <a:pt x="0" y="0"/>
                </a:lnTo>
                <a:close/>
              </a:path>
            </a:pathLst>
          </a:custGeom>
          <a:ln w="27431">
            <a:solidFill>
              <a:srgbClr val="FF2800"/>
            </a:solidFill>
            <a:prstDash val="lgDash"/>
          </a:ln>
        </p:spPr>
        <p:txBody>
          <a:bodyPr wrap="square" lIns="0" tIns="0" rIns="0" bIns="0" rtlCol="0"/>
          <a:lstStyle/>
          <a:p>
            <a:endParaRPr dirty="0"/>
          </a:p>
        </p:txBody>
      </p:sp>
      <p:sp>
        <p:nvSpPr>
          <p:cNvPr id="6" name="object 6"/>
          <p:cNvSpPr/>
          <p:nvPr/>
        </p:nvSpPr>
        <p:spPr>
          <a:xfrm>
            <a:off x="3807713" y="3634738"/>
            <a:ext cx="1828800" cy="6350"/>
          </a:xfrm>
          <a:custGeom>
            <a:avLst/>
            <a:gdLst/>
            <a:ahLst/>
            <a:cxnLst/>
            <a:rect l="l" t="t" r="r" b="b"/>
            <a:pathLst>
              <a:path w="1828800" h="6350">
                <a:moveTo>
                  <a:pt x="0" y="6095"/>
                </a:moveTo>
                <a:lnTo>
                  <a:pt x="1828799" y="0"/>
                </a:lnTo>
              </a:path>
            </a:pathLst>
          </a:custGeom>
          <a:ln w="27431">
            <a:solidFill>
              <a:srgbClr val="000000"/>
            </a:solidFill>
          </a:ln>
        </p:spPr>
        <p:txBody>
          <a:bodyPr wrap="square" lIns="0" tIns="0" rIns="0" bIns="0" rtlCol="0"/>
          <a:lstStyle/>
          <a:p>
            <a:endParaRPr dirty="0"/>
          </a:p>
        </p:txBody>
      </p:sp>
      <p:sp>
        <p:nvSpPr>
          <p:cNvPr id="7" name="object 7"/>
          <p:cNvSpPr/>
          <p:nvPr/>
        </p:nvSpPr>
        <p:spPr>
          <a:xfrm>
            <a:off x="2244089" y="3659122"/>
            <a:ext cx="1066800" cy="0"/>
          </a:xfrm>
          <a:custGeom>
            <a:avLst/>
            <a:gdLst/>
            <a:ahLst/>
            <a:cxnLst/>
            <a:rect l="l" t="t" r="r" b="b"/>
            <a:pathLst>
              <a:path w="1066800">
                <a:moveTo>
                  <a:pt x="0" y="0"/>
                </a:moveTo>
                <a:lnTo>
                  <a:pt x="1066799" y="0"/>
                </a:lnTo>
              </a:path>
            </a:pathLst>
          </a:custGeom>
          <a:ln w="27431">
            <a:solidFill>
              <a:srgbClr val="000000"/>
            </a:solidFill>
          </a:ln>
        </p:spPr>
        <p:txBody>
          <a:bodyPr wrap="square" lIns="0" tIns="0" rIns="0" bIns="0" rtlCol="0"/>
          <a:lstStyle/>
          <a:p>
            <a:endParaRPr dirty="0"/>
          </a:p>
        </p:txBody>
      </p:sp>
      <p:sp>
        <p:nvSpPr>
          <p:cNvPr id="8" name="object 8"/>
          <p:cNvSpPr/>
          <p:nvPr/>
        </p:nvSpPr>
        <p:spPr>
          <a:xfrm>
            <a:off x="2152649" y="3579874"/>
            <a:ext cx="137159" cy="137159"/>
          </a:xfrm>
          <a:prstGeom prst="rect">
            <a:avLst/>
          </a:prstGeom>
          <a:blipFill>
            <a:blip r:embed="rId2" cstate="print"/>
            <a:stretch>
              <a:fillRect/>
            </a:stretch>
          </a:blipFill>
        </p:spPr>
        <p:txBody>
          <a:bodyPr wrap="square" lIns="0" tIns="0" rIns="0" bIns="0" rtlCol="0"/>
          <a:lstStyle/>
          <a:p>
            <a:endParaRPr dirty="0"/>
          </a:p>
        </p:txBody>
      </p:sp>
      <p:sp>
        <p:nvSpPr>
          <p:cNvPr id="9" name="object 9"/>
          <p:cNvSpPr/>
          <p:nvPr/>
        </p:nvSpPr>
        <p:spPr>
          <a:xfrm>
            <a:off x="3295650" y="3579874"/>
            <a:ext cx="137159" cy="137159"/>
          </a:xfrm>
          <a:prstGeom prst="rect">
            <a:avLst/>
          </a:prstGeom>
          <a:blipFill>
            <a:blip r:embed="rId3" cstate="print"/>
            <a:stretch>
              <a:fillRect/>
            </a:stretch>
          </a:blipFill>
        </p:spPr>
        <p:txBody>
          <a:bodyPr wrap="square" lIns="0" tIns="0" rIns="0" bIns="0" rtlCol="0"/>
          <a:lstStyle/>
          <a:p>
            <a:endParaRPr dirty="0"/>
          </a:p>
        </p:txBody>
      </p:sp>
      <p:sp>
        <p:nvSpPr>
          <p:cNvPr id="10" name="object 10"/>
          <p:cNvSpPr/>
          <p:nvPr/>
        </p:nvSpPr>
        <p:spPr>
          <a:xfrm>
            <a:off x="3310890" y="3430522"/>
            <a:ext cx="457200" cy="228600"/>
          </a:xfrm>
          <a:custGeom>
            <a:avLst/>
            <a:gdLst/>
            <a:ahLst/>
            <a:cxnLst/>
            <a:rect l="l" t="t" r="r" b="b"/>
            <a:pathLst>
              <a:path w="457200" h="228600">
                <a:moveTo>
                  <a:pt x="0" y="0"/>
                </a:moveTo>
                <a:lnTo>
                  <a:pt x="457199" y="228600"/>
                </a:lnTo>
              </a:path>
            </a:pathLst>
          </a:custGeom>
          <a:ln w="57911">
            <a:solidFill>
              <a:srgbClr val="000000"/>
            </a:solidFill>
          </a:ln>
        </p:spPr>
        <p:txBody>
          <a:bodyPr wrap="square" lIns="0" tIns="0" rIns="0" bIns="0" rtlCol="0"/>
          <a:lstStyle/>
          <a:p>
            <a:endParaRPr dirty="0"/>
          </a:p>
        </p:txBody>
      </p:sp>
      <p:sp>
        <p:nvSpPr>
          <p:cNvPr id="11" name="object 11"/>
          <p:cNvSpPr/>
          <p:nvPr/>
        </p:nvSpPr>
        <p:spPr>
          <a:xfrm>
            <a:off x="3676649" y="3579874"/>
            <a:ext cx="137159" cy="137159"/>
          </a:xfrm>
          <a:prstGeom prst="rect">
            <a:avLst/>
          </a:prstGeom>
          <a:blipFill>
            <a:blip r:embed="rId4" cstate="print"/>
            <a:stretch>
              <a:fillRect/>
            </a:stretch>
          </a:blipFill>
        </p:spPr>
        <p:txBody>
          <a:bodyPr wrap="square" lIns="0" tIns="0" rIns="0" bIns="0" rtlCol="0"/>
          <a:lstStyle/>
          <a:p>
            <a:endParaRPr dirty="0"/>
          </a:p>
        </p:txBody>
      </p:sp>
      <p:sp>
        <p:nvSpPr>
          <p:cNvPr id="12" name="object 12"/>
          <p:cNvSpPr/>
          <p:nvPr/>
        </p:nvSpPr>
        <p:spPr>
          <a:xfrm>
            <a:off x="4391405" y="3657598"/>
            <a:ext cx="0" cy="320040"/>
          </a:xfrm>
          <a:custGeom>
            <a:avLst/>
            <a:gdLst/>
            <a:ahLst/>
            <a:cxnLst/>
            <a:rect l="l" t="t" r="r" b="b"/>
            <a:pathLst>
              <a:path h="320039">
                <a:moveTo>
                  <a:pt x="0" y="0"/>
                </a:moveTo>
                <a:lnTo>
                  <a:pt x="0" y="320039"/>
                </a:lnTo>
              </a:path>
            </a:pathLst>
          </a:custGeom>
          <a:ln w="24383">
            <a:solidFill>
              <a:srgbClr val="000000"/>
            </a:solidFill>
          </a:ln>
        </p:spPr>
        <p:txBody>
          <a:bodyPr wrap="square" lIns="0" tIns="0" rIns="0" bIns="0" rtlCol="0"/>
          <a:lstStyle/>
          <a:p>
            <a:endParaRPr dirty="0"/>
          </a:p>
        </p:txBody>
      </p:sp>
      <p:sp>
        <p:nvSpPr>
          <p:cNvPr id="13" name="object 13"/>
          <p:cNvSpPr/>
          <p:nvPr/>
        </p:nvSpPr>
        <p:spPr>
          <a:xfrm>
            <a:off x="4391405" y="4117846"/>
            <a:ext cx="0" cy="378460"/>
          </a:xfrm>
          <a:custGeom>
            <a:avLst/>
            <a:gdLst/>
            <a:ahLst/>
            <a:cxnLst/>
            <a:rect l="l" t="t" r="r" b="b"/>
            <a:pathLst>
              <a:path h="378460">
                <a:moveTo>
                  <a:pt x="0" y="0"/>
                </a:moveTo>
                <a:lnTo>
                  <a:pt x="0" y="377951"/>
                </a:lnTo>
              </a:path>
            </a:pathLst>
          </a:custGeom>
          <a:ln w="24383">
            <a:solidFill>
              <a:srgbClr val="000000"/>
            </a:solidFill>
          </a:ln>
        </p:spPr>
        <p:txBody>
          <a:bodyPr wrap="square" lIns="0" tIns="0" rIns="0" bIns="0" rtlCol="0"/>
          <a:lstStyle/>
          <a:p>
            <a:endParaRPr dirty="0"/>
          </a:p>
        </p:txBody>
      </p:sp>
      <p:sp>
        <p:nvSpPr>
          <p:cNvPr id="14" name="object 14"/>
          <p:cNvSpPr/>
          <p:nvPr/>
        </p:nvSpPr>
        <p:spPr>
          <a:xfrm>
            <a:off x="4232909" y="3977638"/>
            <a:ext cx="341630" cy="140335"/>
          </a:xfrm>
          <a:custGeom>
            <a:avLst/>
            <a:gdLst/>
            <a:ahLst/>
            <a:cxnLst/>
            <a:rect l="l" t="t" r="r" b="b"/>
            <a:pathLst>
              <a:path w="341629" h="140335">
                <a:moveTo>
                  <a:pt x="0" y="140208"/>
                </a:moveTo>
                <a:lnTo>
                  <a:pt x="341375" y="140208"/>
                </a:lnTo>
                <a:lnTo>
                  <a:pt x="341375" y="0"/>
                </a:lnTo>
                <a:lnTo>
                  <a:pt x="0" y="0"/>
                </a:lnTo>
                <a:lnTo>
                  <a:pt x="0" y="140208"/>
                </a:lnTo>
                <a:close/>
              </a:path>
            </a:pathLst>
          </a:custGeom>
          <a:solidFill>
            <a:srgbClr val="FFFFFF">
              <a:alpha val="50000"/>
            </a:srgbClr>
          </a:solidFill>
        </p:spPr>
        <p:txBody>
          <a:bodyPr wrap="square" lIns="0" tIns="0" rIns="0" bIns="0" rtlCol="0"/>
          <a:lstStyle/>
          <a:p>
            <a:endParaRPr dirty="0"/>
          </a:p>
        </p:txBody>
      </p:sp>
      <p:sp>
        <p:nvSpPr>
          <p:cNvPr id="15" name="object 15"/>
          <p:cNvSpPr txBox="1"/>
          <p:nvPr/>
        </p:nvSpPr>
        <p:spPr>
          <a:xfrm>
            <a:off x="3909821" y="3821683"/>
            <a:ext cx="216535" cy="391160"/>
          </a:xfrm>
          <a:prstGeom prst="rect">
            <a:avLst/>
          </a:prstGeom>
        </p:spPr>
        <p:txBody>
          <a:bodyPr vert="horz" wrap="square" lIns="0" tIns="12700" rIns="0" bIns="0" rtlCol="0">
            <a:spAutoFit/>
          </a:bodyPr>
          <a:lstStyle/>
          <a:p>
            <a:pPr>
              <a:lnSpc>
                <a:spcPct val="100000"/>
              </a:lnSpc>
              <a:spcBef>
                <a:spcPts val="100"/>
              </a:spcBef>
            </a:pPr>
            <a:r>
              <a:rPr sz="2400" b="1" i="1" dirty="0">
                <a:latin typeface="Times New Roman"/>
                <a:cs typeface="Times New Roman"/>
              </a:rPr>
              <a:t>C</a:t>
            </a:r>
            <a:endParaRPr sz="2400" dirty="0">
              <a:latin typeface="Times New Roman"/>
              <a:cs typeface="Times New Roman"/>
            </a:endParaRPr>
          </a:p>
        </p:txBody>
      </p:sp>
      <p:sp>
        <p:nvSpPr>
          <p:cNvPr id="16" name="object 16"/>
          <p:cNvSpPr/>
          <p:nvPr/>
        </p:nvSpPr>
        <p:spPr>
          <a:xfrm>
            <a:off x="4225289" y="4497322"/>
            <a:ext cx="304800" cy="0"/>
          </a:xfrm>
          <a:custGeom>
            <a:avLst/>
            <a:gdLst/>
            <a:ahLst/>
            <a:cxnLst/>
            <a:rect l="l" t="t" r="r" b="b"/>
            <a:pathLst>
              <a:path w="304800">
                <a:moveTo>
                  <a:pt x="0" y="0"/>
                </a:moveTo>
                <a:lnTo>
                  <a:pt x="304799" y="0"/>
                </a:lnTo>
              </a:path>
            </a:pathLst>
          </a:custGeom>
          <a:ln w="39623">
            <a:solidFill>
              <a:srgbClr val="000000"/>
            </a:solidFill>
          </a:ln>
        </p:spPr>
        <p:txBody>
          <a:bodyPr wrap="square" lIns="0" tIns="0" rIns="0" bIns="0" rtlCol="0"/>
          <a:lstStyle/>
          <a:p>
            <a:endParaRPr dirty="0"/>
          </a:p>
        </p:txBody>
      </p:sp>
      <p:sp>
        <p:nvSpPr>
          <p:cNvPr id="17" name="object 17"/>
          <p:cNvSpPr/>
          <p:nvPr/>
        </p:nvSpPr>
        <p:spPr>
          <a:xfrm>
            <a:off x="3179826" y="3174490"/>
            <a:ext cx="100965" cy="0"/>
          </a:xfrm>
          <a:custGeom>
            <a:avLst/>
            <a:gdLst/>
            <a:ahLst/>
            <a:cxnLst/>
            <a:rect l="l" t="t" r="r" b="b"/>
            <a:pathLst>
              <a:path w="100964">
                <a:moveTo>
                  <a:pt x="0" y="0"/>
                </a:moveTo>
                <a:lnTo>
                  <a:pt x="100583" y="0"/>
                </a:lnTo>
              </a:path>
            </a:pathLst>
          </a:custGeom>
          <a:ln w="39623">
            <a:solidFill>
              <a:srgbClr val="000000"/>
            </a:solidFill>
          </a:ln>
        </p:spPr>
        <p:txBody>
          <a:bodyPr wrap="square" lIns="0" tIns="0" rIns="0" bIns="0" rtlCol="0"/>
          <a:lstStyle/>
          <a:p>
            <a:endParaRPr dirty="0"/>
          </a:p>
        </p:txBody>
      </p:sp>
      <p:sp>
        <p:nvSpPr>
          <p:cNvPr id="18" name="object 18"/>
          <p:cNvSpPr/>
          <p:nvPr/>
        </p:nvSpPr>
        <p:spPr>
          <a:xfrm>
            <a:off x="3289553" y="2894074"/>
            <a:ext cx="100965" cy="0"/>
          </a:xfrm>
          <a:custGeom>
            <a:avLst/>
            <a:gdLst/>
            <a:ahLst/>
            <a:cxnLst/>
            <a:rect l="l" t="t" r="r" b="b"/>
            <a:pathLst>
              <a:path w="100964">
                <a:moveTo>
                  <a:pt x="0" y="0"/>
                </a:moveTo>
                <a:lnTo>
                  <a:pt x="100584" y="0"/>
                </a:lnTo>
              </a:path>
            </a:pathLst>
          </a:custGeom>
          <a:ln w="39623">
            <a:solidFill>
              <a:srgbClr val="000000"/>
            </a:solidFill>
          </a:ln>
        </p:spPr>
        <p:txBody>
          <a:bodyPr wrap="square" lIns="0" tIns="0" rIns="0" bIns="0" rtlCol="0"/>
          <a:lstStyle/>
          <a:p>
            <a:endParaRPr dirty="0"/>
          </a:p>
        </p:txBody>
      </p:sp>
      <p:sp>
        <p:nvSpPr>
          <p:cNvPr id="19" name="object 19"/>
          <p:cNvSpPr/>
          <p:nvPr/>
        </p:nvSpPr>
        <p:spPr>
          <a:xfrm>
            <a:off x="3280409"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20" name="object 20"/>
          <p:cNvSpPr/>
          <p:nvPr/>
        </p:nvSpPr>
        <p:spPr>
          <a:xfrm>
            <a:off x="3390138"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21" name="object 21"/>
          <p:cNvSpPr/>
          <p:nvPr/>
        </p:nvSpPr>
        <p:spPr>
          <a:xfrm>
            <a:off x="3390138" y="3174490"/>
            <a:ext cx="104139" cy="0"/>
          </a:xfrm>
          <a:custGeom>
            <a:avLst/>
            <a:gdLst/>
            <a:ahLst/>
            <a:cxnLst/>
            <a:rect l="l" t="t" r="r" b="b"/>
            <a:pathLst>
              <a:path w="104139">
                <a:moveTo>
                  <a:pt x="0" y="0"/>
                </a:moveTo>
                <a:lnTo>
                  <a:pt x="103631" y="0"/>
                </a:lnTo>
              </a:path>
            </a:pathLst>
          </a:custGeom>
          <a:ln w="39623">
            <a:solidFill>
              <a:srgbClr val="000000"/>
            </a:solidFill>
          </a:ln>
        </p:spPr>
        <p:txBody>
          <a:bodyPr wrap="square" lIns="0" tIns="0" rIns="0" bIns="0" rtlCol="0"/>
          <a:lstStyle/>
          <a:p>
            <a:endParaRPr dirty="0"/>
          </a:p>
        </p:txBody>
      </p:sp>
      <p:sp>
        <p:nvSpPr>
          <p:cNvPr id="22" name="object 22"/>
          <p:cNvSpPr/>
          <p:nvPr/>
        </p:nvSpPr>
        <p:spPr>
          <a:xfrm>
            <a:off x="3493770" y="2894074"/>
            <a:ext cx="100965" cy="0"/>
          </a:xfrm>
          <a:custGeom>
            <a:avLst/>
            <a:gdLst/>
            <a:ahLst/>
            <a:cxnLst/>
            <a:rect l="l" t="t" r="r" b="b"/>
            <a:pathLst>
              <a:path w="100964">
                <a:moveTo>
                  <a:pt x="0" y="0"/>
                </a:moveTo>
                <a:lnTo>
                  <a:pt x="100583" y="0"/>
                </a:lnTo>
              </a:path>
            </a:pathLst>
          </a:custGeom>
          <a:ln w="39623">
            <a:solidFill>
              <a:srgbClr val="000000"/>
            </a:solidFill>
          </a:ln>
        </p:spPr>
        <p:txBody>
          <a:bodyPr wrap="square" lIns="0" tIns="0" rIns="0" bIns="0" rtlCol="0"/>
          <a:lstStyle/>
          <a:p>
            <a:endParaRPr dirty="0"/>
          </a:p>
        </p:txBody>
      </p:sp>
      <p:sp>
        <p:nvSpPr>
          <p:cNvPr id="23" name="object 23"/>
          <p:cNvSpPr/>
          <p:nvPr/>
        </p:nvSpPr>
        <p:spPr>
          <a:xfrm>
            <a:off x="3493770"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24" name="object 24"/>
          <p:cNvSpPr/>
          <p:nvPr/>
        </p:nvSpPr>
        <p:spPr>
          <a:xfrm>
            <a:off x="3594353"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25" name="object 25"/>
          <p:cNvSpPr/>
          <p:nvPr/>
        </p:nvSpPr>
        <p:spPr>
          <a:xfrm>
            <a:off x="3594353" y="3174490"/>
            <a:ext cx="100965" cy="0"/>
          </a:xfrm>
          <a:custGeom>
            <a:avLst/>
            <a:gdLst/>
            <a:ahLst/>
            <a:cxnLst/>
            <a:rect l="l" t="t" r="r" b="b"/>
            <a:pathLst>
              <a:path w="100964">
                <a:moveTo>
                  <a:pt x="0" y="0"/>
                </a:moveTo>
                <a:lnTo>
                  <a:pt x="100583" y="0"/>
                </a:lnTo>
              </a:path>
            </a:pathLst>
          </a:custGeom>
          <a:ln w="39623">
            <a:solidFill>
              <a:srgbClr val="000000"/>
            </a:solidFill>
          </a:ln>
        </p:spPr>
        <p:txBody>
          <a:bodyPr wrap="square" lIns="0" tIns="0" rIns="0" bIns="0" rtlCol="0"/>
          <a:lstStyle/>
          <a:p>
            <a:endParaRPr dirty="0"/>
          </a:p>
        </p:txBody>
      </p:sp>
      <p:sp>
        <p:nvSpPr>
          <p:cNvPr id="26" name="object 26"/>
          <p:cNvSpPr/>
          <p:nvPr/>
        </p:nvSpPr>
        <p:spPr>
          <a:xfrm>
            <a:off x="3707129" y="2894074"/>
            <a:ext cx="100965" cy="0"/>
          </a:xfrm>
          <a:custGeom>
            <a:avLst/>
            <a:gdLst/>
            <a:ahLst/>
            <a:cxnLst/>
            <a:rect l="l" t="t" r="r" b="b"/>
            <a:pathLst>
              <a:path w="100964">
                <a:moveTo>
                  <a:pt x="0" y="0"/>
                </a:moveTo>
                <a:lnTo>
                  <a:pt x="100583" y="0"/>
                </a:lnTo>
              </a:path>
            </a:pathLst>
          </a:custGeom>
          <a:ln w="39623">
            <a:solidFill>
              <a:srgbClr val="000000"/>
            </a:solidFill>
          </a:ln>
        </p:spPr>
        <p:txBody>
          <a:bodyPr wrap="square" lIns="0" tIns="0" rIns="0" bIns="0" rtlCol="0"/>
          <a:lstStyle/>
          <a:p>
            <a:endParaRPr dirty="0"/>
          </a:p>
        </p:txBody>
      </p:sp>
      <p:sp>
        <p:nvSpPr>
          <p:cNvPr id="27" name="object 27"/>
          <p:cNvSpPr/>
          <p:nvPr/>
        </p:nvSpPr>
        <p:spPr>
          <a:xfrm>
            <a:off x="3707129"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28" name="object 28"/>
          <p:cNvSpPr/>
          <p:nvPr/>
        </p:nvSpPr>
        <p:spPr>
          <a:xfrm>
            <a:off x="3807713"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29" name="object 29"/>
          <p:cNvSpPr/>
          <p:nvPr/>
        </p:nvSpPr>
        <p:spPr>
          <a:xfrm>
            <a:off x="3807713" y="3174490"/>
            <a:ext cx="100965" cy="0"/>
          </a:xfrm>
          <a:custGeom>
            <a:avLst/>
            <a:gdLst/>
            <a:ahLst/>
            <a:cxnLst/>
            <a:rect l="l" t="t" r="r" b="b"/>
            <a:pathLst>
              <a:path w="100964">
                <a:moveTo>
                  <a:pt x="0" y="0"/>
                </a:moveTo>
                <a:lnTo>
                  <a:pt x="100583" y="0"/>
                </a:lnTo>
              </a:path>
            </a:pathLst>
          </a:custGeom>
          <a:ln w="39623">
            <a:solidFill>
              <a:srgbClr val="000000"/>
            </a:solidFill>
          </a:ln>
        </p:spPr>
        <p:txBody>
          <a:bodyPr wrap="square" lIns="0" tIns="0" rIns="0" bIns="0" rtlCol="0"/>
          <a:lstStyle/>
          <a:p>
            <a:endParaRPr dirty="0"/>
          </a:p>
        </p:txBody>
      </p:sp>
      <p:sp>
        <p:nvSpPr>
          <p:cNvPr id="30" name="object 30"/>
          <p:cNvSpPr/>
          <p:nvPr/>
        </p:nvSpPr>
        <p:spPr>
          <a:xfrm>
            <a:off x="3908297" y="2894074"/>
            <a:ext cx="104139" cy="0"/>
          </a:xfrm>
          <a:custGeom>
            <a:avLst/>
            <a:gdLst/>
            <a:ahLst/>
            <a:cxnLst/>
            <a:rect l="l" t="t" r="r" b="b"/>
            <a:pathLst>
              <a:path w="104139">
                <a:moveTo>
                  <a:pt x="0" y="0"/>
                </a:moveTo>
                <a:lnTo>
                  <a:pt x="103631" y="0"/>
                </a:lnTo>
              </a:path>
            </a:pathLst>
          </a:custGeom>
          <a:ln w="39623">
            <a:solidFill>
              <a:srgbClr val="000000"/>
            </a:solidFill>
          </a:ln>
        </p:spPr>
        <p:txBody>
          <a:bodyPr wrap="square" lIns="0" tIns="0" rIns="0" bIns="0" rtlCol="0"/>
          <a:lstStyle/>
          <a:p>
            <a:endParaRPr dirty="0"/>
          </a:p>
        </p:txBody>
      </p:sp>
      <p:sp>
        <p:nvSpPr>
          <p:cNvPr id="31" name="object 31"/>
          <p:cNvSpPr/>
          <p:nvPr/>
        </p:nvSpPr>
        <p:spPr>
          <a:xfrm>
            <a:off x="3908297"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32" name="object 32"/>
          <p:cNvSpPr/>
          <p:nvPr/>
        </p:nvSpPr>
        <p:spPr>
          <a:xfrm>
            <a:off x="4021073" y="2887977"/>
            <a:ext cx="0" cy="304800"/>
          </a:xfrm>
          <a:custGeom>
            <a:avLst/>
            <a:gdLst/>
            <a:ahLst/>
            <a:cxnLst/>
            <a:rect l="l" t="t" r="r" b="b"/>
            <a:pathLst>
              <a:path h="304800">
                <a:moveTo>
                  <a:pt x="0" y="0"/>
                </a:moveTo>
                <a:lnTo>
                  <a:pt x="0" y="304800"/>
                </a:lnTo>
              </a:path>
            </a:pathLst>
          </a:custGeom>
          <a:ln w="39623">
            <a:solidFill>
              <a:srgbClr val="000000"/>
            </a:solidFill>
          </a:ln>
        </p:spPr>
        <p:txBody>
          <a:bodyPr wrap="square" lIns="0" tIns="0" rIns="0" bIns="0" rtlCol="0"/>
          <a:lstStyle/>
          <a:p>
            <a:endParaRPr dirty="0"/>
          </a:p>
        </p:txBody>
      </p:sp>
      <p:sp>
        <p:nvSpPr>
          <p:cNvPr id="33" name="object 33"/>
          <p:cNvSpPr/>
          <p:nvPr/>
        </p:nvSpPr>
        <p:spPr>
          <a:xfrm>
            <a:off x="4021073" y="3174490"/>
            <a:ext cx="100965" cy="0"/>
          </a:xfrm>
          <a:custGeom>
            <a:avLst/>
            <a:gdLst/>
            <a:ahLst/>
            <a:cxnLst/>
            <a:rect l="l" t="t" r="r" b="b"/>
            <a:pathLst>
              <a:path w="100964">
                <a:moveTo>
                  <a:pt x="0" y="0"/>
                </a:moveTo>
                <a:lnTo>
                  <a:pt x="100583" y="0"/>
                </a:lnTo>
              </a:path>
            </a:pathLst>
          </a:custGeom>
          <a:ln w="39623">
            <a:solidFill>
              <a:srgbClr val="000000"/>
            </a:solidFill>
          </a:ln>
        </p:spPr>
        <p:txBody>
          <a:bodyPr wrap="square" lIns="0" tIns="0" rIns="0" bIns="0" rtlCol="0"/>
          <a:lstStyle/>
          <a:p>
            <a:endParaRPr dirty="0"/>
          </a:p>
        </p:txBody>
      </p:sp>
      <p:sp>
        <p:nvSpPr>
          <p:cNvPr id="34" name="object 34"/>
          <p:cNvSpPr/>
          <p:nvPr/>
        </p:nvSpPr>
        <p:spPr>
          <a:xfrm>
            <a:off x="1405889" y="3731616"/>
            <a:ext cx="1201420" cy="950594"/>
          </a:xfrm>
          <a:custGeom>
            <a:avLst/>
            <a:gdLst/>
            <a:ahLst/>
            <a:cxnLst/>
            <a:rect l="l" t="t" r="r" b="b"/>
            <a:pathLst>
              <a:path w="1201420" h="950595">
                <a:moveTo>
                  <a:pt x="0" y="451762"/>
                </a:moveTo>
                <a:lnTo>
                  <a:pt x="13551" y="430634"/>
                </a:lnTo>
                <a:lnTo>
                  <a:pt x="29289" y="399928"/>
                </a:lnTo>
                <a:lnTo>
                  <a:pt x="47066" y="361638"/>
                </a:lnTo>
                <a:lnTo>
                  <a:pt x="66736" y="317757"/>
                </a:lnTo>
                <a:lnTo>
                  <a:pt x="88152" y="270276"/>
                </a:lnTo>
                <a:lnTo>
                  <a:pt x="111167" y="221189"/>
                </a:lnTo>
                <a:lnTo>
                  <a:pt x="135635" y="172489"/>
                </a:lnTo>
                <a:lnTo>
                  <a:pt x="161410" y="126168"/>
                </a:lnTo>
                <a:lnTo>
                  <a:pt x="188345" y="84219"/>
                </a:lnTo>
                <a:lnTo>
                  <a:pt x="216292" y="48635"/>
                </a:lnTo>
                <a:lnTo>
                  <a:pt x="245106" y="21409"/>
                </a:lnTo>
                <a:lnTo>
                  <a:pt x="304746" y="0"/>
                </a:lnTo>
                <a:lnTo>
                  <a:pt x="335279" y="9802"/>
                </a:lnTo>
                <a:lnTo>
                  <a:pt x="375650" y="48425"/>
                </a:lnTo>
                <a:lnTo>
                  <a:pt x="419744" y="115202"/>
                </a:lnTo>
                <a:lnTo>
                  <a:pt x="442934" y="157177"/>
                </a:lnTo>
                <a:lnTo>
                  <a:pt x="466751" y="203825"/>
                </a:lnTo>
                <a:lnTo>
                  <a:pt x="491094" y="254359"/>
                </a:lnTo>
                <a:lnTo>
                  <a:pt x="515860" y="307989"/>
                </a:lnTo>
                <a:lnTo>
                  <a:pt x="540950" y="363927"/>
                </a:lnTo>
                <a:lnTo>
                  <a:pt x="566261" y="421385"/>
                </a:lnTo>
                <a:lnTo>
                  <a:pt x="591693" y="479575"/>
                </a:lnTo>
                <a:lnTo>
                  <a:pt x="617143" y="537708"/>
                </a:lnTo>
                <a:lnTo>
                  <a:pt x="642511" y="594997"/>
                </a:lnTo>
                <a:lnTo>
                  <a:pt x="667695" y="650652"/>
                </a:lnTo>
                <a:lnTo>
                  <a:pt x="692594" y="703885"/>
                </a:lnTo>
                <a:lnTo>
                  <a:pt x="717106" y="753908"/>
                </a:lnTo>
                <a:lnTo>
                  <a:pt x="741131" y="799933"/>
                </a:lnTo>
                <a:lnTo>
                  <a:pt x="764567" y="841171"/>
                </a:lnTo>
                <a:lnTo>
                  <a:pt x="787312" y="876834"/>
                </a:lnTo>
                <a:lnTo>
                  <a:pt x="830326" y="928282"/>
                </a:lnTo>
                <a:lnTo>
                  <a:pt x="878906" y="950233"/>
                </a:lnTo>
                <a:lnTo>
                  <a:pt x="907084" y="945265"/>
                </a:lnTo>
                <a:lnTo>
                  <a:pt x="962063" y="903562"/>
                </a:lnTo>
                <a:lnTo>
                  <a:pt x="988681" y="870016"/>
                </a:lnTo>
                <a:lnTo>
                  <a:pt x="1014594" y="830129"/>
                </a:lnTo>
                <a:lnTo>
                  <a:pt x="1039710" y="785495"/>
                </a:lnTo>
                <a:lnTo>
                  <a:pt x="1063938" y="737708"/>
                </a:lnTo>
                <a:lnTo>
                  <a:pt x="1087185" y="688360"/>
                </a:lnTo>
                <a:lnTo>
                  <a:pt x="1109359" y="639045"/>
                </a:lnTo>
                <a:lnTo>
                  <a:pt x="1130368" y="591355"/>
                </a:lnTo>
                <a:lnTo>
                  <a:pt x="1150120" y="546884"/>
                </a:lnTo>
                <a:lnTo>
                  <a:pt x="1168523" y="507225"/>
                </a:lnTo>
                <a:lnTo>
                  <a:pt x="1185484" y="473971"/>
                </a:lnTo>
                <a:lnTo>
                  <a:pt x="1200912" y="448714"/>
                </a:lnTo>
              </a:path>
            </a:pathLst>
          </a:custGeom>
          <a:ln w="39623">
            <a:solidFill>
              <a:srgbClr val="FF4C00"/>
            </a:solidFill>
          </a:ln>
        </p:spPr>
        <p:txBody>
          <a:bodyPr wrap="square" lIns="0" tIns="0" rIns="0" bIns="0" rtlCol="0"/>
          <a:lstStyle/>
          <a:p>
            <a:endParaRPr dirty="0"/>
          </a:p>
        </p:txBody>
      </p:sp>
      <p:sp>
        <p:nvSpPr>
          <p:cNvPr id="35" name="object 35"/>
          <p:cNvSpPr/>
          <p:nvPr/>
        </p:nvSpPr>
        <p:spPr>
          <a:xfrm>
            <a:off x="1405889" y="3731616"/>
            <a:ext cx="1201420" cy="950594"/>
          </a:xfrm>
          <a:custGeom>
            <a:avLst/>
            <a:gdLst/>
            <a:ahLst/>
            <a:cxnLst/>
            <a:rect l="l" t="t" r="r" b="b"/>
            <a:pathLst>
              <a:path w="1201420" h="950595">
                <a:moveTo>
                  <a:pt x="0" y="451762"/>
                </a:moveTo>
                <a:lnTo>
                  <a:pt x="13551" y="430634"/>
                </a:lnTo>
                <a:lnTo>
                  <a:pt x="29289" y="399928"/>
                </a:lnTo>
                <a:lnTo>
                  <a:pt x="47066" y="361638"/>
                </a:lnTo>
                <a:lnTo>
                  <a:pt x="66736" y="317757"/>
                </a:lnTo>
                <a:lnTo>
                  <a:pt x="88152" y="270276"/>
                </a:lnTo>
                <a:lnTo>
                  <a:pt x="111167" y="221189"/>
                </a:lnTo>
                <a:lnTo>
                  <a:pt x="135635" y="172489"/>
                </a:lnTo>
                <a:lnTo>
                  <a:pt x="161410" y="126168"/>
                </a:lnTo>
                <a:lnTo>
                  <a:pt x="188345" y="84219"/>
                </a:lnTo>
                <a:lnTo>
                  <a:pt x="216292" y="48635"/>
                </a:lnTo>
                <a:lnTo>
                  <a:pt x="245106" y="21409"/>
                </a:lnTo>
                <a:lnTo>
                  <a:pt x="304746" y="0"/>
                </a:lnTo>
                <a:lnTo>
                  <a:pt x="335279" y="9802"/>
                </a:lnTo>
                <a:lnTo>
                  <a:pt x="375650" y="48425"/>
                </a:lnTo>
                <a:lnTo>
                  <a:pt x="419744" y="115202"/>
                </a:lnTo>
                <a:lnTo>
                  <a:pt x="442934" y="157177"/>
                </a:lnTo>
                <a:lnTo>
                  <a:pt x="466751" y="203825"/>
                </a:lnTo>
                <a:lnTo>
                  <a:pt x="491094" y="254359"/>
                </a:lnTo>
                <a:lnTo>
                  <a:pt x="515860" y="307989"/>
                </a:lnTo>
                <a:lnTo>
                  <a:pt x="540950" y="363927"/>
                </a:lnTo>
                <a:lnTo>
                  <a:pt x="566261" y="421385"/>
                </a:lnTo>
                <a:lnTo>
                  <a:pt x="591693" y="479575"/>
                </a:lnTo>
                <a:lnTo>
                  <a:pt x="617143" y="537708"/>
                </a:lnTo>
                <a:lnTo>
                  <a:pt x="642511" y="594997"/>
                </a:lnTo>
                <a:lnTo>
                  <a:pt x="667695" y="650652"/>
                </a:lnTo>
                <a:lnTo>
                  <a:pt x="692594" y="703885"/>
                </a:lnTo>
                <a:lnTo>
                  <a:pt x="717106" y="753908"/>
                </a:lnTo>
                <a:lnTo>
                  <a:pt x="741131" y="799933"/>
                </a:lnTo>
                <a:lnTo>
                  <a:pt x="764567" y="841171"/>
                </a:lnTo>
                <a:lnTo>
                  <a:pt x="787312" y="876834"/>
                </a:lnTo>
                <a:lnTo>
                  <a:pt x="830326" y="928282"/>
                </a:lnTo>
                <a:lnTo>
                  <a:pt x="878906" y="950233"/>
                </a:lnTo>
                <a:lnTo>
                  <a:pt x="907084" y="945265"/>
                </a:lnTo>
                <a:lnTo>
                  <a:pt x="962063" y="903562"/>
                </a:lnTo>
                <a:lnTo>
                  <a:pt x="988681" y="870016"/>
                </a:lnTo>
                <a:lnTo>
                  <a:pt x="1014594" y="830129"/>
                </a:lnTo>
                <a:lnTo>
                  <a:pt x="1039710" y="785495"/>
                </a:lnTo>
                <a:lnTo>
                  <a:pt x="1063938" y="737708"/>
                </a:lnTo>
                <a:lnTo>
                  <a:pt x="1087185" y="688360"/>
                </a:lnTo>
                <a:lnTo>
                  <a:pt x="1109359" y="639045"/>
                </a:lnTo>
                <a:lnTo>
                  <a:pt x="1130368" y="591355"/>
                </a:lnTo>
                <a:lnTo>
                  <a:pt x="1150120" y="546884"/>
                </a:lnTo>
                <a:lnTo>
                  <a:pt x="1168523" y="507225"/>
                </a:lnTo>
                <a:lnTo>
                  <a:pt x="1185484" y="473971"/>
                </a:lnTo>
                <a:lnTo>
                  <a:pt x="1200912" y="448714"/>
                </a:lnTo>
              </a:path>
            </a:pathLst>
          </a:custGeom>
          <a:ln w="39623">
            <a:solidFill>
              <a:srgbClr val="FF4C00"/>
            </a:solidFill>
          </a:ln>
        </p:spPr>
        <p:txBody>
          <a:bodyPr wrap="square" lIns="0" tIns="0" rIns="0" bIns="0" rtlCol="0"/>
          <a:lstStyle/>
          <a:p>
            <a:endParaRPr dirty="0"/>
          </a:p>
        </p:txBody>
      </p:sp>
      <p:sp>
        <p:nvSpPr>
          <p:cNvPr id="36" name="object 36"/>
          <p:cNvSpPr/>
          <p:nvPr/>
        </p:nvSpPr>
        <p:spPr>
          <a:xfrm>
            <a:off x="1384553" y="4189474"/>
            <a:ext cx="1216660" cy="0"/>
          </a:xfrm>
          <a:custGeom>
            <a:avLst/>
            <a:gdLst/>
            <a:ahLst/>
            <a:cxnLst/>
            <a:rect l="l" t="t" r="r" b="b"/>
            <a:pathLst>
              <a:path w="1216660">
                <a:moveTo>
                  <a:pt x="0" y="0"/>
                </a:moveTo>
                <a:lnTo>
                  <a:pt x="1216151" y="0"/>
                </a:lnTo>
              </a:path>
            </a:pathLst>
          </a:custGeom>
          <a:ln w="9143">
            <a:solidFill>
              <a:srgbClr val="000000"/>
            </a:solidFill>
          </a:ln>
        </p:spPr>
        <p:txBody>
          <a:bodyPr wrap="square" lIns="0" tIns="0" rIns="0" bIns="0" rtlCol="0"/>
          <a:lstStyle/>
          <a:p>
            <a:endParaRPr dirty="0"/>
          </a:p>
        </p:txBody>
      </p:sp>
      <p:sp>
        <p:nvSpPr>
          <p:cNvPr id="37" name="object 37"/>
          <p:cNvSpPr/>
          <p:nvPr/>
        </p:nvSpPr>
        <p:spPr>
          <a:xfrm>
            <a:off x="5188457" y="4317490"/>
            <a:ext cx="143510" cy="30480"/>
          </a:xfrm>
          <a:custGeom>
            <a:avLst/>
            <a:gdLst/>
            <a:ahLst/>
            <a:cxnLst/>
            <a:rect l="l" t="t" r="r" b="b"/>
            <a:pathLst>
              <a:path w="143510" h="30479">
                <a:moveTo>
                  <a:pt x="0" y="27431"/>
                </a:moveTo>
                <a:lnTo>
                  <a:pt x="76199" y="0"/>
                </a:lnTo>
                <a:lnTo>
                  <a:pt x="143255" y="30479"/>
                </a:lnTo>
              </a:path>
            </a:pathLst>
          </a:custGeom>
          <a:ln w="39623">
            <a:solidFill>
              <a:srgbClr val="024CD6"/>
            </a:solidFill>
          </a:ln>
        </p:spPr>
        <p:txBody>
          <a:bodyPr wrap="square" lIns="0" tIns="0" rIns="0" bIns="0" rtlCol="0"/>
          <a:lstStyle/>
          <a:p>
            <a:endParaRPr dirty="0"/>
          </a:p>
        </p:txBody>
      </p:sp>
      <p:sp>
        <p:nvSpPr>
          <p:cNvPr id="38" name="object 38"/>
          <p:cNvSpPr/>
          <p:nvPr/>
        </p:nvSpPr>
        <p:spPr>
          <a:xfrm>
            <a:off x="4981193" y="4683250"/>
            <a:ext cx="109855" cy="0"/>
          </a:xfrm>
          <a:custGeom>
            <a:avLst/>
            <a:gdLst/>
            <a:ahLst/>
            <a:cxnLst/>
            <a:rect l="l" t="t" r="r" b="b"/>
            <a:pathLst>
              <a:path w="109854">
                <a:moveTo>
                  <a:pt x="0" y="0"/>
                </a:moveTo>
                <a:lnTo>
                  <a:pt x="109727" y="0"/>
                </a:lnTo>
              </a:path>
            </a:pathLst>
          </a:custGeom>
          <a:ln w="39623">
            <a:solidFill>
              <a:srgbClr val="024CD6"/>
            </a:solidFill>
          </a:ln>
        </p:spPr>
        <p:txBody>
          <a:bodyPr wrap="square" lIns="0" tIns="0" rIns="0" bIns="0" rtlCol="0"/>
          <a:lstStyle/>
          <a:p>
            <a:endParaRPr dirty="0"/>
          </a:p>
        </p:txBody>
      </p:sp>
      <p:sp>
        <p:nvSpPr>
          <p:cNvPr id="39" name="object 39"/>
          <p:cNvSpPr/>
          <p:nvPr/>
        </p:nvSpPr>
        <p:spPr>
          <a:xfrm>
            <a:off x="5072633" y="4555234"/>
            <a:ext cx="0" cy="137160"/>
          </a:xfrm>
          <a:custGeom>
            <a:avLst/>
            <a:gdLst/>
            <a:ahLst/>
            <a:cxnLst/>
            <a:rect l="l" t="t" r="r" b="b"/>
            <a:pathLst>
              <a:path h="137160">
                <a:moveTo>
                  <a:pt x="0" y="0"/>
                </a:moveTo>
                <a:lnTo>
                  <a:pt x="0" y="137159"/>
                </a:lnTo>
              </a:path>
            </a:pathLst>
          </a:custGeom>
          <a:ln w="39623">
            <a:solidFill>
              <a:srgbClr val="024CD6"/>
            </a:solidFill>
          </a:ln>
        </p:spPr>
        <p:txBody>
          <a:bodyPr wrap="square" lIns="0" tIns="0" rIns="0" bIns="0" rtlCol="0"/>
          <a:lstStyle/>
          <a:p>
            <a:endParaRPr dirty="0"/>
          </a:p>
        </p:txBody>
      </p:sp>
      <p:sp>
        <p:nvSpPr>
          <p:cNvPr id="40" name="object 40"/>
          <p:cNvSpPr/>
          <p:nvPr/>
        </p:nvSpPr>
        <p:spPr>
          <a:xfrm>
            <a:off x="5203697" y="4326634"/>
            <a:ext cx="0" cy="146685"/>
          </a:xfrm>
          <a:custGeom>
            <a:avLst/>
            <a:gdLst/>
            <a:ahLst/>
            <a:cxnLst/>
            <a:rect l="l" t="t" r="r" b="b"/>
            <a:pathLst>
              <a:path h="146685">
                <a:moveTo>
                  <a:pt x="0" y="0"/>
                </a:moveTo>
                <a:lnTo>
                  <a:pt x="0" y="146303"/>
                </a:lnTo>
              </a:path>
            </a:pathLst>
          </a:custGeom>
          <a:ln w="39623">
            <a:solidFill>
              <a:srgbClr val="024CD6"/>
            </a:solidFill>
          </a:ln>
        </p:spPr>
        <p:txBody>
          <a:bodyPr wrap="square" lIns="0" tIns="0" rIns="0" bIns="0" rtlCol="0"/>
          <a:lstStyle/>
          <a:p>
            <a:endParaRPr dirty="0"/>
          </a:p>
        </p:txBody>
      </p:sp>
      <p:sp>
        <p:nvSpPr>
          <p:cNvPr id="41" name="object 41"/>
          <p:cNvSpPr/>
          <p:nvPr/>
        </p:nvSpPr>
        <p:spPr>
          <a:xfrm>
            <a:off x="5447537" y="4604002"/>
            <a:ext cx="109855" cy="0"/>
          </a:xfrm>
          <a:custGeom>
            <a:avLst/>
            <a:gdLst/>
            <a:ahLst/>
            <a:cxnLst/>
            <a:rect l="l" t="t" r="r" b="b"/>
            <a:pathLst>
              <a:path w="109854">
                <a:moveTo>
                  <a:pt x="109727" y="0"/>
                </a:moveTo>
                <a:lnTo>
                  <a:pt x="0" y="0"/>
                </a:lnTo>
              </a:path>
            </a:pathLst>
          </a:custGeom>
          <a:ln w="39623">
            <a:solidFill>
              <a:srgbClr val="024CD6"/>
            </a:solidFill>
          </a:ln>
        </p:spPr>
        <p:txBody>
          <a:bodyPr wrap="square" lIns="0" tIns="0" rIns="0" bIns="0" rtlCol="0"/>
          <a:lstStyle/>
          <a:p>
            <a:endParaRPr dirty="0"/>
          </a:p>
        </p:txBody>
      </p:sp>
      <p:sp>
        <p:nvSpPr>
          <p:cNvPr id="42" name="object 42"/>
          <p:cNvSpPr/>
          <p:nvPr/>
        </p:nvSpPr>
        <p:spPr>
          <a:xfrm>
            <a:off x="5538977" y="4594858"/>
            <a:ext cx="0" cy="146685"/>
          </a:xfrm>
          <a:custGeom>
            <a:avLst/>
            <a:gdLst/>
            <a:ahLst/>
            <a:cxnLst/>
            <a:rect l="l" t="t" r="r" b="b"/>
            <a:pathLst>
              <a:path h="146685">
                <a:moveTo>
                  <a:pt x="0" y="0"/>
                </a:moveTo>
                <a:lnTo>
                  <a:pt x="0" y="146303"/>
                </a:lnTo>
              </a:path>
            </a:pathLst>
          </a:custGeom>
          <a:ln w="39623">
            <a:solidFill>
              <a:srgbClr val="024CD6"/>
            </a:solidFill>
          </a:ln>
        </p:spPr>
        <p:txBody>
          <a:bodyPr wrap="square" lIns="0" tIns="0" rIns="0" bIns="0" rtlCol="0"/>
          <a:lstStyle/>
          <a:p>
            <a:endParaRPr dirty="0"/>
          </a:p>
        </p:txBody>
      </p:sp>
      <p:sp>
        <p:nvSpPr>
          <p:cNvPr id="43" name="object 43"/>
          <p:cNvSpPr/>
          <p:nvPr/>
        </p:nvSpPr>
        <p:spPr>
          <a:xfrm>
            <a:off x="5319521" y="4357114"/>
            <a:ext cx="109855" cy="0"/>
          </a:xfrm>
          <a:custGeom>
            <a:avLst/>
            <a:gdLst/>
            <a:ahLst/>
            <a:cxnLst/>
            <a:rect l="l" t="t" r="r" b="b"/>
            <a:pathLst>
              <a:path w="109854">
                <a:moveTo>
                  <a:pt x="109727" y="0"/>
                </a:moveTo>
                <a:lnTo>
                  <a:pt x="0" y="0"/>
                </a:lnTo>
              </a:path>
            </a:pathLst>
          </a:custGeom>
          <a:ln w="39623">
            <a:solidFill>
              <a:srgbClr val="024CD6"/>
            </a:solidFill>
          </a:ln>
        </p:spPr>
        <p:txBody>
          <a:bodyPr wrap="square" lIns="0" tIns="0" rIns="0" bIns="0" rtlCol="0"/>
          <a:lstStyle/>
          <a:p>
            <a:endParaRPr dirty="0"/>
          </a:p>
        </p:txBody>
      </p:sp>
      <p:sp>
        <p:nvSpPr>
          <p:cNvPr id="44" name="object 44"/>
          <p:cNvSpPr/>
          <p:nvPr/>
        </p:nvSpPr>
        <p:spPr>
          <a:xfrm>
            <a:off x="5410961" y="4347970"/>
            <a:ext cx="0" cy="128270"/>
          </a:xfrm>
          <a:custGeom>
            <a:avLst/>
            <a:gdLst/>
            <a:ahLst/>
            <a:cxnLst/>
            <a:rect l="l" t="t" r="r" b="b"/>
            <a:pathLst>
              <a:path h="128270">
                <a:moveTo>
                  <a:pt x="0" y="0"/>
                </a:moveTo>
                <a:lnTo>
                  <a:pt x="0" y="128015"/>
                </a:lnTo>
              </a:path>
            </a:pathLst>
          </a:custGeom>
          <a:ln w="39623">
            <a:solidFill>
              <a:srgbClr val="024CD6"/>
            </a:solidFill>
          </a:ln>
        </p:spPr>
        <p:txBody>
          <a:bodyPr wrap="square" lIns="0" tIns="0" rIns="0" bIns="0" rtlCol="0"/>
          <a:lstStyle/>
          <a:p>
            <a:endParaRPr dirty="0"/>
          </a:p>
        </p:txBody>
      </p:sp>
      <p:sp>
        <p:nvSpPr>
          <p:cNvPr id="45" name="object 45"/>
          <p:cNvSpPr/>
          <p:nvPr/>
        </p:nvSpPr>
        <p:spPr>
          <a:xfrm>
            <a:off x="5706617" y="5146546"/>
            <a:ext cx="106680" cy="0"/>
          </a:xfrm>
          <a:custGeom>
            <a:avLst/>
            <a:gdLst/>
            <a:ahLst/>
            <a:cxnLst/>
            <a:rect l="l" t="t" r="r" b="b"/>
            <a:pathLst>
              <a:path w="106679">
                <a:moveTo>
                  <a:pt x="0" y="0"/>
                </a:moveTo>
                <a:lnTo>
                  <a:pt x="106679" y="0"/>
                </a:lnTo>
              </a:path>
            </a:pathLst>
          </a:custGeom>
          <a:ln w="39623">
            <a:solidFill>
              <a:srgbClr val="024CD6"/>
            </a:solidFill>
          </a:ln>
        </p:spPr>
        <p:txBody>
          <a:bodyPr wrap="square" lIns="0" tIns="0" rIns="0" bIns="0" rtlCol="0"/>
          <a:lstStyle/>
          <a:p>
            <a:endParaRPr dirty="0"/>
          </a:p>
        </p:txBody>
      </p:sp>
      <p:sp>
        <p:nvSpPr>
          <p:cNvPr id="46" name="object 46"/>
          <p:cNvSpPr/>
          <p:nvPr/>
        </p:nvSpPr>
        <p:spPr>
          <a:xfrm>
            <a:off x="5529833" y="4725922"/>
            <a:ext cx="58419" cy="143510"/>
          </a:xfrm>
          <a:custGeom>
            <a:avLst/>
            <a:gdLst/>
            <a:ahLst/>
            <a:cxnLst/>
            <a:rect l="l" t="t" r="r" b="b"/>
            <a:pathLst>
              <a:path w="58420" h="143510">
                <a:moveTo>
                  <a:pt x="0" y="0"/>
                </a:moveTo>
                <a:lnTo>
                  <a:pt x="57911" y="143255"/>
                </a:lnTo>
              </a:path>
            </a:pathLst>
          </a:custGeom>
          <a:ln w="39623">
            <a:solidFill>
              <a:srgbClr val="024CD6"/>
            </a:solidFill>
          </a:ln>
        </p:spPr>
        <p:txBody>
          <a:bodyPr wrap="square" lIns="0" tIns="0" rIns="0" bIns="0" rtlCol="0"/>
          <a:lstStyle/>
          <a:p>
            <a:endParaRPr dirty="0"/>
          </a:p>
        </p:txBody>
      </p:sp>
      <p:sp>
        <p:nvSpPr>
          <p:cNvPr id="47" name="object 47"/>
          <p:cNvSpPr/>
          <p:nvPr/>
        </p:nvSpPr>
        <p:spPr>
          <a:xfrm>
            <a:off x="5572505" y="4872226"/>
            <a:ext cx="109855" cy="0"/>
          </a:xfrm>
          <a:custGeom>
            <a:avLst/>
            <a:gdLst/>
            <a:ahLst/>
            <a:cxnLst/>
            <a:rect l="l" t="t" r="r" b="b"/>
            <a:pathLst>
              <a:path w="109854">
                <a:moveTo>
                  <a:pt x="0" y="0"/>
                </a:moveTo>
                <a:lnTo>
                  <a:pt x="109727" y="0"/>
                </a:lnTo>
              </a:path>
            </a:pathLst>
          </a:custGeom>
          <a:ln w="39623">
            <a:solidFill>
              <a:srgbClr val="024CD6"/>
            </a:solidFill>
          </a:ln>
        </p:spPr>
        <p:txBody>
          <a:bodyPr wrap="square" lIns="0" tIns="0" rIns="0" bIns="0" rtlCol="0"/>
          <a:lstStyle/>
          <a:p>
            <a:endParaRPr dirty="0"/>
          </a:p>
        </p:txBody>
      </p:sp>
      <p:sp>
        <p:nvSpPr>
          <p:cNvPr id="48" name="object 48"/>
          <p:cNvSpPr/>
          <p:nvPr/>
        </p:nvSpPr>
        <p:spPr>
          <a:xfrm>
            <a:off x="5660897" y="4866130"/>
            <a:ext cx="0" cy="146685"/>
          </a:xfrm>
          <a:custGeom>
            <a:avLst/>
            <a:gdLst/>
            <a:ahLst/>
            <a:cxnLst/>
            <a:rect l="l" t="t" r="r" b="b"/>
            <a:pathLst>
              <a:path h="146685">
                <a:moveTo>
                  <a:pt x="0" y="146303"/>
                </a:moveTo>
                <a:lnTo>
                  <a:pt x="0" y="0"/>
                </a:lnTo>
              </a:path>
            </a:pathLst>
          </a:custGeom>
          <a:ln w="39623">
            <a:solidFill>
              <a:srgbClr val="024CD6"/>
            </a:solidFill>
          </a:ln>
        </p:spPr>
        <p:txBody>
          <a:bodyPr wrap="square" lIns="0" tIns="0" rIns="0" bIns="0" rtlCol="0"/>
          <a:lstStyle/>
          <a:p>
            <a:endParaRPr dirty="0"/>
          </a:p>
        </p:txBody>
      </p:sp>
      <p:sp>
        <p:nvSpPr>
          <p:cNvPr id="49" name="object 49"/>
          <p:cNvSpPr/>
          <p:nvPr/>
        </p:nvSpPr>
        <p:spPr>
          <a:xfrm>
            <a:off x="6035801" y="4981954"/>
            <a:ext cx="106680" cy="0"/>
          </a:xfrm>
          <a:custGeom>
            <a:avLst/>
            <a:gdLst/>
            <a:ahLst/>
            <a:cxnLst/>
            <a:rect l="l" t="t" r="r" b="b"/>
            <a:pathLst>
              <a:path w="106679">
                <a:moveTo>
                  <a:pt x="106679" y="0"/>
                </a:moveTo>
                <a:lnTo>
                  <a:pt x="0" y="0"/>
                </a:lnTo>
              </a:path>
            </a:pathLst>
          </a:custGeom>
          <a:ln w="39623">
            <a:solidFill>
              <a:srgbClr val="024CD6"/>
            </a:solidFill>
          </a:ln>
        </p:spPr>
        <p:txBody>
          <a:bodyPr wrap="square" lIns="0" tIns="0" rIns="0" bIns="0" rtlCol="0"/>
          <a:lstStyle/>
          <a:p>
            <a:endParaRPr dirty="0"/>
          </a:p>
        </p:txBody>
      </p:sp>
      <p:sp>
        <p:nvSpPr>
          <p:cNvPr id="50" name="object 50"/>
          <p:cNvSpPr/>
          <p:nvPr/>
        </p:nvSpPr>
        <p:spPr>
          <a:xfrm>
            <a:off x="6124193" y="4841746"/>
            <a:ext cx="0" cy="143510"/>
          </a:xfrm>
          <a:custGeom>
            <a:avLst/>
            <a:gdLst/>
            <a:ahLst/>
            <a:cxnLst/>
            <a:rect l="l" t="t" r="r" b="b"/>
            <a:pathLst>
              <a:path h="143510">
                <a:moveTo>
                  <a:pt x="0" y="143255"/>
                </a:moveTo>
                <a:lnTo>
                  <a:pt x="0" y="0"/>
                </a:lnTo>
              </a:path>
            </a:pathLst>
          </a:custGeom>
          <a:ln w="39623">
            <a:solidFill>
              <a:srgbClr val="024CD6"/>
            </a:solidFill>
          </a:ln>
        </p:spPr>
        <p:txBody>
          <a:bodyPr wrap="square" lIns="0" tIns="0" rIns="0" bIns="0" rtlCol="0"/>
          <a:lstStyle/>
          <a:p>
            <a:endParaRPr dirty="0"/>
          </a:p>
        </p:txBody>
      </p:sp>
      <p:sp>
        <p:nvSpPr>
          <p:cNvPr id="51" name="object 51"/>
          <p:cNvSpPr/>
          <p:nvPr/>
        </p:nvSpPr>
        <p:spPr>
          <a:xfrm>
            <a:off x="5993129" y="5100826"/>
            <a:ext cx="0" cy="143510"/>
          </a:xfrm>
          <a:custGeom>
            <a:avLst/>
            <a:gdLst/>
            <a:ahLst/>
            <a:cxnLst/>
            <a:rect l="l" t="t" r="r" b="b"/>
            <a:pathLst>
              <a:path h="143510">
                <a:moveTo>
                  <a:pt x="0" y="143255"/>
                </a:moveTo>
                <a:lnTo>
                  <a:pt x="0" y="0"/>
                </a:lnTo>
              </a:path>
            </a:pathLst>
          </a:custGeom>
          <a:ln w="39623">
            <a:solidFill>
              <a:srgbClr val="024CD6"/>
            </a:solidFill>
          </a:ln>
        </p:spPr>
        <p:txBody>
          <a:bodyPr wrap="square" lIns="0" tIns="0" rIns="0" bIns="0" rtlCol="0"/>
          <a:lstStyle/>
          <a:p>
            <a:endParaRPr dirty="0"/>
          </a:p>
        </p:txBody>
      </p:sp>
      <p:sp>
        <p:nvSpPr>
          <p:cNvPr id="52" name="object 52"/>
          <p:cNvSpPr/>
          <p:nvPr/>
        </p:nvSpPr>
        <p:spPr>
          <a:xfrm>
            <a:off x="7197089" y="3253738"/>
            <a:ext cx="707390" cy="0"/>
          </a:xfrm>
          <a:custGeom>
            <a:avLst/>
            <a:gdLst/>
            <a:ahLst/>
            <a:cxnLst/>
            <a:rect l="l" t="t" r="r" b="b"/>
            <a:pathLst>
              <a:path w="707390">
                <a:moveTo>
                  <a:pt x="707135" y="0"/>
                </a:moveTo>
                <a:lnTo>
                  <a:pt x="0" y="0"/>
                </a:lnTo>
              </a:path>
            </a:pathLst>
          </a:custGeom>
          <a:ln w="27431">
            <a:solidFill>
              <a:srgbClr val="000000"/>
            </a:solidFill>
          </a:ln>
        </p:spPr>
        <p:txBody>
          <a:bodyPr wrap="square" lIns="0" tIns="0" rIns="0" bIns="0" rtlCol="0"/>
          <a:lstStyle/>
          <a:p>
            <a:endParaRPr dirty="0"/>
          </a:p>
        </p:txBody>
      </p:sp>
      <p:sp>
        <p:nvSpPr>
          <p:cNvPr id="53" name="object 53"/>
          <p:cNvSpPr/>
          <p:nvPr/>
        </p:nvSpPr>
        <p:spPr>
          <a:xfrm>
            <a:off x="7849361" y="3186682"/>
            <a:ext cx="137159" cy="134111"/>
          </a:xfrm>
          <a:prstGeom prst="rect">
            <a:avLst/>
          </a:prstGeom>
          <a:blipFill>
            <a:blip r:embed="rId5" cstate="print"/>
            <a:stretch>
              <a:fillRect/>
            </a:stretch>
          </a:blipFill>
        </p:spPr>
        <p:txBody>
          <a:bodyPr wrap="square" lIns="0" tIns="0" rIns="0" bIns="0" rtlCol="0"/>
          <a:lstStyle/>
          <a:p>
            <a:endParaRPr dirty="0"/>
          </a:p>
        </p:txBody>
      </p:sp>
      <p:sp>
        <p:nvSpPr>
          <p:cNvPr id="54" name="object 54"/>
          <p:cNvSpPr/>
          <p:nvPr/>
        </p:nvSpPr>
        <p:spPr>
          <a:xfrm>
            <a:off x="7197089" y="3848098"/>
            <a:ext cx="707390" cy="0"/>
          </a:xfrm>
          <a:custGeom>
            <a:avLst/>
            <a:gdLst/>
            <a:ahLst/>
            <a:cxnLst/>
            <a:rect l="l" t="t" r="r" b="b"/>
            <a:pathLst>
              <a:path w="707390">
                <a:moveTo>
                  <a:pt x="707135" y="0"/>
                </a:moveTo>
                <a:lnTo>
                  <a:pt x="0" y="0"/>
                </a:lnTo>
              </a:path>
            </a:pathLst>
          </a:custGeom>
          <a:ln w="27431">
            <a:solidFill>
              <a:srgbClr val="000000"/>
            </a:solidFill>
          </a:ln>
        </p:spPr>
        <p:txBody>
          <a:bodyPr wrap="square" lIns="0" tIns="0" rIns="0" bIns="0" rtlCol="0"/>
          <a:lstStyle/>
          <a:p>
            <a:endParaRPr dirty="0"/>
          </a:p>
        </p:txBody>
      </p:sp>
      <p:sp>
        <p:nvSpPr>
          <p:cNvPr id="55" name="object 55"/>
          <p:cNvSpPr/>
          <p:nvPr/>
        </p:nvSpPr>
        <p:spPr>
          <a:xfrm>
            <a:off x="7197089" y="4146802"/>
            <a:ext cx="707390" cy="0"/>
          </a:xfrm>
          <a:custGeom>
            <a:avLst/>
            <a:gdLst/>
            <a:ahLst/>
            <a:cxnLst/>
            <a:rect l="l" t="t" r="r" b="b"/>
            <a:pathLst>
              <a:path w="707390">
                <a:moveTo>
                  <a:pt x="707135" y="0"/>
                </a:moveTo>
                <a:lnTo>
                  <a:pt x="0" y="0"/>
                </a:lnTo>
              </a:path>
            </a:pathLst>
          </a:custGeom>
          <a:ln w="27431">
            <a:solidFill>
              <a:srgbClr val="000000"/>
            </a:solidFill>
          </a:ln>
        </p:spPr>
        <p:txBody>
          <a:bodyPr wrap="square" lIns="0" tIns="0" rIns="0" bIns="0" rtlCol="0"/>
          <a:lstStyle/>
          <a:p>
            <a:endParaRPr dirty="0"/>
          </a:p>
        </p:txBody>
      </p:sp>
      <p:sp>
        <p:nvSpPr>
          <p:cNvPr id="56" name="object 56"/>
          <p:cNvSpPr/>
          <p:nvPr/>
        </p:nvSpPr>
        <p:spPr>
          <a:xfrm>
            <a:off x="7849361" y="4070602"/>
            <a:ext cx="137159" cy="134111"/>
          </a:xfrm>
          <a:prstGeom prst="rect">
            <a:avLst/>
          </a:prstGeom>
          <a:blipFill>
            <a:blip r:embed="rId5" cstate="print"/>
            <a:stretch>
              <a:fillRect/>
            </a:stretch>
          </a:blipFill>
        </p:spPr>
        <p:txBody>
          <a:bodyPr wrap="square" lIns="0" tIns="0" rIns="0" bIns="0" rtlCol="0"/>
          <a:lstStyle/>
          <a:p>
            <a:endParaRPr dirty="0"/>
          </a:p>
        </p:txBody>
      </p:sp>
      <p:sp>
        <p:nvSpPr>
          <p:cNvPr id="57" name="object 57"/>
          <p:cNvSpPr/>
          <p:nvPr/>
        </p:nvSpPr>
        <p:spPr>
          <a:xfrm>
            <a:off x="5634990" y="3047998"/>
            <a:ext cx="1560830" cy="1295400"/>
          </a:xfrm>
          <a:custGeom>
            <a:avLst/>
            <a:gdLst/>
            <a:ahLst/>
            <a:cxnLst/>
            <a:rect l="l" t="t" r="r" b="b"/>
            <a:pathLst>
              <a:path w="1560829" h="1295400">
                <a:moveTo>
                  <a:pt x="0" y="1295400"/>
                </a:moveTo>
                <a:lnTo>
                  <a:pt x="1560575" y="1295400"/>
                </a:lnTo>
                <a:lnTo>
                  <a:pt x="1560575" y="0"/>
                </a:lnTo>
                <a:lnTo>
                  <a:pt x="0" y="0"/>
                </a:lnTo>
                <a:lnTo>
                  <a:pt x="0" y="1295400"/>
                </a:lnTo>
                <a:close/>
              </a:path>
            </a:pathLst>
          </a:custGeom>
          <a:solidFill>
            <a:srgbClr val="D6D7FF">
              <a:alpha val="50000"/>
            </a:srgbClr>
          </a:solidFill>
        </p:spPr>
        <p:txBody>
          <a:bodyPr wrap="square" lIns="0" tIns="0" rIns="0" bIns="0" rtlCol="0"/>
          <a:lstStyle/>
          <a:p>
            <a:endParaRPr dirty="0"/>
          </a:p>
        </p:txBody>
      </p:sp>
      <p:sp>
        <p:nvSpPr>
          <p:cNvPr id="58" name="object 58"/>
          <p:cNvSpPr/>
          <p:nvPr/>
        </p:nvSpPr>
        <p:spPr>
          <a:xfrm>
            <a:off x="5636513" y="3049522"/>
            <a:ext cx="1560830" cy="1295400"/>
          </a:xfrm>
          <a:custGeom>
            <a:avLst/>
            <a:gdLst/>
            <a:ahLst/>
            <a:cxnLst/>
            <a:rect l="l" t="t" r="r" b="b"/>
            <a:pathLst>
              <a:path w="1560829" h="1295400">
                <a:moveTo>
                  <a:pt x="0" y="0"/>
                </a:moveTo>
                <a:lnTo>
                  <a:pt x="1560575" y="0"/>
                </a:lnTo>
                <a:lnTo>
                  <a:pt x="1560575" y="1295399"/>
                </a:lnTo>
                <a:lnTo>
                  <a:pt x="0" y="1295399"/>
                </a:lnTo>
                <a:lnTo>
                  <a:pt x="0" y="0"/>
                </a:lnTo>
                <a:close/>
              </a:path>
            </a:pathLst>
          </a:custGeom>
          <a:ln w="27431">
            <a:solidFill>
              <a:srgbClr val="000000"/>
            </a:solidFill>
          </a:ln>
        </p:spPr>
        <p:txBody>
          <a:bodyPr wrap="square" lIns="0" tIns="0" rIns="0" bIns="0" rtlCol="0"/>
          <a:lstStyle/>
          <a:p>
            <a:endParaRPr dirty="0"/>
          </a:p>
        </p:txBody>
      </p:sp>
      <p:sp>
        <p:nvSpPr>
          <p:cNvPr id="59" name="object 59"/>
          <p:cNvSpPr txBox="1"/>
          <p:nvPr/>
        </p:nvSpPr>
        <p:spPr>
          <a:xfrm>
            <a:off x="5878829" y="3196843"/>
            <a:ext cx="1106170" cy="848360"/>
          </a:xfrm>
          <a:prstGeom prst="rect">
            <a:avLst/>
          </a:prstGeom>
        </p:spPr>
        <p:txBody>
          <a:bodyPr vert="horz" wrap="square" lIns="0" tIns="12700" rIns="0" bIns="0" rtlCol="0">
            <a:spAutoFit/>
          </a:bodyPr>
          <a:lstStyle/>
          <a:p>
            <a:pPr marR="5080">
              <a:lnSpc>
                <a:spcPct val="100000"/>
              </a:lnSpc>
              <a:spcBef>
                <a:spcPts val="100"/>
              </a:spcBef>
            </a:pPr>
            <a:r>
              <a:rPr sz="1800" dirty="0">
                <a:latin typeface="Arial"/>
                <a:cs typeface="Arial"/>
              </a:rPr>
              <a:t>Quantizing  &amp;  Encoding</a:t>
            </a:r>
          </a:p>
        </p:txBody>
      </p:sp>
      <p:sp>
        <p:nvSpPr>
          <p:cNvPr id="60" name="object 60"/>
          <p:cNvSpPr txBox="1"/>
          <p:nvPr/>
        </p:nvSpPr>
        <p:spPr>
          <a:xfrm>
            <a:off x="8128253" y="2992627"/>
            <a:ext cx="270510" cy="453390"/>
          </a:xfrm>
          <a:prstGeom prst="rect">
            <a:avLst/>
          </a:prstGeom>
        </p:spPr>
        <p:txBody>
          <a:bodyPr vert="horz" wrap="square" lIns="0" tIns="13335" rIns="0" bIns="0" rtlCol="0">
            <a:spAutoFit/>
          </a:bodyPr>
          <a:lstStyle/>
          <a:p>
            <a:pPr>
              <a:lnSpc>
                <a:spcPct val="100000"/>
              </a:lnSpc>
              <a:spcBef>
                <a:spcPts val="105"/>
              </a:spcBef>
            </a:pPr>
            <a:r>
              <a:rPr sz="2800" b="1" i="1" spc="5" dirty="0">
                <a:solidFill>
                  <a:srgbClr val="024CD6"/>
                </a:solidFill>
                <a:latin typeface="Times New Roman"/>
                <a:cs typeface="Times New Roman"/>
              </a:rPr>
              <a:t>D</a:t>
            </a:r>
            <a:endParaRPr sz="2800" dirty="0">
              <a:latin typeface="Times New Roman"/>
              <a:cs typeface="Times New Roman"/>
            </a:endParaRPr>
          </a:p>
        </p:txBody>
      </p:sp>
      <p:sp>
        <p:nvSpPr>
          <p:cNvPr id="61" name="object 61"/>
          <p:cNvSpPr txBox="1"/>
          <p:nvPr/>
        </p:nvSpPr>
        <p:spPr>
          <a:xfrm>
            <a:off x="8128253" y="3583939"/>
            <a:ext cx="389255" cy="453390"/>
          </a:xfrm>
          <a:prstGeom prst="rect">
            <a:avLst/>
          </a:prstGeom>
        </p:spPr>
        <p:txBody>
          <a:bodyPr vert="horz" wrap="square" lIns="0" tIns="13335" rIns="0" bIns="0" rtlCol="0">
            <a:spAutoFit/>
          </a:bodyPr>
          <a:lstStyle/>
          <a:p>
            <a:pPr>
              <a:lnSpc>
                <a:spcPct val="100000"/>
              </a:lnSpc>
              <a:spcBef>
                <a:spcPts val="105"/>
              </a:spcBef>
            </a:pPr>
            <a:r>
              <a:rPr sz="2800" b="1" i="1" spc="-10" dirty="0">
                <a:solidFill>
                  <a:srgbClr val="024CD6"/>
                </a:solidFill>
                <a:latin typeface="Times New Roman"/>
                <a:cs typeface="Times New Roman"/>
              </a:rPr>
              <a:t>D</a:t>
            </a:r>
            <a:r>
              <a:rPr sz="2850" b="1" spc="-7" baseline="-20467" dirty="0">
                <a:solidFill>
                  <a:srgbClr val="024CD6"/>
                </a:solidFill>
                <a:latin typeface="Times New Roman"/>
                <a:cs typeface="Times New Roman"/>
              </a:rPr>
              <a:t>1</a:t>
            </a:r>
            <a:endParaRPr sz="2850" baseline="-20467" dirty="0">
              <a:latin typeface="Times New Roman"/>
              <a:cs typeface="Times New Roman"/>
            </a:endParaRPr>
          </a:p>
        </p:txBody>
      </p:sp>
      <p:sp>
        <p:nvSpPr>
          <p:cNvPr id="62" name="object 62"/>
          <p:cNvSpPr txBox="1"/>
          <p:nvPr/>
        </p:nvSpPr>
        <p:spPr>
          <a:xfrm>
            <a:off x="8128253" y="3888739"/>
            <a:ext cx="389255" cy="453390"/>
          </a:xfrm>
          <a:prstGeom prst="rect">
            <a:avLst/>
          </a:prstGeom>
        </p:spPr>
        <p:txBody>
          <a:bodyPr vert="horz" wrap="square" lIns="0" tIns="13335" rIns="0" bIns="0" rtlCol="0">
            <a:spAutoFit/>
          </a:bodyPr>
          <a:lstStyle/>
          <a:p>
            <a:pPr>
              <a:lnSpc>
                <a:spcPct val="100000"/>
              </a:lnSpc>
              <a:spcBef>
                <a:spcPts val="105"/>
              </a:spcBef>
            </a:pPr>
            <a:r>
              <a:rPr sz="2800" b="1" i="1" spc="-10" dirty="0">
                <a:solidFill>
                  <a:srgbClr val="024CD6"/>
                </a:solidFill>
                <a:latin typeface="Times New Roman"/>
                <a:cs typeface="Times New Roman"/>
              </a:rPr>
              <a:t>D</a:t>
            </a:r>
            <a:r>
              <a:rPr sz="2850" b="1" spc="-7" baseline="-20467" dirty="0">
                <a:solidFill>
                  <a:srgbClr val="024CD6"/>
                </a:solidFill>
                <a:latin typeface="Times New Roman"/>
                <a:cs typeface="Times New Roman"/>
              </a:rPr>
              <a:t>0</a:t>
            </a:r>
            <a:endParaRPr sz="2850" baseline="-20467" dirty="0">
              <a:latin typeface="Times New Roman"/>
              <a:cs typeface="Times New Roman"/>
            </a:endParaRPr>
          </a:p>
        </p:txBody>
      </p:sp>
      <p:sp>
        <p:nvSpPr>
          <p:cNvPr id="63" name="object 63"/>
          <p:cNvSpPr txBox="1"/>
          <p:nvPr/>
        </p:nvSpPr>
        <p:spPr>
          <a:xfrm>
            <a:off x="7447102" y="3394963"/>
            <a:ext cx="420370" cy="382270"/>
          </a:xfrm>
          <a:prstGeom prst="rect">
            <a:avLst/>
          </a:prstGeom>
        </p:spPr>
        <p:txBody>
          <a:bodyPr vert="vert" wrap="square" lIns="0" tIns="0" rIns="0" bIns="0" rtlCol="0">
            <a:spAutoFit/>
          </a:bodyPr>
          <a:lstStyle/>
          <a:p>
            <a:pPr marL="12700">
              <a:lnSpc>
                <a:spcPts val="3160"/>
              </a:lnSpc>
            </a:pPr>
            <a:r>
              <a:rPr sz="2800" b="1" dirty="0">
                <a:latin typeface="Times New Roman"/>
                <a:cs typeface="Times New Roman"/>
              </a:rPr>
              <a:t>…</a:t>
            </a:r>
            <a:endParaRPr sz="2800" dirty="0">
              <a:latin typeface="Times New Roman"/>
              <a:cs typeface="Times New Roman"/>
            </a:endParaRPr>
          </a:p>
        </p:txBody>
      </p:sp>
      <p:sp>
        <p:nvSpPr>
          <p:cNvPr id="64" name="object 64"/>
          <p:cNvSpPr txBox="1"/>
          <p:nvPr/>
        </p:nvSpPr>
        <p:spPr>
          <a:xfrm>
            <a:off x="4924805" y="3721099"/>
            <a:ext cx="738505" cy="453390"/>
          </a:xfrm>
          <a:prstGeom prst="rect">
            <a:avLst/>
          </a:prstGeom>
        </p:spPr>
        <p:txBody>
          <a:bodyPr vert="horz" wrap="square" lIns="0" tIns="13335" rIns="0" bIns="0" rtlCol="0">
            <a:spAutoFit/>
          </a:bodyPr>
          <a:lstStyle/>
          <a:p>
            <a:pPr>
              <a:lnSpc>
                <a:spcPct val="100000"/>
              </a:lnSpc>
              <a:spcBef>
                <a:spcPts val="105"/>
              </a:spcBef>
            </a:pPr>
            <a:r>
              <a:rPr sz="2800" b="1" i="1" spc="-5" dirty="0">
                <a:solidFill>
                  <a:srgbClr val="024CD6"/>
                </a:solidFill>
                <a:latin typeface="Times New Roman"/>
                <a:cs typeface="Times New Roman"/>
              </a:rPr>
              <a:t>u</a:t>
            </a:r>
            <a:r>
              <a:rPr sz="2850" b="1" spc="37" baseline="-20467" dirty="0">
                <a:solidFill>
                  <a:srgbClr val="024CD6"/>
                </a:solidFill>
                <a:latin typeface="Times New Roman"/>
                <a:cs typeface="Times New Roman"/>
              </a:rPr>
              <a:t>I</a:t>
            </a:r>
            <a:r>
              <a:rPr sz="2800" b="1" spc="25" dirty="0">
                <a:solidFill>
                  <a:srgbClr val="024CD6"/>
                </a:solidFill>
                <a:latin typeface="Symbol"/>
                <a:cs typeface="Symbol"/>
              </a:rPr>
              <a:t></a:t>
            </a:r>
            <a:r>
              <a:rPr sz="2800" b="1" dirty="0">
                <a:solidFill>
                  <a:srgbClr val="024CD6"/>
                </a:solidFill>
                <a:latin typeface="Times New Roman"/>
                <a:cs typeface="Times New Roman"/>
              </a:rPr>
              <a:t>(</a:t>
            </a:r>
            <a:r>
              <a:rPr sz="2800" b="1" i="1" spc="10" dirty="0">
                <a:solidFill>
                  <a:srgbClr val="024CD6"/>
                </a:solidFill>
                <a:latin typeface="Times New Roman"/>
                <a:cs typeface="Times New Roman"/>
              </a:rPr>
              <a:t>t</a:t>
            </a:r>
            <a:r>
              <a:rPr sz="2800" b="1" dirty="0">
                <a:solidFill>
                  <a:srgbClr val="024CD6"/>
                </a:solidFill>
                <a:latin typeface="Times New Roman"/>
                <a:cs typeface="Times New Roman"/>
              </a:rPr>
              <a:t>)</a:t>
            </a:r>
            <a:endParaRPr sz="2800" dirty="0">
              <a:latin typeface="Times New Roman"/>
              <a:cs typeface="Times New Roman"/>
            </a:endParaRPr>
          </a:p>
        </p:txBody>
      </p:sp>
      <p:sp>
        <p:nvSpPr>
          <p:cNvPr id="65" name="object 65"/>
          <p:cNvSpPr txBox="1"/>
          <p:nvPr/>
        </p:nvSpPr>
        <p:spPr>
          <a:xfrm>
            <a:off x="3452621" y="3583939"/>
            <a:ext cx="211454" cy="453390"/>
          </a:xfrm>
          <a:prstGeom prst="rect">
            <a:avLst/>
          </a:prstGeom>
        </p:spPr>
        <p:txBody>
          <a:bodyPr vert="horz" wrap="square" lIns="0" tIns="13335" rIns="0" bIns="0" rtlCol="0">
            <a:spAutoFit/>
          </a:bodyPr>
          <a:lstStyle/>
          <a:p>
            <a:pPr>
              <a:lnSpc>
                <a:spcPct val="100000"/>
              </a:lnSpc>
              <a:spcBef>
                <a:spcPts val="105"/>
              </a:spcBef>
            </a:pPr>
            <a:r>
              <a:rPr sz="2800" b="1" dirty="0">
                <a:latin typeface="Times New Roman"/>
                <a:cs typeface="Times New Roman"/>
              </a:rPr>
              <a:t>S</a:t>
            </a:r>
            <a:endParaRPr sz="2800" dirty="0">
              <a:latin typeface="Times New Roman"/>
              <a:cs typeface="Times New Roman"/>
            </a:endParaRPr>
          </a:p>
        </p:txBody>
      </p:sp>
      <p:sp>
        <p:nvSpPr>
          <p:cNvPr id="66" name="object 66"/>
          <p:cNvSpPr/>
          <p:nvPr/>
        </p:nvSpPr>
        <p:spPr>
          <a:xfrm>
            <a:off x="7849361" y="3777994"/>
            <a:ext cx="137159" cy="134111"/>
          </a:xfrm>
          <a:prstGeom prst="rect">
            <a:avLst/>
          </a:prstGeom>
          <a:blipFill>
            <a:blip r:embed="rId5" cstate="print"/>
            <a:stretch>
              <a:fillRect/>
            </a:stretch>
          </a:blipFill>
        </p:spPr>
        <p:txBody>
          <a:bodyPr wrap="square" lIns="0" tIns="0" rIns="0" bIns="0" rtlCol="0"/>
          <a:lstStyle/>
          <a:p>
            <a:endParaRPr dirty="0"/>
          </a:p>
        </p:txBody>
      </p:sp>
      <p:sp>
        <p:nvSpPr>
          <p:cNvPr id="67" name="object 67"/>
          <p:cNvSpPr/>
          <p:nvPr/>
        </p:nvSpPr>
        <p:spPr>
          <a:xfrm>
            <a:off x="5057393" y="4463794"/>
            <a:ext cx="67310" cy="100965"/>
          </a:xfrm>
          <a:custGeom>
            <a:avLst/>
            <a:gdLst/>
            <a:ahLst/>
            <a:cxnLst/>
            <a:rect l="l" t="t" r="r" b="b"/>
            <a:pathLst>
              <a:path w="67310" h="100964">
                <a:moveTo>
                  <a:pt x="0" y="100583"/>
                </a:moveTo>
                <a:lnTo>
                  <a:pt x="67055" y="0"/>
                </a:lnTo>
              </a:path>
            </a:pathLst>
          </a:custGeom>
          <a:ln w="39623">
            <a:solidFill>
              <a:srgbClr val="024CD6"/>
            </a:solidFill>
          </a:ln>
        </p:spPr>
        <p:txBody>
          <a:bodyPr wrap="square" lIns="0" tIns="0" rIns="0" bIns="0" rtlCol="0"/>
          <a:lstStyle/>
          <a:p>
            <a:endParaRPr dirty="0"/>
          </a:p>
        </p:txBody>
      </p:sp>
      <p:sp>
        <p:nvSpPr>
          <p:cNvPr id="68" name="object 68"/>
          <p:cNvSpPr/>
          <p:nvPr/>
        </p:nvSpPr>
        <p:spPr>
          <a:xfrm>
            <a:off x="5115305" y="4469890"/>
            <a:ext cx="109855" cy="0"/>
          </a:xfrm>
          <a:custGeom>
            <a:avLst/>
            <a:gdLst/>
            <a:ahLst/>
            <a:cxnLst/>
            <a:rect l="l" t="t" r="r" b="b"/>
            <a:pathLst>
              <a:path w="109854">
                <a:moveTo>
                  <a:pt x="0" y="0"/>
                </a:moveTo>
                <a:lnTo>
                  <a:pt x="109727" y="0"/>
                </a:lnTo>
              </a:path>
            </a:pathLst>
          </a:custGeom>
          <a:ln w="39623">
            <a:solidFill>
              <a:srgbClr val="024CD6"/>
            </a:solidFill>
          </a:ln>
        </p:spPr>
        <p:txBody>
          <a:bodyPr wrap="square" lIns="0" tIns="0" rIns="0" bIns="0" rtlCol="0"/>
          <a:lstStyle/>
          <a:p>
            <a:endParaRPr dirty="0"/>
          </a:p>
        </p:txBody>
      </p:sp>
      <p:sp>
        <p:nvSpPr>
          <p:cNvPr id="69" name="object 69"/>
          <p:cNvSpPr/>
          <p:nvPr/>
        </p:nvSpPr>
        <p:spPr>
          <a:xfrm>
            <a:off x="4947665" y="4680202"/>
            <a:ext cx="43180" cy="106680"/>
          </a:xfrm>
          <a:custGeom>
            <a:avLst/>
            <a:gdLst/>
            <a:ahLst/>
            <a:cxnLst/>
            <a:rect l="l" t="t" r="r" b="b"/>
            <a:pathLst>
              <a:path w="43179" h="106679">
                <a:moveTo>
                  <a:pt x="0" y="106679"/>
                </a:moveTo>
                <a:lnTo>
                  <a:pt x="42671" y="0"/>
                </a:lnTo>
              </a:path>
            </a:pathLst>
          </a:custGeom>
          <a:ln w="39623">
            <a:solidFill>
              <a:srgbClr val="024CD6"/>
            </a:solidFill>
          </a:ln>
        </p:spPr>
        <p:txBody>
          <a:bodyPr wrap="square" lIns="0" tIns="0" rIns="0" bIns="0" rtlCol="0"/>
          <a:lstStyle/>
          <a:p>
            <a:endParaRPr dirty="0"/>
          </a:p>
        </p:txBody>
      </p:sp>
      <p:sp>
        <p:nvSpPr>
          <p:cNvPr id="70" name="object 70"/>
          <p:cNvSpPr/>
          <p:nvPr/>
        </p:nvSpPr>
        <p:spPr>
          <a:xfrm>
            <a:off x="5404865" y="4469890"/>
            <a:ext cx="64135" cy="128270"/>
          </a:xfrm>
          <a:custGeom>
            <a:avLst/>
            <a:gdLst/>
            <a:ahLst/>
            <a:cxnLst/>
            <a:rect l="l" t="t" r="r" b="b"/>
            <a:pathLst>
              <a:path w="64135" h="128270">
                <a:moveTo>
                  <a:pt x="0" y="0"/>
                </a:moveTo>
                <a:lnTo>
                  <a:pt x="64007" y="128015"/>
                </a:lnTo>
              </a:path>
            </a:pathLst>
          </a:custGeom>
          <a:ln w="39623">
            <a:solidFill>
              <a:srgbClr val="024CD6"/>
            </a:solidFill>
          </a:ln>
        </p:spPr>
        <p:txBody>
          <a:bodyPr wrap="square" lIns="0" tIns="0" rIns="0" bIns="0" rtlCol="0"/>
          <a:lstStyle/>
          <a:p>
            <a:endParaRPr dirty="0"/>
          </a:p>
        </p:txBody>
      </p:sp>
      <p:sp>
        <p:nvSpPr>
          <p:cNvPr id="71" name="object 71"/>
          <p:cNvSpPr/>
          <p:nvPr/>
        </p:nvSpPr>
        <p:spPr>
          <a:xfrm>
            <a:off x="5657849" y="4997194"/>
            <a:ext cx="58419" cy="143510"/>
          </a:xfrm>
          <a:custGeom>
            <a:avLst/>
            <a:gdLst/>
            <a:ahLst/>
            <a:cxnLst/>
            <a:rect l="l" t="t" r="r" b="b"/>
            <a:pathLst>
              <a:path w="58420" h="143510">
                <a:moveTo>
                  <a:pt x="0" y="0"/>
                </a:moveTo>
                <a:lnTo>
                  <a:pt x="57911" y="143255"/>
                </a:lnTo>
              </a:path>
            </a:pathLst>
          </a:custGeom>
          <a:ln w="39623">
            <a:solidFill>
              <a:srgbClr val="024CD6"/>
            </a:solidFill>
          </a:ln>
        </p:spPr>
        <p:txBody>
          <a:bodyPr wrap="square" lIns="0" tIns="0" rIns="0" bIns="0" rtlCol="0"/>
          <a:lstStyle/>
          <a:p>
            <a:endParaRPr dirty="0"/>
          </a:p>
        </p:txBody>
      </p:sp>
      <p:sp>
        <p:nvSpPr>
          <p:cNvPr id="72" name="object 72"/>
          <p:cNvSpPr/>
          <p:nvPr/>
        </p:nvSpPr>
        <p:spPr>
          <a:xfrm>
            <a:off x="5791961" y="5137402"/>
            <a:ext cx="0" cy="109855"/>
          </a:xfrm>
          <a:custGeom>
            <a:avLst/>
            <a:gdLst/>
            <a:ahLst/>
            <a:cxnLst/>
            <a:rect l="l" t="t" r="r" b="b"/>
            <a:pathLst>
              <a:path h="109854">
                <a:moveTo>
                  <a:pt x="0" y="109727"/>
                </a:moveTo>
                <a:lnTo>
                  <a:pt x="0" y="0"/>
                </a:lnTo>
              </a:path>
            </a:pathLst>
          </a:custGeom>
          <a:ln w="39623">
            <a:solidFill>
              <a:srgbClr val="024CD6"/>
            </a:solidFill>
          </a:ln>
        </p:spPr>
        <p:txBody>
          <a:bodyPr wrap="square" lIns="0" tIns="0" rIns="0" bIns="0" rtlCol="0"/>
          <a:lstStyle/>
          <a:p>
            <a:endParaRPr dirty="0"/>
          </a:p>
        </p:txBody>
      </p:sp>
      <p:sp>
        <p:nvSpPr>
          <p:cNvPr id="73" name="object 73"/>
          <p:cNvSpPr/>
          <p:nvPr/>
        </p:nvSpPr>
        <p:spPr>
          <a:xfrm>
            <a:off x="5776721" y="5231890"/>
            <a:ext cx="146685" cy="30480"/>
          </a:xfrm>
          <a:custGeom>
            <a:avLst/>
            <a:gdLst/>
            <a:ahLst/>
            <a:cxnLst/>
            <a:rect l="l" t="t" r="r" b="b"/>
            <a:pathLst>
              <a:path w="146685" h="30479">
                <a:moveTo>
                  <a:pt x="0" y="0"/>
                </a:moveTo>
                <a:lnTo>
                  <a:pt x="76199" y="30479"/>
                </a:lnTo>
                <a:lnTo>
                  <a:pt x="146303" y="0"/>
                </a:lnTo>
              </a:path>
            </a:pathLst>
          </a:custGeom>
          <a:ln w="39623">
            <a:solidFill>
              <a:srgbClr val="024CD6"/>
            </a:solidFill>
          </a:ln>
        </p:spPr>
        <p:txBody>
          <a:bodyPr wrap="square" lIns="0" tIns="0" rIns="0" bIns="0" rtlCol="0"/>
          <a:lstStyle/>
          <a:p>
            <a:endParaRPr dirty="0"/>
          </a:p>
        </p:txBody>
      </p:sp>
      <p:sp>
        <p:nvSpPr>
          <p:cNvPr id="74" name="object 74"/>
          <p:cNvSpPr/>
          <p:nvPr/>
        </p:nvSpPr>
        <p:spPr>
          <a:xfrm>
            <a:off x="5895593" y="5234938"/>
            <a:ext cx="109855" cy="0"/>
          </a:xfrm>
          <a:custGeom>
            <a:avLst/>
            <a:gdLst/>
            <a:ahLst/>
            <a:cxnLst/>
            <a:rect l="l" t="t" r="r" b="b"/>
            <a:pathLst>
              <a:path w="109854">
                <a:moveTo>
                  <a:pt x="109727" y="0"/>
                </a:moveTo>
                <a:lnTo>
                  <a:pt x="0" y="0"/>
                </a:lnTo>
              </a:path>
            </a:pathLst>
          </a:custGeom>
          <a:ln w="39623">
            <a:solidFill>
              <a:srgbClr val="024CD6"/>
            </a:solidFill>
          </a:ln>
        </p:spPr>
        <p:txBody>
          <a:bodyPr wrap="square" lIns="0" tIns="0" rIns="0" bIns="0" rtlCol="0"/>
          <a:lstStyle/>
          <a:p>
            <a:endParaRPr dirty="0"/>
          </a:p>
        </p:txBody>
      </p:sp>
      <p:sp>
        <p:nvSpPr>
          <p:cNvPr id="75" name="object 75"/>
          <p:cNvSpPr/>
          <p:nvPr/>
        </p:nvSpPr>
        <p:spPr>
          <a:xfrm>
            <a:off x="5993129" y="4969762"/>
            <a:ext cx="55244" cy="143510"/>
          </a:xfrm>
          <a:custGeom>
            <a:avLst/>
            <a:gdLst/>
            <a:ahLst/>
            <a:cxnLst/>
            <a:rect l="l" t="t" r="r" b="b"/>
            <a:pathLst>
              <a:path w="55245" h="143510">
                <a:moveTo>
                  <a:pt x="54863" y="0"/>
                </a:moveTo>
                <a:lnTo>
                  <a:pt x="0" y="143255"/>
                </a:lnTo>
              </a:path>
            </a:pathLst>
          </a:custGeom>
          <a:ln w="39623">
            <a:solidFill>
              <a:srgbClr val="024CD6"/>
            </a:solidFill>
          </a:ln>
        </p:spPr>
        <p:txBody>
          <a:bodyPr wrap="square" lIns="0" tIns="0" rIns="0" bIns="0" rtlCol="0"/>
          <a:lstStyle/>
          <a:p>
            <a:endParaRPr dirty="0"/>
          </a:p>
        </p:txBody>
      </p:sp>
      <p:sp>
        <p:nvSpPr>
          <p:cNvPr id="76" name="object 76"/>
          <p:cNvSpPr/>
          <p:nvPr/>
        </p:nvSpPr>
        <p:spPr>
          <a:xfrm>
            <a:off x="6124193" y="4741162"/>
            <a:ext cx="33655" cy="104139"/>
          </a:xfrm>
          <a:custGeom>
            <a:avLst/>
            <a:gdLst/>
            <a:ahLst/>
            <a:cxnLst/>
            <a:rect l="l" t="t" r="r" b="b"/>
            <a:pathLst>
              <a:path w="33654" h="104139">
                <a:moveTo>
                  <a:pt x="33527" y="0"/>
                </a:moveTo>
                <a:lnTo>
                  <a:pt x="0" y="103631"/>
                </a:lnTo>
              </a:path>
            </a:pathLst>
          </a:custGeom>
          <a:ln w="39623">
            <a:solidFill>
              <a:srgbClr val="024CD6"/>
            </a:solidFill>
          </a:ln>
        </p:spPr>
        <p:txBody>
          <a:bodyPr wrap="square" lIns="0" tIns="0" rIns="0" bIns="0" rtlCol="0"/>
          <a:lstStyle/>
          <a:p>
            <a:endParaRPr dirty="0"/>
          </a:p>
        </p:txBody>
      </p:sp>
      <p:sp>
        <p:nvSpPr>
          <p:cNvPr id="77" name="object 77"/>
          <p:cNvSpPr/>
          <p:nvPr/>
        </p:nvSpPr>
        <p:spPr>
          <a:xfrm>
            <a:off x="4938521" y="4762498"/>
            <a:ext cx="1219200" cy="0"/>
          </a:xfrm>
          <a:custGeom>
            <a:avLst/>
            <a:gdLst/>
            <a:ahLst/>
            <a:cxnLst/>
            <a:rect l="l" t="t" r="r" b="b"/>
            <a:pathLst>
              <a:path w="1219200">
                <a:moveTo>
                  <a:pt x="0" y="0"/>
                </a:moveTo>
                <a:lnTo>
                  <a:pt x="1219199" y="0"/>
                </a:lnTo>
              </a:path>
            </a:pathLst>
          </a:custGeom>
          <a:ln w="9143">
            <a:solidFill>
              <a:srgbClr val="000000"/>
            </a:solidFill>
          </a:ln>
        </p:spPr>
        <p:txBody>
          <a:bodyPr wrap="square" lIns="0" tIns="0" rIns="0" bIns="0" rtlCol="0"/>
          <a:lstStyle/>
          <a:p>
            <a:endParaRPr dirty="0"/>
          </a:p>
        </p:txBody>
      </p:sp>
      <p:sp>
        <p:nvSpPr>
          <p:cNvPr id="78" name="object 78"/>
          <p:cNvSpPr/>
          <p:nvPr/>
        </p:nvSpPr>
        <p:spPr>
          <a:xfrm>
            <a:off x="991361" y="2287522"/>
            <a:ext cx="8013700" cy="3023870"/>
          </a:xfrm>
          <a:custGeom>
            <a:avLst/>
            <a:gdLst/>
            <a:ahLst/>
            <a:cxnLst/>
            <a:rect l="l" t="t" r="r" b="b"/>
            <a:pathLst>
              <a:path w="8013700" h="3023870">
                <a:moveTo>
                  <a:pt x="0" y="0"/>
                </a:moveTo>
                <a:lnTo>
                  <a:pt x="8013191" y="0"/>
                </a:lnTo>
                <a:lnTo>
                  <a:pt x="8013191" y="3023616"/>
                </a:lnTo>
                <a:lnTo>
                  <a:pt x="0" y="3023616"/>
                </a:lnTo>
                <a:lnTo>
                  <a:pt x="0" y="0"/>
                </a:lnTo>
                <a:close/>
              </a:path>
            </a:pathLst>
          </a:custGeom>
          <a:ln w="57911">
            <a:solidFill>
              <a:srgbClr val="FFFFFF"/>
            </a:solidFill>
          </a:ln>
        </p:spPr>
        <p:txBody>
          <a:bodyPr wrap="square" lIns="0" tIns="0" rIns="0" bIns="0" rtlCol="0"/>
          <a:lstStyle/>
          <a:p>
            <a:endParaRPr dirty="0"/>
          </a:p>
        </p:txBody>
      </p:sp>
      <p:sp>
        <p:nvSpPr>
          <p:cNvPr id="79" name="object 79"/>
          <p:cNvSpPr/>
          <p:nvPr/>
        </p:nvSpPr>
        <p:spPr>
          <a:xfrm>
            <a:off x="991361" y="2287522"/>
            <a:ext cx="8013700" cy="3023870"/>
          </a:xfrm>
          <a:custGeom>
            <a:avLst/>
            <a:gdLst/>
            <a:ahLst/>
            <a:cxnLst/>
            <a:rect l="l" t="t" r="r" b="b"/>
            <a:pathLst>
              <a:path w="8013700" h="3023870">
                <a:moveTo>
                  <a:pt x="0" y="0"/>
                </a:moveTo>
                <a:lnTo>
                  <a:pt x="8013191" y="0"/>
                </a:lnTo>
                <a:lnTo>
                  <a:pt x="8013191" y="3023616"/>
                </a:lnTo>
                <a:lnTo>
                  <a:pt x="0" y="3023616"/>
                </a:lnTo>
                <a:lnTo>
                  <a:pt x="0" y="0"/>
                </a:lnTo>
                <a:close/>
              </a:path>
            </a:pathLst>
          </a:custGeom>
          <a:ln w="57911">
            <a:solidFill>
              <a:srgbClr val="D7AEFF"/>
            </a:solidFill>
          </a:ln>
        </p:spPr>
        <p:txBody>
          <a:bodyPr wrap="square" lIns="0" tIns="0" rIns="0" bIns="0" rtlCol="0"/>
          <a:lstStyle/>
          <a:p>
            <a:endParaRPr dirty="0"/>
          </a:p>
        </p:txBody>
      </p:sp>
      <p:sp>
        <p:nvSpPr>
          <p:cNvPr id="80" name="object 80"/>
          <p:cNvSpPr txBox="1"/>
          <p:nvPr/>
        </p:nvSpPr>
        <p:spPr>
          <a:xfrm>
            <a:off x="1154429" y="2565907"/>
            <a:ext cx="1402715" cy="1020444"/>
          </a:xfrm>
          <a:prstGeom prst="rect">
            <a:avLst/>
          </a:prstGeom>
        </p:spPr>
        <p:txBody>
          <a:bodyPr vert="horz" wrap="square" lIns="0" tIns="11430" rIns="0" bIns="0" rtlCol="0">
            <a:spAutoFit/>
          </a:bodyPr>
          <a:lstStyle/>
          <a:p>
            <a:pPr marR="5080">
              <a:lnSpc>
                <a:spcPct val="100000"/>
              </a:lnSpc>
              <a:spcBef>
                <a:spcPts val="90"/>
              </a:spcBef>
            </a:pPr>
            <a:r>
              <a:rPr sz="2000" b="1" spc="-5" dirty="0">
                <a:solidFill>
                  <a:srgbClr val="024CD6"/>
                </a:solidFill>
                <a:latin typeface="Times New Roman"/>
                <a:cs typeface="Times New Roman"/>
              </a:rPr>
              <a:t>Input</a:t>
            </a:r>
            <a:r>
              <a:rPr sz="2000" b="1" spc="-80" dirty="0">
                <a:solidFill>
                  <a:srgbClr val="024CD6"/>
                </a:solidFill>
                <a:latin typeface="Times New Roman"/>
                <a:cs typeface="Times New Roman"/>
              </a:rPr>
              <a:t> </a:t>
            </a:r>
            <a:r>
              <a:rPr sz="2000" b="1" spc="-5" dirty="0">
                <a:solidFill>
                  <a:srgbClr val="024CD6"/>
                </a:solidFill>
                <a:latin typeface="Times New Roman"/>
                <a:cs typeface="Times New Roman"/>
              </a:rPr>
              <a:t>analog  signal</a:t>
            </a:r>
            <a:endParaRPr sz="2000" dirty="0">
              <a:latin typeface="Times New Roman"/>
              <a:cs typeface="Times New Roman"/>
            </a:endParaRPr>
          </a:p>
          <a:p>
            <a:pPr marL="353060">
              <a:lnSpc>
                <a:spcPts val="3040"/>
              </a:lnSpc>
            </a:pPr>
            <a:r>
              <a:rPr sz="2800" b="1" i="1" spc="10" dirty="0">
                <a:solidFill>
                  <a:srgbClr val="024CD6"/>
                </a:solidFill>
                <a:latin typeface="Times New Roman"/>
                <a:cs typeface="Times New Roman"/>
              </a:rPr>
              <a:t>u</a:t>
            </a:r>
            <a:r>
              <a:rPr sz="2850" b="1" spc="15" baseline="-20467" dirty="0">
                <a:solidFill>
                  <a:srgbClr val="024CD6"/>
                </a:solidFill>
                <a:latin typeface="Times New Roman"/>
                <a:cs typeface="Times New Roman"/>
              </a:rPr>
              <a:t>I</a:t>
            </a:r>
            <a:r>
              <a:rPr sz="2800" b="1" spc="10" dirty="0">
                <a:solidFill>
                  <a:srgbClr val="024CD6"/>
                </a:solidFill>
                <a:latin typeface="Times New Roman"/>
                <a:cs typeface="Times New Roman"/>
              </a:rPr>
              <a:t>(</a:t>
            </a:r>
            <a:r>
              <a:rPr sz="2800" b="1" i="1" spc="10" dirty="0">
                <a:solidFill>
                  <a:srgbClr val="024CD6"/>
                </a:solidFill>
                <a:latin typeface="Times New Roman"/>
                <a:cs typeface="Times New Roman"/>
              </a:rPr>
              <a:t>t</a:t>
            </a:r>
            <a:r>
              <a:rPr sz="2800" b="1" spc="10" dirty="0">
                <a:solidFill>
                  <a:srgbClr val="024CD6"/>
                </a:solidFill>
                <a:latin typeface="Times New Roman"/>
                <a:cs typeface="Times New Roman"/>
              </a:rPr>
              <a:t>)</a:t>
            </a:r>
            <a:endParaRPr sz="2800" dirty="0">
              <a:latin typeface="Times New Roman"/>
              <a:cs typeface="Times New Roman"/>
            </a:endParaRPr>
          </a:p>
        </p:txBody>
      </p:sp>
      <p:sp>
        <p:nvSpPr>
          <p:cNvPr id="81" name="object 81"/>
          <p:cNvSpPr txBox="1"/>
          <p:nvPr/>
        </p:nvSpPr>
        <p:spPr>
          <a:xfrm>
            <a:off x="7250429" y="2450083"/>
            <a:ext cx="1557655" cy="1061720"/>
          </a:xfrm>
          <a:prstGeom prst="rect">
            <a:avLst/>
          </a:prstGeom>
        </p:spPr>
        <p:txBody>
          <a:bodyPr vert="horz" wrap="square" lIns="0" tIns="11430" rIns="0" bIns="0" rtlCol="0">
            <a:spAutoFit/>
          </a:bodyPr>
          <a:lstStyle/>
          <a:p>
            <a:pPr marR="5080">
              <a:lnSpc>
                <a:spcPct val="100000"/>
              </a:lnSpc>
              <a:spcBef>
                <a:spcPts val="90"/>
              </a:spcBef>
            </a:pPr>
            <a:r>
              <a:rPr sz="2000" b="1" spc="-5" dirty="0">
                <a:solidFill>
                  <a:srgbClr val="024CD6"/>
                </a:solidFill>
                <a:latin typeface="Times New Roman"/>
                <a:cs typeface="Times New Roman"/>
              </a:rPr>
              <a:t>Output</a:t>
            </a:r>
            <a:r>
              <a:rPr sz="2000" b="1" spc="-75" dirty="0">
                <a:solidFill>
                  <a:srgbClr val="024CD6"/>
                </a:solidFill>
                <a:latin typeface="Times New Roman"/>
                <a:cs typeface="Times New Roman"/>
              </a:rPr>
              <a:t> </a:t>
            </a:r>
            <a:r>
              <a:rPr sz="2000" b="1" spc="-5" dirty="0">
                <a:solidFill>
                  <a:srgbClr val="024CD6"/>
                </a:solidFill>
                <a:latin typeface="Times New Roman"/>
                <a:cs typeface="Times New Roman"/>
              </a:rPr>
              <a:t>digital  signal</a:t>
            </a:r>
            <a:endParaRPr sz="2000" dirty="0">
              <a:latin typeface="Times New Roman"/>
              <a:cs typeface="Times New Roman"/>
            </a:endParaRPr>
          </a:p>
          <a:p>
            <a:pPr marR="39370" algn="r">
              <a:lnSpc>
                <a:spcPct val="100000"/>
              </a:lnSpc>
              <a:spcBef>
                <a:spcPts val="1085"/>
              </a:spcBef>
            </a:pPr>
            <a:r>
              <a:rPr sz="1900" b="1" i="1" spc="-5" dirty="0">
                <a:solidFill>
                  <a:srgbClr val="024CD6"/>
                </a:solidFill>
                <a:latin typeface="Times New Roman"/>
                <a:cs typeface="Times New Roman"/>
              </a:rPr>
              <a:t>n</a:t>
            </a:r>
            <a:r>
              <a:rPr sz="1900" b="1" dirty="0">
                <a:solidFill>
                  <a:srgbClr val="024CD6"/>
                </a:solidFill>
                <a:latin typeface="SimSun"/>
                <a:cs typeface="SimSun"/>
              </a:rPr>
              <a:t>-</a:t>
            </a:r>
            <a:r>
              <a:rPr sz="1900" b="1" spc="-5" dirty="0">
                <a:solidFill>
                  <a:srgbClr val="024CD6"/>
                </a:solidFill>
                <a:latin typeface="Times New Roman"/>
                <a:cs typeface="Times New Roman"/>
              </a:rPr>
              <a:t>1</a:t>
            </a:r>
            <a:endParaRPr sz="1900" dirty="0">
              <a:latin typeface="Times New Roman"/>
              <a:cs typeface="Times New Roman"/>
            </a:endParaRPr>
          </a:p>
        </p:txBody>
      </p:sp>
      <p:sp>
        <p:nvSpPr>
          <p:cNvPr id="82" name="object 82"/>
          <p:cNvSpPr/>
          <p:nvPr/>
        </p:nvSpPr>
        <p:spPr>
          <a:xfrm>
            <a:off x="4225289" y="3956302"/>
            <a:ext cx="344805" cy="40005"/>
          </a:xfrm>
          <a:custGeom>
            <a:avLst/>
            <a:gdLst/>
            <a:ahLst/>
            <a:cxnLst/>
            <a:rect l="l" t="t" r="r" b="b"/>
            <a:pathLst>
              <a:path w="344804" h="40004">
                <a:moveTo>
                  <a:pt x="0" y="0"/>
                </a:moveTo>
                <a:lnTo>
                  <a:pt x="344423" y="0"/>
                </a:lnTo>
                <a:lnTo>
                  <a:pt x="344423" y="39623"/>
                </a:lnTo>
                <a:lnTo>
                  <a:pt x="0" y="39623"/>
                </a:lnTo>
                <a:lnTo>
                  <a:pt x="0" y="0"/>
                </a:lnTo>
                <a:close/>
              </a:path>
            </a:pathLst>
          </a:custGeom>
          <a:solidFill>
            <a:srgbClr val="000000"/>
          </a:solidFill>
        </p:spPr>
        <p:txBody>
          <a:bodyPr wrap="square" lIns="0" tIns="0" rIns="0" bIns="0" rtlCol="0"/>
          <a:lstStyle/>
          <a:p>
            <a:endParaRPr dirty="0"/>
          </a:p>
        </p:txBody>
      </p:sp>
      <p:sp>
        <p:nvSpPr>
          <p:cNvPr id="83" name="object 83"/>
          <p:cNvSpPr/>
          <p:nvPr/>
        </p:nvSpPr>
        <p:spPr>
          <a:xfrm>
            <a:off x="4225289" y="4084318"/>
            <a:ext cx="344805" cy="40005"/>
          </a:xfrm>
          <a:custGeom>
            <a:avLst/>
            <a:gdLst/>
            <a:ahLst/>
            <a:cxnLst/>
            <a:rect l="l" t="t" r="r" b="b"/>
            <a:pathLst>
              <a:path w="344804" h="40004">
                <a:moveTo>
                  <a:pt x="0" y="0"/>
                </a:moveTo>
                <a:lnTo>
                  <a:pt x="344423" y="0"/>
                </a:lnTo>
                <a:lnTo>
                  <a:pt x="344423" y="39623"/>
                </a:lnTo>
                <a:lnTo>
                  <a:pt x="0" y="39623"/>
                </a:lnTo>
                <a:lnTo>
                  <a:pt x="0" y="0"/>
                </a:lnTo>
                <a:close/>
              </a:path>
            </a:pathLst>
          </a:custGeom>
          <a:solidFill>
            <a:srgbClr val="000000"/>
          </a:solidFill>
        </p:spPr>
        <p:txBody>
          <a:bodyPr wrap="square" lIns="0" tIns="0" rIns="0" bIns="0" rtlCol="0"/>
          <a:lstStyle/>
          <a:p>
            <a:endParaRPr dirty="0"/>
          </a:p>
        </p:txBody>
      </p:sp>
      <p:sp>
        <p:nvSpPr>
          <p:cNvPr id="84" name="object 84"/>
          <p:cNvSpPr txBox="1"/>
          <p:nvPr/>
        </p:nvSpPr>
        <p:spPr>
          <a:xfrm>
            <a:off x="992377" y="5646256"/>
            <a:ext cx="5998845" cy="1592744"/>
          </a:xfrm>
          <a:prstGeom prst="rect">
            <a:avLst/>
          </a:prstGeom>
        </p:spPr>
        <p:txBody>
          <a:bodyPr vert="horz" wrap="square" lIns="0" tIns="12700" rIns="0" bIns="0" rtlCol="0">
            <a:spAutoFit/>
          </a:bodyPr>
          <a:lstStyle/>
          <a:p>
            <a:pPr marL="12700">
              <a:lnSpc>
                <a:spcPct val="100000"/>
              </a:lnSpc>
            </a:pPr>
            <a:r>
              <a:rPr sz="3200" spc="-5" dirty="0">
                <a:latin typeface="Arial"/>
                <a:cs typeface="Arial"/>
              </a:rPr>
              <a:t>2</a:t>
            </a:r>
            <a:r>
              <a:rPr sz="3200" dirty="0">
                <a:latin typeface="Arial"/>
                <a:cs typeface="Arial"/>
              </a:rPr>
              <a:t> </a:t>
            </a:r>
            <a:r>
              <a:rPr sz="3200" spc="-5" dirty="0">
                <a:latin typeface="Arial"/>
                <a:cs typeface="Arial"/>
              </a:rPr>
              <a:t>steps</a:t>
            </a:r>
            <a:endParaRPr sz="3200" dirty="0">
              <a:latin typeface="Arial"/>
              <a:cs typeface="Arial"/>
            </a:endParaRPr>
          </a:p>
          <a:p>
            <a:pPr marL="356870" indent="-344170">
              <a:lnSpc>
                <a:spcPct val="100000"/>
              </a:lnSpc>
              <a:spcBef>
                <a:spcPts val="385"/>
              </a:spcBef>
              <a:buClr>
                <a:srgbClr val="434DD6"/>
              </a:buClr>
              <a:buSzPct val="59375"/>
              <a:buFont typeface="Wingdings"/>
              <a:buChar char=""/>
              <a:tabLst>
                <a:tab pos="356870" algn="l"/>
                <a:tab pos="357505" algn="l"/>
              </a:tabLst>
            </a:pPr>
            <a:r>
              <a:rPr sz="3200" spc="-5" dirty="0">
                <a:latin typeface="Arial"/>
                <a:cs typeface="Arial"/>
              </a:rPr>
              <a:t>Sampling and Holding</a:t>
            </a:r>
            <a:r>
              <a:rPr sz="3200" spc="20" dirty="0">
                <a:latin typeface="Arial"/>
                <a:cs typeface="Arial"/>
              </a:rPr>
              <a:t> </a:t>
            </a:r>
            <a:r>
              <a:rPr sz="3200" spc="-5" dirty="0">
                <a:latin typeface="Arial"/>
                <a:cs typeface="Arial"/>
              </a:rPr>
              <a:t>(S/H)</a:t>
            </a:r>
            <a:endParaRPr sz="3200" dirty="0">
              <a:latin typeface="Arial"/>
              <a:cs typeface="Arial"/>
            </a:endParaRPr>
          </a:p>
          <a:p>
            <a:pPr marL="356870" indent="-344170">
              <a:lnSpc>
                <a:spcPct val="100000"/>
              </a:lnSpc>
              <a:spcBef>
                <a:spcPts val="360"/>
              </a:spcBef>
              <a:buClr>
                <a:srgbClr val="434DD6"/>
              </a:buClr>
              <a:buSzPct val="59375"/>
              <a:buFont typeface="Wingdings"/>
              <a:buChar char=""/>
              <a:tabLst>
                <a:tab pos="356870" algn="l"/>
                <a:tab pos="357505" algn="l"/>
              </a:tabLst>
            </a:pPr>
            <a:r>
              <a:rPr sz="3200" spc="-5" dirty="0">
                <a:latin typeface="Arial"/>
                <a:cs typeface="Arial"/>
              </a:rPr>
              <a:t>Quantizing and Encoding</a:t>
            </a:r>
            <a:r>
              <a:rPr sz="3200" spc="20" dirty="0">
                <a:latin typeface="Arial"/>
                <a:cs typeface="Arial"/>
              </a:rPr>
              <a:t> </a:t>
            </a:r>
            <a:r>
              <a:rPr sz="3200" spc="-5" dirty="0">
                <a:latin typeface="Arial"/>
                <a:cs typeface="Arial"/>
              </a:rPr>
              <a:t>(Q/E)</a:t>
            </a:r>
            <a:endParaRPr sz="3200" dirty="0">
              <a:latin typeface="Arial"/>
              <a:cs typeface="Arial"/>
            </a:endParaRPr>
          </a:p>
        </p:txBody>
      </p:sp>
      <p:pic>
        <p:nvPicPr>
          <p:cNvPr id="87" name="Picture 86">
            <a:extLst>
              <a:ext uri="{FF2B5EF4-FFF2-40B4-BE49-F238E27FC236}">
                <a16:creationId xmlns:a16="http://schemas.microsoft.com/office/drawing/2014/main" id="{E0ED6D3B-5F43-4975-8E6C-739E68282211}"/>
              </a:ext>
            </a:extLst>
          </p:cNvPr>
          <p:cNvPicPr>
            <a:picLocks noChangeAspect="1"/>
          </p:cNvPicPr>
          <p:nvPr/>
        </p:nvPicPr>
        <p:blipFill>
          <a:blip r:embed="rId6"/>
          <a:stretch>
            <a:fillRect/>
          </a:stretch>
        </p:blipFill>
        <p:spPr>
          <a:xfrm>
            <a:off x="2895600" y="4541465"/>
            <a:ext cx="1761897" cy="640135"/>
          </a:xfrm>
          <a:prstGeom prst="rect">
            <a:avLst/>
          </a:prstGeom>
        </p:spPr>
      </p:pic>
      <p:sp>
        <p:nvSpPr>
          <p:cNvPr id="88" name="Title 87">
            <a:extLst>
              <a:ext uri="{FF2B5EF4-FFF2-40B4-BE49-F238E27FC236}">
                <a16:creationId xmlns:a16="http://schemas.microsoft.com/office/drawing/2014/main" id="{5E14522C-BB1D-4AE0-A255-D59540E21A6D}"/>
              </a:ext>
            </a:extLst>
          </p:cNvPr>
          <p:cNvSpPr>
            <a:spLocks noGrp="1"/>
          </p:cNvSpPr>
          <p:nvPr>
            <p:ph type="title"/>
          </p:nvPr>
        </p:nvSpPr>
        <p:spPr/>
        <p:txBody>
          <a:bodyPr/>
          <a:lstStyle/>
          <a:p>
            <a:r>
              <a:rPr lang="en-GB" dirty="0"/>
              <a:t>ADC process</a:t>
            </a:r>
          </a:p>
        </p:txBody>
      </p:sp>
      <p:sp>
        <p:nvSpPr>
          <p:cNvPr id="85" name="Slide Number Placeholder 84">
            <a:extLst>
              <a:ext uri="{FF2B5EF4-FFF2-40B4-BE49-F238E27FC236}">
                <a16:creationId xmlns:a16="http://schemas.microsoft.com/office/drawing/2014/main" id="{55F62CC4-2D0A-4238-9FCD-0E39A135F1D3}"/>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41</a:t>
            </a:fld>
            <a:endParaRPr lang="en-US" dirty="0"/>
          </a:p>
        </p:txBody>
      </p:sp>
      <p:sp>
        <p:nvSpPr>
          <p:cNvPr id="89" name="Date Placeholder 88">
            <a:extLst>
              <a:ext uri="{FF2B5EF4-FFF2-40B4-BE49-F238E27FC236}">
                <a16:creationId xmlns:a16="http://schemas.microsoft.com/office/drawing/2014/main" id="{E40695F5-9F61-4685-BDCE-06DD946DEF43}"/>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90" name="Footer Placeholder 89">
            <a:extLst>
              <a:ext uri="{FF2B5EF4-FFF2-40B4-BE49-F238E27FC236}">
                <a16:creationId xmlns:a16="http://schemas.microsoft.com/office/drawing/2014/main" id="{D51F6E2F-2FC3-46DB-8651-3D54D10A21CA}"/>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3996121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419600" y="1738672"/>
            <a:ext cx="5004816" cy="5210766"/>
          </a:xfrm>
          <a:prstGeom prst="rect">
            <a:avLst/>
          </a:prstGeom>
          <a:blipFill>
            <a:blip r:embed="rId2" cstate="print">
              <a:biLevel thresh="75000"/>
            </a:blip>
            <a:stretch>
              <a:fillRect/>
            </a:stretch>
          </a:blipFill>
        </p:spPr>
        <p:txBody>
          <a:bodyPr wrap="square" lIns="0" tIns="0" rIns="0" bIns="0" rtlCol="0"/>
          <a:lstStyle/>
          <a:p>
            <a:endParaRPr dirty="0"/>
          </a:p>
        </p:txBody>
      </p:sp>
      <p:sp>
        <p:nvSpPr>
          <p:cNvPr id="3" name="object 3"/>
          <p:cNvSpPr/>
          <p:nvPr/>
        </p:nvSpPr>
        <p:spPr>
          <a:xfrm>
            <a:off x="4876802" y="6873240"/>
            <a:ext cx="914400" cy="365760"/>
          </a:xfrm>
          <a:custGeom>
            <a:avLst/>
            <a:gdLst/>
            <a:ahLst/>
            <a:cxnLst/>
            <a:rect l="l" t="t" r="r" b="b"/>
            <a:pathLst>
              <a:path w="914400" h="365759">
                <a:moveTo>
                  <a:pt x="0" y="365760"/>
                </a:moveTo>
                <a:lnTo>
                  <a:pt x="914400" y="365760"/>
                </a:lnTo>
                <a:lnTo>
                  <a:pt x="914400" y="0"/>
                </a:lnTo>
                <a:lnTo>
                  <a:pt x="0" y="0"/>
                </a:lnTo>
                <a:lnTo>
                  <a:pt x="0" y="365760"/>
                </a:lnTo>
                <a:close/>
              </a:path>
            </a:pathLst>
          </a:custGeom>
          <a:solidFill>
            <a:srgbClr val="FFFFFF"/>
          </a:solidFill>
        </p:spPr>
        <p:txBody>
          <a:bodyPr wrap="square" lIns="0" tIns="0" rIns="0" bIns="0" rtlCol="0"/>
          <a:lstStyle/>
          <a:p>
            <a:endParaRPr dirty="0"/>
          </a:p>
        </p:txBody>
      </p:sp>
      <p:sp>
        <p:nvSpPr>
          <p:cNvPr id="4" name="object 4"/>
          <p:cNvSpPr txBox="1"/>
          <p:nvPr/>
        </p:nvSpPr>
        <p:spPr>
          <a:xfrm>
            <a:off x="8382000" y="2608580"/>
            <a:ext cx="1371600" cy="515620"/>
          </a:xfrm>
          <a:prstGeom prst="rect">
            <a:avLst/>
          </a:prstGeom>
          <a:solidFill>
            <a:srgbClr val="FFFFFF"/>
          </a:solidFill>
        </p:spPr>
        <p:txBody>
          <a:bodyPr vert="horz" wrap="square" lIns="0" tIns="35560" rIns="0" bIns="0" rtlCol="0">
            <a:spAutoFit/>
          </a:bodyPr>
          <a:lstStyle/>
          <a:p>
            <a:pPr marL="91440" marR="374015">
              <a:lnSpc>
                <a:spcPct val="100000"/>
              </a:lnSpc>
              <a:spcBef>
                <a:spcPts val="280"/>
              </a:spcBef>
            </a:pPr>
            <a:r>
              <a:rPr sz="1400" spc="-5" dirty="0">
                <a:latin typeface="Arial"/>
                <a:cs typeface="Arial"/>
              </a:rPr>
              <a:t>Continuous  Signal</a:t>
            </a:r>
            <a:endParaRPr sz="1400" dirty="0">
              <a:latin typeface="Arial"/>
              <a:cs typeface="Arial"/>
            </a:endParaRPr>
          </a:p>
        </p:txBody>
      </p:sp>
      <p:sp>
        <p:nvSpPr>
          <p:cNvPr id="5" name="object 5"/>
          <p:cNvSpPr/>
          <p:nvPr/>
        </p:nvSpPr>
        <p:spPr>
          <a:xfrm>
            <a:off x="8382000" y="3657600"/>
            <a:ext cx="1447800" cy="304800"/>
          </a:xfrm>
          <a:custGeom>
            <a:avLst/>
            <a:gdLst/>
            <a:ahLst/>
            <a:cxnLst/>
            <a:rect l="l" t="t" r="r" b="b"/>
            <a:pathLst>
              <a:path w="1447800" h="304800">
                <a:moveTo>
                  <a:pt x="0" y="304800"/>
                </a:moveTo>
                <a:lnTo>
                  <a:pt x="1447800" y="304800"/>
                </a:lnTo>
                <a:lnTo>
                  <a:pt x="1447800" y="0"/>
                </a:lnTo>
                <a:lnTo>
                  <a:pt x="0" y="0"/>
                </a:lnTo>
                <a:lnTo>
                  <a:pt x="0" y="304800"/>
                </a:lnTo>
                <a:close/>
              </a:path>
            </a:pathLst>
          </a:custGeom>
          <a:solidFill>
            <a:srgbClr val="FFFFFF"/>
          </a:solidFill>
        </p:spPr>
        <p:txBody>
          <a:bodyPr wrap="square" lIns="0" tIns="0" rIns="0" bIns="0" rtlCol="0"/>
          <a:lstStyle/>
          <a:p>
            <a:endParaRPr dirty="0"/>
          </a:p>
        </p:txBody>
      </p:sp>
      <p:sp>
        <p:nvSpPr>
          <p:cNvPr id="6" name="object 6"/>
          <p:cNvSpPr txBox="1"/>
          <p:nvPr/>
        </p:nvSpPr>
        <p:spPr>
          <a:xfrm>
            <a:off x="8460741" y="3681477"/>
            <a:ext cx="1240155"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Arial"/>
                <a:cs typeface="Arial"/>
              </a:rPr>
              <a:t>Sampling</a:t>
            </a:r>
            <a:r>
              <a:rPr sz="1400" spc="-60" dirty="0">
                <a:latin typeface="Arial"/>
                <a:cs typeface="Arial"/>
              </a:rPr>
              <a:t> </a:t>
            </a:r>
            <a:r>
              <a:rPr sz="1400" spc="-5" dirty="0">
                <a:latin typeface="Arial"/>
                <a:cs typeface="Arial"/>
              </a:rPr>
              <a:t>pulse</a:t>
            </a:r>
            <a:endParaRPr sz="1400" dirty="0">
              <a:latin typeface="Arial"/>
              <a:cs typeface="Arial"/>
            </a:endParaRPr>
          </a:p>
        </p:txBody>
      </p:sp>
      <p:sp>
        <p:nvSpPr>
          <p:cNvPr id="7" name="object 7"/>
          <p:cNvSpPr/>
          <p:nvPr/>
        </p:nvSpPr>
        <p:spPr>
          <a:xfrm>
            <a:off x="8382000" y="5181600"/>
            <a:ext cx="1447800" cy="304800"/>
          </a:xfrm>
          <a:custGeom>
            <a:avLst/>
            <a:gdLst/>
            <a:ahLst/>
            <a:cxnLst/>
            <a:rect l="l" t="t" r="r" b="b"/>
            <a:pathLst>
              <a:path w="1447800" h="304800">
                <a:moveTo>
                  <a:pt x="0" y="304800"/>
                </a:moveTo>
                <a:lnTo>
                  <a:pt x="1447800" y="304800"/>
                </a:lnTo>
                <a:lnTo>
                  <a:pt x="1447800" y="0"/>
                </a:lnTo>
                <a:lnTo>
                  <a:pt x="0" y="0"/>
                </a:lnTo>
                <a:lnTo>
                  <a:pt x="0" y="304800"/>
                </a:lnTo>
                <a:close/>
              </a:path>
            </a:pathLst>
          </a:custGeom>
          <a:solidFill>
            <a:srgbClr val="FFFFFF"/>
          </a:solidFill>
        </p:spPr>
        <p:txBody>
          <a:bodyPr wrap="square" lIns="0" tIns="0" rIns="0" bIns="0" rtlCol="0"/>
          <a:lstStyle/>
          <a:p>
            <a:endParaRPr dirty="0"/>
          </a:p>
        </p:txBody>
      </p:sp>
      <p:sp>
        <p:nvSpPr>
          <p:cNvPr id="8" name="object 8"/>
          <p:cNvSpPr txBox="1"/>
          <p:nvPr/>
        </p:nvSpPr>
        <p:spPr>
          <a:xfrm>
            <a:off x="8460741" y="5205477"/>
            <a:ext cx="124079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Arial"/>
                <a:cs typeface="Arial"/>
              </a:rPr>
              <a:t>Sampled</a:t>
            </a:r>
            <a:r>
              <a:rPr sz="1400" spc="-60" dirty="0">
                <a:latin typeface="Arial"/>
                <a:cs typeface="Arial"/>
              </a:rPr>
              <a:t> </a:t>
            </a:r>
            <a:r>
              <a:rPr sz="1400" spc="-5" dirty="0">
                <a:latin typeface="Arial"/>
                <a:cs typeface="Arial"/>
              </a:rPr>
              <a:t>signal</a:t>
            </a:r>
            <a:endParaRPr sz="1400" dirty="0">
              <a:latin typeface="Arial"/>
              <a:cs typeface="Arial"/>
            </a:endParaRPr>
          </a:p>
        </p:txBody>
      </p:sp>
      <p:sp>
        <p:nvSpPr>
          <p:cNvPr id="9" name="object 9"/>
          <p:cNvSpPr/>
          <p:nvPr/>
        </p:nvSpPr>
        <p:spPr>
          <a:xfrm>
            <a:off x="8382000" y="6492239"/>
            <a:ext cx="1295400" cy="515620"/>
          </a:xfrm>
          <a:custGeom>
            <a:avLst/>
            <a:gdLst/>
            <a:ahLst/>
            <a:cxnLst/>
            <a:rect l="l" t="t" r="r" b="b"/>
            <a:pathLst>
              <a:path w="1295400" h="515620">
                <a:moveTo>
                  <a:pt x="0" y="515112"/>
                </a:moveTo>
                <a:lnTo>
                  <a:pt x="1295400" y="515112"/>
                </a:lnTo>
                <a:lnTo>
                  <a:pt x="1295400" y="0"/>
                </a:lnTo>
                <a:lnTo>
                  <a:pt x="0" y="0"/>
                </a:lnTo>
                <a:lnTo>
                  <a:pt x="0" y="515112"/>
                </a:lnTo>
                <a:close/>
              </a:path>
            </a:pathLst>
          </a:custGeom>
          <a:solidFill>
            <a:srgbClr val="FFFFFF"/>
          </a:solidFill>
        </p:spPr>
        <p:txBody>
          <a:bodyPr wrap="square" lIns="0" tIns="0" rIns="0" bIns="0" rtlCol="0"/>
          <a:lstStyle/>
          <a:p>
            <a:endParaRPr dirty="0"/>
          </a:p>
        </p:txBody>
      </p:sp>
      <p:sp>
        <p:nvSpPr>
          <p:cNvPr id="10" name="object 10"/>
          <p:cNvSpPr txBox="1"/>
          <p:nvPr/>
        </p:nvSpPr>
        <p:spPr>
          <a:xfrm>
            <a:off x="8460741" y="6516116"/>
            <a:ext cx="1072515" cy="451484"/>
          </a:xfrm>
          <a:prstGeom prst="rect">
            <a:avLst/>
          </a:prstGeom>
        </p:spPr>
        <p:txBody>
          <a:bodyPr vert="horz" wrap="square" lIns="0" tIns="11430" rIns="0" bIns="0" rtlCol="0">
            <a:spAutoFit/>
          </a:bodyPr>
          <a:lstStyle/>
          <a:p>
            <a:pPr marL="12700" marR="5080">
              <a:lnSpc>
                <a:spcPct val="100000"/>
              </a:lnSpc>
              <a:spcBef>
                <a:spcPts val="90"/>
              </a:spcBef>
            </a:pPr>
            <a:r>
              <a:rPr sz="1400" spc="-5" dirty="0">
                <a:latin typeface="Arial"/>
                <a:cs typeface="Arial"/>
              </a:rPr>
              <a:t>Sampled</a:t>
            </a:r>
            <a:r>
              <a:rPr sz="1400" spc="-80" dirty="0">
                <a:latin typeface="Arial"/>
                <a:cs typeface="Arial"/>
              </a:rPr>
              <a:t> </a:t>
            </a:r>
            <a:r>
              <a:rPr sz="1400" spc="-5" dirty="0">
                <a:latin typeface="Arial"/>
                <a:cs typeface="Arial"/>
              </a:rPr>
              <a:t>and</a:t>
            </a:r>
            <a:r>
              <a:rPr lang="en-GB" sz="1400" spc="-5" dirty="0">
                <a:latin typeface="Arial"/>
                <a:cs typeface="Arial"/>
              </a:rPr>
              <a:t> hold</a:t>
            </a:r>
            <a:r>
              <a:rPr sz="1400" spc="-20" dirty="0">
                <a:latin typeface="Arial"/>
                <a:cs typeface="Arial"/>
              </a:rPr>
              <a:t> </a:t>
            </a:r>
            <a:r>
              <a:rPr sz="1400" spc="-5" dirty="0">
                <a:latin typeface="Arial"/>
                <a:cs typeface="Arial"/>
              </a:rPr>
              <a:t>signal</a:t>
            </a:r>
            <a:endParaRPr sz="1400" dirty="0">
              <a:latin typeface="Arial"/>
              <a:cs typeface="Arial"/>
            </a:endParaRPr>
          </a:p>
        </p:txBody>
      </p:sp>
      <p:sp>
        <p:nvSpPr>
          <p:cNvPr id="12" name="object 12"/>
          <p:cNvSpPr txBox="1"/>
          <p:nvPr/>
        </p:nvSpPr>
        <p:spPr>
          <a:xfrm>
            <a:off x="763777" y="2492755"/>
            <a:ext cx="4076700" cy="4102405"/>
          </a:xfrm>
          <a:prstGeom prst="rect">
            <a:avLst/>
          </a:prstGeom>
        </p:spPr>
        <p:txBody>
          <a:bodyPr vert="horz" wrap="square" lIns="0" tIns="62230" rIns="0" bIns="0" rtlCol="0">
            <a:spAutoFit/>
          </a:bodyPr>
          <a:lstStyle/>
          <a:p>
            <a:pPr marL="356870" marR="5080" indent="-344170" algn="just">
              <a:lnSpc>
                <a:spcPts val="3020"/>
              </a:lnSpc>
              <a:spcBef>
                <a:spcPts val="490"/>
              </a:spcBef>
              <a:buClr>
                <a:srgbClr val="434DD6"/>
              </a:buClr>
              <a:buSzPct val="60714"/>
              <a:buFont typeface="Wingdings"/>
              <a:buChar char=""/>
              <a:tabLst>
                <a:tab pos="356870" algn="l"/>
                <a:tab pos="357505" algn="l"/>
              </a:tabLst>
            </a:pPr>
            <a:r>
              <a:rPr sz="2800" spc="-5" dirty="0">
                <a:latin typeface="Arial"/>
                <a:cs typeface="Arial"/>
              </a:rPr>
              <a:t>Holding </a:t>
            </a:r>
            <a:r>
              <a:rPr sz="2800" dirty="0">
                <a:latin typeface="Arial"/>
                <a:cs typeface="Arial"/>
              </a:rPr>
              <a:t>signal </a:t>
            </a:r>
            <a:r>
              <a:rPr sz="2800" spc="-5" dirty="0">
                <a:latin typeface="Arial"/>
                <a:cs typeface="Arial"/>
              </a:rPr>
              <a:t>benefits  </a:t>
            </a:r>
            <a:r>
              <a:rPr sz="2800" dirty="0">
                <a:latin typeface="Arial"/>
                <a:cs typeface="Arial"/>
              </a:rPr>
              <a:t>the </a:t>
            </a:r>
            <a:r>
              <a:rPr sz="2800" spc="-5" dirty="0">
                <a:latin typeface="Arial"/>
                <a:cs typeface="Arial"/>
              </a:rPr>
              <a:t>accuracy </a:t>
            </a:r>
            <a:r>
              <a:rPr sz="2800" dirty="0">
                <a:latin typeface="Arial"/>
                <a:cs typeface="Arial"/>
              </a:rPr>
              <a:t>of the A/D  conversion</a:t>
            </a:r>
            <a:endParaRPr lang="en-GB" sz="2800" dirty="0">
              <a:latin typeface="Arial"/>
              <a:cs typeface="Arial"/>
            </a:endParaRPr>
          </a:p>
          <a:p>
            <a:pPr marL="356870" marR="5080" indent="-344170" algn="just">
              <a:lnSpc>
                <a:spcPts val="3020"/>
              </a:lnSpc>
              <a:spcBef>
                <a:spcPts val="490"/>
              </a:spcBef>
              <a:buClr>
                <a:srgbClr val="434DD6"/>
              </a:buClr>
              <a:buSzPct val="60714"/>
              <a:buFont typeface="Wingdings"/>
              <a:buChar char=""/>
              <a:tabLst>
                <a:tab pos="356870" algn="l"/>
                <a:tab pos="357505" algn="l"/>
              </a:tabLst>
            </a:pPr>
            <a:endParaRPr lang="en-GB" sz="2800" dirty="0">
              <a:latin typeface="Arial"/>
              <a:cs typeface="Arial"/>
            </a:endParaRPr>
          </a:p>
          <a:p>
            <a:pPr marL="356870" marR="5080" indent="-344170" algn="just">
              <a:lnSpc>
                <a:spcPts val="3020"/>
              </a:lnSpc>
              <a:spcBef>
                <a:spcPts val="490"/>
              </a:spcBef>
              <a:buClr>
                <a:srgbClr val="434DD6"/>
              </a:buClr>
              <a:buSzPct val="60714"/>
              <a:buFont typeface="Wingdings"/>
              <a:buChar char=""/>
              <a:tabLst>
                <a:tab pos="356870" algn="l"/>
                <a:tab pos="357505" algn="l"/>
              </a:tabLst>
            </a:pPr>
            <a:endParaRPr lang="en-GB" sz="2800" dirty="0">
              <a:latin typeface="Arial"/>
              <a:cs typeface="Arial"/>
            </a:endParaRPr>
          </a:p>
          <a:p>
            <a:pPr marL="356870" marR="5080" indent="-344170">
              <a:lnSpc>
                <a:spcPts val="3020"/>
              </a:lnSpc>
              <a:spcBef>
                <a:spcPts val="490"/>
              </a:spcBef>
              <a:buClr>
                <a:srgbClr val="434DD6"/>
              </a:buClr>
              <a:buSzPct val="60714"/>
              <a:buFont typeface="Wingdings"/>
              <a:buChar char=""/>
              <a:tabLst>
                <a:tab pos="356870" algn="l"/>
                <a:tab pos="357505" algn="l"/>
              </a:tabLst>
            </a:pPr>
            <a:r>
              <a:rPr lang="en-US" sz="2800" dirty="0">
                <a:latin typeface="Arial"/>
                <a:cs typeface="Arial"/>
              </a:rPr>
              <a:t>Minimum sampling rate  should be at </a:t>
            </a:r>
            <a:r>
              <a:rPr lang="en-US" sz="2800" spc="-5" dirty="0">
                <a:latin typeface="Arial"/>
                <a:cs typeface="Arial"/>
              </a:rPr>
              <a:t>least twice  </a:t>
            </a:r>
            <a:r>
              <a:rPr lang="en-US" sz="2800" dirty="0">
                <a:latin typeface="Arial"/>
                <a:cs typeface="Arial"/>
              </a:rPr>
              <a:t>the </a:t>
            </a:r>
            <a:r>
              <a:rPr lang="en-US" sz="2800" spc="-5" dirty="0">
                <a:latin typeface="Arial"/>
                <a:cs typeface="Arial"/>
              </a:rPr>
              <a:t>highest data </a:t>
            </a:r>
            <a:r>
              <a:rPr lang="en-US" sz="2800" dirty="0">
                <a:latin typeface="Arial"/>
                <a:cs typeface="Arial"/>
              </a:rPr>
              <a:t>frequency of the </a:t>
            </a:r>
            <a:r>
              <a:rPr lang="en-US" sz="2800" spc="-5" dirty="0">
                <a:latin typeface="Arial"/>
                <a:cs typeface="Arial"/>
              </a:rPr>
              <a:t>analog </a:t>
            </a:r>
            <a:r>
              <a:rPr lang="en-US" sz="2800" dirty="0">
                <a:latin typeface="Arial"/>
                <a:cs typeface="Arial"/>
              </a:rPr>
              <a:t>signal</a:t>
            </a:r>
          </a:p>
        </p:txBody>
      </p:sp>
      <p:sp>
        <p:nvSpPr>
          <p:cNvPr id="15" name="Title 14">
            <a:extLst>
              <a:ext uri="{FF2B5EF4-FFF2-40B4-BE49-F238E27FC236}">
                <a16:creationId xmlns:a16="http://schemas.microsoft.com/office/drawing/2014/main" id="{299C6C20-F383-4931-9186-A974C4748D8A}"/>
              </a:ext>
            </a:extLst>
          </p:cNvPr>
          <p:cNvSpPr>
            <a:spLocks noGrp="1"/>
          </p:cNvSpPr>
          <p:nvPr>
            <p:ph type="title"/>
          </p:nvPr>
        </p:nvSpPr>
        <p:spPr/>
        <p:txBody>
          <a:bodyPr/>
          <a:lstStyle/>
          <a:p>
            <a:r>
              <a:rPr lang="en-GB" dirty="0"/>
              <a:t>Sampling and  Holding</a:t>
            </a:r>
          </a:p>
        </p:txBody>
      </p:sp>
      <p:sp>
        <p:nvSpPr>
          <p:cNvPr id="13" name="Slide Number Placeholder 12">
            <a:extLst>
              <a:ext uri="{FF2B5EF4-FFF2-40B4-BE49-F238E27FC236}">
                <a16:creationId xmlns:a16="http://schemas.microsoft.com/office/drawing/2014/main" id="{9C75A176-093F-4D00-B326-FF744AA6E6EE}"/>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42</a:t>
            </a:fld>
            <a:endParaRPr lang="en-US" dirty="0"/>
          </a:p>
        </p:txBody>
      </p:sp>
      <p:sp>
        <p:nvSpPr>
          <p:cNvPr id="16" name="Date Placeholder 15">
            <a:extLst>
              <a:ext uri="{FF2B5EF4-FFF2-40B4-BE49-F238E27FC236}">
                <a16:creationId xmlns:a16="http://schemas.microsoft.com/office/drawing/2014/main" id="{717F7C0E-7B15-46D5-B75B-47E7A0044C74}"/>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17" name="Footer Placeholder 16">
            <a:extLst>
              <a:ext uri="{FF2B5EF4-FFF2-40B4-BE49-F238E27FC236}">
                <a16:creationId xmlns:a16="http://schemas.microsoft.com/office/drawing/2014/main" id="{2BA811F1-7D9E-441B-8909-378BD1231A80}"/>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41447129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969CD18B-265F-468F-B9E0-885062696CC1}"/>
                  </a:ext>
                </a:extLst>
              </p:cNvPr>
              <p:cNvSpPr>
                <a:spLocks noGrp="1"/>
              </p:cNvSpPr>
              <p:nvPr>
                <p:ph sz="quarter" idx="1"/>
              </p:nvPr>
            </p:nvSpPr>
            <p:spPr/>
            <p:txBody>
              <a:bodyPr>
                <a:normAutofit/>
              </a:bodyPr>
              <a:lstStyle/>
              <a:p>
                <a:pPr marL="12700">
                  <a:lnSpc>
                    <a:spcPct val="100000"/>
                  </a:lnSpc>
                  <a:spcBef>
                    <a:spcPts val="580"/>
                  </a:spcBef>
                </a:pPr>
                <a:r>
                  <a:rPr lang="en-US" sz="2400" b="1" spc="-5" dirty="0">
                    <a:latin typeface="Arial"/>
                    <a:cs typeface="Arial"/>
                  </a:rPr>
                  <a:t>Resolution</a:t>
                </a:r>
                <a:r>
                  <a:rPr lang="en-US" sz="2400" spc="-5" dirty="0">
                    <a:latin typeface="Arial"/>
                    <a:cs typeface="Arial"/>
                  </a:rPr>
                  <a:t>: </a:t>
                </a:r>
                <a:r>
                  <a:rPr lang="en-US" sz="2400" dirty="0">
                    <a:latin typeface="Arial"/>
                    <a:cs typeface="Arial"/>
                  </a:rPr>
                  <a:t>The </a:t>
                </a:r>
                <a:r>
                  <a:rPr lang="en-US" sz="2400" spc="-5" dirty="0">
                    <a:latin typeface="Arial"/>
                    <a:cs typeface="Arial"/>
                  </a:rPr>
                  <a:t>smallest change in analog signal that will result in a change in the digital</a:t>
                </a:r>
                <a:r>
                  <a:rPr lang="en-US" sz="2400" spc="5" dirty="0">
                    <a:latin typeface="Arial"/>
                    <a:cs typeface="Arial"/>
                  </a:rPr>
                  <a:t> </a:t>
                </a:r>
                <a:r>
                  <a:rPr lang="en-US" sz="2400" dirty="0">
                    <a:latin typeface="Arial"/>
                    <a:cs typeface="Arial"/>
                  </a:rPr>
                  <a:t>output.</a:t>
                </a:r>
              </a:p>
              <a:p>
                <a:pPr marL="0" indent="0">
                  <a:lnSpc>
                    <a:spcPct val="100000"/>
                  </a:lnSpc>
                  <a:spcBef>
                    <a:spcPts val="580"/>
                  </a:spcBef>
                  <a:buNone/>
                </a:pPr>
                <a:endParaRPr lang="en-GB" sz="2000" i="1" dirty="0">
                  <a:latin typeface="Cambria Math" panose="02040503050406030204" pitchFamily="18" charset="0"/>
                  <a:ea typeface="Cambria Math" panose="02040503050406030204" pitchFamily="18" charset="0"/>
                  <a:cs typeface="Arial"/>
                </a:endParaRPr>
              </a:p>
              <a:p>
                <a:pPr marL="0" indent="0">
                  <a:lnSpc>
                    <a:spcPct val="100000"/>
                  </a:lnSpc>
                  <a:spcBef>
                    <a:spcPts val="580"/>
                  </a:spcBef>
                  <a:buNone/>
                </a:pPr>
                <a14:m>
                  <m:oMathPara xmlns:m="http://schemas.openxmlformats.org/officeDocument/2006/math">
                    <m:oMathParaPr>
                      <m:jc m:val="centerGroup"/>
                    </m:oMathParaPr>
                    <m:oMath xmlns:m="http://schemas.openxmlformats.org/officeDocument/2006/math">
                      <m:r>
                        <a:rPr lang="en-GB" sz="3600" b="0" i="1" smtClean="0">
                          <a:latin typeface="Cambria Math" panose="02040503050406030204" pitchFamily="18" charset="0"/>
                          <a:ea typeface="Cambria Math" panose="02040503050406030204" pitchFamily="18" charset="0"/>
                          <a:cs typeface="Arial"/>
                        </a:rPr>
                        <m:t>𝐿𝑆𝐵</m:t>
                      </m:r>
                      <m:r>
                        <a:rPr lang="en-GB" sz="3600" b="0" i="1" smtClean="0">
                          <a:latin typeface="Cambria Math" panose="02040503050406030204" pitchFamily="18" charset="0"/>
                          <a:ea typeface="Cambria Math" panose="02040503050406030204" pitchFamily="18" charset="0"/>
                          <a:cs typeface="Arial"/>
                        </a:rPr>
                        <m:t>= </m:t>
                      </m:r>
                      <m:f>
                        <m:fPr>
                          <m:ctrlPr>
                            <a:rPr lang="en-GB" sz="3600" b="0" i="1" smtClean="0">
                              <a:latin typeface="Cambria Math" panose="02040503050406030204" pitchFamily="18" charset="0"/>
                              <a:ea typeface="Cambria Math" panose="02040503050406030204" pitchFamily="18" charset="0"/>
                              <a:cs typeface="Arial"/>
                            </a:rPr>
                          </m:ctrlPr>
                        </m:fPr>
                        <m:num>
                          <m:sSub>
                            <m:sSubPr>
                              <m:ctrlPr>
                                <a:rPr lang="en-GB" sz="3600" b="0" i="1" smtClean="0">
                                  <a:latin typeface="Cambria Math" panose="02040503050406030204" pitchFamily="18" charset="0"/>
                                  <a:ea typeface="Cambria Math" panose="02040503050406030204" pitchFamily="18" charset="0"/>
                                  <a:cs typeface="Arial"/>
                                </a:rPr>
                              </m:ctrlPr>
                            </m:sSubPr>
                            <m:e>
                              <m:r>
                                <a:rPr lang="en-GB" sz="3600" b="0" i="1" smtClean="0">
                                  <a:latin typeface="Cambria Math" panose="02040503050406030204" pitchFamily="18" charset="0"/>
                                  <a:ea typeface="Cambria Math" panose="02040503050406030204" pitchFamily="18" charset="0"/>
                                  <a:cs typeface="Arial"/>
                                </a:rPr>
                                <m:t>𝑉</m:t>
                              </m:r>
                            </m:e>
                            <m:sub>
                              <m:r>
                                <a:rPr lang="en-GB" sz="3600" b="0" i="1" smtClean="0">
                                  <a:latin typeface="Cambria Math" panose="02040503050406030204" pitchFamily="18" charset="0"/>
                                  <a:ea typeface="Cambria Math" panose="02040503050406030204" pitchFamily="18" charset="0"/>
                                  <a:cs typeface="Arial"/>
                                </a:rPr>
                                <m:t>𝑟</m:t>
                              </m:r>
                            </m:sub>
                          </m:sSub>
                        </m:num>
                        <m:den>
                          <m:sSup>
                            <m:sSupPr>
                              <m:ctrlPr>
                                <a:rPr lang="en-GB" sz="3600" b="0" i="1" smtClean="0">
                                  <a:latin typeface="Cambria Math" panose="02040503050406030204" pitchFamily="18" charset="0"/>
                                  <a:ea typeface="Cambria Math" panose="02040503050406030204" pitchFamily="18" charset="0"/>
                                  <a:cs typeface="Arial"/>
                                </a:rPr>
                              </m:ctrlPr>
                            </m:sSupPr>
                            <m:e>
                              <m:r>
                                <a:rPr lang="en-GB" sz="3600" b="0" i="1" smtClean="0">
                                  <a:latin typeface="Cambria Math" panose="02040503050406030204" pitchFamily="18" charset="0"/>
                                  <a:ea typeface="Cambria Math" panose="02040503050406030204" pitchFamily="18" charset="0"/>
                                  <a:cs typeface="Arial"/>
                                </a:rPr>
                                <m:t>2</m:t>
                              </m:r>
                            </m:e>
                            <m:sup>
                              <m:r>
                                <a:rPr lang="en-GB" sz="3600" b="0" i="1" smtClean="0">
                                  <a:latin typeface="Cambria Math" panose="02040503050406030204" pitchFamily="18" charset="0"/>
                                  <a:ea typeface="Cambria Math" panose="02040503050406030204" pitchFamily="18" charset="0"/>
                                  <a:cs typeface="Arial"/>
                                </a:rPr>
                                <m:t>𝑁</m:t>
                              </m:r>
                            </m:sup>
                          </m:sSup>
                        </m:den>
                      </m:f>
                    </m:oMath>
                  </m:oMathPara>
                </a14:m>
                <a:endParaRPr lang="en-US" sz="3600" dirty="0">
                  <a:latin typeface="Arial"/>
                  <a:cs typeface="Arial"/>
                </a:endParaRPr>
              </a:p>
              <a:p>
                <a:pPr marL="0" indent="0">
                  <a:lnSpc>
                    <a:spcPct val="100000"/>
                  </a:lnSpc>
                  <a:spcBef>
                    <a:spcPts val="580"/>
                  </a:spcBef>
                  <a:buNone/>
                </a:pPr>
                <a:endParaRPr lang="en-US" sz="2000" dirty="0">
                  <a:latin typeface="Arial"/>
                  <a:cs typeface="Arial"/>
                </a:endParaRPr>
              </a:p>
              <a:p>
                <a:pPr marL="577215">
                  <a:lnSpc>
                    <a:spcPct val="100000"/>
                  </a:lnSpc>
                  <a:spcBef>
                    <a:spcPts val="580"/>
                  </a:spcBef>
                  <a:tabLst>
                    <a:tab pos="887730" algn="l"/>
                  </a:tabLst>
                </a:pPr>
                <a:r>
                  <a:rPr lang="en-US" sz="2400" i="1" spc="-10" dirty="0" err="1">
                    <a:latin typeface="Arial" panose="020B0604020202020204" pitchFamily="34" charset="0"/>
                    <a:cs typeface="Arial" panose="020B0604020202020204" pitchFamily="34" charset="0"/>
                  </a:rPr>
                  <a:t>V</a:t>
                </a:r>
                <a:r>
                  <a:rPr lang="en-US" sz="2400" i="1" spc="-10" baseline="-25000" dirty="0" err="1">
                    <a:latin typeface="Arial" panose="020B0604020202020204" pitchFamily="34" charset="0"/>
                    <a:cs typeface="Arial" panose="020B0604020202020204" pitchFamily="34" charset="0"/>
                  </a:rPr>
                  <a:t>r</a:t>
                </a:r>
                <a:r>
                  <a:rPr lang="en-US" sz="2400" spc="-10" dirty="0">
                    <a:latin typeface="Arial" panose="020B0604020202020204" pitchFamily="34" charset="0"/>
                    <a:cs typeface="Arial" panose="020B0604020202020204" pitchFamily="34" charset="0"/>
                  </a:rPr>
                  <a:t>	</a:t>
                </a:r>
                <a:r>
                  <a:rPr lang="en-US" sz="2400" spc="-5" dirty="0">
                    <a:latin typeface="Arial" panose="020B0604020202020204" pitchFamily="34" charset="0"/>
                    <a:cs typeface="Arial" panose="020B0604020202020204" pitchFamily="34" charset="0"/>
                  </a:rPr>
                  <a:t>:    Reference voltage</a:t>
                </a:r>
                <a:endParaRPr lang="en-US" sz="2400" dirty="0">
                  <a:latin typeface="Arial" panose="020B0604020202020204" pitchFamily="34" charset="0"/>
                  <a:cs typeface="Arial" panose="020B0604020202020204" pitchFamily="34" charset="0"/>
                </a:endParaRPr>
              </a:p>
              <a:p>
                <a:pPr marL="577215">
                  <a:lnSpc>
                    <a:spcPct val="100000"/>
                  </a:lnSpc>
                  <a:spcBef>
                    <a:spcPts val="580"/>
                  </a:spcBef>
                  <a:tabLst>
                    <a:tab pos="887730" algn="l"/>
                  </a:tabLst>
                </a:pPr>
                <a:r>
                  <a:rPr lang="en-US" sz="2400" i="1" spc="-10" dirty="0">
                    <a:latin typeface="Arial" panose="020B0604020202020204" pitchFamily="34" charset="0"/>
                    <a:cs typeface="Arial" panose="020B0604020202020204" pitchFamily="34" charset="0"/>
                  </a:rPr>
                  <a:t>N</a:t>
                </a:r>
                <a:r>
                  <a:rPr lang="en-US" sz="2400" spc="-10" dirty="0">
                    <a:latin typeface="Arial" panose="020B0604020202020204" pitchFamily="34" charset="0"/>
                    <a:cs typeface="Arial" panose="020B0604020202020204" pitchFamily="34" charset="0"/>
                  </a:rPr>
                  <a:t>:		     Digital n</a:t>
                </a:r>
                <a:r>
                  <a:rPr lang="en-US" sz="2400" dirty="0">
                    <a:latin typeface="Arial" panose="020B0604020202020204" pitchFamily="34" charset="0"/>
                    <a:cs typeface="Arial" panose="020B0604020202020204" pitchFamily="34" charset="0"/>
                  </a:rPr>
                  <a:t>umber </a:t>
                </a:r>
                <a:r>
                  <a:rPr lang="en-US" sz="2400" spc="-5" dirty="0">
                    <a:latin typeface="Arial" panose="020B0604020202020204" pitchFamily="34" charset="0"/>
                    <a:cs typeface="Arial" panose="020B0604020202020204" pitchFamily="34" charset="0"/>
                  </a:rPr>
                  <a:t>of bits (Resolution of the ADC)</a:t>
                </a:r>
              </a:p>
              <a:p>
                <a:pPr marL="577215">
                  <a:lnSpc>
                    <a:spcPct val="100000"/>
                  </a:lnSpc>
                  <a:spcBef>
                    <a:spcPts val="580"/>
                  </a:spcBef>
                  <a:tabLst>
                    <a:tab pos="887730" algn="l"/>
                  </a:tabLst>
                </a:pPr>
                <a:r>
                  <a:rPr lang="en-US" sz="2400" i="1" spc="-5" dirty="0">
                    <a:latin typeface="Arial" panose="020B0604020202020204" pitchFamily="34" charset="0"/>
                    <a:cs typeface="Arial" panose="020B0604020202020204" pitchFamily="34" charset="0"/>
                  </a:rPr>
                  <a:t>LSB</a:t>
                </a:r>
                <a:r>
                  <a:rPr lang="en-US" sz="2400" spc="-5" dirty="0">
                    <a:latin typeface="Arial" panose="020B0604020202020204" pitchFamily="34" charset="0"/>
                    <a:cs typeface="Arial" panose="020B0604020202020204" pitchFamily="34" charset="0"/>
                  </a:rPr>
                  <a:t>: Resolution</a:t>
                </a:r>
                <a:endParaRPr lang="en-US" sz="2400" dirty="0">
                  <a:latin typeface="Arial" panose="020B0604020202020204" pitchFamily="34" charset="0"/>
                  <a:cs typeface="Arial" panose="020B0604020202020204" pitchFamily="34" charset="0"/>
                </a:endParaRPr>
              </a:p>
            </p:txBody>
          </p:sp>
        </mc:Choice>
        <mc:Fallback xmlns="">
          <p:sp>
            <p:nvSpPr>
              <p:cNvPr id="11" name="Content Placeholder 10">
                <a:extLst>
                  <a:ext uri="{FF2B5EF4-FFF2-40B4-BE49-F238E27FC236}">
                    <a16:creationId xmlns:a16="http://schemas.microsoft.com/office/drawing/2014/main" id="{969CD18B-265F-468F-B9E0-885062696CC1}"/>
                  </a:ext>
                </a:extLst>
              </p:cNvPr>
              <p:cNvSpPr>
                <a:spLocks noGrp="1" noRot="1" noChangeAspect="1" noMove="1" noResize="1" noEditPoints="1" noAdjustHandles="1" noChangeArrowheads="1" noChangeShapeType="1" noTextEdit="1"/>
              </p:cNvSpPr>
              <p:nvPr>
                <p:ph sz="quarter" idx="1"/>
              </p:nvPr>
            </p:nvSpPr>
            <p:spPr>
              <a:blipFill>
                <a:blip r:embed="rId2"/>
                <a:stretch>
                  <a:fillRect l="-847" t="-1059"/>
                </a:stretch>
              </a:blipFill>
            </p:spPr>
            <p:txBody>
              <a:bodyPr/>
              <a:lstStyle/>
              <a:p>
                <a:r>
                  <a:rPr lang="en-GB">
                    <a:noFill/>
                  </a:rPr>
                  <a:t> </a:t>
                </a:r>
              </a:p>
            </p:txBody>
          </p:sp>
        </mc:Fallback>
      </mc:AlternateContent>
      <p:sp>
        <p:nvSpPr>
          <p:cNvPr id="9" name="Title 8">
            <a:extLst>
              <a:ext uri="{FF2B5EF4-FFF2-40B4-BE49-F238E27FC236}">
                <a16:creationId xmlns:a16="http://schemas.microsoft.com/office/drawing/2014/main" id="{78E48792-2278-41D9-9497-A5E554C914FE}"/>
              </a:ext>
            </a:extLst>
          </p:cNvPr>
          <p:cNvSpPr>
            <a:spLocks noGrp="1"/>
          </p:cNvSpPr>
          <p:nvPr>
            <p:ph type="title"/>
          </p:nvPr>
        </p:nvSpPr>
        <p:spPr/>
        <p:txBody>
          <a:bodyPr/>
          <a:lstStyle/>
          <a:p>
            <a:r>
              <a:rPr lang="en-GB" dirty="0"/>
              <a:t>Quantizing and Encoding</a:t>
            </a:r>
          </a:p>
        </p:txBody>
      </p:sp>
      <p:sp>
        <p:nvSpPr>
          <p:cNvPr id="2" name="Slide Number Placeholder 1">
            <a:extLst>
              <a:ext uri="{FF2B5EF4-FFF2-40B4-BE49-F238E27FC236}">
                <a16:creationId xmlns:a16="http://schemas.microsoft.com/office/drawing/2014/main" id="{B96E17B9-75A4-47D8-81C1-0237D045CD8F}"/>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43</a:t>
            </a:fld>
            <a:endParaRPr lang="en-US" dirty="0"/>
          </a:p>
        </p:txBody>
      </p:sp>
      <p:sp>
        <p:nvSpPr>
          <p:cNvPr id="3" name="Date Placeholder 2">
            <a:extLst>
              <a:ext uri="{FF2B5EF4-FFF2-40B4-BE49-F238E27FC236}">
                <a16:creationId xmlns:a16="http://schemas.microsoft.com/office/drawing/2014/main" id="{358A627F-D965-4950-9625-0BC85CEC8BE0}"/>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FFC72A7F-9F4C-4562-BC09-D4FB22D430EE}"/>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355793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468492" y="2289046"/>
            <a:ext cx="4361307" cy="4416553"/>
          </a:xfrm>
          <a:prstGeom prst="rect">
            <a:avLst/>
          </a:prstGeom>
          <a:blipFill>
            <a:blip r:embed="rId2" cstate="print">
              <a:biLevel thresh="75000"/>
            </a:blip>
            <a:stretch>
              <a:fillRect/>
            </a:stretch>
          </a:blipFill>
        </p:spPr>
        <p:txBody>
          <a:bodyPr wrap="square" lIns="0" tIns="0" rIns="0" bIns="0" rtlCol="0"/>
          <a:lstStyle/>
          <a:p>
            <a:endParaRPr dirty="0"/>
          </a:p>
        </p:txBody>
      </p:sp>
      <p:sp>
        <p:nvSpPr>
          <p:cNvPr id="10" name="object 10"/>
          <p:cNvSpPr/>
          <p:nvPr/>
        </p:nvSpPr>
        <p:spPr>
          <a:xfrm>
            <a:off x="8228836" y="2011678"/>
            <a:ext cx="1143000" cy="426720"/>
          </a:xfrm>
          <a:custGeom>
            <a:avLst/>
            <a:gdLst/>
            <a:ahLst/>
            <a:cxnLst/>
            <a:rect l="l" t="t" r="r" b="b"/>
            <a:pathLst>
              <a:path w="1143000" h="426719">
                <a:moveTo>
                  <a:pt x="0" y="426720"/>
                </a:moveTo>
                <a:lnTo>
                  <a:pt x="1143000" y="426720"/>
                </a:lnTo>
                <a:lnTo>
                  <a:pt x="1143000" y="0"/>
                </a:lnTo>
                <a:lnTo>
                  <a:pt x="0" y="0"/>
                </a:lnTo>
                <a:lnTo>
                  <a:pt x="0" y="426720"/>
                </a:lnTo>
                <a:close/>
              </a:path>
            </a:pathLst>
          </a:custGeom>
          <a:solidFill>
            <a:srgbClr val="FFFFFF"/>
          </a:solidFill>
        </p:spPr>
        <p:txBody>
          <a:bodyPr wrap="square" lIns="0" tIns="0" rIns="0" bIns="0" rtlCol="0"/>
          <a:lstStyle/>
          <a:p>
            <a:endParaRPr dirty="0"/>
          </a:p>
        </p:txBody>
      </p:sp>
      <p:sp>
        <p:nvSpPr>
          <p:cNvPr id="12" name="object 12"/>
          <p:cNvSpPr/>
          <p:nvPr/>
        </p:nvSpPr>
        <p:spPr>
          <a:xfrm>
            <a:off x="7085836" y="1999486"/>
            <a:ext cx="1143000" cy="213360"/>
          </a:xfrm>
          <a:custGeom>
            <a:avLst/>
            <a:gdLst/>
            <a:ahLst/>
            <a:cxnLst/>
            <a:rect l="l" t="t" r="r" b="b"/>
            <a:pathLst>
              <a:path w="1143000" h="213360">
                <a:moveTo>
                  <a:pt x="0" y="213359"/>
                </a:moveTo>
                <a:lnTo>
                  <a:pt x="1143000" y="213359"/>
                </a:lnTo>
                <a:lnTo>
                  <a:pt x="1143000" y="0"/>
                </a:lnTo>
                <a:lnTo>
                  <a:pt x="0" y="0"/>
                </a:lnTo>
                <a:lnTo>
                  <a:pt x="0" y="213359"/>
                </a:lnTo>
                <a:close/>
              </a:path>
            </a:pathLst>
          </a:custGeom>
          <a:solidFill>
            <a:srgbClr val="FFFFFF"/>
          </a:solidFill>
        </p:spPr>
        <p:txBody>
          <a:bodyPr wrap="square" lIns="0" tIns="0" rIns="0" bIns="0" rtlCol="0"/>
          <a:lstStyle/>
          <a:p>
            <a:endParaRPr dirty="0"/>
          </a:p>
        </p:txBody>
      </p:sp>
      <p:sp>
        <p:nvSpPr>
          <p:cNvPr id="19" name="Content Placeholder 18">
            <a:extLst>
              <a:ext uri="{FF2B5EF4-FFF2-40B4-BE49-F238E27FC236}">
                <a16:creationId xmlns:a16="http://schemas.microsoft.com/office/drawing/2014/main" id="{38202196-D016-4C32-948A-2841F8A929C3}"/>
              </a:ext>
            </a:extLst>
          </p:cNvPr>
          <p:cNvSpPr>
            <a:spLocks noGrp="1"/>
          </p:cNvSpPr>
          <p:nvPr>
            <p:ph sz="quarter" idx="1"/>
          </p:nvPr>
        </p:nvSpPr>
        <p:spPr>
          <a:xfrm>
            <a:off x="331927" y="1730654"/>
            <a:ext cx="5136565" cy="5181600"/>
          </a:xfrm>
        </p:spPr>
        <p:txBody>
          <a:bodyPr>
            <a:normAutofit/>
          </a:bodyPr>
          <a:lstStyle/>
          <a:p>
            <a:pPr marL="12700" indent="0">
              <a:lnSpc>
                <a:spcPct val="100000"/>
              </a:lnSpc>
              <a:spcBef>
                <a:spcPts val="675"/>
              </a:spcBef>
              <a:buNone/>
              <a:tabLst>
                <a:tab pos="372110" algn="l"/>
                <a:tab pos="372745" algn="l"/>
              </a:tabLst>
            </a:pPr>
            <a:r>
              <a:rPr lang="en-US" sz="2400" b="1" spc="-5" dirty="0">
                <a:latin typeface="Arial"/>
                <a:cs typeface="Arial"/>
              </a:rPr>
              <a:t>Quantizing</a:t>
            </a:r>
            <a:r>
              <a:rPr lang="en-US" sz="2400" spc="-5" dirty="0">
                <a:latin typeface="Arial"/>
                <a:cs typeface="Arial"/>
              </a:rPr>
              <a:t>:</a:t>
            </a:r>
            <a:endParaRPr lang="en-US" sz="2400" dirty="0">
              <a:latin typeface="Arial"/>
              <a:cs typeface="Arial"/>
            </a:endParaRPr>
          </a:p>
          <a:p>
            <a:pPr marL="0" marR="5080" indent="0">
              <a:lnSpc>
                <a:spcPct val="100000"/>
              </a:lnSpc>
              <a:spcBef>
                <a:spcPts val="575"/>
              </a:spcBef>
              <a:buNone/>
            </a:pPr>
            <a:r>
              <a:rPr lang="en-US" sz="2400" dirty="0">
                <a:latin typeface="Arial"/>
                <a:cs typeface="Arial"/>
              </a:rPr>
              <a:t>Partitioning the reference</a:t>
            </a:r>
            <a:r>
              <a:rPr lang="en-US" sz="2400" spc="-100" dirty="0">
                <a:latin typeface="Arial"/>
                <a:cs typeface="Arial"/>
              </a:rPr>
              <a:t> </a:t>
            </a:r>
            <a:r>
              <a:rPr lang="en-US" sz="2400" dirty="0">
                <a:latin typeface="Arial"/>
                <a:cs typeface="Arial"/>
              </a:rPr>
              <a:t>signal  range </a:t>
            </a:r>
            <a:r>
              <a:rPr lang="en-US" sz="2400" spc="-5" dirty="0">
                <a:latin typeface="Arial"/>
                <a:cs typeface="Arial"/>
              </a:rPr>
              <a:t>into </a:t>
            </a:r>
            <a:r>
              <a:rPr lang="en-US" sz="2400" dirty="0">
                <a:latin typeface="Arial"/>
                <a:cs typeface="Arial"/>
              </a:rPr>
              <a:t>a </a:t>
            </a:r>
            <a:r>
              <a:rPr lang="en-US" sz="2400" spc="-5" dirty="0">
                <a:latin typeface="Arial"/>
                <a:cs typeface="Arial"/>
              </a:rPr>
              <a:t>number of discrete  quanta, </a:t>
            </a:r>
            <a:r>
              <a:rPr lang="en-US" sz="2400" dirty="0">
                <a:latin typeface="Arial"/>
                <a:cs typeface="Arial"/>
              </a:rPr>
              <a:t>then </a:t>
            </a:r>
            <a:r>
              <a:rPr lang="en-US" sz="2400" spc="-5" dirty="0">
                <a:latin typeface="Arial"/>
                <a:cs typeface="Arial"/>
              </a:rPr>
              <a:t>matching </a:t>
            </a:r>
            <a:r>
              <a:rPr lang="en-US" sz="2400" dirty="0">
                <a:latin typeface="Arial"/>
                <a:cs typeface="Arial"/>
              </a:rPr>
              <a:t>the </a:t>
            </a:r>
            <a:r>
              <a:rPr lang="en-US" sz="2400" spc="-5" dirty="0">
                <a:latin typeface="Arial"/>
                <a:cs typeface="Arial"/>
              </a:rPr>
              <a:t>input  </a:t>
            </a:r>
            <a:r>
              <a:rPr lang="en-US" sz="2400" dirty="0">
                <a:latin typeface="Arial"/>
                <a:cs typeface="Arial"/>
              </a:rPr>
              <a:t>signal to the correct</a:t>
            </a:r>
            <a:r>
              <a:rPr lang="en-US" sz="2400" spc="-55" dirty="0">
                <a:latin typeface="Arial"/>
                <a:cs typeface="Arial"/>
              </a:rPr>
              <a:t> </a:t>
            </a:r>
            <a:r>
              <a:rPr lang="en-US" sz="2400" spc="-5" dirty="0">
                <a:latin typeface="Arial"/>
                <a:cs typeface="Arial"/>
              </a:rPr>
              <a:t>quantum.</a:t>
            </a:r>
          </a:p>
          <a:p>
            <a:pPr marL="0" marR="5080" indent="0" algn="just">
              <a:lnSpc>
                <a:spcPct val="100000"/>
              </a:lnSpc>
              <a:spcBef>
                <a:spcPts val="575"/>
              </a:spcBef>
              <a:buNone/>
            </a:pPr>
            <a:endParaRPr lang="en-US" sz="2400" dirty="0">
              <a:latin typeface="Arial"/>
              <a:cs typeface="Arial"/>
            </a:endParaRPr>
          </a:p>
          <a:p>
            <a:pPr marL="12700" indent="0">
              <a:lnSpc>
                <a:spcPct val="100000"/>
              </a:lnSpc>
              <a:spcBef>
                <a:spcPts val="550"/>
              </a:spcBef>
              <a:buNone/>
              <a:tabLst>
                <a:tab pos="372110" algn="l"/>
                <a:tab pos="372745" algn="l"/>
              </a:tabLst>
            </a:pPr>
            <a:r>
              <a:rPr lang="en-US" sz="2400" b="1" spc="-5" dirty="0">
                <a:latin typeface="Arial"/>
                <a:cs typeface="Arial"/>
              </a:rPr>
              <a:t>Encoding</a:t>
            </a:r>
            <a:r>
              <a:rPr lang="en-US" sz="2400" spc="-5" dirty="0">
                <a:latin typeface="Arial"/>
                <a:cs typeface="Arial"/>
              </a:rPr>
              <a:t>:</a:t>
            </a:r>
            <a:endParaRPr lang="en-US" sz="2400" dirty="0">
              <a:latin typeface="Arial"/>
              <a:cs typeface="Arial"/>
            </a:endParaRPr>
          </a:p>
          <a:p>
            <a:pPr marL="0" marR="22225" indent="0">
              <a:lnSpc>
                <a:spcPct val="99700"/>
              </a:lnSpc>
              <a:spcBef>
                <a:spcPts val="10"/>
              </a:spcBef>
              <a:buNone/>
            </a:pPr>
            <a:r>
              <a:rPr lang="en-US" sz="2400" dirty="0">
                <a:latin typeface="Arial"/>
                <a:cs typeface="Arial"/>
              </a:rPr>
              <a:t>Assigning a </a:t>
            </a:r>
            <a:r>
              <a:rPr lang="en-US" sz="2400" spc="-5" dirty="0">
                <a:latin typeface="Arial"/>
                <a:cs typeface="Arial"/>
              </a:rPr>
              <a:t>unique digital </a:t>
            </a:r>
            <a:r>
              <a:rPr lang="en-US" sz="2400" dirty="0">
                <a:latin typeface="Arial"/>
                <a:cs typeface="Arial"/>
              </a:rPr>
              <a:t>code to </a:t>
            </a:r>
            <a:r>
              <a:rPr lang="en-US" sz="2400" spc="-5" dirty="0">
                <a:latin typeface="Arial"/>
                <a:cs typeface="Arial"/>
              </a:rPr>
              <a:t>each quantum, </a:t>
            </a:r>
            <a:r>
              <a:rPr lang="en-US" sz="2400" dirty="0">
                <a:latin typeface="Arial"/>
                <a:cs typeface="Arial"/>
              </a:rPr>
              <a:t>then </a:t>
            </a:r>
            <a:r>
              <a:rPr lang="en-US" sz="2400" spc="-5" dirty="0">
                <a:latin typeface="Arial"/>
                <a:cs typeface="Arial"/>
              </a:rPr>
              <a:t>allocating </a:t>
            </a:r>
            <a:r>
              <a:rPr lang="en-US" sz="2400" dirty="0">
                <a:latin typeface="Arial"/>
                <a:cs typeface="Arial"/>
              </a:rPr>
              <a:t>the </a:t>
            </a:r>
            <a:r>
              <a:rPr lang="en-US" sz="2400" spc="-5" dirty="0">
                <a:latin typeface="Arial"/>
                <a:cs typeface="Arial"/>
              </a:rPr>
              <a:t>digital </a:t>
            </a:r>
            <a:r>
              <a:rPr lang="en-US" sz="2400" dirty="0">
                <a:latin typeface="Arial"/>
                <a:cs typeface="Arial"/>
              </a:rPr>
              <a:t>code to</a:t>
            </a:r>
            <a:r>
              <a:rPr lang="en-US" sz="2400" spc="-90" dirty="0">
                <a:latin typeface="Arial"/>
                <a:cs typeface="Arial"/>
              </a:rPr>
              <a:t> </a:t>
            </a:r>
            <a:r>
              <a:rPr lang="en-US" sz="2400" dirty="0">
                <a:latin typeface="Arial"/>
                <a:cs typeface="Arial"/>
              </a:rPr>
              <a:t>the </a:t>
            </a:r>
            <a:r>
              <a:rPr lang="en-US" sz="2400" spc="-5" dirty="0">
                <a:latin typeface="Arial"/>
                <a:cs typeface="Arial"/>
              </a:rPr>
              <a:t>input</a:t>
            </a:r>
            <a:r>
              <a:rPr lang="en-US" sz="2400" spc="-10" dirty="0">
                <a:latin typeface="Arial"/>
                <a:cs typeface="Arial"/>
              </a:rPr>
              <a:t> </a:t>
            </a:r>
            <a:r>
              <a:rPr lang="en-US" sz="2400" dirty="0">
                <a:latin typeface="Arial"/>
                <a:cs typeface="Arial"/>
              </a:rPr>
              <a:t>signal</a:t>
            </a:r>
            <a:r>
              <a:rPr lang="en-US" sz="1800" dirty="0">
                <a:latin typeface="Arial"/>
                <a:cs typeface="Arial"/>
              </a:rPr>
              <a:t>.</a:t>
            </a:r>
          </a:p>
          <a:p>
            <a:endParaRPr lang="en-GB" sz="2400" dirty="0"/>
          </a:p>
        </p:txBody>
      </p:sp>
      <p:sp>
        <p:nvSpPr>
          <p:cNvPr id="15" name="Title 14">
            <a:extLst>
              <a:ext uri="{FF2B5EF4-FFF2-40B4-BE49-F238E27FC236}">
                <a16:creationId xmlns:a16="http://schemas.microsoft.com/office/drawing/2014/main" id="{980AD990-5697-4112-94A9-248B853BFF52}"/>
              </a:ext>
            </a:extLst>
          </p:cNvPr>
          <p:cNvSpPr>
            <a:spLocks noGrp="1"/>
          </p:cNvSpPr>
          <p:nvPr>
            <p:ph type="title"/>
          </p:nvPr>
        </p:nvSpPr>
        <p:spPr/>
        <p:txBody>
          <a:bodyPr/>
          <a:lstStyle/>
          <a:p>
            <a:r>
              <a:rPr lang="en-GB" dirty="0"/>
              <a:t>Quantizing and Encoding</a:t>
            </a:r>
          </a:p>
        </p:txBody>
      </p:sp>
      <p:sp>
        <p:nvSpPr>
          <p:cNvPr id="2" name="Slide Number Placeholder 1">
            <a:extLst>
              <a:ext uri="{FF2B5EF4-FFF2-40B4-BE49-F238E27FC236}">
                <a16:creationId xmlns:a16="http://schemas.microsoft.com/office/drawing/2014/main" id="{4CE967A0-C54F-4A2F-A090-0CD2E53313E8}"/>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44</a:t>
            </a:fld>
            <a:endParaRPr lang="en-US" dirty="0"/>
          </a:p>
        </p:txBody>
      </p:sp>
      <p:sp>
        <p:nvSpPr>
          <p:cNvPr id="21" name="TextBox 20">
            <a:extLst>
              <a:ext uri="{FF2B5EF4-FFF2-40B4-BE49-F238E27FC236}">
                <a16:creationId xmlns:a16="http://schemas.microsoft.com/office/drawing/2014/main" id="{5B9766B6-6795-40D1-9337-D540692CD68A}"/>
              </a:ext>
            </a:extLst>
          </p:cNvPr>
          <p:cNvSpPr txBox="1"/>
          <p:nvPr/>
        </p:nvSpPr>
        <p:spPr>
          <a:xfrm>
            <a:off x="5468492" y="2286000"/>
            <a:ext cx="2077172" cy="461665"/>
          </a:xfrm>
          <a:prstGeom prst="rect">
            <a:avLst/>
          </a:prstGeom>
          <a:solidFill>
            <a:schemeClr val="bg1"/>
          </a:solidFill>
        </p:spPr>
        <p:txBody>
          <a:bodyPr wrap="none" rtlCol="0">
            <a:spAutoFit/>
          </a:bodyPr>
          <a:lstStyle/>
          <a:p>
            <a:r>
              <a:rPr lang="en-US" sz="2400" spc="-5" dirty="0">
                <a:latin typeface="Arial"/>
                <a:cs typeface="Arial"/>
              </a:rPr>
              <a:t>Analog</a:t>
            </a:r>
            <a:r>
              <a:rPr lang="en-US" sz="2400" spc="-20" dirty="0">
                <a:latin typeface="Arial"/>
                <a:cs typeface="Arial"/>
              </a:rPr>
              <a:t> </a:t>
            </a:r>
            <a:r>
              <a:rPr lang="en-US" sz="2400" spc="-5" dirty="0">
                <a:latin typeface="Arial"/>
                <a:cs typeface="Arial"/>
              </a:rPr>
              <a:t>Signal</a:t>
            </a:r>
            <a:endParaRPr lang="en-US" sz="2400" dirty="0">
              <a:latin typeface="Arial"/>
              <a:cs typeface="Arial"/>
            </a:endParaRPr>
          </a:p>
        </p:txBody>
      </p:sp>
      <p:sp>
        <p:nvSpPr>
          <p:cNvPr id="22" name="TextBox 21">
            <a:extLst>
              <a:ext uri="{FF2B5EF4-FFF2-40B4-BE49-F238E27FC236}">
                <a16:creationId xmlns:a16="http://schemas.microsoft.com/office/drawing/2014/main" id="{2BCBE3E1-6FEE-4B78-B053-659C4C1DE0F9}"/>
              </a:ext>
            </a:extLst>
          </p:cNvPr>
          <p:cNvSpPr txBox="1"/>
          <p:nvPr/>
        </p:nvSpPr>
        <p:spPr>
          <a:xfrm>
            <a:off x="7676428" y="2140803"/>
            <a:ext cx="2077171" cy="830997"/>
          </a:xfrm>
          <a:prstGeom prst="rect">
            <a:avLst/>
          </a:prstGeom>
          <a:solidFill>
            <a:schemeClr val="bg1"/>
          </a:solidFill>
        </p:spPr>
        <p:txBody>
          <a:bodyPr wrap="square" rtlCol="0">
            <a:spAutoFit/>
          </a:bodyPr>
          <a:lstStyle/>
          <a:p>
            <a:pPr algn="ctr"/>
            <a:r>
              <a:rPr lang="en-US" sz="2400" spc="-5" dirty="0">
                <a:latin typeface="Arial"/>
                <a:cs typeface="Arial"/>
              </a:rPr>
              <a:t>Digital Output in Binary</a:t>
            </a:r>
            <a:endParaRPr lang="en-US" sz="2400" dirty="0">
              <a:latin typeface="Arial"/>
              <a:cs typeface="Arial"/>
            </a:endParaRPr>
          </a:p>
        </p:txBody>
      </p:sp>
      <p:sp>
        <p:nvSpPr>
          <p:cNvPr id="3" name="Date Placeholder 2">
            <a:extLst>
              <a:ext uri="{FF2B5EF4-FFF2-40B4-BE49-F238E27FC236}">
                <a16:creationId xmlns:a16="http://schemas.microsoft.com/office/drawing/2014/main" id="{834BE843-01D6-4DA3-A40B-EB01AEFFA831}"/>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FA03749B-6BD5-4212-935D-5A58DDE1FE95}"/>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4193986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53">
            <a:extLst>
              <a:ext uri="{FF2B5EF4-FFF2-40B4-BE49-F238E27FC236}">
                <a16:creationId xmlns:a16="http://schemas.microsoft.com/office/drawing/2014/main" id="{35D53154-BFAA-41EE-A160-3AADEB6E1676}"/>
              </a:ext>
            </a:extLst>
          </p:cNvPr>
          <p:cNvGrpSpPr>
            <a:grpSpLocks/>
          </p:cNvGrpSpPr>
          <p:nvPr/>
        </p:nvGrpSpPr>
        <p:grpSpPr bwMode="auto">
          <a:xfrm>
            <a:off x="4267200" y="2190592"/>
            <a:ext cx="5562600" cy="4210208"/>
            <a:chOff x="738" y="1189"/>
            <a:chExt cx="3738" cy="2662"/>
          </a:xfrm>
        </p:grpSpPr>
        <p:sp>
          <p:nvSpPr>
            <p:cNvPr id="20484" name="Rectangle 2">
              <a:extLst>
                <a:ext uri="{FF2B5EF4-FFF2-40B4-BE49-F238E27FC236}">
                  <a16:creationId xmlns:a16="http://schemas.microsoft.com/office/drawing/2014/main" id="{7E4A7FE2-BE04-45D3-8474-4428CEC79DA3}"/>
                </a:ext>
              </a:extLst>
            </p:cNvPr>
            <p:cNvSpPr>
              <a:spLocks noChangeArrowheads="1"/>
            </p:cNvSpPr>
            <p:nvPr/>
          </p:nvSpPr>
          <p:spPr bwMode="auto">
            <a:xfrm rot="16200000">
              <a:off x="386" y="1960"/>
              <a:ext cx="1191"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DIGITAL OUTPUT</a:t>
              </a:r>
            </a:p>
          </p:txBody>
        </p:sp>
        <p:sp>
          <p:nvSpPr>
            <p:cNvPr id="20485" name="Line 3">
              <a:extLst>
                <a:ext uri="{FF2B5EF4-FFF2-40B4-BE49-F238E27FC236}">
                  <a16:creationId xmlns:a16="http://schemas.microsoft.com/office/drawing/2014/main" id="{143BADCB-8F64-4AE2-A28C-AB37516745CA}"/>
                </a:ext>
              </a:extLst>
            </p:cNvPr>
            <p:cNvSpPr>
              <a:spLocks noChangeShapeType="1"/>
            </p:cNvSpPr>
            <p:nvPr/>
          </p:nvSpPr>
          <p:spPr bwMode="auto">
            <a:xfrm flipV="1">
              <a:off x="1579" y="1194"/>
              <a:ext cx="2897" cy="203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86" name="Line 4">
              <a:extLst>
                <a:ext uri="{FF2B5EF4-FFF2-40B4-BE49-F238E27FC236}">
                  <a16:creationId xmlns:a16="http://schemas.microsoft.com/office/drawing/2014/main" id="{0F311499-14EC-45E2-98A7-AE0774B5224B}"/>
                </a:ext>
              </a:extLst>
            </p:cNvPr>
            <p:cNvSpPr>
              <a:spLocks noChangeShapeType="1"/>
            </p:cNvSpPr>
            <p:nvPr/>
          </p:nvSpPr>
          <p:spPr bwMode="auto">
            <a:xfrm>
              <a:off x="1760" y="2980"/>
              <a:ext cx="36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87" name="Line 5">
              <a:extLst>
                <a:ext uri="{FF2B5EF4-FFF2-40B4-BE49-F238E27FC236}">
                  <a16:creationId xmlns:a16="http://schemas.microsoft.com/office/drawing/2014/main" id="{CF1A9C91-3807-4334-9C87-D7B7E0347CC8}"/>
                </a:ext>
              </a:extLst>
            </p:cNvPr>
            <p:cNvSpPr>
              <a:spLocks noChangeShapeType="1"/>
            </p:cNvSpPr>
            <p:nvPr/>
          </p:nvSpPr>
          <p:spPr bwMode="auto">
            <a:xfrm>
              <a:off x="2121" y="2726"/>
              <a:ext cx="359"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88" name="Line 6">
              <a:extLst>
                <a:ext uri="{FF2B5EF4-FFF2-40B4-BE49-F238E27FC236}">
                  <a16:creationId xmlns:a16="http://schemas.microsoft.com/office/drawing/2014/main" id="{BE6746BC-064F-416E-9893-E7681D396D1D}"/>
                </a:ext>
              </a:extLst>
            </p:cNvPr>
            <p:cNvSpPr>
              <a:spLocks noChangeShapeType="1"/>
            </p:cNvSpPr>
            <p:nvPr/>
          </p:nvSpPr>
          <p:spPr bwMode="auto">
            <a:xfrm>
              <a:off x="2481" y="2472"/>
              <a:ext cx="36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89" name="Line 7">
              <a:extLst>
                <a:ext uri="{FF2B5EF4-FFF2-40B4-BE49-F238E27FC236}">
                  <a16:creationId xmlns:a16="http://schemas.microsoft.com/office/drawing/2014/main" id="{FA420E8E-8962-4F6D-9D59-5787AE020767}"/>
                </a:ext>
              </a:extLst>
            </p:cNvPr>
            <p:cNvSpPr>
              <a:spLocks noChangeShapeType="1"/>
            </p:cNvSpPr>
            <p:nvPr/>
          </p:nvSpPr>
          <p:spPr bwMode="auto">
            <a:xfrm>
              <a:off x="2842" y="2218"/>
              <a:ext cx="361"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0" name="Line 8">
              <a:extLst>
                <a:ext uri="{FF2B5EF4-FFF2-40B4-BE49-F238E27FC236}">
                  <a16:creationId xmlns:a16="http://schemas.microsoft.com/office/drawing/2014/main" id="{04D25B86-8AE6-437B-9C50-64AC059338D0}"/>
                </a:ext>
              </a:extLst>
            </p:cNvPr>
            <p:cNvSpPr>
              <a:spLocks noChangeShapeType="1"/>
            </p:cNvSpPr>
            <p:nvPr/>
          </p:nvSpPr>
          <p:spPr bwMode="auto">
            <a:xfrm>
              <a:off x="3204" y="1964"/>
              <a:ext cx="359"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1" name="Line 9">
              <a:extLst>
                <a:ext uri="{FF2B5EF4-FFF2-40B4-BE49-F238E27FC236}">
                  <a16:creationId xmlns:a16="http://schemas.microsoft.com/office/drawing/2014/main" id="{67265EB1-2AEC-45D2-B988-7FB3F7515345}"/>
                </a:ext>
              </a:extLst>
            </p:cNvPr>
            <p:cNvSpPr>
              <a:spLocks noChangeShapeType="1"/>
            </p:cNvSpPr>
            <p:nvPr/>
          </p:nvSpPr>
          <p:spPr bwMode="auto">
            <a:xfrm>
              <a:off x="3564" y="1710"/>
              <a:ext cx="36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2" name="Line 10">
              <a:extLst>
                <a:ext uri="{FF2B5EF4-FFF2-40B4-BE49-F238E27FC236}">
                  <a16:creationId xmlns:a16="http://schemas.microsoft.com/office/drawing/2014/main" id="{042A1ECC-904E-4E5B-A9F2-563372C8BB18}"/>
                </a:ext>
              </a:extLst>
            </p:cNvPr>
            <p:cNvSpPr>
              <a:spLocks noChangeShapeType="1"/>
            </p:cNvSpPr>
            <p:nvPr/>
          </p:nvSpPr>
          <p:spPr bwMode="auto">
            <a:xfrm>
              <a:off x="3925" y="1457"/>
              <a:ext cx="539" cy="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3" name="Line 11">
              <a:extLst>
                <a:ext uri="{FF2B5EF4-FFF2-40B4-BE49-F238E27FC236}">
                  <a16:creationId xmlns:a16="http://schemas.microsoft.com/office/drawing/2014/main" id="{EC9099D2-D782-405C-8488-6BBB0DED5ECA}"/>
                </a:ext>
              </a:extLst>
            </p:cNvPr>
            <p:cNvSpPr>
              <a:spLocks noChangeShapeType="1"/>
            </p:cNvSpPr>
            <p:nvPr/>
          </p:nvSpPr>
          <p:spPr bwMode="auto">
            <a:xfrm>
              <a:off x="1759" y="2981"/>
              <a:ext cx="0" cy="25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4" name="Line 12">
              <a:extLst>
                <a:ext uri="{FF2B5EF4-FFF2-40B4-BE49-F238E27FC236}">
                  <a16:creationId xmlns:a16="http://schemas.microsoft.com/office/drawing/2014/main" id="{DD7B528D-A77D-4DE1-99FF-C85049849C61}"/>
                </a:ext>
              </a:extLst>
            </p:cNvPr>
            <p:cNvSpPr>
              <a:spLocks noChangeShapeType="1"/>
            </p:cNvSpPr>
            <p:nvPr/>
          </p:nvSpPr>
          <p:spPr bwMode="auto">
            <a:xfrm>
              <a:off x="2120" y="2727"/>
              <a:ext cx="0" cy="25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5" name="Line 13">
              <a:extLst>
                <a:ext uri="{FF2B5EF4-FFF2-40B4-BE49-F238E27FC236}">
                  <a16:creationId xmlns:a16="http://schemas.microsoft.com/office/drawing/2014/main" id="{F693AD1C-280C-4363-A186-B15F5D71C64D}"/>
                </a:ext>
              </a:extLst>
            </p:cNvPr>
            <p:cNvSpPr>
              <a:spLocks noChangeShapeType="1"/>
            </p:cNvSpPr>
            <p:nvPr/>
          </p:nvSpPr>
          <p:spPr bwMode="auto">
            <a:xfrm>
              <a:off x="3924" y="1457"/>
              <a:ext cx="0" cy="25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6" name="Line 14">
              <a:extLst>
                <a:ext uri="{FF2B5EF4-FFF2-40B4-BE49-F238E27FC236}">
                  <a16:creationId xmlns:a16="http://schemas.microsoft.com/office/drawing/2014/main" id="{2613FEDE-5517-484B-A0C0-EAA29F5F4201}"/>
                </a:ext>
              </a:extLst>
            </p:cNvPr>
            <p:cNvSpPr>
              <a:spLocks noChangeShapeType="1"/>
            </p:cNvSpPr>
            <p:nvPr/>
          </p:nvSpPr>
          <p:spPr bwMode="auto">
            <a:xfrm>
              <a:off x="3563" y="1711"/>
              <a:ext cx="0" cy="25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7" name="Line 15">
              <a:extLst>
                <a:ext uri="{FF2B5EF4-FFF2-40B4-BE49-F238E27FC236}">
                  <a16:creationId xmlns:a16="http://schemas.microsoft.com/office/drawing/2014/main" id="{62419125-F0D6-46BC-8069-78180AD2FC06}"/>
                </a:ext>
              </a:extLst>
            </p:cNvPr>
            <p:cNvSpPr>
              <a:spLocks noChangeShapeType="1"/>
            </p:cNvSpPr>
            <p:nvPr/>
          </p:nvSpPr>
          <p:spPr bwMode="auto">
            <a:xfrm>
              <a:off x="2480" y="2473"/>
              <a:ext cx="0" cy="25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8" name="Line 16">
              <a:extLst>
                <a:ext uri="{FF2B5EF4-FFF2-40B4-BE49-F238E27FC236}">
                  <a16:creationId xmlns:a16="http://schemas.microsoft.com/office/drawing/2014/main" id="{AF94B1E2-2CCC-49D5-8109-F87E0D9733BE}"/>
                </a:ext>
              </a:extLst>
            </p:cNvPr>
            <p:cNvSpPr>
              <a:spLocks noChangeShapeType="1"/>
            </p:cNvSpPr>
            <p:nvPr/>
          </p:nvSpPr>
          <p:spPr bwMode="auto">
            <a:xfrm>
              <a:off x="2841" y="2219"/>
              <a:ext cx="0" cy="25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499" name="Line 17">
              <a:extLst>
                <a:ext uri="{FF2B5EF4-FFF2-40B4-BE49-F238E27FC236}">
                  <a16:creationId xmlns:a16="http://schemas.microsoft.com/office/drawing/2014/main" id="{B1F6B330-7442-4070-89D2-B8D5DF787B76}"/>
                </a:ext>
              </a:extLst>
            </p:cNvPr>
            <p:cNvSpPr>
              <a:spLocks noChangeShapeType="1"/>
            </p:cNvSpPr>
            <p:nvPr/>
          </p:nvSpPr>
          <p:spPr bwMode="auto">
            <a:xfrm>
              <a:off x="3203" y="1965"/>
              <a:ext cx="0" cy="25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00" name="Line 18">
              <a:extLst>
                <a:ext uri="{FF2B5EF4-FFF2-40B4-BE49-F238E27FC236}">
                  <a16:creationId xmlns:a16="http://schemas.microsoft.com/office/drawing/2014/main" id="{8D830DC4-7EF7-4435-981F-51F1CA6A4C2F}"/>
                </a:ext>
              </a:extLst>
            </p:cNvPr>
            <p:cNvSpPr>
              <a:spLocks noChangeShapeType="1"/>
            </p:cNvSpPr>
            <p:nvPr/>
          </p:nvSpPr>
          <p:spPr bwMode="auto">
            <a:xfrm>
              <a:off x="1578" y="1201"/>
              <a:ext cx="0" cy="20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01" name="Line 19">
              <a:extLst>
                <a:ext uri="{FF2B5EF4-FFF2-40B4-BE49-F238E27FC236}">
                  <a16:creationId xmlns:a16="http://schemas.microsoft.com/office/drawing/2014/main" id="{60588C9E-2511-4158-A91A-9E8928113A6C}"/>
                </a:ext>
              </a:extLst>
            </p:cNvPr>
            <p:cNvSpPr>
              <a:spLocks noChangeShapeType="1"/>
            </p:cNvSpPr>
            <p:nvPr/>
          </p:nvSpPr>
          <p:spPr bwMode="auto">
            <a:xfrm>
              <a:off x="1579" y="3240"/>
              <a:ext cx="288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02" name="Rectangle 20">
              <a:extLst>
                <a:ext uri="{FF2B5EF4-FFF2-40B4-BE49-F238E27FC236}">
                  <a16:creationId xmlns:a16="http://schemas.microsoft.com/office/drawing/2014/main" id="{BCF26DDE-0541-42D4-95A8-9C098E691459}"/>
                </a:ext>
              </a:extLst>
            </p:cNvPr>
            <p:cNvSpPr>
              <a:spLocks noChangeArrowheads="1"/>
            </p:cNvSpPr>
            <p:nvPr/>
          </p:nvSpPr>
          <p:spPr bwMode="auto">
            <a:xfrm>
              <a:off x="738" y="2721"/>
              <a:ext cx="2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20503" name="Rectangle 21">
              <a:extLst>
                <a:ext uri="{FF2B5EF4-FFF2-40B4-BE49-F238E27FC236}">
                  <a16:creationId xmlns:a16="http://schemas.microsoft.com/office/drawing/2014/main" id="{9589F323-2A0E-4DC3-8E93-F4CF825D107B}"/>
                </a:ext>
              </a:extLst>
            </p:cNvPr>
            <p:cNvSpPr>
              <a:spLocks noChangeArrowheads="1"/>
            </p:cNvSpPr>
            <p:nvPr/>
          </p:nvSpPr>
          <p:spPr bwMode="auto">
            <a:xfrm>
              <a:off x="738" y="2467"/>
              <a:ext cx="2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20504" name="Rectangle 22">
              <a:extLst>
                <a:ext uri="{FF2B5EF4-FFF2-40B4-BE49-F238E27FC236}">
                  <a16:creationId xmlns:a16="http://schemas.microsoft.com/office/drawing/2014/main" id="{17D74A06-7E4C-423E-A3B3-D025AD6E25B2}"/>
                </a:ext>
              </a:extLst>
            </p:cNvPr>
            <p:cNvSpPr>
              <a:spLocks noChangeArrowheads="1"/>
            </p:cNvSpPr>
            <p:nvPr/>
          </p:nvSpPr>
          <p:spPr bwMode="auto">
            <a:xfrm>
              <a:off x="738" y="2171"/>
              <a:ext cx="2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20505" name="Rectangle 23">
              <a:extLst>
                <a:ext uri="{FF2B5EF4-FFF2-40B4-BE49-F238E27FC236}">
                  <a16:creationId xmlns:a16="http://schemas.microsoft.com/office/drawing/2014/main" id="{FACBB067-706C-46AE-AB2C-CEE608C62A32}"/>
                </a:ext>
              </a:extLst>
            </p:cNvPr>
            <p:cNvSpPr>
              <a:spLocks noChangeArrowheads="1"/>
            </p:cNvSpPr>
            <p:nvPr/>
          </p:nvSpPr>
          <p:spPr bwMode="auto">
            <a:xfrm>
              <a:off x="738" y="1917"/>
              <a:ext cx="2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20506" name="Rectangle 24">
              <a:extLst>
                <a:ext uri="{FF2B5EF4-FFF2-40B4-BE49-F238E27FC236}">
                  <a16:creationId xmlns:a16="http://schemas.microsoft.com/office/drawing/2014/main" id="{E8A6BCEC-8C0F-4F4C-8485-8A9C6A1A5058}"/>
                </a:ext>
              </a:extLst>
            </p:cNvPr>
            <p:cNvSpPr>
              <a:spLocks noChangeArrowheads="1"/>
            </p:cNvSpPr>
            <p:nvPr/>
          </p:nvSpPr>
          <p:spPr bwMode="auto">
            <a:xfrm>
              <a:off x="738" y="1706"/>
              <a:ext cx="2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20507" name="Rectangle 25">
              <a:extLst>
                <a:ext uri="{FF2B5EF4-FFF2-40B4-BE49-F238E27FC236}">
                  <a16:creationId xmlns:a16="http://schemas.microsoft.com/office/drawing/2014/main" id="{CA3AEC4B-DF68-4343-8939-4F2792C2C9F5}"/>
                </a:ext>
              </a:extLst>
            </p:cNvPr>
            <p:cNvSpPr>
              <a:spLocks noChangeArrowheads="1"/>
            </p:cNvSpPr>
            <p:nvPr/>
          </p:nvSpPr>
          <p:spPr bwMode="auto">
            <a:xfrm>
              <a:off x="3444" y="2286"/>
              <a:ext cx="5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1 LSB</a:t>
              </a:r>
            </a:p>
          </p:txBody>
        </p:sp>
        <p:sp>
          <p:nvSpPr>
            <p:cNvPr id="20508" name="Rectangle 26">
              <a:extLst>
                <a:ext uri="{FF2B5EF4-FFF2-40B4-BE49-F238E27FC236}">
                  <a16:creationId xmlns:a16="http://schemas.microsoft.com/office/drawing/2014/main" id="{C2A540E2-29DB-4196-A65A-AF1FEE26224D}"/>
                </a:ext>
              </a:extLst>
            </p:cNvPr>
            <p:cNvSpPr>
              <a:spLocks noChangeArrowheads="1"/>
            </p:cNvSpPr>
            <p:nvPr/>
          </p:nvSpPr>
          <p:spPr bwMode="auto">
            <a:xfrm flipH="1">
              <a:off x="2599" y="3637"/>
              <a:ext cx="1103"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ANALOG INPUT</a:t>
              </a:r>
            </a:p>
          </p:txBody>
        </p:sp>
        <p:sp>
          <p:nvSpPr>
            <p:cNvPr id="20509" name="Line 27">
              <a:extLst>
                <a:ext uri="{FF2B5EF4-FFF2-40B4-BE49-F238E27FC236}">
                  <a16:creationId xmlns:a16="http://schemas.microsoft.com/office/drawing/2014/main" id="{49F762CC-81F4-4610-8834-C93859B03821}"/>
                </a:ext>
              </a:extLst>
            </p:cNvPr>
            <p:cNvSpPr>
              <a:spLocks noChangeShapeType="1"/>
            </p:cNvSpPr>
            <p:nvPr/>
          </p:nvSpPr>
          <p:spPr bwMode="auto">
            <a:xfrm>
              <a:off x="3563" y="2007"/>
              <a:ext cx="0" cy="296"/>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0" name="Line 28">
              <a:extLst>
                <a:ext uri="{FF2B5EF4-FFF2-40B4-BE49-F238E27FC236}">
                  <a16:creationId xmlns:a16="http://schemas.microsoft.com/office/drawing/2014/main" id="{1294103E-9A39-4887-A86F-84939258FD8B}"/>
                </a:ext>
              </a:extLst>
            </p:cNvPr>
            <p:cNvSpPr>
              <a:spLocks noChangeShapeType="1"/>
            </p:cNvSpPr>
            <p:nvPr/>
          </p:nvSpPr>
          <p:spPr bwMode="auto">
            <a:xfrm>
              <a:off x="3924" y="1796"/>
              <a:ext cx="0" cy="464"/>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1" name="Line 29">
              <a:extLst>
                <a:ext uri="{FF2B5EF4-FFF2-40B4-BE49-F238E27FC236}">
                  <a16:creationId xmlns:a16="http://schemas.microsoft.com/office/drawing/2014/main" id="{5CE5893F-EEB9-4278-9EC5-45F2F45A5B79}"/>
                </a:ext>
              </a:extLst>
            </p:cNvPr>
            <p:cNvSpPr>
              <a:spLocks noChangeShapeType="1"/>
            </p:cNvSpPr>
            <p:nvPr/>
          </p:nvSpPr>
          <p:spPr bwMode="auto">
            <a:xfrm flipV="1">
              <a:off x="1926" y="1219"/>
              <a:ext cx="0" cy="201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2" name="Line 30">
              <a:extLst>
                <a:ext uri="{FF2B5EF4-FFF2-40B4-BE49-F238E27FC236}">
                  <a16:creationId xmlns:a16="http://schemas.microsoft.com/office/drawing/2014/main" id="{10465928-B5CA-4FC5-B721-97B256DF3CA1}"/>
                </a:ext>
              </a:extLst>
            </p:cNvPr>
            <p:cNvSpPr>
              <a:spLocks noChangeShapeType="1"/>
            </p:cNvSpPr>
            <p:nvPr/>
          </p:nvSpPr>
          <p:spPr bwMode="auto">
            <a:xfrm flipV="1">
              <a:off x="3018" y="1219"/>
              <a:ext cx="0" cy="202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3" name="Line 31">
              <a:extLst>
                <a:ext uri="{FF2B5EF4-FFF2-40B4-BE49-F238E27FC236}">
                  <a16:creationId xmlns:a16="http://schemas.microsoft.com/office/drawing/2014/main" id="{64FC66FB-0464-40E7-B77D-05BD6A219151}"/>
                </a:ext>
              </a:extLst>
            </p:cNvPr>
            <p:cNvSpPr>
              <a:spLocks noChangeShapeType="1"/>
            </p:cNvSpPr>
            <p:nvPr/>
          </p:nvSpPr>
          <p:spPr bwMode="auto">
            <a:xfrm flipV="1">
              <a:off x="2304" y="1213"/>
              <a:ext cx="0" cy="202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4" name="Line 32">
              <a:extLst>
                <a:ext uri="{FF2B5EF4-FFF2-40B4-BE49-F238E27FC236}">
                  <a16:creationId xmlns:a16="http://schemas.microsoft.com/office/drawing/2014/main" id="{EA355AD9-52E6-4AFD-B85E-1E19F859D762}"/>
                </a:ext>
              </a:extLst>
            </p:cNvPr>
            <p:cNvSpPr>
              <a:spLocks noChangeShapeType="1"/>
            </p:cNvSpPr>
            <p:nvPr/>
          </p:nvSpPr>
          <p:spPr bwMode="auto">
            <a:xfrm flipV="1">
              <a:off x="2634" y="1195"/>
              <a:ext cx="0" cy="202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5" name="Line 33">
              <a:extLst>
                <a:ext uri="{FF2B5EF4-FFF2-40B4-BE49-F238E27FC236}">
                  <a16:creationId xmlns:a16="http://schemas.microsoft.com/office/drawing/2014/main" id="{C737D016-13C0-4471-BF53-DBC39EFAF990}"/>
                </a:ext>
              </a:extLst>
            </p:cNvPr>
            <p:cNvSpPr>
              <a:spLocks noChangeShapeType="1"/>
            </p:cNvSpPr>
            <p:nvPr/>
          </p:nvSpPr>
          <p:spPr bwMode="auto">
            <a:xfrm flipV="1">
              <a:off x="4080" y="1213"/>
              <a:ext cx="0" cy="202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6" name="Line 34">
              <a:extLst>
                <a:ext uri="{FF2B5EF4-FFF2-40B4-BE49-F238E27FC236}">
                  <a16:creationId xmlns:a16="http://schemas.microsoft.com/office/drawing/2014/main" id="{018ACBF3-90D9-43FC-B831-CC2C13D7440E}"/>
                </a:ext>
              </a:extLst>
            </p:cNvPr>
            <p:cNvSpPr>
              <a:spLocks noChangeShapeType="1"/>
            </p:cNvSpPr>
            <p:nvPr/>
          </p:nvSpPr>
          <p:spPr bwMode="auto">
            <a:xfrm flipV="1">
              <a:off x="3744" y="1207"/>
              <a:ext cx="0" cy="202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7" name="Line 35">
              <a:extLst>
                <a:ext uri="{FF2B5EF4-FFF2-40B4-BE49-F238E27FC236}">
                  <a16:creationId xmlns:a16="http://schemas.microsoft.com/office/drawing/2014/main" id="{C33F2B52-9581-4366-A001-85BD56EB653F}"/>
                </a:ext>
              </a:extLst>
            </p:cNvPr>
            <p:cNvSpPr>
              <a:spLocks noChangeShapeType="1"/>
            </p:cNvSpPr>
            <p:nvPr/>
          </p:nvSpPr>
          <p:spPr bwMode="auto">
            <a:xfrm flipV="1">
              <a:off x="3354" y="1213"/>
              <a:ext cx="0" cy="2009"/>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8" name="Line 36">
              <a:extLst>
                <a:ext uri="{FF2B5EF4-FFF2-40B4-BE49-F238E27FC236}">
                  <a16:creationId xmlns:a16="http://schemas.microsoft.com/office/drawing/2014/main" id="{7BB4BF97-D383-47D5-80FC-7155AB2E915C}"/>
                </a:ext>
              </a:extLst>
            </p:cNvPr>
            <p:cNvSpPr>
              <a:spLocks noChangeShapeType="1"/>
            </p:cNvSpPr>
            <p:nvPr/>
          </p:nvSpPr>
          <p:spPr bwMode="auto">
            <a:xfrm flipV="1">
              <a:off x="4458" y="1189"/>
              <a:ext cx="0" cy="204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19" name="Line 37">
              <a:extLst>
                <a:ext uri="{FF2B5EF4-FFF2-40B4-BE49-F238E27FC236}">
                  <a16:creationId xmlns:a16="http://schemas.microsoft.com/office/drawing/2014/main" id="{9961D21F-DA1C-40E7-BFBA-2550EA2AA90F}"/>
                </a:ext>
              </a:extLst>
            </p:cNvPr>
            <p:cNvSpPr>
              <a:spLocks noChangeShapeType="1"/>
            </p:cNvSpPr>
            <p:nvPr/>
          </p:nvSpPr>
          <p:spPr bwMode="auto">
            <a:xfrm flipH="1">
              <a:off x="1585" y="1968"/>
              <a:ext cx="2891" cy="0"/>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0" name="Line 38">
              <a:extLst>
                <a:ext uri="{FF2B5EF4-FFF2-40B4-BE49-F238E27FC236}">
                  <a16:creationId xmlns:a16="http://schemas.microsoft.com/office/drawing/2014/main" id="{296FAC60-2C34-4AD8-B0E5-1D4873DE1324}"/>
                </a:ext>
              </a:extLst>
            </p:cNvPr>
            <p:cNvSpPr>
              <a:spLocks noChangeShapeType="1"/>
            </p:cNvSpPr>
            <p:nvPr/>
          </p:nvSpPr>
          <p:spPr bwMode="auto">
            <a:xfrm flipH="1">
              <a:off x="1585" y="2208"/>
              <a:ext cx="2879" cy="0"/>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1" name="Line 39">
              <a:extLst>
                <a:ext uri="{FF2B5EF4-FFF2-40B4-BE49-F238E27FC236}">
                  <a16:creationId xmlns:a16="http://schemas.microsoft.com/office/drawing/2014/main" id="{94FEE5AC-3ECB-4D1D-89B6-3A5EE5C0CB14}"/>
                </a:ext>
              </a:extLst>
            </p:cNvPr>
            <p:cNvSpPr>
              <a:spLocks noChangeShapeType="1"/>
            </p:cNvSpPr>
            <p:nvPr/>
          </p:nvSpPr>
          <p:spPr bwMode="auto">
            <a:xfrm flipH="1" flipV="1">
              <a:off x="1585" y="2449"/>
              <a:ext cx="2879" cy="11"/>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2" name="Line 40">
              <a:extLst>
                <a:ext uri="{FF2B5EF4-FFF2-40B4-BE49-F238E27FC236}">
                  <a16:creationId xmlns:a16="http://schemas.microsoft.com/office/drawing/2014/main" id="{2C87CEAB-EC0D-4AA2-9665-0133448BDCBB}"/>
                </a:ext>
              </a:extLst>
            </p:cNvPr>
            <p:cNvSpPr>
              <a:spLocks noChangeShapeType="1"/>
            </p:cNvSpPr>
            <p:nvPr/>
          </p:nvSpPr>
          <p:spPr bwMode="auto">
            <a:xfrm flipH="1" flipV="1">
              <a:off x="1567" y="2737"/>
              <a:ext cx="2891" cy="11"/>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3" name="Line 41">
              <a:extLst>
                <a:ext uri="{FF2B5EF4-FFF2-40B4-BE49-F238E27FC236}">
                  <a16:creationId xmlns:a16="http://schemas.microsoft.com/office/drawing/2014/main" id="{A927FE4E-4CDC-4536-AFA6-06F45ACB6BE8}"/>
                </a:ext>
              </a:extLst>
            </p:cNvPr>
            <p:cNvSpPr>
              <a:spLocks noChangeShapeType="1"/>
            </p:cNvSpPr>
            <p:nvPr/>
          </p:nvSpPr>
          <p:spPr bwMode="auto">
            <a:xfrm flipH="1" flipV="1">
              <a:off x="1561" y="2965"/>
              <a:ext cx="2903" cy="11"/>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4" name="Line 42">
              <a:extLst>
                <a:ext uri="{FF2B5EF4-FFF2-40B4-BE49-F238E27FC236}">
                  <a16:creationId xmlns:a16="http://schemas.microsoft.com/office/drawing/2014/main" id="{4AB832BC-97BA-4A97-813A-A360DCE79D53}"/>
                </a:ext>
              </a:extLst>
            </p:cNvPr>
            <p:cNvSpPr>
              <a:spLocks noChangeShapeType="1"/>
            </p:cNvSpPr>
            <p:nvPr/>
          </p:nvSpPr>
          <p:spPr bwMode="auto">
            <a:xfrm flipH="1" flipV="1">
              <a:off x="1573" y="1453"/>
              <a:ext cx="2891" cy="11"/>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5" name="Line 43">
              <a:extLst>
                <a:ext uri="{FF2B5EF4-FFF2-40B4-BE49-F238E27FC236}">
                  <a16:creationId xmlns:a16="http://schemas.microsoft.com/office/drawing/2014/main" id="{508C654E-F5D0-442A-A14F-AF1CBBC9EE39}"/>
                </a:ext>
              </a:extLst>
            </p:cNvPr>
            <p:cNvSpPr>
              <a:spLocks noChangeShapeType="1"/>
            </p:cNvSpPr>
            <p:nvPr/>
          </p:nvSpPr>
          <p:spPr bwMode="auto">
            <a:xfrm flipH="1">
              <a:off x="1579" y="1200"/>
              <a:ext cx="288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6" name="Line 44">
              <a:extLst>
                <a:ext uri="{FF2B5EF4-FFF2-40B4-BE49-F238E27FC236}">
                  <a16:creationId xmlns:a16="http://schemas.microsoft.com/office/drawing/2014/main" id="{1551D7A7-DE27-4877-9735-1CCB84C90CB8}"/>
                </a:ext>
              </a:extLst>
            </p:cNvPr>
            <p:cNvSpPr>
              <a:spLocks noChangeShapeType="1"/>
            </p:cNvSpPr>
            <p:nvPr/>
          </p:nvSpPr>
          <p:spPr bwMode="auto">
            <a:xfrm flipH="1">
              <a:off x="1573" y="1704"/>
              <a:ext cx="2891" cy="0"/>
            </a:xfrm>
            <a:prstGeom prst="line">
              <a:avLst/>
            </a:prstGeom>
            <a:noFill/>
            <a:ln w="12700">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0527" name="Rectangle 45">
              <a:extLst>
                <a:ext uri="{FF2B5EF4-FFF2-40B4-BE49-F238E27FC236}">
                  <a16:creationId xmlns:a16="http://schemas.microsoft.com/office/drawing/2014/main" id="{60380F6D-D3BE-4A3E-ACF0-FCB07ABBA6D0}"/>
                </a:ext>
              </a:extLst>
            </p:cNvPr>
            <p:cNvSpPr>
              <a:spLocks noChangeArrowheads="1"/>
            </p:cNvSpPr>
            <p:nvPr/>
          </p:nvSpPr>
          <p:spPr bwMode="auto">
            <a:xfrm>
              <a:off x="1782" y="3399"/>
              <a:ext cx="2480"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1/8      2/8    3/8     4/8     5/8     6/8     7/8 </a:t>
              </a:r>
            </a:p>
          </p:txBody>
        </p:sp>
        <p:sp>
          <p:nvSpPr>
            <p:cNvPr id="20528" name="Rectangle 46">
              <a:extLst>
                <a:ext uri="{FF2B5EF4-FFF2-40B4-BE49-F238E27FC236}">
                  <a16:creationId xmlns:a16="http://schemas.microsoft.com/office/drawing/2014/main" id="{941212C6-C7F3-4516-A8C0-33C8CB817CF0}"/>
                </a:ext>
              </a:extLst>
            </p:cNvPr>
            <p:cNvSpPr>
              <a:spLocks noChangeArrowheads="1"/>
            </p:cNvSpPr>
            <p:nvPr/>
          </p:nvSpPr>
          <p:spPr bwMode="auto">
            <a:xfrm>
              <a:off x="1214" y="2871"/>
              <a:ext cx="33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001</a:t>
              </a:r>
            </a:p>
          </p:txBody>
        </p:sp>
        <p:sp>
          <p:nvSpPr>
            <p:cNvPr id="20529" name="Rectangle 47">
              <a:extLst>
                <a:ext uri="{FF2B5EF4-FFF2-40B4-BE49-F238E27FC236}">
                  <a16:creationId xmlns:a16="http://schemas.microsoft.com/office/drawing/2014/main" id="{1B66B30B-9031-4CA8-A779-48A0B9458BDD}"/>
                </a:ext>
              </a:extLst>
            </p:cNvPr>
            <p:cNvSpPr>
              <a:spLocks noChangeArrowheads="1"/>
            </p:cNvSpPr>
            <p:nvPr/>
          </p:nvSpPr>
          <p:spPr bwMode="auto">
            <a:xfrm>
              <a:off x="1206" y="2639"/>
              <a:ext cx="33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010</a:t>
              </a:r>
            </a:p>
          </p:txBody>
        </p:sp>
        <p:sp>
          <p:nvSpPr>
            <p:cNvPr id="20530" name="Rectangle 48">
              <a:extLst>
                <a:ext uri="{FF2B5EF4-FFF2-40B4-BE49-F238E27FC236}">
                  <a16:creationId xmlns:a16="http://schemas.microsoft.com/office/drawing/2014/main" id="{80F5A578-38C5-4321-BCB1-0F35F29F4C2F}"/>
                </a:ext>
              </a:extLst>
            </p:cNvPr>
            <p:cNvSpPr>
              <a:spLocks noChangeArrowheads="1"/>
            </p:cNvSpPr>
            <p:nvPr/>
          </p:nvSpPr>
          <p:spPr bwMode="auto">
            <a:xfrm>
              <a:off x="1214" y="2335"/>
              <a:ext cx="32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011</a:t>
              </a:r>
            </a:p>
          </p:txBody>
        </p:sp>
        <p:sp>
          <p:nvSpPr>
            <p:cNvPr id="20531" name="Rectangle 49">
              <a:extLst>
                <a:ext uri="{FF2B5EF4-FFF2-40B4-BE49-F238E27FC236}">
                  <a16:creationId xmlns:a16="http://schemas.microsoft.com/office/drawing/2014/main" id="{2487FCAC-1F94-4BA7-8A24-FA1A04238FDE}"/>
                </a:ext>
              </a:extLst>
            </p:cNvPr>
            <p:cNvSpPr>
              <a:spLocks noChangeArrowheads="1"/>
            </p:cNvSpPr>
            <p:nvPr/>
          </p:nvSpPr>
          <p:spPr bwMode="auto">
            <a:xfrm>
              <a:off x="1214" y="2111"/>
              <a:ext cx="33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100</a:t>
              </a:r>
            </a:p>
          </p:txBody>
        </p:sp>
        <p:sp>
          <p:nvSpPr>
            <p:cNvPr id="20532" name="Rectangle 50">
              <a:extLst>
                <a:ext uri="{FF2B5EF4-FFF2-40B4-BE49-F238E27FC236}">
                  <a16:creationId xmlns:a16="http://schemas.microsoft.com/office/drawing/2014/main" id="{9C756CE2-DB5D-4583-B3C2-E869DF4C5EEC}"/>
                </a:ext>
              </a:extLst>
            </p:cNvPr>
            <p:cNvSpPr>
              <a:spLocks noChangeArrowheads="1"/>
            </p:cNvSpPr>
            <p:nvPr/>
          </p:nvSpPr>
          <p:spPr bwMode="auto">
            <a:xfrm>
              <a:off x="1222" y="1863"/>
              <a:ext cx="33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101</a:t>
              </a:r>
            </a:p>
          </p:txBody>
        </p:sp>
        <p:sp>
          <p:nvSpPr>
            <p:cNvPr id="20533" name="Rectangle 51">
              <a:extLst>
                <a:ext uri="{FF2B5EF4-FFF2-40B4-BE49-F238E27FC236}">
                  <a16:creationId xmlns:a16="http://schemas.microsoft.com/office/drawing/2014/main" id="{E7E1021E-E975-4083-9C7F-32A8063F6EDF}"/>
                </a:ext>
              </a:extLst>
            </p:cNvPr>
            <p:cNvSpPr>
              <a:spLocks noChangeArrowheads="1"/>
            </p:cNvSpPr>
            <p:nvPr/>
          </p:nvSpPr>
          <p:spPr bwMode="auto">
            <a:xfrm>
              <a:off x="1222" y="1607"/>
              <a:ext cx="32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110</a:t>
              </a:r>
            </a:p>
          </p:txBody>
        </p:sp>
        <p:sp>
          <p:nvSpPr>
            <p:cNvPr id="20534" name="Rectangle 52">
              <a:extLst>
                <a:ext uri="{FF2B5EF4-FFF2-40B4-BE49-F238E27FC236}">
                  <a16:creationId xmlns:a16="http://schemas.microsoft.com/office/drawing/2014/main" id="{1830A61D-7D49-49F8-BA1B-44E1D0C6651B}"/>
                </a:ext>
              </a:extLst>
            </p:cNvPr>
            <p:cNvSpPr>
              <a:spLocks noChangeArrowheads="1"/>
            </p:cNvSpPr>
            <p:nvPr/>
          </p:nvSpPr>
          <p:spPr bwMode="auto">
            <a:xfrm>
              <a:off x="1222" y="1343"/>
              <a:ext cx="313"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a:t>111</a:t>
              </a:r>
            </a:p>
          </p:txBody>
        </p:sp>
      </p:grpSp>
      <p:sp>
        <p:nvSpPr>
          <p:cNvPr id="5" name="Content Placeholder 4">
            <a:extLst>
              <a:ext uri="{FF2B5EF4-FFF2-40B4-BE49-F238E27FC236}">
                <a16:creationId xmlns:a16="http://schemas.microsoft.com/office/drawing/2014/main" id="{EE3CB310-50A6-4820-8F14-6309EF4E3519}"/>
              </a:ext>
            </a:extLst>
          </p:cNvPr>
          <p:cNvSpPr>
            <a:spLocks noGrp="1"/>
          </p:cNvSpPr>
          <p:nvPr>
            <p:ph sz="quarter" idx="1"/>
          </p:nvPr>
        </p:nvSpPr>
        <p:spPr>
          <a:xfrm>
            <a:off x="331927" y="1730654"/>
            <a:ext cx="4104919" cy="5181600"/>
          </a:xfrm>
        </p:spPr>
        <p:txBody>
          <a:bodyPr>
            <a:normAutofit/>
          </a:bodyPr>
          <a:lstStyle/>
          <a:p>
            <a:r>
              <a:rPr lang="en-US" altLang="en-US" sz="2400" dirty="0">
                <a:latin typeface="Arial" panose="020B0604020202020204" pitchFamily="34" charset="0"/>
                <a:cs typeface="Arial" panose="020B0604020202020204" pitchFamily="34" charset="0"/>
              </a:rPr>
              <a:t>Ideal ADC code transitions are exactly 1 </a:t>
            </a:r>
            <a:r>
              <a:rPr lang="en-IE" altLang="en-US" sz="2400" dirty="0">
                <a:solidFill>
                  <a:srgbClr val="FF0000"/>
                </a:solidFill>
                <a:latin typeface="Arial" panose="020B0604020202020204" pitchFamily="34" charset="0"/>
                <a:cs typeface="Arial" panose="020B0604020202020204" pitchFamily="34" charset="0"/>
              </a:rPr>
              <a:t>LSB</a:t>
            </a:r>
            <a:r>
              <a:rPr lang="en-US" altLang="en-US" sz="2400" dirty="0">
                <a:latin typeface="Arial" panose="020B0604020202020204" pitchFamily="34" charset="0"/>
                <a:cs typeface="Arial" panose="020B0604020202020204" pitchFamily="34" charset="0"/>
              </a:rPr>
              <a:t> apart.</a:t>
            </a:r>
          </a:p>
          <a:p>
            <a:r>
              <a:rPr lang="en-US" altLang="en-US" sz="2400" dirty="0">
                <a:latin typeface="Arial" panose="020B0604020202020204" pitchFamily="34" charset="0"/>
                <a:cs typeface="Arial" panose="020B0604020202020204" pitchFamily="34" charset="0"/>
              </a:rPr>
              <a:t>For an </a:t>
            </a:r>
            <a:r>
              <a:rPr lang="en-US" altLang="en-US" sz="2400" i="1" dirty="0">
                <a:latin typeface="Arial" panose="020B0604020202020204" pitchFamily="34" charset="0"/>
                <a:cs typeface="Arial" panose="020B0604020202020204" pitchFamily="34" charset="0"/>
              </a:rPr>
              <a:t>N</a:t>
            </a:r>
            <a:r>
              <a:rPr lang="en-US" altLang="en-US" sz="2400" dirty="0">
                <a:latin typeface="Arial" panose="020B0604020202020204" pitchFamily="34" charset="0"/>
                <a:cs typeface="Arial" panose="020B0604020202020204" pitchFamily="34" charset="0"/>
              </a:rPr>
              <a:t>-bit ADC, there are 2</a:t>
            </a:r>
            <a:r>
              <a:rPr lang="en-US" altLang="en-US" sz="2400" i="1" baseline="30000" dirty="0">
                <a:latin typeface="Arial" panose="020B0604020202020204" pitchFamily="34" charset="0"/>
                <a:cs typeface="Arial" panose="020B0604020202020204" pitchFamily="34" charset="0"/>
              </a:rPr>
              <a:t>N</a:t>
            </a:r>
            <a:r>
              <a:rPr lang="en-US" altLang="en-US" sz="2400" dirty="0">
                <a:latin typeface="Arial" panose="020B0604020202020204" pitchFamily="34" charset="0"/>
                <a:cs typeface="Arial" panose="020B0604020202020204" pitchFamily="34" charset="0"/>
              </a:rPr>
              <a:t> codes.</a:t>
            </a:r>
          </a:p>
          <a:p>
            <a:r>
              <a:rPr lang="en-US" altLang="en-US" sz="2400" dirty="0">
                <a:latin typeface="Arial" panose="020B0604020202020204" pitchFamily="34" charset="0"/>
                <a:cs typeface="Arial" panose="020B0604020202020204" pitchFamily="34" charset="0"/>
              </a:rPr>
              <a:t>Each “step” is centered on an eighth of full scale</a:t>
            </a:r>
          </a:p>
          <a:p>
            <a:endParaRPr lang="en-GB" sz="2400" dirty="0"/>
          </a:p>
        </p:txBody>
      </p:sp>
      <p:sp>
        <p:nvSpPr>
          <p:cNvPr id="3" name="Title 2">
            <a:extLst>
              <a:ext uri="{FF2B5EF4-FFF2-40B4-BE49-F238E27FC236}">
                <a16:creationId xmlns:a16="http://schemas.microsoft.com/office/drawing/2014/main" id="{3333A592-9418-40A6-B7F4-CDE9A2E7349A}"/>
              </a:ext>
            </a:extLst>
          </p:cNvPr>
          <p:cNvSpPr>
            <a:spLocks noGrp="1"/>
          </p:cNvSpPr>
          <p:nvPr>
            <p:ph type="title"/>
          </p:nvPr>
        </p:nvSpPr>
        <p:spPr/>
        <p:txBody>
          <a:bodyPr/>
          <a:lstStyle/>
          <a:p>
            <a:r>
              <a:rPr lang="en-GB" dirty="0"/>
              <a:t>IDEAL ADC input vs. output</a:t>
            </a:r>
          </a:p>
        </p:txBody>
      </p:sp>
      <p:sp>
        <p:nvSpPr>
          <p:cNvPr id="4" name="Slide Number Placeholder 3">
            <a:extLst>
              <a:ext uri="{FF2B5EF4-FFF2-40B4-BE49-F238E27FC236}">
                <a16:creationId xmlns:a16="http://schemas.microsoft.com/office/drawing/2014/main" id="{CC5A8DA4-3FFD-4F15-9609-18577FC94A5C}"/>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45</a:t>
            </a:fld>
            <a:endParaRPr lang="en-US" dirty="0"/>
          </a:p>
        </p:txBody>
      </p:sp>
      <p:sp>
        <p:nvSpPr>
          <p:cNvPr id="6" name="Date Placeholder 5">
            <a:extLst>
              <a:ext uri="{FF2B5EF4-FFF2-40B4-BE49-F238E27FC236}">
                <a16:creationId xmlns:a16="http://schemas.microsoft.com/office/drawing/2014/main" id="{72BD22E1-54DB-4326-99E0-4890488061B5}"/>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A3BA8099-99D0-4216-BB46-8821A8257591}"/>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7532344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B7B6885B-DEF2-4211-8C30-9F0030DBAD56}"/>
              </a:ext>
            </a:extLst>
          </p:cNvPr>
          <p:cNvSpPr>
            <a:spLocks noGrp="1" noChangeArrowheads="1"/>
          </p:cNvSpPr>
          <p:nvPr>
            <p:ph type="title"/>
          </p:nvPr>
        </p:nvSpPr>
        <p:spPr/>
        <p:txBody>
          <a:bodyPr/>
          <a:lstStyle/>
          <a:p>
            <a:r>
              <a:rPr lang="en-US" altLang="en-US" dirty="0"/>
              <a:t>Quantization Noise</a:t>
            </a:r>
          </a:p>
        </p:txBody>
      </p:sp>
      <p:sp>
        <p:nvSpPr>
          <p:cNvPr id="3" name="Slide Number Placeholder 2">
            <a:extLst>
              <a:ext uri="{FF2B5EF4-FFF2-40B4-BE49-F238E27FC236}">
                <a16:creationId xmlns:a16="http://schemas.microsoft.com/office/drawing/2014/main" id="{31BEF7E3-85C0-4369-9F60-332D23AA6E57}"/>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46</a:t>
            </a:fld>
            <a:endParaRPr lang="en-US" dirty="0"/>
          </a:p>
        </p:txBody>
      </p:sp>
      <p:grpSp>
        <p:nvGrpSpPr>
          <p:cNvPr id="22531" name="Group 4">
            <a:extLst>
              <a:ext uri="{FF2B5EF4-FFF2-40B4-BE49-F238E27FC236}">
                <a16:creationId xmlns:a16="http://schemas.microsoft.com/office/drawing/2014/main" id="{7EAFD499-E7B1-4C0A-9B2A-10C453F90F25}"/>
              </a:ext>
            </a:extLst>
          </p:cNvPr>
          <p:cNvGrpSpPr>
            <a:grpSpLocks/>
          </p:cNvGrpSpPr>
          <p:nvPr/>
        </p:nvGrpSpPr>
        <p:grpSpPr bwMode="auto">
          <a:xfrm>
            <a:off x="1255802" y="1790701"/>
            <a:ext cx="6105391" cy="4939643"/>
            <a:chOff x="578" y="901"/>
            <a:chExt cx="4078" cy="3300"/>
          </a:xfrm>
        </p:grpSpPr>
        <p:sp>
          <p:nvSpPr>
            <p:cNvPr id="22535" name="Rectangle 5">
              <a:extLst>
                <a:ext uri="{FF2B5EF4-FFF2-40B4-BE49-F238E27FC236}">
                  <a16:creationId xmlns:a16="http://schemas.microsoft.com/office/drawing/2014/main" id="{539565B3-1789-4354-A77C-71E968A99C6D}"/>
                </a:ext>
              </a:extLst>
            </p:cNvPr>
            <p:cNvSpPr>
              <a:spLocks noChangeArrowheads="1"/>
            </p:cNvSpPr>
            <p:nvPr/>
          </p:nvSpPr>
          <p:spPr bwMode="auto">
            <a:xfrm>
              <a:off x="1323" y="916"/>
              <a:ext cx="3159" cy="2019"/>
            </a:xfrm>
            <a:prstGeom prst="rect">
              <a:avLst/>
            </a:prstGeom>
            <a:solidFill>
              <a:schemeClr val="bg1"/>
            </a:solidFill>
            <a:ln w="508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22536" name="Line 6">
              <a:extLst>
                <a:ext uri="{FF2B5EF4-FFF2-40B4-BE49-F238E27FC236}">
                  <a16:creationId xmlns:a16="http://schemas.microsoft.com/office/drawing/2014/main" id="{AED880B8-80A1-43AA-8DF6-A576C1B8CA27}"/>
                </a:ext>
              </a:extLst>
            </p:cNvPr>
            <p:cNvSpPr>
              <a:spLocks noChangeShapeType="1"/>
            </p:cNvSpPr>
            <p:nvPr/>
          </p:nvSpPr>
          <p:spPr bwMode="auto">
            <a:xfrm>
              <a:off x="4498"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37" name="Line 7">
              <a:extLst>
                <a:ext uri="{FF2B5EF4-FFF2-40B4-BE49-F238E27FC236}">
                  <a16:creationId xmlns:a16="http://schemas.microsoft.com/office/drawing/2014/main" id="{ED45041B-3641-46D9-9EAE-7CC4F1950B8A}"/>
                </a:ext>
              </a:extLst>
            </p:cNvPr>
            <p:cNvSpPr>
              <a:spLocks noChangeShapeType="1"/>
            </p:cNvSpPr>
            <p:nvPr/>
          </p:nvSpPr>
          <p:spPr bwMode="auto">
            <a:xfrm>
              <a:off x="3700"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38" name="Line 8">
              <a:extLst>
                <a:ext uri="{FF2B5EF4-FFF2-40B4-BE49-F238E27FC236}">
                  <a16:creationId xmlns:a16="http://schemas.microsoft.com/office/drawing/2014/main" id="{1DE5A923-BF69-4DB1-BC22-0983E2AFBDCD}"/>
                </a:ext>
              </a:extLst>
            </p:cNvPr>
            <p:cNvSpPr>
              <a:spLocks noChangeShapeType="1"/>
            </p:cNvSpPr>
            <p:nvPr/>
          </p:nvSpPr>
          <p:spPr bwMode="auto">
            <a:xfrm>
              <a:off x="4098"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39" name="Line 9">
              <a:extLst>
                <a:ext uri="{FF2B5EF4-FFF2-40B4-BE49-F238E27FC236}">
                  <a16:creationId xmlns:a16="http://schemas.microsoft.com/office/drawing/2014/main" id="{657A80BE-B3CD-4DD7-A7D0-C907D78FD0FE}"/>
                </a:ext>
              </a:extLst>
            </p:cNvPr>
            <p:cNvSpPr>
              <a:spLocks noChangeShapeType="1"/>
            </p:cNvSpPr>
            <p:nvPr/>
          </p:nvSpPr>
          <p:spPr bwMode="auto">
            <a:xfrm>
              <a:off x="2504"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0" name="Line 10">
              <a:extLst>
                <a:ext uri="{FF2B5EF4-FFF2-40B4-BE49-F238E27FC236}">
                  <a16:creationId xmlns:a16="http://schemas.microsoft.com/office/drawing/2014/main" id="{29AC51EF-F66B-4C98-B32B-38160946FA33}"/>
                </a:ext>
              </a:extLst>
            </p:cNvPr>
            <p:cNvSpPr>
              <a:spLocks noChangeShapeType="1"/>
            </p:cNvSpPr>
            <p:nvPr/>
          </p:nvSpPr>
          <p:spPr bwMode="auto">
            <a:xfrm>
              <a:off x="2902"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1" name="Line 11">
              <a:extLst>
                <a:ext uri="{FF2B5EF4-FFF2-40B4-BE49-F238E27FC236}">
                  <a16:creationId xmlns:a16="http://schemas.microsoft.com/office/drawing/2014/main" id="{BFD6EE52-9A2C-477E-9F6C-6A829AD1A8F8}"/>
                </a:ext>
              </a:extLst>
            </p:cNvPr>
            <p:cNvSpPr>
              <a:spLocks noChangeShapeType="1"/>
            </p:cNvSpPr>
            <p:nvPr/>
          </p:nvSpPr>
          <p:spPr bwMode="auto">
            <a:xfrm>
              <a:off x="3301"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2" name="Line 12">
              <a:extLst>
                <a:ext uri="{FF2B5EF4-FFF2-40B4-BE49-F238E27FC236}">
                  <a16:creationId xmlns:a16="http://schemas.microsoft.com/office/drawing/2014/main" id="{DE85F5C8-0C7A-4F20-8B47-AF7E7531C27F}"/>
                </a:ext>
              </a:extLst>
            </p:cNvPr>
            <p:cNvSpPr>
              <a:spLocks noChangeShapeType="1"/>
            </p:cNvSpPr>
            <p:nvPr/>
          </p:nvSpPr>
          <p:spPr bwMode="auto">
            <a:xfrm>
              <a:off x="2105"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3" name="Line 13">
              <a:extLst>
                <a:ext uri="{FF2B5EF4-FFF2-40B4-BE49-F238E27FC236}">
                  <a16:creationId xmlns:a16="http://schemas.microsoft.com/office/drawing/2014/main" id="{22E8EE42-0F82-4B51-AA81-E069F6688BCA}"/>
                </a:ext>
              </a:extLst>
            </p:cNvPr>
            <p:cNvSpPr>
              <a:spLocks noChangeShapeType="1"/>
            </p:cNvSpPr>
            <p:nvPr/>
          </p:nvSpPr>
          <p:spPr bwMode="auto">
            <a:xfrm>
              <a:off x="1706" y="901"/>
              <a:ext cx="0" cy="205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4" name="Line 14">
              <a:extLst>
                <a:ext uri="{FF2B5EF4-FFF2-40B4-BE49-F238E27FC236}">
                  <a16:creationId xmlns:a16="http://schemas.microsoft.com/office/drawing/2014/main" id="{23B717B8-A505-441D-A3E9-C1921524E7DC}"/>
                </a:ext>
              </a:extLst>
            </p:cNvPr>
            <p:cNvSpPr>
              <a:spLocks noChangeShapeType="1"/>
            </p:cNvSpPr>
            <p:nvPr/>
          </p:nvSpPr>
          <p:spPr bwMode="auto">
            <a:xfrm>
              <a:off x="1308" y="1156"/>
              <a:ext cx="3190" cy="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5" name="Line 15">
              <a:extLst>
                <a:ext uri="{FF2B5EF4-FFF2-40B4-BE49-F238E27FC236}">
                  <a16:creationId xmlns:a16="http://schemas.microsoft.com/office/drawing/2014/main" id="{DE0554B3-AB2B-41B1-AD92-E3FDDD04C028}"/>
                </a:ext>
              </a:extLst>
            </p:cNvPr>
            <p:cNvSpPr>
              <a:spLocks noChangeShapeType="1"/>
            </p:cNvSpPr>
            <p:nvPr/>
          </p:nvSpPr>
          <p:spPr bwMode="auto">
            <a:xfrm>
              <a:off x="1308" y="2695"/>
              <a:ext cx="3190" cy="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6" name="Line 16">
              <a:extLst>
                <a:ext uri="{FF2B5EF4-FFF2-40B4-BE49-F238E27FC236}">
                  <a16:creationId xmlns:a16="http://schemas.microsoft.com/office/drawing/2014/main" id="{541042EE-3743-41D5-995D-2ABA65CF2B99}"/>
                </a:ext>
              </a:extLst>
            </p:cNvPr>
            <p:cNvSpPr>
              <a:spLocks noChangeShapeType="1"/>
            </p:cNvSpPr>
            <p:nvPr/>
          </p:nvSpPr>
          <p:spPr bwMode="auto">
            <a:xfrm>
              <a:off x="1308" y="2438"/>
              <a:ext cx="3190" cy="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7" name="Line 17">
              <a:extLst>
                <a:ext uri="{FF2B5EF4-FFF2-40B4-BE49-F238E27FC236}">
                  <a16:creationId xmlns:a16="http://schemas.microsoft.com/office/drawing/2014/main" id="{CAB5F154-6C29-4954-B54C-3233E9AF79C4}"/>
                </a:ext>
              </a:extLst>
            </p:cNvPr>
            <p:cNvSpPr>
              <a:spLocks noChangeShapeType="1"/>
            </p:cNvSpPr>
            <p:nvPr/>
          </p:nvSpPr>
          <p:spPr bwMode="auto">
            <a:xfrm>
              <a:off x="1308" y="1669"/>
              <a:ext cx="3190" cy="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8" name="Line 18">
              <a:extLst>
                <a:ext uri="{FF2B5EF4-FFF2-40B4-BE49-F238E27FC236}">
                  <a16:creationId xmlns:a16="http://schemas.microsoft.com/office/drawing/2014/main" id="{4CA218D7-9A1A-4470-9E62-BB3547C69614}"/>
                </a:ext>
              </a:extLst>
            </p:cNvPr>
            <p:cNvSpPr>
              <a:spLocks noChangeShapeType="1"/>
            </p:cNvSpPr>
            <p:nvPr/>
          </p:nvSpPr>
          <p:spPr bwMode="auto">
            <a:xfrm>
              <a:off x="1308" y="2182"/>
              <a:ext cx="3190" cy="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49" name="Line 19">
              <a:extLst>
                <a:ext uri="{FF2B5EF4-FFF2-40B4-BE49-F238E27FC236}">
                  <a16:creationId xmlns:a16="http://schemas.microsoft.com/office/drawing/2014/main" id="{6BF0463E-8C4D-498D-B18A-3137B3C02D42}"/>
                </a:ext>
              </a:extLst>
            </p:cNvPr>
            <p:cNvSpPr>
              <a:spLocks noChangeShapeType="1"/>
            </p:cNvSpPr>
            <p:nvPr/>
          </p:nvSpPr>
          <p:spPr bwMode="auto">
            <a:xfrm>
              <a:off x="1308" y="1925"/>
              <a:ext cx="3190" cy="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0" name="Line 20">
              <a:extLst>
                <a:ext uri="{FF2B5EF4-FFF2-40B4-BE49-F238E27FC236}">
                  <a16:creationId xmlns:a16="http://schemas.microsoft.com/office/drawing/2014/main" id="{877E8CE1-5933-4C78-B68D-728573A672AC}"/>
                </a:ext>
              </a:extLst>
            </p:cNvPr>
            <p:cNvSpPr>
              <a:spLocks noChangeShapeType="1"/>
            </p:cNvSpPr>
            <p:nvPr/>
          </p:nvSpPr>
          <p:spPr bwMode="auto">
            <a:xfrm>
              <a:off x="1308" y="1413"/>
              <a:ext cx="3190" cy="0"/>
            </a:xfrm>
            <a:prstGeom prst="line">
              <a:avLst/>
            </a:prstGeom>
            <a:noFill/>
            <a:ln w="12700">
              <a:solidFill>
                <a:srgbClr val="063DE8"/>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1" name="Line 21">
              <a:extLst>
                <a:ext uri="{FF2B5EF4-FFF2-40B4-BE49-F238E27FC236}">
                  <a16:creationId xmlns:a16="http://schemas.microsoft.com/office/drawing/2014/main" id="{14AB5527-E422-48B9-90E3-C7F5B5939086}"/>
                </a:ext>
              </a:extLst>
            </p:cNvPr>
            <p:cNvSpPr>
              <a:spLocks noChangeShapeType="1"/>
            </p:cNvSpPr>
            <p:nvPr/>
          </p:nvSpPr>
          <p:spPr bwMode="auto">
            <a:xfrm flipV="1">
              <a:off x="1507" y="2696"/>
              <a:ext cx="0" cy="255"/>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2" name="Line 22">
              <a:extLst>
                <a:ext uri="{FF2B5EF4-FFF2-40B4-BE49-F238E27FC236}">
                  <a16:creationId xmlns:a16="http://schemas.microsoft.com/office/drawing/2014/main" id="{9B7A9B6A-0EF0-4E35-957E-A510466863D9}"/>
                </a:ext>
              </a:extLst>
            </p:cNvPr>
            <p:cNvSpPr>
              <a:spLocks noChangeShapeType="1"/>
            </p:cNvSpPr>
            <p:nvPr/>
          </p:nvSpPr>
          <p:spPr bwMode="auto">
            <a:xfrm>
              <a:off x="1508" y="2695"/>
              <a:ext cx="398"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3" name="Line 23">
              <a:extLst>
                <a:ext uri="{FF2B5EF4-FFF2-40B4-BE49-F238E27FC236}">
                  <a16:creationId xmlns:a16="http://schemas.microsoft.com/office/drawing/2014/main" id="{AA5377C5-D309-4676-B6AD-94795FD953B7}"/>
                </a:ext>
              </a:extLst>
            </p:cNvPr>
            <p:cNvSpPr>
              <a:spLocks noChangeShapeType="1"/>
            </p:cNvSpPr>
            <p:nvPr/>
          </p:nvSpPr>
          <p:spPr bwMode="auto">
            <a:xfrm flipV="1">
              <a:off x="1906" y="2438"/>
              <a:ext cx="0" cy="25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4" name="Line 24">
              <a:extLst>
                <a:ext uri="{FF2B5EF4-FFF2-40B4-BE49-F238E27FC236}">
                  <a16:creationId xmlns:a16="http://schemas.microsoft.com/office/drawing/2014/main" id="{BC3A5433-9F13-4378-AC56-77A0243A429C}"/>
                </a:ext>
              </a:extLst>
            </p:cNvPr>
            <p:cNvSpPr>
              <a:spLocks noChangeShapeType="1"/>
            </p:cNvSpPr>
            <p:nvPr/>
          </p:nvSpPr>
          <p:spPr bwMode="auto">
            <a:xfrm>
              <a:off x="1907" y="2438"/>
              <a:ext cx="397"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5" name="Line 25">
              <a:extLst>
                <a:ext uri="{FF2B5EF4-FFF2-40B4-BE49-F238E27FC236}">
                  <a16:creationId xmlns:a16="http://schemas.microsoft.com/office/drawing/2014/main" id="{A7357A9C-F99D-441E-9B66-0933E8EAB084}"/>
                </a:ext>
              </a:extLst>
            </p:cNvPr>
            <p:cNvSpPr>
              <a:spLocks noChangeShapeType="1"/>
            </p:cNvSpPr>
            <p:nvPr/>
          </p:nvSpPr>
          <p:spPr bwMode="auto">
            <a:xfrm flipV="1">
              <a:off x="2304" y="2183"/>
              <a:ext cx="0" cy="255"/>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6" name="Line 26">
              <a:extLst>
                <a:ext uri="{FF2B5EF4-FFF2-40B4-BE49-F238E27FC236}">
                  <a16:creationId xmlns:a16="http://schemas.microsoft.com/office/drawing/2014/main" id="{D624C93E-5591-4CBB-99FF-9710958F1E68}"/>
                </a:ext>
              </a:extLst>
            </p:cNvPr>
            <p:cNvSpPr>
              <a:spLocks noChangeShapeType="1"/>
            </p:cNvSpPr>
            <p:nvPr/>
          </p:nvSpPr>
          <p:spPr bwMode="auto">
            <a:xfrm>
              <a:off x="2305" y="2182"/>
              <a:ext cx="398"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7" name="Line 27">
              <a:extLst>
                <a:ext uri="{FF2B5EF4-FFF2-40B4-BE49-F238E27FC236}">
                  <a16:creationId xmlns:a16="http://schemas.microsoft.com/office/drawing/2014/main" id="{39C0CCB0-4EEC-43C4-AB9C-94D15D7E616C}"/>
                </a:ext>
              </a:extLst>
            </p:cNvPr>
            <p:cNvSpPr>
              <a:spLocks noChangeShapeType="1"/>
            </p:cNvSpPr>
            <p:nvPr/>
          </p:nvSpPr>
          <p:spPr bwMode="auto">
            <a:xfrm flipV="1">
              <a:off x="2703" y="1925"/>
              <a:ext cx="0" cy="25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8" name="Line 28">
              <a:extLst>
                <a:ext uri="{FF2B5EF4-FFF2-40B4-BE49-F238E27FC236}">
                  <a16:creationId xmlns:a16="http://schemas.microsoft.com/office/drawing/2014/main" id="{A25BD537-89EF-4CD2-ABFD-A2B705393385}"/>
                </a:ext>
              </a:extLst>
            </p:cNvPr>
            <p:cNvSpPr>
              <a:spLocks noChangeShapeType="1"/>
            </p:cNvSpPr>
            <p:nvPr/>
          </p:nvSpPr>
          <p:spPr bwMode="auto">
            <a:xfrm flipV="1">
              <a:off x="3102" y="1670"/>
              <a:ext cx="0" cy="255"/>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59" name="Line 29">
              <a:extLst>
                <a:ext uri="{FF2B5EF4-FFF2-40B4-BE49-F238E27FC236}">
                  <a16:creationId xmlns:a16="http://schemas.microsoft.com/office/drawing/2014/main" id="{7DA45F2C-075E-4373-BB3B-353586B8CEE9}"/>
                </a:ext>
              </a:extLst>
            </p:cNvPr>
            <p:cNvSpPr>
              <a:spLocks noChangeShapeType="1"/>
            </p:cNvSpPr>
            <p:nvPr/>
          </p:nvSpPr>
          <p:spPr bwMode="auto">
            <a:xfrm flipV="1">
              <a:off x="3501" y="1414"/>
              <a:ext cx="0" cy="255"/>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60" name="Line 30">
              <a:extLst>
                <a:ext uri="{FF2B5EF4-FFF2-40B4-BE49-F238E27FC236}">
                  <a16:creationId xmlns:a16="http://schemas.microsoft.com/office/drawing/2014/main" id="{3F5B91E3-B814-49E2-A87A-A3943A9B6A23}"/>
                </a:ext>
              </a:extLst>
            </p:cNvPr>
            <p:cNvSpPr>
              <a:spLocks noChangeShapeType="1"/>
            </p:cNvSpPr>
            <p:nvPr/>
          </p:nvSpPr>
          <p:spPr bwMode="auto">
            <a:xfrm>
              <a:off x="3103" y="1669"/>
              <a:ext cx="398"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61" name="Line 31">
              <a:extLst>
                <a:ext uri="{FF2B5EF4-FFF2-40B4-BE49-F238E27FC236}">
                  <a16:creationId xmlns:a16="http://schemas.microsoft.com/office/drawing/2014/main" id="{5AF73509-591F-40EA-9ED9-0A3E4A43F57E}"/>
                </a:ext>
              </a:extLst>
            </p:cNvPr>
            <p:cNvSpPr>
              <a:spLocks noChangeShapeType="1"/>
            </p:cNvSpPr>
            <p:nvPr/>
          </p:nvSpPr>
          <p:spPr bwMode="auto">
            <a:xfrm>
              <a:off x="2704" y="1925"/>
              <a:ext cx="398"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62" name="Line 32">
              <a:extLst>
                <a:ext uri="{FF2B5EF4-FFF2-40B4-BE49-F238E27FC236}">
                  <a16:creationId xmlns:a16="http://schemas.microsoft.com/office/drawing/2014/main" id="{B98BFB62-A657-4472-8B34-46F27F490201}"/>
                </a:ext>
              </a:extLst>
            </p:cNvPr>
            <p:cNvSpPr>
              <a:spLocks noChangeShapeType="1"/>
            </p:cNvSpPr>
            <p:nvPr/>
          </p:nvSpPr>
          <p:spPr bwMode="auto">
            <a:xfrm>
              <a:off x="3502" y="1413"/>
              <a:ext cx="397"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63" name="Line 33">
              <a:extLst>
                <a:ext uri="{FF2B5EF4-FFF2-40B4-BE49-F238E27FC236}">
                  <a16:creationId xmlns:a16="http://schemas.microsoft.com/office/drawing/2014/main" id="{F7EE2F82-3B3E-4307-840A-9A1DAEBA6333}"/>
                </a:ext>
              </a:extLst>
            </p:cNvPr>
            <p:cNvSpPr>
              <a:spLocks noChangeShapeType="1"/>
            </p:cNvSpPr>
            <p:nvPr/>
          </p:nvSpPr>
          <p:spPr bwMode="auto">
            <a:xfrm>
              <a:off x="3900" y="1156"/>
              <a:ext cx="399"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64" name="Line 34">
              <a:extLst>
                <a:ext uri="{FF2B5EF4-FFF2-40B4-BE49-F238E27FC236}">
                  <a16:creationId xmlns:a16="http://schemas.microsoft.com/office/drawing/2014/main" id="{97987BE8-0EE8-43FD-99CD-099959D2490E}"/>
                </a:ext>
              </a:extLst>
            </p:cNvPr>
            <p:cNvSpPr>
              <a:spLocks noChangeShapeType="1"/>
            </p:cNvSpPr>
            <p:nvPr/>
          </p:nvSpPr>
          <p:spPr bwMode="auto">
            <a:xfrm flipV="1">
              <a:off x="3899" y="1156"/>
              <a:ext cx="0" cy="25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nvGrpSpPr>
            <p:cNvPr id="22565" name="Group 35">
              <a:extLst>
                <a:ext uri="{FF2B5EF4-FFF2-40B4-BE49-F238E27FC236}">
                  <a16:creationId xmlns:a16="http://schemas.microsoft.com/office/drawing/2014/main" id="{E2C9BE05-85B2-4185-ABA5-920BD612EA7B}"/>
                </a:ext>
              </a:extLst>
            </p:cNvPr>
            <p:cNvGrpSpPr>
              <a:grpSpLocks/>
            </p:cNvGrpSpPr>
            <p:nvPr/>
          </p:nvGrpSpPr>
          <p:grpSpPr bwMode="auto">
            <a:xfrm>
              <a:off x="843" y="1018"/>
              <a:ext cx="420" cy="1823"/>
              <a:chOff x="843" y="1018"/>
              <a:chExt cx="420" cy="1823"/>
            </a:xfrm>
          </p:grpSpPr>
          <p:sp>
            <p:nvSpPr>
              <p:cNvPr id="22596" name="Rectangle 36">
                <a:extLst>
                  <a:ext uri="{FF2B5EF4-FFF2-40B4-BE49-F238E27FC236}">
                    <a16:creationId xmlns:a16="http://schemas.microsoft.com/office/drawing/2014/main" id="{4042587C-4016-487D-B19A-793FF3E57496}"/>
                  </a:ext>
                </a:extLst>
              </p:cNvPr>
              <p:cNvSpPr>
                <a:spLocks noChangeArrowheads="1"/>
              </p:cNvSpPr>
              <p:nvPr/>
            </p:nvSpPr>
            <p:spPr bwMode="auto">
              <a:xfrm>
                <a:off x="844" y="2569"/>
                <a:ext cx="419"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001</a:t>
                </a:r>
              </a:p>
            </p:txBody>
          </p:sp>
          <p:sp>
            <p:nvSpPr>
              <p:cNvPr id="22597" name="Rectangle 37">
                <a:extLst>
                  <a:ext uri="{FF2B5EF4-FFF2-40B4-BE49-F238E27FC236}">
                    <a16:creationId xmlns:a16="http://schemas.microsoft.com/office/drawing/2014/main" id="{207013B2-1E20-4E48-A208-53C346F07A99}"/>
                  </a:ext>
                </a:extLst>
              </p:cNvPr>
              <p:cNvSpPr>
                <a:spLocks noChangeArrowheads="1"/>
              </p:cNvSpPr>
              <p:nvPr/>
            </p:nvSpPr>
            <p:spPr bwMode="auto">
              <a:xfrm>
                <a:off x="844" y="2300"/>
                <a:ext cx="419"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010</a:t>
                </a:r>
              </a:p>
            </p:txBody>
          </p:sp>
          <p:sp>
            <p:nvSpPr>
              <p:cNvPr id="22598" name="Rectangle 38">
                <a:extLst>
                  <a:ext uri="{FF2B5EF4-FFF2-40B4-BE49-F238E27FC236}">
                    <a16:creationId xmlns:a16="http://schemas.microsoft.com/office/drawing/2014/main" id="{1C2FB3EE-2040-4EAF-A3EB-34DF5B330D0C}"/>
                  </a:ext>
                </a:extLst>
              </p:cNvPr>
              <p:cNvSpPr>
                <a:spLocks noChangeArrowheads="1"/>
              </p:cNvSpPr>
              <p:nvPr/>
            </p:nvSpPr>
            <p:spPr bwMode="auto">
              <a:xfrm>
                <a:off x="844" y="2043"/>
                <a:ext cx="410"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011</a:t>
                </a:r>
              </a:p>
            </p:txBody>
          </p:sp>
          <p:sp>
            <p:nvSpPr>
              <p:cNvPr id="22599" name="Rectangle 39">
                <a:extLst>
                  <a:ext uri="{FF2B5EF4-FFF2-40B4-BE49-F238E27FC236}">
                    <a16:creationId xmlns:a16="http://schemas.microsoft.com/office/drawing/2014/main" id="{9855977E-D114-461F-8C7D-A479BE6B8269}"/>
                  </a:ext>
                </a:extLst>
              </p:cNvPr>
              <p:cNvSpPr>
                <a:spLocks noChangeArrowheads="1"/>
              </p:cNvSpPr>
              <p:nvPr/>
            </p:nvSpPr>
            <p:spPr bwMode="auto">
              <a:xfrm>
                <a:off x="844" y="1786"/>
                <a:ext cx="419"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100</a:t>
                </a:r>
              </a:p>
            </p:txBody>
          </p:sp>
          <p:sp>
            <p:nvSpPr>
              <p:cNvPr id="22600" name="Rectangle 40">
                <a:extLst>
                  <a:ext uri="{FF2B5EF4-FFF2-40B4-BE49-F238E27FC236}">
                    <a16:creationId xmlns:a16="http://schemas.microsoft.com/office/drawing/2014/main" id="{462B136A-E74D-44C6-BAB6-2306A0E97813}"/>
                  </a:ext>
                </a:extLst>
              </p:cNvPr>
              <p:cNvSpPr>
                <a:spLocks noChangeArrowheads="1"/>
              </p:cNvSpPr>
              <p:nvPr/>
            </p:nvSpPr>
            <p:spPr bwMode="auto">
              <a:xfrm>
                <a:off x="844" y="1533"/>
                <a:ext cx="419"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101</a:t>
                </a:r>
              </a:p>
            </p:txBody>
          </p:sp>
          <p:sp>
            <p:nvSpPr>
              <p:cNvPr id="22601" name="Rectangle 41">
                <a:extLst>
                  <a:ext uri="{FF2B5EF4-FFF2-40B4-BE49-F238E27FC236}">
                    <a16:creationId xmlns:a16="http://schemas.microsoft.com/office/drawing/2014/main" id="{87DDE3C9-EBE2-4434-80C2-441ED713DDCE}"/>
                  </a:ext>
                </a:extLst>
              </p:cNvPr>
              <p:cNvSpPr>
                <a:spLocks noChangeArrowheads="1"/>
              </p:cNvSpPr>
              <p:nvPr/>
            </p:nvSpPr>
            <p:spPr bwMode="auto">
              <a:xfrm>
                <a:off x="844" y="1274"/>
                <a:ext cx="410"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110</a:t>
                </a:r>
              </a:p>
            </p:txBody>
          </p:sp>
          <p:sp>
            <p:nvSpPr>
              <p:cNvPr id="22602" name="Rectangle 42">
                <a:extLst>
                  <a:ext uri="{FF2B5EF4-FFF2-40B4-BE49-F238E27FC236}">
                    <a16:creationId xmlns:a16="http://schemas.microsoft.com/office/drawing/2014/main" id="{0F6D7FB1-5404-4ABA-8C25-EB7E7E206810}"/>
                  </a:ext>
                </a:extLst>
              </p:cNvPr>
              <p:cNvSpPr>
                <a:spLocks noChangeArrowheads="1"/>
              </p:cNvSpPr>
              <p:nvPr/>
            </p:nvSpPr>
            <p:spPr bwMode="auto">
              <a:xfrm>
                <a:off x="843" y="1018"/>
                <a:ext cx="401"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111</a:t>
                </a:r>
              </a:p>
            </p:txBody>
          </p:sp>
        </p:grpSp>
        <p:sp>
          <p:nvSpPr>
            <p:cNvPr id="22566" name="Rectangle 43">
              <a:extLst>
                <a:ext uri="{FF2B5EF4-FFF2-40B4-BE49-F238E27FC236}">
                  <a16:creationId xmlns:a16="http://schemas.microsoft.com/office/drawing/2014/main" id="{0748B157-6912-43F6-B13F-72BDE8BCE826}"/>
                </a:ext>
              </a:extLst>
            </p:cNvPr>
            <p:cNvSpPr>
              <a:spLocks noChangeArrowheads="1"/>
            </p:cNvSpPr>
            <p:nvPr/>
          </p:nvSpPr>
          <p:spPr bwMode="auto">
            <a:xfrm>
              <a:off x="1509" y="2981"/>
              <a:ext cx="3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1/8</a:t>
              </a:r>
            </a:p>
          </p:txBody>
        </p:sp>
        <p:sp>
          <p:nvSpPr>
            <p:cNvPr id="22567" name="Rectangle 44">
              <a:extLst>
                <a:ext uri="{FF2B5EF4-FFF2-40B4-BE49-F238E27FC236}">
                  <a16:creationId xmlns:a16="http://schemas.microsoft.com/office/drawing/2014/main" id="{8EE01F0A-22B7-4EE9-9B41-90CB84F2EDA2}"/>
                </a:ext>
              </a:extLst>
            </p:cNvPr>
            <p:cNvSpPr>
              <a:spLocks noChangeArrowheads="1"/>
            </p:cNvSpPr>
            <p:nvPr/>
          </p:nvSpPr>
          <p:spPr bwMode="auto">
            <a:xfrm>
              <a:off x="1908" y="2986"/>
              <a:ext cx="3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2/8</a:t>
              </a:r>
            </a:p>
          </p:txBody>
        </p:sp>
        <p:sp>
          <p:nvSpPr>
            <p:cNvPr id="22568" name="Rectangle 45">
              <a:extLst>
                <a:ext uri="{FF2B5EF4-FFF2-40B4-BE49-F238E27FC236}">
                  <a16:creationId xmlns:a16="http://schemas.microsoft.com/office/drawing/2014/main" id="{764F74F1-53B2-41AF-8F0D-68263A0F0E97}"/>
                </a:ext>
              </a:extLst>
            </p:cNvPr>
            <p:cNvSpPr>
              <a:spLocks noChangeArrowheads="1"/>
            </p:cNvSpPr>
            <p:nvPr/>
          </p:nvSpPr>
          <p:spPr bwMode="auto">
            <a:xfrm>
              <a:off x="2323" y="2981"/>
              <a:ext cx="3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3/8</a:t>
              </a:r>
            </a:p>
          </p:txBody>
        </p:sp>
        <p:sp>
          <p:nvSpPr>
            <p:cNvPr id="22569" name="Rectangle 46">
              <a:extLst>
                <a:ext uri="{FF2B5EF4-FFF2-40B4-BE49-F238E27FC236}">
                  <a16:creationId xmlns:a16="http://schemas.microsoft.com/office/drawing/2014/main" id="{9ED9EB7C-037B-4239-8118-D189E140896A}"/>
                </a:ext>
              </a:extLst>
            </p:cNvPr>
            <p:cNvSpPr>
              <a:spLocks noChangeArrowheads="1"/>
            </p:cNvSpPr>
            <p:nvPr/>
          </p:nvSpPr>
          <p:spPr bwMode="auto">
            <a:xfrm>
              <a:off x="2720" y="2981"/>
              <a:ext cx="3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4/8</a:t>
              </a:r>
            </a:p>
          </p:txBody>
        </p:sp>
        <p:sp>
          <p:nvSpPr>
            <p:cNvPr id="22570" name="Rectangle 47">
              <a:extLst>
                <a:ext uri="{FF2B5EF4-FFF2-40B4-BE49-F238E27FC236}">
                  <a16:creationId xmlns:a16="http://schemas.microsoft.com/office/drawing/2014/main" id="{3138B151-3FA1-41F3-AD5C-D98A9AD53D4C}"/>
                </a:ext>
              </a:extLst>
            </p:cNvPr>
            <p:cNvSpPr>
              <a:spLocks noChangeArrowheads="1"/>
            </p:cNvSpPr>
            <p:nvPr/>
          </p:nvSpPr>
          <p:spPr bwMode="auto">
            <a:xfrm>
              <a:off x="3121" y="2981"/>
              <a:ext cx="3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5/8</a:t>
              </a:r>
            </a:p>
          </p:txBody>
        </p:sp>
        <p:sp>
          <p:nvSpPr>
            <p:cNvPr id="22571" name="Rectangle 48">
              <a:extLst>
                <a:ext uri="{FF2B5EF4-FFF2-40B4-BE49-F238E27FC236}">
                  <a16:creationId xmlns:a16="http://schemas.microsoft.com/office/drawing/2014/main" id="{F0FF56C2-FA47-498E-92A8-58409392723F}"/>
                </a:ext>
              </a:extLst>
            </p:cNvPr>
            <p:cNvSpPr>
              <a:spLocks noChangeArrowheads="1"/>
            </p:cNvSpPr>
            <p:nvPr/>
          </p:nvSpPr>
          <p:spPr bwMode="auto">
            <a:xfrm>
              <a:off x="3519" y="2981"/>
              <a:ext cx="3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6/8</a:t>
              </a:r>
            </a:p>
          </p:txBody>
        </p:sp>
        <p:sp>
          <p:nvSpPr>
            <p:cNvPr id="22572" name="Rectangle 49">
              <a:extLst>
                <a:ext uri="{FF2B5EF4-FFF2-40B4-BE49-F238E27FC236}">
                  <a16:creationId xmlns:a16="http://schemas.microsoft.com/office/drawing/2014/main" id="{53492659-1423-45D5-8DF0-152F78616DCE}"/>
                </a:ext>
              </a:extLst>
            </p:cNvPr>
            <p:cNvSpPr>
              <a:spLocks noChangeArrowheads="1"/>
            </p:cNvSpPr>
            <p:nvPr/>
          </p:nvSpPr>
          <p:spPr bwMode="auto">
            <a:xfrm>
              <a:off x="3916" y="2981"/>
              <a:ext cx="3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7/8</a:t>
              </a:r>
            </a:p>
          </p:txBody>
        </p:sp>
        <p:sp>
          <p:nvSpPr>
            <p:cNvPr id="22573" name="Rectangle 50">
              <a:extLst>
                <a:ext uri="{FF2B5EF4-FFF2-40B4-BE49-F238E27FC236}">
                  <a16:creationId xmlns:a16="http://schemas.microsoft.com/office/drawing/2014/main" id="{02CD1C4B-6767-4440-AC3F-4F6631239206}"/>
                </a:ext>
              </a:extLst>
            </p:cNvPr>
            <p:cNvSpPr>
              <a:spLocks noChangeArrowheads="1"/>
            </p:cNvSpPr>
            <p:nvPr/>
          </p:nvSpPr>
          <p:spPr bwMode="auto">
            <a:xfrm>
              <a:off x="4327" y="2981"/>
              <a:ext cx="329"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FS</a:t>
              </a:r>
            </a:p>
          </p:txBody>
        </p:sp>
        <p:sp>
          <p:nvSpPr>
            <p:cNvPr id="22574" name="Line 51">
              <a:extLst>
                <a:ext uri="{FF2B5EF4-FFF2-40B4-BE49-F238E27FC236}">
                  <a16:creationId xmlns:a16="http://schemas.microsoft.com/office/drawing/2014/main" id="{0CF603AE-975D-49A4-987D-B25B347EC66A}"/>
                </a:ext>
              </a:extLst>
            </p:cNvPr>
            <p:cNvSpPr>
              <a:spLocks noChangeShapeType="1"/>
            </p:cNvSpPr>
            <p:nvPr/>
          </p:nvSpPr>
          <p:spPr bwMode="auto">
            <a:xfrm flipV="1">
              <a:off x="1307" y="1156"/>
              <a:ext cx="2790" cy="179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75" name="Line 52">
              <a:extLst>
                <a:ext uri="{FF2B5EF4-FFF2-40B4-BE49-F238E27FC236}">
                  <a16:creationId xmlns:a16="http://schemas.microsoft.com/office/drawing/2014/main" id="{163CC091-9015-43D7-84F8-17441DE143DA}"/>
                </a:ext>
              </a:extLst>
            </p:cNvPr>
            <p:cNvSpPr>
              <a:spLocks noChangeShapeType="1"/>
            </p:cNvSpPr>
            <p:nvPr/>
          </p:nvSpPr>
          <p:spPr bwMode="auto">
            <a:xfrm>
              <a:off x="3900" y="1156"/>
              <a:ext cx="598"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76" name="Rectangle 53">
              <a:extLst>
                <a:ext uri="{FF2B5EF4-FFF2-40B4-BE49-F238E27FC236}">
                  <a16:creationId xmlns:a16="http://schemas.microsoft.com/office/drawing/2014/main" id="{C4DC592C-B403-4C84-BFDE-E21E35FCD811}"/>
                </a:ext>
              </a:extLst>
            </p:cNvPr>
            <p:cNvSpPr>
              <a:spLocks noChangeArrowheads="1"/>
            </p:cNvSpPr>
            <p:nvPr/>
          </p:nvSpPr>
          <p:spPr bwMode="auto">
            <a:xfrm>
              <a:off x="1636" y="3205"/>
              <a:ext cx="2329"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NORMALIZED ANALOG INPUT</a:t>
              </a:r>
            </a:p>
          </p:txBody>
        </p:sp>
        <p:sp>
          <p:nvSpPr>
            <p:cNvPr id="22577" name="Rectangle 54">
              <a:extLst>
                <a:ext uri="{FF2B5EF4-FFF2-40B4-BE49-F238E27FC236}">
                  <a16:creationId xmlns:a16="http://schemas.microsoft.com/office/drawing/2014/main" id="{C9920CCB-B953-4328-A719-9A2182047FF0}"/>
                </a:ext>
              </a:extLst>
            </p:cNvPr>
            <p:cNvSpPr>
              <a:spLocks noChangeArrowheads="1"/>
            </p:cNvSpPr>
            <p:nvPr/>
          </p:nvSpPr>
          <p:spPr bwMode="auto">
            <a:xfrm rot="16200000">
              <a:off x="8" y="1680"/>
              <a:ext cx="1390"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DIGITAL OUTPUT</a:t>
              </a:r>
            </a:p>
          </p:txBody>
        </p:sp>
        <p:grpSp>
          <p:nvGrpSpPr>
            <p:cNvPr id="22578" name="Group 55">
              <a:extLst>
                <a:ext uri="{FF2B5EF4-FFF2-40B4-BE49-F238E27FC236}">
                  <a16:creationId xmlns:a16="http://schemas.microsoft.com/office/drawing/2014/main" id="{B45FDEB1-4E5C-4B34-A4A7-8C4C586F57BF}"/>
                </a:ext>
              </a:extLst>
            </p:cNvPr>
            <p:cNvGrpSpPr>
              <a:grpSpLocks/>
            </p:cNvGrpSpPr>
            <p:nvPr/>
          </p:nvGrpSpPr>
          <p:grpSpPr bwMode="auto">
            <a:xfrm>
              <a:off x="1335" y="3579"/>
              <a:ext cx="3239" cy="622"/>
              <a:chOff x="1335" y="3579"/>
              <a:chExt cx="3239" cy="622"/>
            </a:xfrm>
          </p:grpSpPr>
          <p:grpSp>
            <p:nvGrpSpPr>
              <p:cNvPr id="22579" name="Group 56">
                <a:extLst>
                  <a:ext uri="{FF2B5EF4-FFF2-40B4-BE49-F238E27FC236}">
                    <a16:creationId xmlns:a16="http://schemas.microsoft.com/office/drawing/2014/main" id="{4523CA97-6676-43BC-8FBA-A731DE5646E3}"/>
                  </a:ext>
                </a:extLst>
              </p:cNvPr>
              <p:cNvGrpSpPr>
                <a:grpSpLocks/>
              </p:cNvGrpSpPr>
              <p:nvPr/>
            </p:nvGrpSpPr>
            <p:grpSpPr bwMode="auto">
              <a:xfrm>
                <a:off x="1335" y="3579"/>
                <a:ext cx="3239" cy="287"/>
                <a:chOff x="1335" y="3579"/>
                <a:chExt cx="3239" cy="287"/>
              </a:xfrm>
            </p:grpSpPr>
            <p:sp>
              <p:nvSpPr>
                <p:cNvPr id="22581" name="Line 57">
                  <a:extLst>
                    <a:ext uri="{FF2B5EF4-FFF2-40B4-BE49-F238E27FC236}">
                      <a16:creationId xmlns:a16="http://schemas.microsoft.com/office/drawing/2014/main" id="{D0D90B41-63CE-430C-89BD-D7D13F4151FE}"/>
                    </a:ext>
                  </a:extLst>
                </p:cNvPr>
                <p:cNvSpPr>
                  <a:spLocks noChangeShapeType="1"/>
                </p:cNvSpPr>
                <p:nvPr/>
              </p:nvSpPr>
              <p:spPr bwMode="auto">
                <a:xfrm>
                  <a:off x="1532" y="3579"/>
                  <a:ext cx="0"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2" name="Line 58">
                  <a:extLst>
                    <a:ext uri="{FF2B5EF4-FFF2-40B4-BE49-F238E27FC236}">
                      <a16:creationId xmlns:a16="http://schemas.microsoft.com/office/drawing/2014/main" id="{69A77591-C346-42C6-A6DC-6CFED6F217AC}"/>
                    </a:ext>
                  </a:extLst>
                </p:cNvPr>
                <p:cNvSpPr>
                  <a:spLocks noChangeShapeType="1"/>
                </p:cNvSpPr>
                <p:nvPr/>
              </p:nvSpPr>
              <p:spPr bwMode="auto">
                <a:xfrm>
                  <a:off x="1929" y="3579"/>
                  <a:ext cx="0"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3" name="Line 59">
                  <a:extLst>
                    <a:ext uri="{FF2B5EF4-FFF2-40B4-BE49-F238E27FC236}">
                      <a16:creationId xmlns:a16="http://schemas.microsoft.com/office/drawing/2014/main" id="{BBDDB575-A9C2-4C7C-B1E5-D639FD8357A2}"/>
                    </a:ext>
                  </a:extLst>
                </p:cNvPr>
                <p:cNvSpPr>
                  <a:spLocks noChangeShapeType="1"/>
                </p:cNvSpPr>
                <p:nvPr/>
              </p:nvSpPr>
              <p:spPr bwMode="auto">
                <a:xfrm>
                  <a:off x="2326" y="3579"/>
                  <a:ext cx="0"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4" name="Line 60">
                  <a:extLst>
                    <a:ext uri="{FF2B5EF4-FFF2-40B4-BE49-F238E27FC236}">
                      <a16:creationId xmlns:a16="http://schemas.microsoft.com/office/drawing/2014/main" id="{3D8FB6E3-4BA5-42FB-98A0-617B2ADE833F}"/>
                    </a:ext>
                  </a:extLst>
                </p:cNvPr>
                <p:cNvSpPr>
                  <a:spLocks noChangeShapeType="1"/>
                </p:cNvSpPr>
                <p:nvPr/>
              </p:nvSpPr>
              <p:spPr bwMode="auto">
                <a:xfrm>
                  <a:off x="3516" y="3579"/>
                  <a:ext cx="0"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5" name="Line 61">
                  <a:extLst>
                    <a:ext uri="{FF2B5EF4-FFF2-40B4-BE49-F238E27FC236}">
                      <a16:creationId xmlns:a16="http://schemas.microsoft.com/office/drawing/2014/main" id="{B8926E80-0117-43A0-995F-48E551CAA782}"/>
                    </a:ext>
                  </a:extLst>
                </p:cNvPr>
                <p:cNvSpPr>
                  <a:spLocks noChangeShapeType="1"/>
                </p:cNvSpPr>
                <p:nvPr/>
              </p:nvSpPr>
              <p:spPr bwMode="auto">
                <a:xfrm>
                  <a:off x="2723" y="3579"/>
                  <a:ext cx="0"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6" name="Line 62">
                  <a:extLst>
                    <a:ext uri="{FF2B5EF4-FFF2-40B4-BE49-F238E27FC236}">
                      <a16:creationId xmlns:a16="http://schemas.microsoft.com/office/drawing/2014/main" id="{0DC257C0-42FB-442B-BC2C-20419D5ED59D}"/>
                    </a:ext>
                  </a:extLst>
                </p:cNvPr>
                <p:cNvSpPr>
                  <a:spLocks noChangeShapeType="1"/>
                </p:cNvSpPr>
                <p:nvPr/>
              </p:nvSpPr>
              <p:spPr bwMode="auto">
                <a:xfrm>
                  <a:off x="3119" y="3579"/>
                  <a:ext cx="0"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7" name="Line 63">
                  <a:extLst>
                    <a:ext uri="{FF2B5EF4-FFF2-40B4-BE49-F238E27FC236}">
                      <a16:creationId xmlns:a16="http://schemas.microsoft.com/office/drawing/2014/main" id="{7CC5E7ED-B9D2-4EA4-B79C-124146ED81B4}"/>
                    </a:ext>
                  </a:extLst>
                </p:cNvPr>
                <p:cNvSpPr>
                  <a:spLocks noChangeShapeType="1"/>
                </p:cNvSpPr>
                <p:nvPr/>
              </p:nvSpPr>
              <p:spPr bwMode="auto">
                <a:xfrm>
                  <a:off x="3913" y="3579"/>
                  <a:ext cx="0"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8" name="Line 64">
                  <a:extLst>
                    <a:ext uri="{FF2B5EF4-FFF2-40B4-BE49-F238E27FC236}">
                      <a16:creationId xmlns:a16="http://schemas.microsoft.com/office/drawing/2014/main" id="{DC430335-5CDB-4EC2-BF07-598AF3BE73CB}"/>
                    </a:ext>
                  </a:extLst>
                </p:cNvPr>
                <p:cNvSpPr>
                  <a:spLocks noChangeShapeType="1"/>
                </p:cNvSpPr>
                <p:nvPr/>
              </p:nvSpPr>
              <p:spPr bwMode="auto">
                <a:xfrm>
                  <a:off x="1533" y="3579"/>
                  <a:ext cx="396"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89" name="Line 65">
                  <a:extLst>
                    <a:ext uri="{FF2B5EF4-FFF2-40B4-BE49-F238E27FC236}">
                      <a16:creationId xmlns:a16="http://schemas.microsoft.com/office/drawing/2014/main" id="{0BAFF890-3E2F-47B3-B42F-AEC7DAFFE699}"/>
                    </a:ext>
                  </a:extLst>
                </p:cNvPr>
                <p:cNvSpPr>
                  <a:spLocks noChangeShapeType="1"/>
                </p:cNvSpPr>
                <p:nvPr/>
              </p:nvSpPr>
              <p:spPr bwMode="auto">
                <a:xfrm>
                  <a:off x="3120" y="3579"/>
                  <a:ext cx="396"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90" name="Line 66">
                  <a:extLst>
                    <a:ext uri="{FF2B5EF4-FFF2-40B4-BE49-F238E27FC236}">
                      <a16:creationId xmlns:a16="http://schemas.microsoft.com/office/drawing/2014/main" id="{574135BA-3F8E-4532-9E3A-1D7AE905AA89}"/>
                    </a:ext>
                  </a:extLst>
                </p:cNvPr>
                <p:cNvSpPr>
                  <a:spLocks noChangeShapeType="1"/>
                </p:cNvSpPr>
                <p:nvPr/>
              </p:nvSpPr>
              <p:spPr bwMode="auto">
                <a:xfrm>
                  <a:off x="2724" y="3579"/>
                  <a:ext cx="395"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91" name="Line 67">
                  <a:extLst>
                    <a:ext uri="{FF2B5EF4-FFF2-40B4-BE49-F238E27FC236}">
                      <a16:creationId xmlns:a16="http://schemas.microsoft.com/office/drawing/2014/main" id="{A818CA1D-F61A-4283-8753-A7DAB7F53149}"/>
                    </a:ext>
                  </a:extLst>
                </p:cNvPr>
                <p:cNvSpPr>
                  <a:spLocks noChangeShapeType="1"/>
                </p:cNvSpPr>
                <p:nvPr/>
              </p:nvSpPr>
              <p:spPr bwMode="auto">
                <a:xfrm>
                  <a:off x="1930" y="3579"/>
                  <a:ext cx="396"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92" name="Line 68">
                  <a:extLst>
                    <a:ext uri="{FF2B5EF4-FFF2-40B4-BE49-F238E27FC236}">
                      <a16:creationId xmlns:a16="http://schemas.microsoft.com/office/drawing/2014/main" id="{A463C170-F07E-4B58-93B9-54D59D627011}"/>
                    </a:ext>
                  </a:extLst>
                </p:cNvPr>
                <p:cNvSpPr>
                  <a:spLocks noChangeShapeType="1"/>
                </p:cNvSpPr>
                <p:nvPr/>
              </p:nvSpPr>
              <p:spPr bwMode="auto">
                <a:xfrm>
                  <a:off x="2327" y="3579"/>
                  <a:ext cx="396"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93" name="Line 69">
                  <a:extLst>
                    <a:ext uri="{FF2B5EF4-FFF2-40B4-BE49-F238E27FC236}">
                      <a16:creationId xmlns:a16="http://schemas.microsoft.com/office/drawing/2014/main" id="{813F71FE-6D7D-4C04-A6A2-A8AC028FF69C}"/>
                    </a:ext>
                  </a:extLst>
                </p:cNvPr>
                <p:cNvSpPr>
                  <a:spLocks noChangeShapeType="1"/>
                </p:cNvSpPr>
                <p:nvPr/>
              </p:nvSpPr>
              <p:spPr bwMode="auto">
                <a:xfrm>
                  <a:off x="3517" y="3579"/>
                  <a:ext cx="396"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94" name="Line 70">
                  <a:extLst>
                    <a:ext uri="{FF2B5EF4-FFF2-40B4-BE49-F238E27FC236}">
                      <a16:creationId xmlns:a16="http://schemas.microsoft.com/office/drawing/2014/main" id="{A9C5B289-15A6-4A6E-B0B7-9F03570384F5}"/>
                    </a:ext>
                  </a:extLst>
                </p:cNvPr>
                <p:cNvSpPr>
                  <a:spLocks noChangeShapeType="1"/>
                </p:cNvSpPr>
                <p:nvPr/>
              </p:nvSpPr>
              <p:spPr bwMode="auto">
                <a:xfrm>
                  <a:off x="3914" y="3579"/>
                  <a:ext cx="395" cy="287"/>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2595" name="Line 71">
                  <a:extLst>
                    <a:ext uri="{FF2B5EF4-FFF2-40B4-BE49-F238E27FC236}">
                      <a16:creationId xmlns:a16="http://schemas.microsoft.com/office/drawing/2014/main" id="{68C21DB0-4837-48E2-9211-7701C29771DE}"/>
                    </a:ext>
                  </a:extLst>
                </p:cNvPr>
                <p:cNvSpPr>
                  <a:spLocks noChangeShapeType="1"/>
                </p:cNvSpPr>
                <p:nvPr/>
              </p:nvSpPr>
              <p:spPr bwMode="auto">
                <a:xfrm>
                  <a:off x="1335" y="3722"/>
                  <a:ext cx="3239" cy="0"/>
                </a:xfrm>
                <a:prstGeom prst="line">
                  <a:avLst/>
                </a:prstGeom>
                <a:noFill/>
                <a:ln w="254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sp>
            <p:nvSpPr>
              <p:cNvPr id="22580" name="Rectangle 72">
                <a:extLst>
                  <a:ext uri="{FF2B5EF4-FFF2-40B4-BE49-F238E27FC236}">
                    <a16:creationId xmlns:a16="http://schemas.microsoft.com/office/drawing/2014/main" id="{2BB60930-9D3A-47E2-9FA5-3965DAE6F5E1}"/>
                  </a:ext>
                </a:extLst>
              </p:cNvPr>
              <p:cNvSpPr>
                <a:spLocks noChangeArrowheads="1"/>
              </p:cNvSpPr>
              <p:nvPr/>
            </p:nvSpPr>
            <p:spPr bwMode="auto">
              <a:xfrm>
                <a:off x="1997" y="3952"/>
                <a:ext cx="185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quantization noise error</a:t>
                </a:r>
              </a:p>
            </p:txBody>
          </p:sp>
        </p:grpSp>
      </p:grpSp>
      <p:sp>
        <p:nvSpPr>
          <p:cNvPr id="22532" name="Line 73">
            <a:extLst>
              <a:ext uri="{FF2B5EF4-FFF2-40B4-BE49-F238E27FC236}">
                <a16:creationId xmlns:a16="http://schemas.microsoft.com/office/drawing/2014/main" id="{6D9B0821-5C8A-4DCF-A642-51157237A90F}"/>
              </a:ext>
            </a:extLst>
          </p:cNvPr>
          <p:cNvSpPr>
            <a:spLocks noChangeShapeType="1"/>
          </p:cNvSpPr>
          <p:nvPr/>
        </p:nvSpPr>
        <p:spPr bwMode="auto">
          <a:xfrm>
            <a:off x="6873240" y="5730240"/>
            <a:ext cx="922020" cy="0"/>
          </a:xfrm>
          <a:prstGeom prst="line">
            <a:avLst/>
          </a:prstGeom>
          <a:noFill/>
          <a:ln w="1905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1980"/>
          </a:p>
        </p:txBody>
      </p:sp>
      <p:sp>
        <p:nvSpPr>
          <p:cNvPr id="22533" name="Line 74">
            <a:extLst>
              <a:ext uri="{FF2B5EF4-FFF2-40B4-BE49-F238E27FC236}">
                <a16:creationId xmlns:a16="http://schemas.microsoft.com/office/drawing/2014/main" id="{BD8190AC-AFA7-437F-B2BF-F265F9344952}"/>
              </a:ext>
            </a:extLst>
          </p:cNvPr>
          <p:cNvSpPr>
            <a:spLocks noChangeShapeType="1"/>
          </p:cNvSpPr>
          <p:nvPr/>
        </p:nvSpPr>
        <p:spPr bwMode="auto">
          <a:xfrm>
            <a:off x="6957060" y="6233160"/>
            <a:ext cx="853917" cy="0"/>
          </a:xfrm>
          <a:prstGeom prst="line">
            <a:avLst/>
          </a:prstGeom>
          <a:noFill/>
          <a:ln w="1905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1980"/>
          </a:p>
        </p:txBody>
      </p:sp>
      <p:sp>
        <p:nvSpPr>
          <p:cNvPr id="22534" name="Text Box 75">
            <a:extLst>
              <a:ext uri="{FF2B5EF4-FFF2-40B4-BE49-F238E27FC236}">
                <a16:creationId xmlns:a16="http://schemas.microsoft.com/office/drawing/2014/main" id="{3E54C552-837F-4E65-A7EB-02255DB6C33C}"/>
              </a:ext>
            </a:extLst>
          </p:cNvPr>
          <p:cNvSpPr txBox="1">
            <a:spLocks noChangeArrowheads="1"/>
          </p:cNvSpPr>
          <p:nvPr/>
        </p:nvSpPr>
        <p:spPr bwMode="auto">
          <a:xfrm>
            <a:off x="7463923" y="5814061"/>
            <a:ext cx="1088760" cy="32932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IE" altLang="en-US" sz="1540" b="1"/>
              <a:t>q = 1 LSB</a:t>
            </a:r>
            <a:endParaRPr lang="en-US" altLang="en-US" sz="1540" b="1"/>
          </a:p>
        </p:txBody>
      </p:sp>
      <p:sp>
        <p:nvSpPr>
          <p:cNvPr id="5" name="Date Placeholder 4">
            <a:extLst>
              <a:ext uri="{FF2B5EF4-FFF2-40B4-BE49-F238E27FC236}">
                <a16:creationId xmlns:a16="http://schemas.microsoft.com/office/drawing/2014/main" id="{9F9A7684-E199-4001-A994-3F2565330A56}"/>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A70D3E01-FA1D-48D0-9B4E-01CF899C24B7}"/>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534524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16">
            <a:extLst>
              <a:ext uri="{FF2B5EF4-FFF2-40B4-BE49-F238E27FC236}">
                <a16:creationId xmlns:a16="http://schemas.microsoft.com/office/drawing/2014/main" id="{7FD0433C-4DEB-4E46-A58D-B1D59DEB910B}"/>
              </a:ext>
            </a:extLst>
          </p:cNvPr>
          <p:cNvGrpSpPr>
            <a:grpSpLocks/>
          </p:cNvGrpSpPr>
          <p:nvPr/>
        </p:nvGrpSpPr>
        <p:grpSpPr bwMode="auto">
          <a:xfrm>
            <a:off x="670560" y="1828800"/>
            <a:ext cx="7686993" cy="2385378"/>
            <a:chOff x="391" y="1298"/>
            <a:chExt cx="4402" cy="1366"/>
          </a:xfrm>
        </p:grpSpPr>
        <p:grpSp>
          <p:nvGrpSpPr>
            <p:cNvPr id="24581" name="Group 10">
              <a:extLst>
                <a:ext uri="{FF2B5EF4-FFF2-40B4-BE49-F238E27FC236}">
                  <a16:creationId xmlns:a16="http://schemas.microsoft.com/office/drawing/2014/main" id="{90FD584B-A4F3-43AF-867C-7010C7343711}"/>
                </a:ext>
              </a:extLst>
            </p:cNvPr>
            <p:cNvGrpSpPr>
              <a:grpSpLocks/>
            </p:cNvGrpSpPr>
            <p:nvPr/>
          </p:nvGrpSpPr>
          <p:grpSpPr bwMode="auto">
            <a:xfrm>
              <a:off x="1002" y="1405"/>
              <a:ext cx="3791" cy="1151"/>
              <a:chOff x="1002" y="1405"/>
              <a:chExt cx="3791" cy="1151"/>
            </a:xfrm>
          </p:grpSpPr>
          <p:sp>
            <p:nvSpPr>
              <p:cNvPr id="24587" name="Line 3">
                <a:extLst>
                  <a:ext uri="{FF2B5EF4-FFF2-40B4-BE49-F238E27FC236}">
                    <a16:creationId xmlns:a16="http://schemas.microsoft.com/office/drawing/2014/main" id="{98F87C80-C5D0-4326-8A12-43F4D81F57E9}"/>
                  </a:ext>
                </a:extLst>
              </p:cNvPr>
              <p:cNvSpPr>
                <a:spLocks noChangeShapeType="1"/>
              </p:cNvSpPr>
              <p:nvPr/>
            </p:nvSpPr>
            <p:spPr bwMode="auto">
              <a:xfrm>
                <a:off x="1002" y="1980"/>
                <a:ext cx="3791" cy="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88" name="Line 4">
                <a:extLst>
                  <a:ext uri="{FF2B5EF4-FFF2-40B4-BE49-F238E27FC236}">
                    <a16:creationId xmlns:a16="http://schemas.microsoft.com/office/drawing/2014/main" id="{651A4424-D07B-4776-955D-EB6BF1B5A9CB}"/>
                  </a:ext>
                </a:extLst>
              </p:cNvPr>
              <p:cNvSpPr>
                <a:spLocks noChangeShapeType="1"/>
              </p:cNvSpPr>
              <p:nvPr/>
            </p:nvSpPr>
            <p:spPr bwMode="auto">
              <a:xfrm flipV="1">
                <a:off x="1337" y="1405"/>
                <a:ext cx="0" cy="1151"/>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89" name="Line 5">
                <a:extLst>
                  <a:ext uri="{FF2B5EF4-FFF2-40B4-BE49-F238E27FC236}">
                    <a16:creationId xmlns:a16="http://schemas.microsoft.com/office/drawing/2014/main" id="{51D03ACA-A838-4A40-9E91-AD9E84A61FE7}"/>
                  </a:ext>
                </a:extLst>
              </p:cNvPr>
              <p:cNvSpPr>
                <a:spLocks noChangeShapeType="1"/>
              </p:cNvSpPr>
              <p:nvPr/>
            </p:nvSpPr>
            <p:spPr bwMode="auto">
              <a:xfrm flipV="1">
                <a:off x="3641" y="1405"/>
                <a:ext cx="0" cy="1151"/>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90" name="Line 6">
                <a:extLst>
                  <a:ext uri="{FF2B5EF4-FFF2-40B4-BE49-F238E27FC236}">
                    <a16:creationId xmlns:a16="http://schemas.microsoft.com/office/drawing/2014/main" id="{5E687B3F-BF06-4337-A9C9-69A8E3031351}"/>
                  </a:ext>
                </a:extLst>
              </p:cNvPr>
              <p:cNvSpPr>
                <a:spLocks noChangeShapeType="1"/>
              </p:cNvSpPr>
              <p:nvPr/>
            </p:nvSpPr>
            <p:spPr bwMode="auto">
              <a:xfrm flipV="1">
                <a:off x="2489" y="1405"/>
                <a:ext cx="0" cy="1151"/>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91" name="Line 7">
                <a:extLst>
                  <a:ext uri="{FF2B5EF4-FFF2-40B4-BE49-F238E27FC236}">
                    <a16:creationId xmlns:a16="http://schemas.microsoft.com/office/drawing/2014/main" id="{96E37A5C-E9B0-4BB5-985C-468EC0F81E3C}"/>
                  </a:ext>
                </a:extLst>
              </p:cNvPr>
              <p:cNvSpPr>
                <a:spLocks noChangeShapeType="1"/>
              </p:cNvSpPr>
              <p:nvPr/>
            </p:nvSpPr>
            <p:spPr bwMode="auto">
              <a:xfrm>
                <a:off x="1338" y="1405"/>
                <a:ext cx="1151" cy="1151"/>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92" name="Line 8">
                <a:extLst>
                  <a:ext uri="{FF2B5EF4-FFF2-40B4-BE49-F238E27FC236}">
                    <a16:creationId xmlns:a16="http://schemas.microsoft.com/office/drawing/2014/main" id="{F26EE4CB-72E1-47CC-B215-356B112CFF1A}"/>
                  </a:ext>
                </a:extLst>
              </p:cNvPr>
              <p:cNvSpPr>
                <a:spLocks noChangeShapeType="1"/>
              </p:cNvSpPr>
              <p:nvPr/>
            </p:nvSpPr>
            <p:spPr bwMode="auto">
              <a:xfrm>
                <a:off x="3642" y="1405"/>
                <a:ext cx="1151" cy="1151"/>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93" name="Line 9">
                <a:extLst>
                  <a:ext uri="{FF2B5EF4-FFF2-40B4-BE49-F238E27FC236}">
                    <a16:creationId xmlns:a16="http://schemas.microsoft.com/office/drawing/2014/main" id="{63070666-86DF-4DD5-9EDB-EF5960F76315}"/>
                  </a:ext>
                </a:extLst>
              </p:cNvPr>
              <p:cNvSpPr>
                <a:spLocks noChangeShapeType="1"/>
              </p:cNvSpPr>
              <p:nvPr/>
            </p:nvSpPr>
            <p:spPr bwMode="auto">
              <a:xfrm>
                <a:off x="2490" y="1405"/>
                <a:ext cx="1151" cy="1151"/>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sp>
          <p:nvSpPr>
            <p:cNvPr id="24582" name="Rectangle 11">
              <a:extLst>
                <a:ext uri="{FF2B5EF4-FFF2-40B4-BE49-F238E27FC236}">
                  <a16:creationId xmlns:a16="http://schemas.microsoft.com/office/drawing/2014/main" id="{2308BC22-1278-4B65-B9CA-5BB5F3E33E68}"/>
                </a:ext>
              </a:extLst>
            </p:cNvPr>
            <p:cNvSpPr>
              <a:spLocks noChangeArrowheads="1"/>
            </p:cNvSpPr>
            <p:nvPr/>
          </p:nvSpPr>
          <p:spPr bwMode="auto">
            <a:xfrm>
              <a:off x="391" y="1874"/>
              <a:ext cx="526"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0 volts</a:t>
              </a:r>
            </a:p>
          </p:txBody>
        </p:sp>
        <p:sp>
          <p:nvSpPr>
            <p:cNvPr id="24583" name="Line 12">
              <a:extLst>
                <a:ext uri="{FF2B5EF4-FFF2-40B4-BE49-F238E27FC236}">
                  <a16:creationId xmlns:a16="http://schemas.microsoft.com/office/drawing/2014/main" id="{454F5BF1-9BEF-4276-81A1-F83C12B9577F}"/>
                </a:ext>
              </a:extLst>
            </p:cNvPr>
            <p:cNvSpPr>
              <a:spLocks noChangeShapeType="1"/>
            </p:cNvSpPr>
            <p:nvPr/>
          </p:nvSpPr>
          <p:spPr bwMode="auto">
            <a:xfrm flipH="1">
              <a:off x="978" y="1404"/>
              <a:ext cx="239"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84" name="Line 13">
              <a:extLst>
                <a:ext uri="{FF2B5EF4-FFF2-40B4-BE49-F238E27FC236}">
                  <a16:creationId xmlns:a16="http://schemas.microsoft.com/office/drawing/2014/main" id="{7CDDEB88-3996-4607-890C-E7AD50F7E07A}"/>
                </a:ext>
              </a:extLst>
            </p:cNvPr>
            <p:cNvSpPr>
              <a:spLocks noChangeShapeType="1"/>
            </p:cNvSpPr>
            <p:nvPr/>
          </p:nvSpPr>
          <p:spPr bwMode="auto">
            <a:xfrm flipH="1">
              <a:off x="978" y="2556"/>
              <a:ext cx="239"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4585" name="Rectangle 14">
              <a:extLst>
                <a:ext uri="{FF2B5EF4-FFF2-40B4-BE49-F238E27FC236}">
                  <a16:creationId xmlns:a16="http://schemas.microsoft.com/office/drawing/2014/main" id="{1EEA3964-2868-4F7C-AF6E-57DE3DD587DD}"/>
                </a:ext>
              </a:extLst>
            </p:cNvPr>
            <p:cNvSpPr>
              <a:spLocks noChangeArrowheads="1"/>
            </p:cNvSpPr>
            <p:nvPr/>
          </p:nvSpPr>
          <p:spPr bwMode="auto">
            <a:xfrm>
              <a:off x="391" y="1298"/>
              <a:ext cx="379"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+q/2</a:t>
              </a:r>
            </a:p>
          </p:txBody>
        </p:sp>
        <p:sp>
          <p:nvSpPr>
            <p:cNvPr id="24586" name="Rectangle 15">
              <a:extLst>
                <a:ext uri="{FF2B5EF4-FFF2-40B4-BE49-F238E27FC236}">
                  <a16:creationId xmlns:a16="http://schemas.microsoft.com/office/drawing/2014/main" id="{FC2C3B5A-08B1-474A-8C87-0A15F364F877}"/>
                </a:ext>
              </a:extLst>
            </p:cNvPr>
            <p:cNvSpPr>
              <a:spLocks noChangeArrowheads="1"/>
            </p:cNvSpPr>
            <p:nvPr/>
          </p:nvSpPr>
          <p:spPr bwMode="auto">
            <a:xfrm>
              <a:off x="487" y="2450"/>
              <a:ext cx="347"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-q/2</a:t>
              </a:r>
            </a:p>
          </p:txBody>
        </p:sp>
      </p:grpSp>
      <p:sp>
        <p:nvSpPr>
          <p:cNvPr id="24580" name="Rectangle 19">
            <a:extLst>
              <a:ext uri="{FF2B5EF4-FFF2-40B4-BE49-F238E27FC236}">
                <a16:creationId xmlns:a16="http://schemas.microsoft.com/office/drawing/2014/main" id="{925E3F57-0D54-4C32-A434-4B9BE6F77C7F}"/>
              </a:ext>
            </a:extLst>
          </p:cNvPr>
          <p:cNvSpPr>
            <a:spLocks noGrp="1" noChangeArrowheads="1"/>
          </p:cNvSpPr>
          <p:nvPr>
            <p:ph sz="quarter" idx="1"/>
          </p:nvPr>
        </p:nvSpPr>
        <p:spPr>
          <a:xfrm>
            <a:off x="331927" y="4359270"/>
            <a:ext cx="9354312" cy="2552984"/>
          </a:xfrm>
        </p:spPr>
        <p:txBody>
          <a:bodyPr>
            <a:normAutofit/>
          </a:bodyPr>
          <a:lstStyle/>
          <a:p>
            <a:pPr>
              <a:spcBef>
                <a:spcPts val="600"/>
              </a:spcBef>
              <a:spcAft>
                <a:spcPts val="600"/>
              </a:spcAft>
            </a:pPr>
            <a:r>
              <a:rPr lang="en-US" altLang="en-US" sz="2400" dirty="0">
                <a:latin typeface="Arial" panose="020B0604020202020204" pitchFamily="34" charset="0"/>
                <a:cs typeface="Arial" panose="020B0604020202020204" pitchFamily="34" charset="0"/>
              </a:rPr>
              <a:t>The RMS value of the quantization noise sawtooth is its peak value</a:t>
            </a:r>
            <a:r>
              <a:rPr lang="en-IE" altLang="en-US" sz="2400" dirty="0">
                <a:latin typeface="Arial" panose="020B0604020202020204" pitchFamily="34" charset="0"/>
                <a:cs typeface="Arial" panose="020B0604020202020204" pitchFamily="34" charset="0"/>
              </a:rPr>
              <a:t>,</a:t>
            </a:r>
            <a:r>
              <a:rPr lang="en-US" altLang="en-US" sz="2400" dirty="0">
                <a:latin typeface="Arial" panose="020B0604020202020204" pitchFamily="34" charset="0"/>
                <a:cs typeface="Arial" panose="020B0604020202020204" pitchFamily="34" charset="0"/>
              </a:rPr>
              <a:t> q</a:t>
            </a:r>
            <a:r>
              <a:rPr lang="en-US" altLang="en-US" sz="2400" dirty="0">
                <a:latin typeface="Symbol" panose="05050102010706020507" pitchFamily="18" charset="2"/>
                <a:cs typeface="Arial" panose="020B0604020202020204" pitchFamily="34" charset="0"/>
              </a:rPr>
              <a:t>¸</a:t>
            </a:r>
            <a:r>
              <a:rPr lang="en-US" altLang="en-US" sz="2400" dirty="0">
                <a:latin typeface="Arial" panose="020B0604020202020204" pitchFamily="34" charset="0"/>
                <a:cs typeface="Arial" panose="020B0604020202020204" pitchFamily="34" charset="0"/>
              </a:rPr>
              <a:t>2</a:t>
            </a:r>
            <a:r>
              <a:rPr lang="en-IE" altLang="en-US" sz="2400" dirty="0">
                <a:latin typeface="Arial" panose="020B0604020202020204" pitchFamily="34" charset="0"/>
                <a:cs typeface="Arial" panose="020B0604020202020204" pitchFamily="34" charset="0"/>
              </a:rPr>
              <a:t>,</a:t>
            </a:r>
            <a:r>
              <a:rPr lang="en-US" altLang="en-US" sz="2400" dirty="0">
                <a:latin typeface="Arial" panose="020B0604020202020204" pitchFamily="34" charset="0"/>
                <a:cs typeface="Arial" panose="020B0604020202020204" pitchFamily="34" charset="0"/>
              </a:rPr>
              <a:t> divided by </a:t>
            </a:r>
            <a:r>
              <a:rPr lang="en-US" altLang="en-US" sz="2400" dirty="0">
                <a:latin typeface="Symbol" panose="05050102010706020507" pitchFamily="18" charset="2"/>
                <a:cs typeface="Arial" panose="020B0604020202020204" pitchFamily="34" charset="0"/>
              </a:rPr>
              <a:t>Ö</a:t>
            </a:r>
            <a:r>
              <a:rPr lang="en-US" altLang="en-US" sz="2400" dirty="0">
                <a:latin typeface="Arial" panose="020B0604020202020204" pitchFamily="34" charset="0"/>
                <a:cs typeface="Arial" panose="020B0604020202020204" pitchFamily="34" charset="0"/>
              </a:rPr>
              <a:t>3, or q</a:t>
            </a:r>
            <a:r>
              <a:rPr lang="en-US" altLang="en-US" sz="2400" dirty="0">
                <a:latin typeface="Symbol" panose="05050102010706020507" pitchFamily="18" charset="2"/>
                <a:cs typeface="Arial" panose="020B0604020202020204" pitchFamily="34" charset="0"/>
              </a:rPr>
              <a:t>¸Ö</a:t>
            </a:r>
            <a:r>
              <a:rPr lang="en-US" altLang="en-US" sz="2400" dirty="0">
                <a:latin typeface="Arial" panose="020B0604020202020204" pitchFamily="34" charset="0"/>
                <a:cs typeface="Arial" panose="020B0604020202020204" pitchFamily="34" charset="0"/>
              </a:rPr>
              <a:t>12</a:t>
            </a:r>
            <a:endParaRPr lang="en-IE" altLang="en-US" sz="2400" dirty="0">
              <a:latin typeface="Arial" panose="020B0604020202020204" pitchFamily="34" charset="0"/>
              <a:cs typeface="Arial" panose="020B0604020202020204" pitchFamily="34" charset="0"/>
            </a:endParaRPr>
          </a:p>
          <a:p>
            <a:pPr>
              <a:spcBef>
                <a:spcPts val="600"/>
              </a:spcBef>
              <a:spcAft>
                <a:spcPts val="600"/>
              </a:spcAft>
            </a:pPr>
            <a:r>
              <a:rPr lang="en-IE" altLang="en-US" sz="2400" dirty="0">
                <a:solidFill>
                  <a:srgbClr val="000000"/>
                </a:solidFill>
                <a:latin typeface="Arial" panose="020B0604020202020204" pitchFamily="34" charset="0"/>
                <a:cs typeface="Arial" panose="020B0604020202020204" pitchFamily="34" charset="0"/>
              </a:rPr>
              <a:t>For Sine Wave Full Scale RMS Value is 2</a:t>
            </a:r>
            <a:r>
              <a:rPr lang="en-IE" altLang="en-US" sz="2400" baseline="30000" dirty="0">
                <a:solidFill>
                  <a:srgbClr val="000000"/>
                </a:solidFill>
                <a:latin typeface="Arial" panose="020B0604020202020204" pitchFamily="34" charset="0"/>
                <a:cs typeface="Arial" panose="020B0604020202020204" pitchFamily="34" charset="0"/>
              </a:rPr>
              <a:t>(N-1)</a:t>
            </a:r>
            <a:r>
              <a:rPr lang="en-IE" altLang="en-US" sz="2400" dirty="0">
                <a:solidFill>
                  <a:srgbClr val="000000"/>
                </a:solidFill>
                <a:latin typeface="Arial" panose="020B0604020202020204" pitchFamily="34" charset="0"/>
                <a:cs typeface="Arial" panose="020B0604020202020204" pitchFamily="34" charset="0"/>
              </a:rPr>
              <a:t>q/</a:t>
            </a:r>
            <a:r>
              <a:rPr lang="en-US" altLang="en-US" sz="2400" dirty="0">
                <a:latin typeface="Symbol" panose="05050102010706020507" pitchFamily="18" charset="2"/>
                <a:cs typeface="Arial" panose="020B0604020202020204" pitchFamily="34" charset="0"/>
              </a:rPr>
              <a:t>Ö</a:t>
            </a:r>
            <a:r>
              <a:rPr lang="en-IE" altLang="en-US" sz="2400" dirty="0">
                <a:solidFill>
                  <a:srgbClr val="000000"/>
                </a:solidFill>
                <a:latin typeface="Arial" panose="020B0604020202020204" pitchFamily="34" charset="0"/>
                <a:cs typeface="Arial" panose="020B0604020202020204" pitchFamily="34" charset="0"/>
              </a:rPr>
              <a:t>2</a:t>
            </a:r>
            <a:endParaRPr lang="en-IE" altLang="en-US" sz="2400" baseline="30000" dirty="0">
              <a:solidFill>
                <a:srgbClr val="000000"/>
              </a:solidFill>
              <a:latin typeface="Arial" panose="020B0604020202020204" pitchFamily="34" charset="0"/>
              <a:cs typeface="Arial" panose="020B0604020202020204" pitchFamily="34" charset="0"/>
            </a:endParaRPr>
          </a:p>
          <a:p>
            <a:pPr>
              <a:spcBef>
                <a:spcPts val="600"/>
              </a:spcBef>
              <a:spcAft>
                <a:spcPts val="600"/>
              </a:spcAft>
            </a:pPr>
            <a:r>
              <a:rPr lang="en-IE" altLang="en-US" sz="2400" dirty="0">
                <a:solidFill>
                  <a:srgbClr val="000000"/>
                </a:solidFill>
                <a:latin typeface="Arial" panose="020B0604020202020204" pitchFamily="34" charset="0"/>
                <a:cs typeface="Arial" panose="020B0604020202020204" pitchFamily="34" charset="0"/>
              </a:rPr>
              <a:t>Thus S/N (in amplitude) is 1.225 x 2</a:t>
            </a:r>
            <a:r>
              <a:rPr lang="en-IE" altLang="en-US" sz="2400" i="1" baseline="30000" dirty="0">
                <a:solidFill>
                  <a:srgbClr val="000000"/>
                </a:solidFill>
                <a:latin typeface="Arial" panose="020B0604020202020204" pitchFamily="34" charset="0"/>
                <a:cs typeface="Arial" panose="020B0604020202020204" pitchFamily="34" charset="0"/>
              </a:rPr>
              <a:t>N</a:t>
            </a:r>
            <a:r>
              <a:rPr lang="en-IE" altLang="en-US" sz="2400" dirty="0">
                <a:solidFill>
                  <a:srgbClr val="000000"/>
                </a:solidFill>
                <a:latin typeface="Arial" panose="020B0604020202020204" pitchFamily="34" charset="0"/>
                <a:cs typeface="Arial" panose="020B0604020202020204" pitchFamily="34" charset="0"/>
              </a:rPr>
              <a:t> </a:t>
            </a:r>
          </a:p>
          <a:p>
            <a:pPr>
              <a:spcBef>
                <a:spcPts val="600"/>
              </a:spcBef>
              <a:spcAft>
                <a:spcPts val="600"/>
              </a:spcAft>
            </a:pPr>
            <a:r>
              <a:rPr lang="en-IE" altLang="en-US" sz="2400" dirty="0">
                <a:solidFill>
                  <a:srgbClr val="000000"/>
                </a:solidFill>
                <a:latin typeface="Arial" panose="020B0604020202020204" pitchFamily="34" charset="0"/>
                <a:cs typeface="Arial" panose="020B0604020202020204" pitchFamily="34" charset="0"/>
              </a:rPr>
              <a:t>Expressed in dB [20log</a:t>
            </a:r>
            <a:r>
              <a:rPr lang="en-IE" altLang="en-US" sz="2400" baseline="-25000" dirty="0">
                <a:solidFill>
                  <a:srgbClr val="000000"/>
                </a:solidFill>
                <a:latin typeface="Arial" panose="020B0604020202020204" pitchFamily="34" charset="0"/>
                <a:cs typeface="Arial" panose="020B0604020202020204" pitchFamily="34" charset="0"/>
              </a:rPr>
              <a:t>10</a:t>
            </a:r>
            <a:r>
              <a:rPr lang="en-IE" altLang="en-US" sz="2400" dirty="0">
                <a:solidFill>
                  <a:srgbClr val="000000"/>
                </a:solidFill>
                <a:latin typeface="Arial" panose="020B0604020202020204" pitchFamily="34" charset="0"/>
                <a:cs typeface="Arial" panose="020B0604020202020204" pitchFamily="34" charset="0"/>
              </a:rPr>
              <a:t>(S/N)] as </a:t>
            </a:r>
            <a:r>
              <a:rPr lang="en-IE" altLang="en-US" sz="2400" b="1" dirty="0">
                <a:solidFill>
                  <a:srgbClr val="000000"/>
                </a:solidFill>
                <a:latin typeface="Arial" panose="020B0604020202020204" pitchFamily="34" charset="0"/>
                <a:cs typeface="Arial" panose="020B0604020202020204" pitchFamily="34" charset="0"/>
              </a:rPr>
              <a:t>1.76 + 6.02</a:t>
            </a:r>
            <a:r>
              <a:rPr lang="en-IE" altLang="en-US" sz="2400" b="1" i="1" dirty="0">
                <a:solidFill>
                  <a:srgbClr val="000000"/>
                </a:solidFill>
                <a:latin typeface="Arial" panose="020B0604020202020204" pitchFamily="34" charset="0"/>
                <a:cs typeface="Arial" panose="020B0604020202020204" pitchFamily="34" charset="0"/>
              </a:rPr>
              <a:t>N</a:t>
            </a:r>
          </a:p>
        </p:txBody>
      </p:sp>
      <p:sp>
        <p:nvSpPr>
          <p:cNvPr id="24579" name="Rectangle 18">
            <a:extLst>
              <a:ext uri="{FF2B5EF4-FFF2-40B4-BE49-F238E27FC236}">
                <a16:creationId xmlns:a16="http://schemas.microsoft.com/office/drawing/2014/main" id="{68F9B79C-523D-42DA-8147-1D8C162AD9B9}"/>
              </a:ext>
            </a:extLst>
          </p:cNvPr>
          <p:cNvSpPr>
            <a:spLocks noGrp="1" noChangeArrowheads="1"/>
          </p:cNvSpPr>
          <p:nvPr>
            <p:ph type="title"/>
          </p:nvPr>
        </p:nvSpPr>
        <p:spPr/>
        <p:txBody>
          <a:bodyPr/>
          <a:lstStyle/>
          <a:p>
            <a:r>
              <a:rPr lang="en-US" altLang="en-US"/>
              <a:t>Quantization Noise (con’t)</a:t>
            </a:r>
          </a:p>
        </p:txBody>
      </p:sp>
      <p:sp>
        <p:nvSpPr>
          <p:cNvPr id="2" name="Slide Number Placeholder 1">
            <a:extLst>
              <a:ext uri="{FF2B5EF4-FFF2-40B4-BE49-F238E27FC236}">
                <a16:creationId xmlns:a16="http://schemas.microsoft.com/office/drawing/2014/main" id="{19B317BB-0E3C-4691-B36E-1AE04D777787}"/>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47</a:t>
            </a:fld>
            <a:endParaRPr lang="en-US" dirty="0"/>
          </a:p>
        </p:txBody>
      </p:sp>
      <p:sp>
        <p:nvSpPr>
          <p:cNvPr id="3" name="Date Placeholder 2">
            <a:extLst>
              <a:ext uri="{FF2B5EF4-FFF2-40B4-BE49-F238E27FC236}">
                <a16:creationId xmlns:a16="http://schemas.microsoft.com/office/drawing/2014/main" id="{0DEF5EDE-D1AE-482C-B074-FC0538BDC0BF}"/>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C27FF72D-BA03-4FA9-9D19-1D029E98E0EE}"/>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70011647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3">
            <a:extLst>
              <a:ext uri="{FF2B5EF4-FFF2-40B4-BE49-F238E27FC236}">
                <a16:creationId xmlns:a16="http://schemas.microsoft.com/office/drawing/2014/main" id="{085B3BE9-BCB8-496E-AE85-071A739CC38D}"/>
              </a:ext>
            </a:extLst>
          </p:cNvPr>
          <p:cNvSpPr>
            <a:spLocks noChangeShapeType="1"/>
          </p:cNvSpPr>
          <p:nvPr/>
        </p:nvSpPr>
        <p:spPr bwMode="auto">
          <a:xfrm>
            <a:off x="1871028" y="2023797"/>
            <a:ext cx="0" cy="2030888"/>
          </a:xfrm>
          <a:prstGeom prst="line">
            <a:avLst/>
          </a:prstGeom>
          <a:noFill/>
          <a:ln w="508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6627" name="Line 4">
            <a:extLst>
              <a:ext uri="{FF2B5EF4-FFF2-40B4-BE49-F238E27FC236}">
                <a16:creationId xmlns:a16="http://schemas.microsoft.com/office/drawing/2014/main" id="{C8D5C9E0-8276-4348-A852-4DBAB4557F8D}"/>
              </a:ext>
            </a:extLst>
          </p:cNvPr>
          <p:cNvSpPr>
            <a:spLocks noChangeShapeType="1"/>
          </p:cNvSpPr>
          <p:nvPr/>
        </p:nvSpPr>
        <p:spPr bwMode="auto">
          <a:xfrm>
            <a:off x="1872775" y="4054685"/>
            <a:ext cx="7018178"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6628" name="Rectangle 5">
            <a:extLst>
              <a:ext uri="{FF2B5EF4-FFF2-40B4-BE49-F238E27FC236}">
                <a16:creationId xmlns:a16="http://schemas.microsoft.com/office/drawing/2014/main" id="{DD4BF632-98A6-409F-A38F-B28CBD32F556}"/>
              </a:ext>
            </a:extLst>
          </p:cNvPr>
          <p:cNvSpPr>
            <a:spLocks noChangeArrowheads="1"/>
          </p:cNvSpPr>
          <p:nvPr/>
        </p:nvSpPr>
        <p:spPr bwMode="auto">
          <a:xfrm>
            <a:off x="1891983" y="3677495"/>
            <a:ext cx="3541395" cy="3771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26629" name="Rectangle 6">
            <a:extLst>
              <a:ext uri="{FF2B5EF4-FFF2-40B4-BE49-F238E27FC236}">
                <a16:creationId xmlns:a16="http://schemas.microsoft.com/office/drawing/2014/main" id="{AE2DBD52-6B76-422B-BA9D-57855C89DAEC}"/>
              </a:ext>
            </a:extLst>
          </p:cNvPr>
          <p:cNvSpPr>
            <a:spLocks noChangeArrowheads="1"/>
          </p:cNvSpPr>
          <p:nvPr/>
        </p:nvSpPr>
        <p:spPr bwMode="auto">
          <a:xfrm>
            <a:off x="533400" y="2942325"/>
            <a:ext cx="1134286" cy="373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OUTPUT</a:t>
            </a:r>
          </a:p>
        </p:txBody>
      </p:sp>
      <p:sp>
        <p:nvSpPr>
          <p:cNvPr id="26630" name="Line 7">
            <a:extLst>
              <a:ext uri="{FF2B5EF4-FFF2-40B4-BE49-F238E27FC236}">
                <a16:creationId xmlns:a16="http://schemas.microsoft.com/office/drawing/2014/main" id="{3F61C48A-B005-4F6A-AEF8-6F171FFE93B0}"/>
              </a:ext>
            </a:extLst>
          </p:cNvPr>
          <p:cNvSpPr>
            <a:spLocks noChangeShapeType="1"/>
          </p:cNvSpPr>
          <p:nvPr/>
        </p:nvSpPr>
        <p:spPr bwMode="auto">
          <a:xfrm flipV="1">
            <a:off x="2709228" y="2841042"/>
            <a:ext cx="0" cy="121364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6631" name="Rectangle 8">
            <a:extLst>
              <a:ext uri="{FF2B5EF4-FFF2-40B4-BE49-F238E27FC236}">
                <a16:creationId xmlns:a16="http://schemas.microsoft.com/office/drawing/2014/main" id="{9212998B-D962-4DB5-BE75-8154668AE22E}"/>
              </a:ext>
            </a:extLst>
          </p:cNvPr>
          <p:cNvSpPr>
            <a:spLocks noChangeArrowheads="1"/>
          </p:cNvSpPr>
          <p:nvPr/>
        </p:nvSpPr>
        <p:spPr bwMode="auto">
          <a:xfrm>
            <a:off x="2249966" y="4122684"/>
            <a:ext cx="911469" cy="373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F</a:t>
            </a:r>
            <a:r>
              <a:rPr lang="en-US" altLang="en-US" sz="1760" b="1" baseline="-25000"/>
              <a:t>SIGNAL</a:t>
            </a:r>
          </a:p>
        </p:txBody>
      </p:sp>
      <p:sp>
        <p:nvSpPr>
          <p:cNvPr id="26632" name="Rectangle 9">
            <a:extLst>
              <a:ext uri="{FF2B5EF4-FFF2-40B4-BE49-F238E27FC236}">
                <a16:creationId xmlns:a16="http://schemas.microsoft.com/office/drawing/2014/main" id="{BCDD5133-9655-4AAD-889A-F1A9A2BBB0D6}"/>
              </a:ext>
            </a:extLst>
          </p:cNvPr>
          <p:cNvSpPr>
            <a:spLocks noChangeArrowheads="1"/>
          </p:cNvSpPr>
          <p:nvPr/>
        </p:nvSpPr>
        <p:spPr bwMode="auto">
          <a:xfrm>
            <a:off x="5098098" y="4101729"/>
            <a:ext cx="630943" cy="373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F</a:t>
            </a:r>
            <a:r>
              <a:rPr lang="en-US" altLang="en-US" sz="1760" b="1" baseline="-25000"/>
              <a:t>S</a:t>
            </a:r>
            <a:r>
              <a:rPr lang="en-US" altLang="en-US" sz="1760" b="1"/>
              <a:t>/2</a:t>
            </a:r>
          </a:p>
        </p:txBody>
      </p:sp>
      <p:sp>
        <p:nvSpPr>
          <p:cNvPr id="26633" name="Rectangle 10">
            <a:extLst>
              <a:ext uri="{FF2B5EF4-FFF2-40B4-BE49-F238E27FC236}">
                <a16:creationId xmlns:a16="http://schemas.microsoft.com/office/drawing/2014/main" id="{8D04D356-3B8B-431C-B1BD-58294C56F6FC}"/>
              </a:ext>
            </a:extLst>
          </p:cNvPr>
          <p:cNvSpPr>
            <a:spLocks noChangeArrowheads="1"/>
          </p:cNvSpPr>
          <p:nvPr/>
        </p:nvSpPr>
        <p:spPr bwMode="auto">
          <a:xfrm>
            <a:off x="8489315" y="4101729"/>
            <a:ext cx="443392" cy="373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F</a:t>
            </a:r>
            <a:r>
              <a:rPr lang="en-US" altLang="en-US" sz="1760" b="1" baseline="-25000"/>
              <a:t>S</a:t>
            </a:r>
          </a:p>
        </p:txBody>
      </p:sp>
      <p:sp>
        <p:nvSpPr>
          <p:cNvPr id="26634" name="Rectangle 12">
            <a:extLst>
              <a:ext uri="{FF2B5EF4-FFF2-40B4-BE49-F238E27FC236}">
                <a16:creationId xmlns:a16="http://schemas.microsoft.com/office/drawing/2014/main" id="{7631E3FE-AB06-44F5-90F7-943B994070CF}"/>
              </a:ext>
            </a:extLst>
          </p:cNvPr>
          <p:cNvSpPr>
            <a:spLocks noChangeArrowheads="1"/>
          </p:cNvSpPr>
          <p:nvPr/>
        </p:nvSpPr>
        <p:spPr bwMode="auto">
          <a:xfrm>
            <a:off x="6666323" y="3277604"/>
            <a:ext cx="2662846" cy="64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760" b="1"/>
              <a:t>RMS </a:t>
            </a:r>
          </a:p>
          <a:p>
            <a:r>
              <a:rPr lang="en-US" altLang="en-US" sz="1760" b="1"/>
              <a:t>QUANTIZATION NOISE</a:t>
            </a:r>
          </a:p>
        </p:txBody>
      </p:sp>
      <p:sp>
        <p:nvSpPr>
          <p:cNvPr id="26635" name="Line 13">
            <a:extLst>
              <a:ext uri="{FF2B5EF4-FFF2-40B4-BE49-F238E27FC236}">
                <a16:creationId xmlns:a16="http://schemas.microsoft.com/office/drawing/2014/main" id="{562AABBC-3B4B-44FE-ADF0-39E4549233E2}"/>
              </a:ext>
            </a:extLst>
          </p:cNvPr>
          <p:cNvSpPr>
            <a:spLocks noChangeShapeType="1"/>
          </p:cNvSpPr>
          <p:nvPr/>
        </p:nvSpPr>
        <p:spPr bwMode="auto">
          <a:xfrm flipH="1">
            <a:off x="5623720" y="3677495"/>
            <a:ext cx="941228" cy="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6636" name="Line 14">
            <a:extLst>
              <a:ext uri="{FF2B5EF4-FFF2-40B4-BE49-F238E27FC236}">
                <a16:creationId xmlns:a16="http://schemas.microsoft.com/office/drawing/2014/main" id="{901F9275-6B9B-4EF8-829C-3B010B2B93DF}"/>
              </a:ext>
            </a:extLst>
          </p:cNvPr>
          <p:cNvSpPr>
            <a:spLocks noChangeShapeType="1"/>
          </p:cNvSpPr>
          <p:nvPr/>
        </p:nvSpPr>
        <p:spPr bwMode="auto">
          <a:xfrm flipV="1">
            <a:off x="3505518" y="3364917"/>
            <a:ext cx="0" cy="689768"/>
          </a:xfrm>
          <a:prstGeom prst="line">
            <a:avLst/>
          </a:prstGeom>
          <a:noFill/>
          <a:ln w="508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6637" name="Line 15">
            <a:extLst>
              <a:ext uri="{FF2B5EF4-FFF2-40B4-BE49-F238E27FC236}">
                <a16:creationId xmlns:a16="http://schemas.microsoft.com/office/drawing/2014/main" id="{7462359C-7371-4A80-BAE4-EB4FFFAC14BD}"/>
              </a:ext>
            </a:extLst>
          </p:cNvPr>
          <p:cNvSpPr>
            <a:spLocks noChangeShapeType="1"/>
          </p:cNvSpPr>
          <p:nvPr/>
        </p:nvSpPr>
        <p:spPr bwMode="auto">
          <a:xfrm flipV="1">
            <a:off x="4217988" y="3239187"/>
            <a:ext cx="0" cy="815498"/>
          </a:xfrm>
          <a:prstGeom prst="line">
            <a:avLst/>
          </a:prstGeom>
          <a:noFill/>
          <a:ln w="50800">
            <a:solidFill>
              <a:srgbClr val="CF0E3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6638" name="Rectangle 16">
            <a:extLst>
              <a:ext uri="{FF2B5EF4-FFF2-40B4-BE49-F238E27FC236}">
                <a16:creationId xmlns:a16="http://schemas.microsoft.com/office/drawing/2014/main" id="{1092B4F2-6E95-4984-8F45-B1DCA7CD61D1}"/>
              </a:ext>
            </a:extLst>
          </p:cNvPr>
          <p:cNvSpPr>
            <a:spLocks noChangeArrowheads="1"/>
          </p:cNvSpPr>
          <p:nvPr/>
        </p:nvSpPr>
        <p:spPr bwMode="auto">
          <a:xfrm>
            <a:off x="4684709" y="2086169"/>
            <a:ext cx="3667928" cy="64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760" b="1" dirty="0"/>
              <a:t>HARMONICS OF F</a:t>
            </a:r>
            <a:r>
              <a:rPr lang="en-US" altLang="en-US" sz="1760" b="1" baseline="-25000" dirty="0"/>
              <a:t>SIGNAL</a:t>
            </a:r>
            <a:endParaRPr lang="en-US" altLang="en-US" sz="1760" b="1" dirty="0"/>
          </a:p>
          <a:p>
            <a:r>
              <a:rPr lang="en-US" altLang="en-US" sz="1760" b="1" dirty="0"/>
              <a:t>(EXAGGERATED FOR CLARITY)</a:t>
            </a:r>
          </a:p>
        </p:txBody>
      </p:sp>
      <p:sp>
        <p:nvSpPr>
          <p:cNvPr id="26639" name="Line 17">
            <a:extLst>
              <a:ext uri="{FF2B5EF4-FFF2-40B4-BE49-F238E27FC236}">
                <a16:creationId xmlns:a16="http://schemas.microsoft.com/office/drawing/2014/main" id="{A8B345A6-3DE3-4A72-BBE5-0F5353101C64}"/>
              </a:ext>
            </a:extLst>
          </p:cNvPr>
          <p:cNvSpPr>
            <a:spLocks noChangeShapeType="1"/>
          </p:cNvSpPr>
          <p:nvPr/>
        </p:nvSpPr>
        <p:spPr bwMode="auto">
          <a:xfrm flipH="1">
            <a:off x="3716814" y="2635745"/>
            <a:ext cx="1021605" cy="769335"/>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26640" name="Line 18">
            <a:extLst>
              <a:ext uri="{FF2B5EF4-FFF2-40B4-BE49-F238E27FC236}">
                <a16:creationId xmlns:a16="http://schemas.microsoft.com/office/drawing/2014/main" id="{8111FBB2-BE7B-4615-AC18-F71130CD889A}"/>
              </a:ext>
            </a:extLst>
          </p:cNvPr>
          <p:cNvSpPr>
            <a:spLocks noChangeShapeType="1"/>
          </p:cNvSpPr>
          <p:nvPr/>
        </p:nvSpPr>
        <p:spPr bwMode="auto">
          <a:xfrm flipH="1">
            <a:off x="4345463" y="2635744"/>
            <a:ext cx="392955" cy="580741"/>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7" name="Content Placeholder 6">
            <a:extLst>
              <a:ext uri="{FF2B5EF4-FFF2-40B4-BE49-F238E27FC236}">
                <a16:creationId xmlns:a16="http://schemas.microsoft.com/office/drawing/2014/main" id="{AF19002B-DFA2-4C38-A7A3-08417E97FCF6}"/>
              </a:ext>
            </a:extLst>
          </p:cNvPr>
          <p:cNvSpPr>
            <a:spLocks noGrp="1"/>
          </p:cNvSpPr>
          <p:nvPr>
            <p:ph sz="quarter" idx="1"/>
          </p:nvPr>
        </p:nvSpPr>
        <p:spPr>
          <a:xfrm>
            <a:off x="331927" y="4515694"/>
            <a:ext cx="9354312" cy="2396559"/>
          </a:xfrm>
        </p:spPr>
        <p:txBody>
          <a:bodyPr>
            <a:normAutofit/>
          </a:bodyPr>
          <a:lstStyle/>
          <a:p>
            <a:r>
              <a:rPr lang="en-US" altLang="en-US" sz="2400" dirty="0"/>
              <a:t>If the quantization noise is uncorrelated with the frequency of the AC input signal,</a:t>
            </a:r>
            <a:r>
              <a:rPr lang="en-IE" altLang="en-US" sz="2400" dirty="0"/>
              <a:t> </a:t>
            </a:r>
            <a:r>
              <a:rPr lang="en-US" altLang="en-US" sz="2400" dirty="0"/>
              <a:t>the noise will be spread evenly over the Nyquist bandwidth of F</a:t>
            </a:r>
            <a:r>
              <a:rPr lang="en-US" altLang="en-US" sz="2400" baseline="-25000" dirty="0"/>
              <a:t>s</a:t>
            </a:r>
            <a:r>
              <a:rPr lang="en-US" altLang="en-US" sz="2400" dirty="0"/>
              <a:t>/2.</a:t>
            </a:r>
          </a:p>
          <a:p>
            <a:r>
              <a:rPr lang="en-US" altLang="en-US" sz="2400" dirty="0"/>
              <a:t>If, however the input signal is locked to a sub-multiple of the sampling frequency, the quantization noise will no longer appear uniform, but as harmonics of the fundamental frequency</a:t>
            </a:r>
          </a:p>
        </p:txBody>
      </p:sp>
      <p:sp>
        <p:nvSpPr>
          <p:cNvPr id="26642" name="Rectangle 21">
            <a:extLst>
              <a:ext uri="{FF2B5EF4-FFF2-40B4-BE49-F238E27FC236}">
                <a16:creationId xmlns:a16="http://schemas.microsoft.com/office/drawing/2014/main" id="{3C64F763-A885-40AE-B821-B8FE18B85198}"/>
              </a:ext>
            </a:extLst>
          </p:cNvPr>
          <p:cNvSpPr>
            <a:spLocks noGrp="1" noChangeArrowheads="1"/>
          </p:cNvSpPr>
          <p:nvPr>
            <p:ph type="title"/>
          </p:nvPr>
        </p:nvSpPr>
        <p:spPr/>
        <p:txBody>
          <a:bodyPr/>
          <a:lstStyle/>
          <a:p>
            <a:r>
              <a:rPr lang="en-US" altLang="en-US"/>
              <a:t>Quantization Noise (con’t)</a:t>
            </a:r>
          </a:p>
        </p:txBody>
      </p:sp>
      <p:sp>
        <p:nvSpPr>
          <p:cNvPr id="5" name="Date Placeholder 4">
            <a:extLst>
              <a:ext uri="{FF2B5EF4-FFF2-40B4-BE49-F238E27FC236}">
                <a16:creationId xmlns:a16="http://schemas.microsoft.com/office/drawing/2014/main" id="{8A2EC288-B093-47DB-B117-177DF2FD1441}"/>
              </a:ext>
            </a:extLst>
          </p:cNvPr>
          <p:cNvSpPr>
            <a:spLocks noGrp="1"/>
          </p:cNvSpPr>
          <p:nvPr>
            <p:ph type="dt" sz="half" idx="10"/>
          </p:nvPr>
        </p:nvSpPr>
        <p:spPr/>
        <p:txBody>
          <a:bodyPr/>
          <a:lstStyle/>
          <a:p>
            <a:r>
              <a:rPr lang="en-US"/>
              <a:t>V.T.M</a:t>
            </a:r>
            <a:endParaRPr lang="en-US" dirty="0"/>
          </a:p>
        </p:txBody>
      </p:sp>
      <p:sp>
        <p:nvSpPr>
          <p:cNvPr id="6" name="Footer Placeholder 5">
            <a:extLst>
              <a:ext uri="{FF2B5EF4-FFF2-40B4-BE49-F238E27FC236}">
                <a16:creationId xmlns:a16="http://schemas.microsoft.com/office/drawing/2014/main" id="{BCBC317D-26C7-4FAE-8C48-F61241BD674A}"/>
              </a:ext>
            </a:extLst>
          </p:cNvPr>
          <p:cNvSpPr>
            <a:spLocks noGrp="1"/>
          </p:cNvSpPr>
          <p:nvPr>
            <p:ph type="ftr" sz="quarter" idx="11"/>
          </p:nvPr>
        </p:nvSpPr>
        <p:spPr/>
        <p:txBody>
          <a:bodyPr/>
          <a:lstStyle/>
          <a:p>
            <a:r>
              <a:rPr lang="en-US"/>
              <a:t>DN, 2020</a:t>
            </a:r>
            <a:endParaRPr lang="en-US" dirty="0"/>
          </a:p>
        </p:txBody>
      </p:sp>
      <p:sp>
        <p:nvSpPr>
          <p:cNvPr id="3" name="Slide Number Placeholder 2">
            <a:extLst>
              <a:ext uri="{FF2B5EF4-FFF2-40B4-BE49-F238E27FC236}">
                <a16:creationId xmlns:a16="http://schemas.microsoft.com/office/drawing/2014/main" id="{D47FD47A-63D0-42DB-BB57-475D2B5E583F}"/>
              </a:ext>
            </a:extLst>
          </p:cNvPr>
          <p:cNvSpPr>
            <a:spLocks noGrp="1"/>
          </p:cNvSpPr>
          <p:nvPr>
            <p:ph type="sldNum" sz="quarter" idx="12"/>
          </p:nvPr>
        </p:nvSpPr>
        <p:spPr/>
        <p:txBody>
          <a:bodyPr/>
          <a:lstStyle/>
          <a:p>
            <a:fld id="{B6F15528-21DE-4FAA-801E-634DDDAF4B2B}" type="slidenum">
              <a:rPr lang="en-US" smtClean="0"/>
              <a:t>48</a:t>
            </a:fld>
            <a:endParaRPr lang="en-US" dirty="0"/>
          </a:p>
        </p:txBody>
      </p:sp>
    </p:spTree>
    <p:extLst>
      <p:ext uri="{BB962C8B-B14F-4D97-AF65-F5344CB8AC3E}">
        <p14:creationId xmlns:p14="http://schemas.microsoft.com/office/powerpoint/2010/main" val="109433448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72A6C69-D480-4E68-9DA6-9C6685A8D83D}"/>
              </a:ext>
            </a:extLst>
          </p:cNvPr>
          <p:cNvSpPr>
            <a:spLocks noGrp="1"/>
          </p:cNvSpPr>
          <p:nvPr>
            <p:ph sz="quarter" idx="1"/>
          </p:nvPr>
        </p:nvSpPr>
        <p:spPr/>
        <p:txBody>
          <a:bodyPr>
            <a:normAutofit/>
          </a:bodyPr>
          <a:lstStyle/>
          <a:p>
            <a:r>
              <a:rPr lang="en-US" sz="3200" dirty="0">
                <a:latin typeface="Arial" panose="020B0604020202020204" pitchFamily="34" charset="0"/>
                <a:cs typeface="Arial" panose="020B0604020202020204" pitchFamily="34" charset="0"/>
              </a:rPr>
              <a:t>There are two ways to best improve the accuracy of A/D  conversion:</a:t>
            </a:r>
          </a:p>
          <a:p>
            <a:pPr lvl="1"/>
            <a:r>
              <a:rPr lang="en-US" sz="2800" dirty="0">
                <a:latin typeface="Arial" panose="020B0604020202020204" pitchFamily="34" charset="0"/>
                <a:cs typeface="Arial" panose="020B0604020202020204" pitchFamily="34" charset="0"/>
              </a:rPr>
              <a:t>increasing the resolution which improves the accuracy in measuring the amplitude of the analog signal.</a:t>
            </a:r>
          </a:p>
          <a:p>
            <a:pPr lvl="1"/>
            <a:r>
              <a:rPr lang="en-US" sz="2800" dirty="0">
                <a:latin typeface="Arial" panose="020B0604020202020204" pitchFamily="34" charset="0"/>
                <a:cs typeface="Arial" panose="020B0604020202020204" pitchFamily="34" charset="0"/>
              </a:rPr>
              <a:t>increasing the sampling rate which increases the  maximum frequency that can be measured.</a:t>
            </a:r>
          </a:p>
        </p:txBody>
      </p:sp>
      <p:sp>
        <p:nvSpPr>
          <p:cNvPr id="6" name="Title 5">
            <a:extLst>
              <a:ext uri="{FF2B5EF4-FFF2-40B4-BE49-F238E27FC236}">
                <a16:creationId xmlns:a16="http://schemas.microsoft.com/office/drawing/2014/main" id="{B259B13B-3FE5-4173-AFF8-0E831D0D6ED6}"/>
              </a:ext>
            </a:extLst>
          </p:cNvPr>
          <p:cNvSpPr>
            <a:spLocks noGrp="1"/>
          </p:cNvSpPr>
          <p:nvPr>
            <p:ph type="title"/>
          </p:nvPr>
        </p:nvSpPr>
        <p:spPr/>
        <p:txBody>
          <a:bodyPr/>
          <a:lstStyle/>
          <a:p>
            <a:r>
              <a:rPr lang="en-US" spc="-5" dirty="0"/>
              <a:t>Accuracy</a:t>
            </a:r>
            <a:r>
              <a:rPr lang="en-US" spc="5" dirty="0"/>
              <a:t> </a:t>
            </a:r>
            <a:r>
              <a:rPr lang="en-US" spc="-5" dirty="0"/>
              <a:t>of A/D</a:t>
            </a:r>
            <a:r>
              <a:rPr lang="en-US" spc="-80" dirty="0"/>
              <a:t> </a:t>
            </a:r>
            <a:r>
              <a:rPr lang="en-US" spc="-5" dirty="0"/>
              <a:t>Conversion</a:t>
            </a:r>
            <a:endParaRPr lang="en-GB" dirty="0"/>
          </a:p>
        </p:txBody>
      </p:sp>
      <p:sp>
        <p:nvSpPr>
          <p:cNvPr id="4" name="Date Placeholder 3">
            <a:extLst>
              <a:ext uri="{FF2B5EF4-FFF2-40B4-BE49-F238E27FC236}">
                <a16:creationId xmlns:a16="http://schemas.microsoft.com/office/drawing/2014/main" id="{AE3EBA17-63A5-4AFB-BD96-0F11ACC32E47}"/>
              </a:ext>
            </a:extLst>
          </p:cNvPr>
          <p:cNvSpPr>
            <a:spLocks noGrp="1"/>
          </p:cNvSpPr>
          <p:nvPr>
            <p:ph type="dt" sz="half" idx="10"/>
          </p:nvPr>
        </p:nvSpPr>
        <p:spPr/>
        <p:txBody>
          <a:bodyPr/>
          <a:lstStyle/>
          <a:p>
            <a:r>
              <a:rPr lang="en-US"/>
              <a:t>V.T.M</a:t>
            </a:r>
            <a:endParaRPr lang="en-US" dirty="0"/>
          </a:p>
        </p:txBody>
      </p:sp>
      <p:sp>
        <p:nvSpPr>
          <p:cNvPr id="5" name="Footer Placeholder 4">
            <a:extLst>
              <a:ext uri="{FF2B5EF4-FFF2-40B4-BE49-F238E27FC236}">
                <a16:creationId xmlns:a16="http://schemas.microsoft.com/office/drawing/2014/main" id="{ABAF57F9-1D4F-48B3-A501-AD7724BCF188}"/>
              </a:ext>
            </a:extLst>
          </p:cNvPr>
          <p:cNvSpPr>
            <a:spLocks noGrp="1"/>
          </p:cNvSpPr>
          <p:nvPr>
            <p:ph type="ftr" sz="quarter" idx="11"/>
          </p:nvPr>
        </p:nvSpPr>
        <p:spPr/>
        <p:txBody>
          <a:bodyPr/>
          <a:lstStyle/>
          <a:p>
            <a:r>
              <a:rPr lang="en-US"/>
              <a:t>DN, 2020</a:t>
            </a:r>
            <a:endParaRPr lang="en-US" dirty="0"/>
          </a:p>
        </p:txBody>
      </p:sp>
      <p:sp>
        <p:nvSpPr>
          <p:cNvPr id="3" name="Slide Number Placeholder 2">
            <a:extLst>
              <a:ext uri="{FF2B5EF4-FFF2-40B4-BE49-F238E27FC236}">
                <a16:creationId xmlns:a16="http://schemas.microsoft.com/office/drawing/2014/main" id="{38DD0C4A-BDD9-4434-B437-857A6EF64E12}"/>
              </a:ext>
            </a:extLst>
          </p:cNvPr>
          <p:cNvSpPr>
            <a:spLocks noGrp="1"/>
          </p:cNvSpPr>
          <p:nvPr>
            <p:ph type="sldNum" sz="quarter" idx="12"/>
          </p:nvPr>
        </p:nvSpPr>
        <p:spPr/>
        <p:txBody>
          <a:bodyPr/>
          <a:lstStyle/>
          <a:p>
            <a:fld id="{B6F15528-21DE-4FAA-801E-634DDDAF4B2B}" type="slidenum">
              <a:rPr lang="en-US" smtClean="0"/>
              <a:t>49</a:t>
            </a:fld>
            <a:endParaRPr lang="en-US" dirty="0"/>
          </a:p>
        </p:txBody>
      </p:sp>
    </p:spTree>
    <p:extLst>
      <p:ext uri="{BB962C8B-B14F-4D97-AF65-F5344CB8AC3E}">
        <p14:creationId xmlns:p14="http://schemas.microsoft.com/office/powerpoint/2010/main" val="10197406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A6141DC9-D00F-4FD6-993F-49BA5E79ADC0}"/>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50</a:t>
            </a:fld>
            <a:endParaRPr lang="en-US" dirty="0"/>
          </a:p>
        </p:txBody>
      </p:sp>
      <p:sp>
        <p:nvSpPr>
          <p:cNvPr id="3" name="object 3"/>
          <p:cNvSpPr/>
          <p:nvPr/>
        </p:nvSpPr>
        <p:spPr>
          <a:xfrm>
            <a:off x="889260" y="3423061"/>
            <a:ext cx="3871803" cy="2223128"/>
          </a:xfrm>
          <a:prstGeom prst="rect">
            <a:avLst/>
          </a:prstGeom>
          <a:blipFill>
            <a:blip r:embed="rId2" cstate="print"/>
            <a:stretch>
              <a:fillRect/>
            </a:stretch>
          </a:blipFill>
        </p:spPr>
        <p:txBody>
          <a:bodyPr wrap="square" lIns="0" tIns="0" rIns="0" bIns="0" rtlCol="0"/>
          <a:lstStyle/>
          <a:p>
            <a:endParaRPr dirty="0"/>
          </a:p>
        </p:txBody>
      </p:sp>
      <p:sp>
        <p:nvSpPr>
          <p:cNvPr id="4" name="object 4"/>
          <p:cNvSpPr txBox="1"/>
          <p:nvPr/>
        </p:nvSpPr>
        <p:spPr>
          <a:xfrm>
            <a:off x="623648" y="3290874"/>
            <a:ext cx="4180204" cy="2693670"/>
          </a:xfrm>
          <a:prstGeom prst="rect">
            <a:avLst/>
          </a:prstGeom>
          <a:ln w="12836">
            <a:solidFill>
              <a:srgbClr val="000000"/>
            </a:solidFill>
          </a:ln>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50"/>
              </a:spcBef>
            </a:pPr>
            <a:endParaRPr sz="1450" dirty="0">
              <a:latin typeface="Times New Roman"/>
              <a:cs typeface="Times New Roman"/>
            </a:endParaRPr>
          </a:p>
          <a:p>
            <a:pPr marR="71755" algn="ctr">
              <a:lnSpc>
                <a:spcPct val="100000"/>
              </a:lnSpc>
            </a:pPr>
            <a:r>
              <a:rPr sz="1600" dirty="0">
                <a:latin typeface="Times New Roman"/>
                <a:cs typeface="Times New Roman"/>
              </a:rPr>
              <a:t>Time</a:t>
            </a:r>
          </a:p>
        </p:txBody>
      </p:sp>
      <p:sp>
        <p:nvSpPr>
          <p:cNvPr id="5" name="object 5"/>
          <p:cNvSpPr txBox="1"/>
          <p:nvPr/>
        </p:nvSpPr>
        <p:spPr>
          <a:xfrm>
            <a:off x="651901" y="4261485"/>
            <a:ext cx="252095" cy="908685"/>
          </a:xfrm>
          <a:prstGeom prst="rect">
            <a:avLst/>
          </a:prstGeom>
        </p:spPr>
        <p:txBody>
          <a:bodyPr vert="vert270" wrap="square" lIns="0" tIns="0" rIns="0" bIns="0" rtlCol="0">
            <a:spAutoFit/>
          </a:bodyPr>
          <a:lstStyle/>
          <a:p>
            <a:pPr marL="12700">
              <a:lnSpc>
                <a:spcPts val="1855"/>
              </a:lnSpc>
            </a:pPr>
            <a:r>
              <a:rPr sz="1600" spc="-5" dirty="0">
                <a:latin typeface="Times New Roman"/>
                <a:cs typeface="Times New Roman"/>
              </a:rPr>
              <a:t>Resolution</a:t>
            </a:r>
            <a:endParaRPr sz="1600" dirty="0">
              <a:latin typeface="Times New Roman"/>
              <a:cs typeface="Times New Roman"/>
            </a:endParaRPr>
          </a:p>
        </p:txBody>
      </p:sp>
      <p:sp>
        <p:nvSpPr>
          <p:cNvPr id="6" name="object 6"/>
          <p:cNvSpPr/>
          <p:nvPr/>
        </p:nvSpPr>
        <p:spPr>
          <a:xfrm>
            <a:off x="5314845" y="3489486"/>
            <a:ext cx="3948147" cy="2213816"/>
          </a:xfrm>
          <a:prstGeom prst="rect">
            <a:avLst/>
          </a:prstGeom>
          <a:blipFill>
            <a:blip r:embed="rId3" cstate="print"/>
            <a:stretch>
              <a:fillRect/>
            </a:stretch>
          </a:blipFill>
        </p:spPr>
        <p:txBody>
          <a:bodyPr wrap="square" lIns="0" tIns="0" rIns="0" bIns="0" rtlCol="0"/>
          <a:lstStyle/>
          <a:p>
            <a:endParaRPr dirty="0"/>
          </a:p>
        </p:txBody>
      </p:sp>
      <p:sp>
        <p:nvSpPr>
          <p:cNvPr id="7" name="object 7"/>
          <p:cNvSpPr txBox="1"/>
          <p:nvPr/>
        </p:nvSpPr>
        <p:spPr>
          <a:xfrm>
            <a:off x="5033577" y="3296980"/>
            <a:ext cx="4293870" cy="2720975"/>
          </a:xfrm>
          <a:prstGeom prst="rect">
            <a:avLst/>
          </a:prstGeom>
          <a:ln w="12698">
            <a:solidFill>
              <a:srgbClr val="000000"/>
            </a:solidFill>
          </a:ln>
        </p:spPr>
        <p:txBody>
          <a:bodyPr vert="horz" wrap="square" lIns="0" tIns="0" rIns="0" bIns="0" rtlCol="0">
            <a:spAutoFit/>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50" dirty="0">
              <a:latin typeface="Times New Roman"/>
              <a:cs typeface="Times New Roman"/>
            </a:endParaRPr>
          </a:p>
          <a:p>
            <a:pPr marR="177800" algn="ctr">
              <a:lnSpc>
                <a:spcPct val="100000"/>
              </a:lnSpc>
            </a:pPr>
            <a:r>
              <a:rPr sz="1600" dirty="0">
                <a:latin typeface="Times New Roman"/>
                <a:cs typeface="Times New Roman"/>
              </a:rPr>
              <a:t>Time</a:t>
            </a:r>
          </a:p>
        </p:txBody>
      </p:sp>
      <p:sp>
        <p:nvSpPr>
          <p:cNvPr id="8" name="object 8"/>
          <p:cNvSpPr txBox="1"/>
          <p:nvPr/>
        </p:nvSpPr>
        <p:spPr>
          <a:xfrm>
            <a:off x="4992254" y="4398645"/>
            <a:ext cx="252095" cy="908685"/>
          </a:xfrm>
          <a:prstGeom prst="rect">
            <a:avLst/>
          </a:prstGeom>
        </p:spPr>
        <p:txBody>
          <a:bodyPr vert="vert270" wrap="square" lIns="0" tIns="0" rIns="0" bIns="0" rtlCol="0">
            <a:spAutoFit/>
          </a:bodyPr>
          <a:lstStyle/>
          <a:p>
            <a:pPr marL="12700">
              <a:lnSpc>
                <a:spcPts val="1855"/>
              </a:lnSpc>
            </a:pPr>
            <a:r>
              <a:rPr sz="1600" spc="-5" dirty="0">
                <a:latin typeface="Times New Roman"/>
                <a:cs typeface="Times New Roman"/>
              </a:rPr>
              <a:t>Resolution</a:t>
            </a:r>
            <a:endParaRPr sz="1600" dirty="0">
              <a:latin typeface="Times New Roman"/>
              <a:cs typeface="Times New Roman"/>
            </a:endParaRPr>
          </a:p>
        </p:txBody>
      </p:sp>
      <p:sp>
        <p:nvSpPr>
          <p:cNvPr id="9" name="object 9"/>
          <p:cNvSpPr txBox="1"/>
          <p:nvPr/>
        </p:nvSpPr>
        <p:spPr>
          <a:xfrm>
            <a:off x="1373377" y="2181859"/>
            <a:ext cx="6483985" cy="512445"/>
          </a:xfrm>
          <a:prstGeom prst="rect">
            <a:avLst/>
          </a:prstGeom>
        </p:spPr>
        <p:txBody>
          <a:bodyPr vert="horz" wrap="square" lIns="0" tIns="11430" rIns="0" bIns="0" rtlCol="0">
            <a:spAutoFit/>
          </a:bodyPr>
          <a:lstStyle/>
          <a:p>
            <a:pPr marL="356870" indent="-344170">
              <a:lnSpc>
                <a:spcPct val="100000"/>
              </a:lnSpc>
              <a:spcBef>
                <a:spcPts val="90"/>
              </a:spcBef>
              <a:buClr>
                <a:srgbClr val="434DD6"/>
              </a:buClr>
              <a:buSzPct val="59375"/>
              <a:buFont typeface="Wingdings"/>
              <a:buChar char=""/>
              <a:tabLst>
                <a:tab pos="356870" algn="l"/>
                <a:tab pos="357505" algn="l"/>
                <a:tab pos="4431665" algn="l"/>
                <a:tab pos="4776470" algn="l"/>
              </a:tabLst>
            </a:pPr>
            <a:r>
              <a:rPr sz="3200" spc="-5" dirty="0">
                <a:latin typeface="Arial"/>
                <a:cs typeface="Arial"/>
              </a:rPr>
              <a:t>Low</a:t>
            </a:r>
            <a:r>
              <a:rPr sz="3200" spc="20" dirty="0">
                <a:latin typeface="Arial"/>
                <a:cs typeface="Arial"/>
              </a:rPr>
              <a:t> </a:t>
            </a:r>
            <a:r>
              <a:rPr sz="3200" spc="-5" dirty="0">
                <a:latin typeface="Arial"/>
                <a:cs typeface="Arial"/>
              </a:rPr>
              <a:t>Accuracy	</a:t>
            </a:r>
            <a:r>
              <a:rPr sz="1900" spc="-5" dirty="0">
                <a:solidFill>
                  <a:srgbClr val="434DD6"/>
                </a:solidFill>
                <a:latin typeface="Wingdings"/>
                <a:cs typeface="Wingdings"/>
              </a:rPr>
              <a:t></a:t>
            </a:r>
            <a:r>
              <a:rPr sz="1900" spc="-5" dirty="0">
                <a:solidFill>
                  <a:srgbClr val="434DD6"/>
                </a:solidFill>
                <a:latin typeface="Times New Roman"/>
                <a:cs typeface="Times New Roman"/>
              </a:rPr>
              <a:t>	</a:t>
            </a:r>
            <a:r>
              <a:rPr sz="3200" spc="-5" dirty="0">
                <a:latin typeface="Arial"/>
                <a:cs typeface="Arial"/>
              </a:rPr>
              <a:t>Improved</a:t>
            </a:r>
            <a:endParaRPr sz="3200" dirty="0">
              <a:latin typeface="Arial"/>
              <a:cs typeface="Arial"/>
            </a:endParaRPr>
          </a:p>
        </p:txBody>
      </p:sp>
      <p:sp>
        <p:nvSpPr>
          <p:cNvPr id="13" name="Date Placeholder 12">
            <a:extLst>
              <a:ext uri="{FF2B5EF4-FFF2-40B4-BE49-F238E27FC236}">
                <a16:creationId xmlns:a16="http://schemas.microsoft.com/office/drawing/2014/main" id="{9DAE4787-927B-4F7F-A4EF-95228EA12F3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14" name="Footer Placeholder 13">
            <a:extLst>
              <a:ext uri="{FF2B5EF4-FFF2-40B4-BE49-F238E27FC236}">
                <a16:creationId xmlns:a16="http://schemas.microsoft.com/office/drawing/2014/main" id="{3B3EC85F-AB95-46E6-B8E5-F6A3EE79D7F0}"/>
              </a:ext>
            </a:extLst>
          </p:cNvPr>
          <p:cNvSpPr>
            <a:spLocks noGrp="1"/>
          </p:cNvSpPr>
          <p:nvPr>
            <p:ph type="ftr" sz="quarter" idx="11"/>
          </p:nvPr>
        </p:nvSpPr>
        <p:spPr/>
        <p:txBody>
          <a:bodyPr/>
          <a:lstStyle/>
          <a:p>
            <a:r>
              <a:rPr lang="en-US"/>
              <a:t>DN, 2020</a:t>
            </a:r>
            <a:endParaRPr lang="en-US" dirty="0"/>
          </a:p>
        </p:txBody>
      </p:sp>
      <p:sp>
        <p:nvSpPr>
          <p:cNvPr id="15" name="Title 14">
            <a:extLst>
              <a:ext uri="{FF2B5EF4-FFF2-40B4-BE49-F238E27FC236}">
                <a16:creationId xmlns:a16="http://schemas.microsoft.com/office/drawing/2014/main" id="{4E56C558-83B7-4FC5-A092-F4AFF31C7E40}"/>
              </a:ext>
            </a:extLst>
          </p:cNvPr>
          <p:cNvSpPr>
            <a:spLocks noGrp="1"/>
          </p:cNvSpPr>
          <p:nvPr>
            <p:ph type="title"/>
          </p:nvPr>
        </p:nvSpPr>
        <p:spPr/>
        <p:txBody>
          <a:bodyPr/>
          <a:lstStyle/>
          <a:p>
            <a:r>
              <a:rPr lang="en-US" spc="-5" dirty="0"/>
              <a:t>Accuracy</a:t>
            </a:r>
            <a:r>
              <a:rPr lang="en-US" spc="5" dirty="0"/>
              <a:t> </a:t>
            </a:r>
            <a:r>
              <a:rPr lang="en-US" spc="-5" dirty="0"/>
              <a:t>of A/D</a:t>
            </a:r>
            <a:r>
              <a:rPr lang="en-US" spc="-80" dirty="0"/>
              <a:t> </a:t>
            </a:r>
            <a:r>
              <a:rPr lang="en-US" spc="-5" dirty="0"/>
              <a:t>Conversion</a:t>
            </a:r>
            <a:endParaRPr lang="en-GB" dirty="0"/>
          </a:p>
        </p:txBody>
      </p:sp>
    </p:spTree>
    <p:extLst>
      <p:ext uri="{BB962C8B-B14F-4D97-AF65-F5344CB8AC3E}">
        <p14:creationId xmlns:p14="http://schemas.microsoft.com/office/powerpoint/2010/main" val="35579035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A7B8C05-7F85-48E9-BE9B-E09393039882}"/>
              </a:ext>
            </a:extLst>
          </p:cNvPr>
          <p:cNvSpPr>
            <a:spLocks noGrp="1"/>
          </p:cNvSpPr>
          <p:nvPr>
            <p:ph sz="quarter" idx="1"/>
          </p:nvPr>
        </p:nvSpPr>
        <p:spPr/>
        <p:txBody>
          <a:bodyPr>
            <a:normAutofit/>
          </a:bodyPr>
          <a:lstStyle/>
          <a:p>
            <a:r>
              <a:rPr lang="en-GB" sz="2800" dirty="0">
                <a:latin typeface="Arial" panose="020B0604020202020204" pitchFamily="34" charset="0"/>
                <a:cs typeface="Arial" panose="020B0604020202020204" pitchFamily="34" charset="0"/>
              </a:rPr>
              <a:t>Dual Slope</a:t>
            </a:r>
          </a:p>
          <a:p>
            <a:r>
              <a:rPr lang="en-GB" sz="2800" dirty="0">
                <a:latin typeface="Arial" panose="020B0604020202020204" pitchFamily="34" charset="0"/>
                <a:cs typeface="Arial" panose="020B0604020202020204" pitchFamily="34" charset="0"/>
              </a:rPr>
              <a:t>Successive Approximation Register</a:t>
            </a:r>
          </a:p>
          <a:p>
            <a:r>
              <a:rPr lang="en-GB" sz="2800" dirty="0">
                <a:latin typeface="Arial" panose="020B0604020202020204" pitchFamily="34" charset="0"/>
                <a:cs typeface="Arial" panose="020B0604020202020204" pitchFamily="34" charset="0"/>
              </a:rPr>
              <a:t>Flash</a:t>
            </a:r>
          </a:p>
          <a:p>
            <a:r>
              <a:rPr lang="en-GB" sz="2800" dirty="0">
                <a:latin typeface="Arial" panose="020B0604020202020204" pitchFamily="34" charset="0"/>
                <a:cs typeface="Arial" panose="020B0604020202020204" pitchFamily="34" charset="0"/>
              </a:rPr>
              <a:t>Delta-Sigma</a:t>
            </a:r>
          </a:p>
          <a:p>
            <a:r>
              <a:rPr lang="en-GB" sz="2800" dirty="0">
                <a:latin typeface="Arial" panose="020B0604020202020204" pitchFamily="34" charset="0"/>
                <a:cs typeface="Arial" panose="020B0604020202020204" pitchFamily="34" charset="0"/>
              </a:rPr>
              <a:t>Pipelined Sub-ranging</a:t>
            </a:r>
          </a:p>
        </p:txBody>
      </p:sp>
      <p:sp>
        <p:nvSpPr>
          <p:cNvPr id="3" name="Slide Number Placeholder 2">
            <a:extLst>
              <a:ext uri="{FF2B5EF4-FFF2-40B4-BE49-F238E27FC236}">
                <a16:creationId xmlns:a16="http://schemas.microsoft.com/office/drawing/2014/main" id="{D623BD8B-411F-4884-8210-F1D332D3D489}"/>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51</a:t>
            </a:fld>
            <a:endParaRPr lang="en-US" dirty="0"/>
          </a:p>
        </p:txBody>
      </p:sp>
      <p:sp>
        <p:nvSpPr>
          <p:cNvPr id="5" name="Date Placeholder 4">
            <a:extLst>
              <a:ext uri="{FF2B5EF4-FFF2-40B4-BE49-F238E27FC236}">
                <a16:creationId xmlns:a16="http://schemas.microsoft.com/office/drawing/2014/main" id="{5DED1C16-7B61-4224-8AA5-75061BF6D8C0}"/>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D7DECA20-FD2A-487E-A88B-7FCE8D696F66}"/>
              </a:ext>
            </a:extLst>
          </p:cNvPr>
          <p:cNvSpPr>
            <a:spLocks noGrp="1"/>
          </p:cNvSpPr>
          <p:nvPr>
            <p:ph type="ftr" sz="quarter" idx="11"/>
          </p:nvPr>
        </p:nvSpPr>
        <p:spPr/>
        <p:txBody>
          <a:bodyPr/>
          <a:lstStyle/>
          <a:p>
            <a:r>
              <a:rPr lang="en-US"/>
              <a:t>DN, 2020</a:t>
            </a:r>
            <a:endParaRPr lang="en-US" dirty="0"/>
          </a:p>
        </p:txBody>
      </p:sp>
      <p:sp>
        <p:nvSpPr>
          <p:cNvPr id="8" name="Title 7">
            <a:extLst>
              <a:ext uri="{FF2B5EF4-FFF2-40B4-BE49-F238E27FC236}">
                <a16:creationId xmlns:a16="http://schemas.microsoft.com/office/drawing/2014/main" id="{70A5F4F9-FD56-4F2D-B4E8-C7A29CD86DB7}"/>
              </a:ext>
            </a:extLst>
          </p:cNvPr>
          <p:cNvSpPr>
            <a:spLocks noGrp="1"/>
          </p:cNvSpPr>
          <p:nvPr>
            <p:ph type="title"/>
          </p:nvPr>
        </p:nvSpPr>
        <p:spPr/>
        <p:txBody>
          <a:bodyPr/>
          <a:lstStyle/>
          <a:p>
            <a:r>
              <a:rPr lang="en-GB" dirty="0"/>
              <a:t>Types of ADC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274820" y="2438400"/>
            <a:ext cx="5554980" cy="4572000"/>
          </a:xfrm>
          <a:prstGeom prst="rect">
            <a:avLst/>
          </a:prstGeom>
          <a:blipFill>
            <a:blip r:embed="rId2" cstate="print"/>
            <a:stretch>
              <a:fillRect/>
            </a:stretch>
          </a:blipFill>
        </p:spPr>
        <p:txBody>
          <a:bodyPr wrap="square" lIns="0" tIns="0" rIns="0" bIns="0" rtlCol="0"/>
          <a:lstStyle/>
          <a:p>
            <a:endParaRPr dirty="0"/>
          </a:p>
        </p:txBody>
      </p:sp>
      <p:sp>
        <p:nvSpPr>
          <p:cNvPr id="5" name="Content Placeholder 4">
            <a:extLst>
              <a:ext uri="{FF2B5EF4-FFF2-40B4-BE49-F238E27FC236}">
                <a16:creationId xmlns:a16="http://schemas.microsoft.com/office/drawing/2014/main" id="{4211B55C-72CC-48FB-98B1-13E571C61B02}"/>
              </a:ext>
            </a:extLst>
          </p:cNvPr>
          <p:cNvSpPr>
            <a:spLocks noGrp="1"/>
          </p:cNvSpPr>
          <p:nvPr>
            <p:ph sz="quarter" idx="1"/>
          </p:nvPr>
        </p:nvSpPr>
        <p:spPr/>
        <p:txBody>
          <a:bodyPr>
            <a:normAutofit/>
          </a:bodyPr>
          <a:lstStyle/>
          <a:p>
            <a:r>
              <a:rPr lang="en-US" sz="3200" dirty="0">
                <a:latin typeface="Arial" panose="020B0604020202020204" pitchFamily="34" charset="0"/>
                <a:cs typeface="Arial" panose="020B0604020202020204" pitchFamily="34" charset="0"/>
              </a:rPr>
              <a:t>Fundamental components</a:t>
            </a:r>
          </a:p>
          <a:p>
            <a:pPr lvl="1"/>
            <a:r>
              <a:rPr lang="en-US" sz="2400" dirty="0">
                <a:latin typeface="Arial" panose="020B0604020202020204" pitchFamily="34" charset="0"/>
                <a:cs typeface="Arial" panose="020B0604020202020204" pitchFamily="34" charset="0"/>
              </a:rPr>
              <a:t>Integrator</a:t>
            </a:r>
          </a:p>
          <a:p>
            <a:pPr lvl="1"/>
            <a:r>
              <a:rPr lang="en-US" sz="2400" dirty="0">
                <a:latin typeface="Arial" panose="020B0604020202020204" pitchFamily="34" charset="0"/>
                <a:cs typeface="Arial" panose="020B0604020202020204" pitchFamily="34" charset="0"/>
              </a:rPr>
              <a:t>Electronically Controlled Switches</a:t>
            </a:r>
          </a:p>
          <a:p>
            <a:pPr lvl="1"/>
            <a:r>
              <a:rPr lang="en-US" sz="2400" dirty="0">
                <a:latin typeface="Arial" panose="020B0604020202020204" pitchFamily="34" charset="0"/>
                <a:cs typeface="Arial" panose="020B0604020202020204" pitchFamily="34" charset="0"/>
              </a:rPr>
              <a:t>Counter</a:t>
            </a:r>
          </a:p>
          <a:p>
            <a:pPr lvl="1"/>
            <a:r>
              <a:rPr lang="en-US" sz="2400" dirty="0">
                <a:latin typeface="Arial" panose="020B0604020202020204" pitchFamily="34" charset="0"/>
                <a:cs typeface="Arial" panose="020B0604020202020204" pitchFamily="34" charset="0"/>
              </a:rPr>
              <a:t>Clock</a:t>
            </a:r>
          </a:p>
          <a:p>
            <a:pPr lvl="1"/>
            <a:r>
              <a:rPr lang="en-US" sz="2400" dirty="0">
                <a:latin typeface="Arial" panose="020B0604020202020204" pitchFamily="34" charset="0"/>
                <a:cs typeface="Arial" panose="020B0604020202020204" pitchFamily="34" charset="0"/>
              </a:rPr>
              <a:t>Control Logic</a:t>
            </a:r>
          </a:p>
          <a:p>
            <a:pPr lvl="1"/>
            <a:r>
              <a:rPr lang="en-US" sz="2400" dirty="0">
                <a:latin typeface="Arial" panose="020B0604020202020204" pitchFamily="34" charset="0"/>
                <a:cs typeface="Arial" panose="020B0604020202020204" pitchFamily="34" charset="0"/>
              </a:rPr>
              <a:t>Comparator</a:t>
            </a:r>
          </a:p>
          <a:p>
            <a:endParaRPr lang="en-GB" sz="2400" dirty="0">
              <a:latin typeface="Arial" panose="020B0604020202020204" pitchFamily="34" charset="0"/>
              <a:cs typeface="Arial" panose="020B0604020202020204" pitchFamily="34" charset="0"/>
            </a:endParaRPr>
          </a:p>
        </p:txBody>
      </p:sp>
      <p:sp>
        <p:nvSpPr>
          <p:cNvPr id="8" name="Title 7">
            <a:extLst>
              <a:ext uri="{FF2B5EF4-FFF2-40B4-BE49-F238E27FC236}">
                <a16:creationId xmlns:a16="http://schemas.microsoft.com/office/drawing/2014/main" id="{6720F728-5328-445A-9BB6-A5E505230755}"/>
              </a:ext>
            </a:extLst>
          </p:cNvPr>
          <p:cNvSpPr>
            <a:spLocks noGrp="1"/>
          </p:cNvSpPr>
          <p:nvPr>
            <p:ph type="title"/>
          </p:nvPr>
        </p:nvSpPr>
        <p:spPr/>
        <p:txBody>
          <a:bodyPr/>
          <a:lstStyle/>
          <a:p>
            <a:r>
              <a:rPr lang="pt-BR" spc="-5" dirty="0"/>
              <a:t>Dual Slope A/D</a:t>
            </a:r>
            <a:r>
              <a:rPr lang="pt-BR" spc="-65" dirty="0"/>
              <a:t> </a:t>
            </a:r>
            <a:r>
              <a:rPr lang="pt-BR" spc="-5" dirty="0"/>
              <a:t>Converter</a:t>
            </a:r>
            <a:endParaRPr lang="en-GB" dirty="0"/>
          </a:p>
        </p:txBody>
      </p:sp>
      <p:sp>
        <p:nvSpPr>
          <p:cNvPr id="6" name="Date Placeholder 5">
            <a:extLst>
              <a:ext uri="{FF2B5EF4-FFF2-40B4-BE49-F238E27FC236}">
                <a16:creationId xmlns:a16="http://schemas.microsoft.com/office/drawing/2014/main" id="{8CE69014-E320-4534-9A78-ACEAFA7B9653}"/>
              </a:ext>
            </a:extLst>
          </p:cNvPr>
          <p:cNvSpPr>
            <a:spLocks noGrp="1"/>
          </p:cNvSpPr>
          <p:nvPr>
            <p:ph type="dt" sz="half" idx="10"/>
          </p:nvPr>
        </p:nvSpPr>
        <p:spPr/>
        <p:txBody>
          <a:bodyPr/>
          <a:lstStyle/>
          <a:p>
            <a:r>
              <a:rPr lang="en-US"/>
              <a:t>V.T.M</a:t>
            </a:r>
            <a:endParaRPr lang="en-US" dirty="0"/>
          </a:p>
        </p:txBody>
      </p:sp>
      <p:sp>
        <p:nvSpPr>
          <p:cNvPr id="7" name="Footer Placeholder 6">
            <a:extLst>
              <a:ext uri="{FF2B5EF4-FFF2-40B4-BE49-F238E27FC236}">
                <a16:creationId xmlns:a16="http://schemas.microsoft.com/office/drawing/2014/main" id="{580CA539-983A-4620-B31B-257A5EE70A3A}"/>
              </a:ext>
            </a:extLst>
          </p:cNvPr>
          <p:cNvSpPr>
            <a:spLocks noGrp="1"/>
          </p:cNvSpPr>
          <p:nvPr>
            <p:ph type="ftr" sz="quarter" idx="11"/>
          </p:nvPr>
        </p:nvSpPr>
        <p:spPr/>
        <p:txBody>
          <a:bodyPr/>
          <a:lstStyle/>
          <a:p>
            <a:r>
              <a:rPr lang="en-US"/>
              <a:t>DN, 2020</a:t>
            </a:r>
            <a:endParaRPr lang="en-US" dirty="0"/>
          </a:p>
        </p:txBody>
      </p:sp>
      <p:sp>
        <p:nvSpPr>
          <p:cNvPr id="4" name="Slide Number Placeholder 3">
            <a:extLst>
              <a:ext uri="{FF2B5EF4-FFF2-40B4-BE49-F238E27FC236}">
                <a16:creationId xmlns:a16="http://schemas.microsoft.com/office/drawing/2014/main" id="{B1E5F299-9EE6-460D-8DAA-D0F0A6A8A53F}"/>
              </a:ext>
            </a:extLst>
          </p:cNvPr>
          <p:cNvSpPr>
            <a:spLocks noGrp="1"/>
          </p:cNvSpPr>
          <p:nvPr>
            <p:ph type="sldNum" sz="quarter" idx="12"/>
          </p:nvPr>
        </p:nvSpPr>
        <p:spPr/>
        <p:txBody>
          <a:bodyPr/>
          <a:lstStyle/>
          <a:p>
            <a:fld id="{B6F15528-21DE-4FAA-801E-634DDDAF4B2B}" type="slidenum">
              <a:rPr lang="en-US" smtClean="0"/>
              <a:t>52</a:t>
            </a:fld>
            <a:endParaRPr lang="en-US" dirty="0"/>
          </a:p>
        </p:txBody>
      </p:sp>
    </p:spTree>
    <p:extLst>
      <p:ext uri="{BB962C8B-B14F-4D97-AF65-F5344CB8AC3E}">
        <p14:creationId xmlns:p14="http://schemas.microsoft.com/office/powerpoint/2010/main" val="1925988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2985640-0397-4305-AFBB-4D6CA5E379FD}"/>
              </a:ext>
            </a:extLst>
          </p:cNvPr>
          <p:cNvSpPr>
            <a:spLocks noGrp="1"/>
          </p:cNvSpPr>
          <p:nvPr>
            <p:ph sz="quarter" idx="1"/>
          </p:nvPr>
        </p:nvSpPr>
        <p:spPr/>
        <p:txBody>
          <a:bodyPr>
            <a:normAutofit/>
          </a:bodyPr>
          <a:lstStyle/>
          <a:p>
            <a:r>
              <a:rPr lang="en-US" sz="2400" dirty="0">
                <a:latin typeface="Arial"/>
                <a:cs typeface="Arial"/>
              </a:rPr>
              <a:t>A </a:t>
            </a:r>
            <a:r>
              <a:rPr lang="en-US" sz="2400" spc="-5" dirty="0">
                <a:latin typeface="Arial"/>
                <a:cs typeface="Arial"/>
              </a:rPr>
              <a:t>dual-slope </a:t>
            </a:r>
            <a:r>
              <a:rPr lang="en-US" sz="2400" dirty="0">
                <a:latin typeface="Arial"/>
                <a:cs typeface="Arial"/>
              </a:rPr>
              <a:t>ADC </a:t>
            </a:r>
            <a:r>
              <a:rPr lang="en-US" sz="2400" spc="-5" dirty="0">
                <a:latin typeface="Arial"/>
                <a:cs typeface="Arial"/>
              </a:rPr>
              <a:t>integrates an unknown input </a:t>
            </a:r>
            <a:r>
              <a:rPr lang="en-US" sz="2400" dirty="0">
                <a:latin typeface="Arial"/>
                <a:cs typeface="Arial"/>
              </a:rPr>
              <a:t>voltage </a:t>
            </a:r>
            <a:r>
              <a:rPr lang="en-US" sz="2400" spc="5" dirty="0">
                <a:latin typeface="Arial"/>
                <a:cs typeface="Arial"/>
              </a:rPr>
              <a:t>(V</a:t>
            </a:r>
            <a:r>
              <a:rPr lang="en-US" sz="2400" spc="7" baseline="-23148" dirty="0">
                <a:latin typeface="Arial"/>
                <a:cs typeface="Arial"/>
              </a:rPr>
              <a:t>IN</a:t>
            </a:r>
            <a:r>
              <a:rPr lang="en-US" sz="2400" spc="5" dirty="0">
                <a:latin typeface="Arial"/>
                <a:cs typeface="Arial"/>
              </a:rPr>
              <a:t>) </a:t>
            </a:r>
            <a:r>
              <a:rPr lang="en-US" sz="2400" dirty="0">
                <a:latin typeface="Arial"/>
                <a:cs typeface="Arial"/>
              </a:rPr>
              <a:t>for a fixed </a:t>
            </a:r>
            <a:r>
              <a:rPr lang="en-US" sz="2400" spc="-5" dirty="0">
                <a:latin typeface="Arial"/>
                <a:cs typeface="Arial"/>
              </a:rPr>
              <a:t>amount of </a:t>
            </a:r>
            <a:r>
              <a:rPr lang="en-US" sz="2400" dirty="0">
                <a:latin typeface="Arial"/>
                <a:cs typeface="Arial"/>
              </a:rPr>
              <a:t>time </a:t>
            </a:r>
            <a:r>
              <a:rPr lang="en-US" sz="2400" spc="-5" dirty="0">
                <a:latin typeface="Arial"/>
                <a:cs typeface="Arial"/>
              </a:rPr>
              <a:t>(T</a:t>
            </a:r>
            <a:r>
              <a:rPr lang="en-US" sz="2400" spc="-7" baseline="-23148" dirty="0">
                <a:latin typeface="Arial"/>
                <a:cs typeface="Arial"/>
              </a:rPr>
              <a:t>INT</a:t>
            </a:r>
            <a:r>
              <a:rPr lang="en-US" sz="2400" spc="-5" dirty="0">
                <a:latin typeface="Arial"/>
                <a:cs typeface="Arial"/>
              </a:rPr>
              <a:t>), </a:t>
            </a:r>
            <a:r>
              <a:rPr lang="en-US" sz="2400" dirty="0">
                <a:latin typeface="Arial"/>
                <a:cs typeface="Arial"/>
              </a:rPr>
              <a:t>then "de-integrates" </a:t>
            </a:r>
            <a:r>
              <a:rPr lang="en-US" sz="2400" spc="-5" dirty="0">
                <a:latin typeface="Arial"/>
                <a:cs typeface="Arial"/>
              </a:rPr>
              <a:t>(T</a:t>
            </a:r>
            <a:r>
              <a:rPr lang="en-US" sz="2400" spc="-7" baseline="-23148" dirty="0">
                <a:latin typeface="Arial"/>
                <a:cs typeface="Arial"/>
              </a:rPr>
              <a:t>DE-INT</a:t>
            </a:r>
            <a:r>
              <a:rPr lang="en-US" sz="2400" spc="-5" dirty="0">
                <a:latin typeface="Arial"/>
                <a:cs typeface="Arial"/>
              </a:rPr>
              <a:t>) using </a:t>
            </a:r>
            <a:r>
              <a:rPr lang="en-US" sz="2400" dirty="0">
                <a:latin typeface="Arial"/>
                <a:cs typeface="Arial"/>
              </a:rPr>
              <a:t>a  known reference voltage (V</a:t>
            </a:r>
            <a:r>
              <a:rPr lang="en-US" sz="2400" baseline="-23148" dirty="0">
                <a:latin typeface="Arial"/>
                <a:cs typeface="Arial"/>
              </a:rPr>
              <a:t>REF</a:t>
            </a:r>
            <a:r>
              <a:rPr lang="en-US" sz="2400" dirty="0">
                <a:latin typeface="Arial"/>
                <a:cs typeface="Arial"/>
              </a:rPr>
              <a:t>) for a variable </a:t>
            </a:r>
            <a:r>
              <a:rPr lang="en-US" sz="2400" spc="-5" dirty="0">
                <a:latin typeface="Arial"/>
                <a:cs typeface="Arial"/>
              </a:rPr>
              <a:t>amount of</a:t>
            </a:r>
            <a:r>
              <a:rPr lang="en-US" sz="2400" spc="-20" dirty="0">
                <a:latin typeface="Arial"/>
                <a:cs typeface="Arial"/>
              </a:rPr>
              <a:t> </a:t>
            </a:r>
            <a:r>
              <a:rPr lang="en-US" sz="2400" dirty="0">
                <a:latin typeface="Arial"/>
                <a:cs typeface="Arial"/>
              </a:rPr>
              <a:t>time.</a:t>
            </a:r>
          </a:p>
          <a:p>
            <a:r>
              <a:rPr lang="en-US" sz="2400" dirty="0">
                <a:latin typeface="Arial"/>
                <a:cs typeface="Arial"/>
              </a:rPr>
              <a:t>The key </a:t>
            </a:r>
            <a:r>
              <a:rPr lang="en-US" sz="2400" spc="-5" dirty="0">
                <a:latin typeface="Arial"/>
                <a:cs typeface="Arial"/>
              </a:rPr>
              <a:t>advantage of </a:t>
            </a:r>
            <a:r>
              <a:rPr lang="en-US" sz="2400" dirty="0">
                <a:latin typeface="Arial"/>
                <a:cs typeface="Arial"/>
              </a:rPr>
              <a:t>this </a:t>
            </a:r>
            <a:r>
              <a:rPr lang="en-US" sz="2400" spc="-5" dirty="0">
                <a:latin typeface="Arial"/>
                <a:cs typeface="Arial"/>
              </a:rPr>
              <a:t>architecture over </a:t>
            </a:r>
            <a:r>
              <a:rPr lang="en-US" sz="2400" dirty="0">
                <a:latin typeface="Arial"/>
                <a:cs typeface="Arial"/>
              </a:rPr>
              <a:t>the single-slope </a:t>
            </a:r>
            <a:r>
              <a:rPr lang="en-US" sz="2400" spc="-5" dirty="0">
                <a:latin typeface="Arial"/>
                <a:cs typeface="Arial"/>
              </a:rPr>
              <a:t>is </a:t>
            </a:r>
            <a:r>
              <a:rPr lang="en-US" sz="2400" dirty="0">
                <a:latin typeface="Arial"/>
                <a:cs typeface="Arial"/>
              </a:rPr>
              <a:t>that the final conversion result </a:t>
            </a:r>
            <a:r>
              <a:rPr lang="en-US" sz="2400" spc="-5" dirty="0">
                <a:latin typeface="Arial"/>
                <a:cs typeface="Arial"/>
              </a:rPr>
              <a:t>is insensitive </a:t>
            </a:r>
            <a:r>
              <a:rPr lang="en-US" sz="2400" dirty="0">
                <a:latin typeface="Arial"/>
                <a:cs typeface="Arial"/>
              </a:rPr>
              <a:t>to </a:t>
            </a:r>
            <a:r>
              <a:rPr lang="en-US" sz="2400" spc="-5" dirty="0">
                <a:latin typeface="Arial"/>
                <a:cs typeface="Arial"/>
              </a:rPr>
              <a:t>errors in </a:t>
            </a:r>
            <a:r>
              <a:rPr lang="en-US" sz="2400" dirty="0">
                <a:latin typeface="Arial"/>
                <a:cs typeface="Arial"/>
              </a:rPr>
              <a:t>the component values. That </a:t>
            </a:r>
            <a:r>
              <a:rPr lang="en-US" sz="2400" spc="-5" dirty="0">
                <a:latin typeface="Arial"/>
                <a:cs typeface="Arial"/>
              </a:rPr>
              <a:t>is, any error introduced by </a:t>
            </a:r>
            <a:r>
              <a:rPr lang="en-US" sz="2400" dirty="0">
                <a:latin typeface="Arial"/>
                <a:cs typeface="Arial"/>
              </a:rPr>
              <a:t>a component value </a:t>
            </a:r>
            <a:r>
              <a:rPr lang="en-US" sz="2400" spc="-5" dirty="0">
                <a:latin typeface="Arial"/>
                <a:cs typeface="Arial"/>
              </a:rPr>
              <a:t>during </a:t>
            </a:r>
            <a:r>
              <a:rPr lang="en-US" sz="2400" dirty="0">
                <a:latin typeface="Arial"/>
                <a:cs typeface="Arial"/>
              </a:rPr>
              <a:t>the </a:t>
            </a:r>
            <a:r>
              <a:rPr lang="en-US" sz="2400" spc="-5" dirty="0">
                <a:latin typeface="Arial"/>
                <a:cs typeface="Arial"/>
              </a:rPr>
              <a:t>integrate </a:t>
            </a:r>
            <a:r>
              <a:rPr lang="en-US" sz="2400" dirty="0">
                <a:latin typeface="Arial"/>
                <a:cs typeface="Arial"/>
              </a:rPr>
              <a:t>cycle </a:t>
            </a:r>
            <a:r>
              <a:rPr lang="en-US" sz="2400" spc="-5" dirty="0">
                <a:latin typeface="Arial"/>
                <a:cs typeface="Arial"/>
              </a:rPr>
              <a:t>will be </a:t>
            </a:r>
            <a:r>
              <a:rPr lang="en-US" sz="2400" dirty="0">
                <a:latin typeface="Arial"/>
                <a:cs typeface="Arial"/>
              </a:rPr>
              <a:t>cancelled </a:t>
            </a:r>
            <a:r>
              <a:rPr lang="en-US" sz="2400" spc="-5" dirty="0">
                <a:latin typeface="Arial"/>
                <a:cs typeface="Arial"/>
              </a:rPr>
              <a:t>out during </a:t>
            </a:r>
            <a:r>
              <a:rPr lang="en-US" sz="2400" dirty="0">
                <a:latin typeface="Arial"/>
                <a:cs typeface="Arial"/>
              </a:rPr>
              <a:t>the </a:t>
            </a:r>
            <a:r>
              <a:rPr lang="en-US" sz="2400" spc="-5" dirty="0">
                <a:latin typeface="Arial"/>
                <a:cs typeface="Arial"/>
              </a:rPr>
              <a:t>de-integrate</a:t>
            </a:r>
            <a:r>
              <a:rPr lang="en-US" sz="2400" spc="-15" dirty="0">
                <a:latin typeface="Arial"/>
                <a:cs typeface="Arial"/>
              </a:rPr>
              <a:t> </a:t>
            </a:r>
            <a:r>
              <a:rPr lang="en-US" sz="2400" spc="-5" dirty="0">
                <a:latin typeface="Arial"/>
                <a:cs typeface="Arial"/>
              </a:rPr>
              <a:t>phase.</a:t>
            </a:r>
            <a:endParaRPr lang="en-US" sz="2400" dirty="0">
              <a:latin typeface="Arial"/>
              <a:cs typeface="Arial"/>
            </a:endParaRPr>
          </a:p>
          <a:p>
            <a:endParaRPr lang="en-GB" sz="1600" dirty="0"/>
          </a:p>
        </p:txBody>
      </p:sp>
      <p:sp>
        <p:nvSpPr>
          <p:cNvPr id="8" name="Title 7">
            <a:extLst>
              <a:ext uri="{FF2B5EF4-FFF2-40B4-BE49-F238E27FC236}">
                <a16:creationId xmlns:a16="http://schemas.microsoft.com/office/drawing/2014/main" id="{7303DEFE-4DC3-4CB3-B3E7-AE0E7F6F2778}"/>
              </a:ext>
            </a:extLst>
          </p:cNvPr>
          <p:cNvSpPr>
            <a:spLocks noGrp="1"/>
          </p:cNvSpPr>
          <p:nvPr>
            <p:ph type="title"/>
          </p:nvPr>
        </p:nvSpPr>
        <p:spPr/>
        <p:txBody>
          <a:bodyPr/>
          <a:lstStyle/>
          <a:p>
            <a:r>
              <a:rPr lang="en-US" spc="-10" dirty="0"/>
              <a:t>How </a:t>
            </a:r>
            <a:r>
              <a:rPr lang="en-US" spc="-5" dirty="0"/>
              <a:t>does it work?</a:t>
            </a:r>
            <a:endParaRPr lang="en-GB" dirty="0"/>
          </a:p>
        </p:txBody>
      </p:sp>
      <p:sp>
        <p:nvSpPr>
          <p:cNvPr id="5" name="Date Placeholder 4">
            <a:extLst>
              <a:ext uri="{FF2B5EF4-FFF2-40B4-BE49-F238E27FC236}">
                <a16:creationId xmlns:a16="http://schemas.microsoft.com/office/drawing/2014/main" id="{15AE8DBD-65B8-4516-97C1-D3B720CF0DA1}"/>
              </a:ext>
            </a:extLst>
          </p:cNvPr>
          <p:cNvSpPr>
            <a:spLocks noGrp="1"/>
          </p:cNvSpPr>
          <p:nvPr>
            <p:ph type="dt" sz="half" idx="10"/>
          </p:nvPr>
        </p:nvSpPr>
        <p:spPr/>
        <p:txBody>
          <a:bodyPr/>
          <a:lstStyle/>
          <a:p>
            <a:r>
              <a:rPr lang="en-US"/>
              <a:t>V.T.M</a:t>
            </a:r>
            <a:endParaRPr lang="en-US" dirty="0"/>
          </a:p>
        </p:txBody>
      </p:sp>
      <p:sp>
        <p:nvSpPr>
          <p:cNvPr id="7" name="Footer Placeholder 6">
            <a:extLst>
              <a:ext uri="{FF2B5EF4-FFF2-40B4-BE49-F238E27FC236}">
                <a16:creationId xmlns:a16="http://schemas.microsoft.com/office/drawing/2014/main" id="{D315AB86-7FAC-4A70-9F0D-ECA1B2BFDFE7}"/>
              </a:ext>
            </a:extLst>
          </p:cNvPr>
          <p:cNvSpPr>
            <a:spLocks noGrp="1"/>
          </p:cNvSpPr>
          <p:nvPr>
            <p:ph type="ftr" sz="quarter" idx="11"/>
          </p:nvPr>
        </p:nvSpPr>
        <p:spPr/>
        <p:txBody>
          <a:bodyPr/>
          <a:lstStyle/>
          <a:p>
            <a:r>
              <a:rPr lang="en-US"/>
              <a:t>DN, 2020</a:t>
            </a:r>
            <a:endParaRPr lang="en-US" dirty="0"/>
          </a:p>
        </p:txBody>
      </p:sp>
      <p:sp>
        <p:nvSpPr>
          <p:cNvPr id="3" name="Slide Number Placeholder 2">
            <a:extLst>
              <a:ext uri="{FF2B5EF4-FFF2-40B4-BE49-F238E27FC236}">
                <a16:creationId xmlns:a16="http://schemas.microsoft.com/office/drawing/2014/main" id="{90635564-97DD-4957-9CED-CFD8E9A66329}"/>
              </a:ext>
            </a:extLst>
          </p:cNvPr>
          <p:cNvSpPr>
            <a:spLocks noGrp="1"/>
          </p:cNvSpPr>
          <p:nvPr>
            <p:ph type="sldNum" sz="quarter" idx="12"/>
          </p:nvPr>
        </p:nvSpPr>
        <p:spPr/>
        <p:txBody>
          <a:bodyPr/>
          <a:lstStyle/>
          <a:p>
            <a:fld id="{B6F15528-21DE-4FAA-801E-634DDDAF4B2B}" type="slidenum">
              <a:rPr lang="en-US" smtClean="0"/>
              <a:t>53</a:t>
            </a:fld>
            <a:endParaRPr lang="en-US" dirty="0"/>
          </a:p>
        </p:txBody>
      </p:sp>
      <p:sp>
        <p:nvSpPr>
          <p:cNvPr id="4" name="object 4"/>
          <p:cNvSpPr/>
          <p:nvPr/>
        </p:nvSpPr>
        <p:spPr>
          <a:xfrm>
            <a:off x="4419600" y="4572000"/>
            <a:ext cx="5145023" cy="2590800"/>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33449370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477000" y="1738124"/>
            <a:ext cx="3365035" cy="2910076"/>
          </a:xfrm>
          <a:prstGeom prst="rect">
            <a:avLst/>
          </a:prstGeom>
          <a:blipFill>
            <a:blip r:embed="rId2" cstate="print"/>
            <a:stretch>
              <a:fillRect/>
            </a:stretch>
          </a:blipFill>
        </p:spPr>
        <p:txBody>
          <a:bodyPr wrap="square" lIns="0" tIns="0" rIns="0" bIns="0" rtlCol="0"/>
          <a:lstStyle/>
          <a:p>
            <a:endParaRPr dirty="0"/>
          </a:p>
        </p:txBody>
      </p:sp>
      <p:sp>
        <p:nvSpPr>
          <p:cNvPr id="14" name="object 14"/>
          <p:cNvSpPr/>
          <p:nvPr/>
        </p:nvSpPr>
        <p:spPr>
          <a:xfrm>
            <a:off x="6400800" y="4678680"/>
            <a:ext cx="3288791" cy="2103120"/>
          </a:xfrm>
          <a:prstGeom prst="rect">
            <a:avLst/>
          </a:prstGeom>
          <a:blipFill>
            <a:blip r:embed="rId3" cstate="print"/>
            <a:stretch>
              <a:fillRect/>
            </a:stretch>
          </a:blipFill>
        </p:spPr>
        <p:txBody>
          <a:bodyPr wrap="square" lIns="0" tIns="0" rIns="0" bIns="0" rtlCol="0"/>
          <a:lstStyle/>
          <a:p>
            <a:endParaRPr dirty="0"/>
          </a:p>
        </p:txBody>
      </p:sp>
      <p:sp>
        <p:nvSpPr>
          <p:cNvPr id="15" name="Content Placeholder 14">
            <a:extLst>
              <a:ext uri="{FF2B5EF4-FFF2-40B4-BE49-F238E27FC236}">
                <a16:creationId xmlns:a16="http://schemas.microsoft.com/office/drawing/2014/main" id="{36A8EFC0-D657-41F5-8437-4565638A115C}"/>
              </a:ext>
            </a:extLst>
          </p:cNvPr>
          <p:cNvSpPr>
            <a:spLocks noGrp="1"/>
          </p:cNvSpPr>
          <p:nvPr>
            <p:ph sz="quarter" idx="1"/>
          </p:nvPr>
        </p:nvSpPr>
        <p:spPr>
          <a:xfrm>
            <a:off x="331927" y="1730654"/>
            <a:ext cx="6297473" cy="5181600"/>
          </a:xfrm>
        </p:spPr>
        <p:txBody>
          <a:bodyPr>
            <a:normAutofit fontScale="92500" lnSpcReduction="10000"/>
          </a:bodyPr>
          <a:lstStyle/>
          <a:p>
            <a:pPr marL="12700" marR="464184">
              <a:lnSpc>
                <a:spcPct val="120000"/>
              </a:lnSpc>
              <a:spcBef>
                <a:spcPts val="0"/>
              </a:spcBef>
            </a:pPr>
            <a:r>
              <a:rPr lang="en-US" sz="1800" dirty="0">
                <a:latin typeface="Arial"/>
                <a:cs typeface="Arial"/>
              </a:rPr>
              <a:t>At t &lt; 0, </a:t>
            </a:r>
            <a:r>
              <a:rPr lang="en-US" sz="1800" spc="-10" dirty="0">
                <a:latin typeface="Arial"/>
                <a:cs typeface="Arial"/>
              </a:rPr>
              <a:t>S</a:t>
            </a:r>
            <a:r>
              <a:rPr lang="en-US" sz="1800" spc="-15" baseline="-20833" dirty="0">
                <a:latin typeface="Arial"/>
                <a:cs typeface="Arial"/>
              </a:rPr>
              <a:t>1 </a:t>
            </a:r>
            <a:r>
              <a:rPr lang="en-US" sz="1800" spc="-5" dirty="0">
                <a:latin typeface="Arial"/>
                <a:cs typeface="Arial"/>
              </a:rPr>
              <a:t>is </a:t>
            </a:r>
            <a:r>
              <a:rPr lang="en-US" sz="1800" dirty="0">
                <a:latin typeface="Arial"/>
                <a:cs typeface="Arial"/>
              </a:rPr>
              <a:t>set to </a:t>
            </a:r>
            <a:r>
              <a:rPr lang="en-US" sz="1800" spc="-5" dirty="0">
                <a:latin typeface="Arial"/>
                <a:cs typeface="Arial"/>
              </a:rPr>
              <a:t>ground, </a:t>
            </a:r>
            <a:r>
              <a:rPr lang="en-US" sz="1800" dirty="0">
                <a:latin typeface="Arial"/>
                <a:cs typeface="Arial"/>
              </a:rPr>
              <a:t>S</a:t>
            </a:r>
            <a:r>
              <a:rPr lang="en-US" sz="1800" baseline="-20833" dirty="0">
                <a:latin typeface="Arial"/>
                <a:cs typeface="Arial"/>
              </a:rPr>
              <a:t>2 </a:t>
            </a:r>
            <a:r>
              <a:rPr lang="en-US" sz="1800" dirty="0">
                <a:latin typeface="Arial"/>
                <a:cs typeface="Arial"/>
              </a:rPr>
              <a:t>is closed, </a:t>
            </a:r>
            <a:r>
              <a:rPr lang="en-US" sz="1800" spc="-5" dirty="0">
                <a:latin typeface="Arial"/>
                <a:cs typeface="Arial"/>
              </a:rPr>
              <a:t>and </a:t>
            </a:r>
            <a:r>
              <a:rPr lang="en-US" sz="1800" dirty="0">
                <a:latin typeface="Arial"/>
                <a:cs typeface="Arial"/>
              </a:rPr>
              <a:t>counter = 0.</a:t>
            </a:r>
          </a:p>
          <a:p>
            <a:pPr marL="12700" marR="27305">
              <a:lnSpc>
                <a:spcPct val="120000"/>
              </a:lnSpc>
              <a:spcBef>
                <a:spcPts val="0"/>
              </a:spcBef>
            </a:pPr>
            <a:r>
              <a:rPr lang="en-US" sz="1800" dirty="0">
                <a:latin typeface="Arial"/>
                <a:cs typeface="Arial"/>
              </a:rPr>
              <a:t>At t = 0, a conversion </a:t>
            </a:r>
            <a:r>
              <a:rPr lang="en-US" sz="1800" spc="-5" dirty="0">
                <a:latin typeface="Arial"/>
                <a:cs typeface="Arial"/>
              </a:rPr>
              <a:t>begins and S</a:t>
            </a:r>
            <a:r>
              <a:rPr lang="en-US" sz="1800" spc="-7" baseline="-20833" dirty="0">
                <a:latin typeface="Arial"/>
                <a:cs typeface="Arial"/>
              </a:rPr>
              <a:t>2 </a:t>
            </a:r>
            <a:r>
              <a:rPr lang="en-US" sz="1800" spc="-5" dirty="0">
                <a:latin typeface="Arial"/>
                <a:cs typeface="Arial"/>
              </a:rPr>
              <a:t>is open, and S</a:t>
            </a:r>
            <a:r>
              <a:rPr lang="en-US" sz="1800" spc="-7" baseline="-20833" dirty="0">
                <a:latin typeface="Arial"/>
                <a:cs typeface="Arial"/>
              </a:rPr>
              <a:t>1  </a:t>
            </a:r>
            <a:r>
              <a:rPr lang="en-US" sz="1800" spc="-5" dirty="0">
                <a:latin typeface="Arial"/>
                <a:cs typeface="Arial"/>
              </a:rPr>
              <a:t>is </a:t>
            </a:r>
            <a:r>
              <a:rPr lang="en-US" sz="1800" dirty="0">
                <a:latin typeface="Arial"/>
                <a:cs typeface="Arial"/>
              </a:rPr>
              <a:t>set </a:t>
            </a:r>
            <a:r>
              <a:rPr lang="en-US" sz="1800" spc="5" dirty="0">
                <a:latin typeface="Arial"/>
                <a:cs typeface="Arial"/>
              </a:rPr>
              <a:t>so </a:t>
            </a:r>
            <a:r>
              <a:rPr lang="en-US" sz="1800" dirty="0">
                <a:latin typeface="Arial"/>
                <a:cs typeface="Arial"/>
              </a:rPr>
              <a:t>the </a:t>
            </a:r>
            <a:r>
              <a:rPr lang="en-US" sz="1800" spc="-5" dirty="0">
                <a:latin typeface="Arial"/>
                <a:cs typeface="Arial"/>
              </a:rPr>
              <a:t>input </a:t>
            </a:r>
            <a:r>
              <a:rPr lang="en-US" sz="1800" dirty="0">
                <a:latin typeface="Arial"/>
                <a:cs typeface="Arial"/>
              </a:rPr>
              <a:t>to the </a:t>
            </a:r>
            <a:r>
              <a:rPr lang="en-US" sz="1800" spc="-5" dirty="0">
                <a:latin typeface="Arial"/>
                <a:cs typeface="Arial"/>
              </a:rPr>
              <a:t>integrator is</a:t>
            </a:r>
            <a:r>
              <a:rPr lang="en-US" sz="1800" spc="-15" dirty="0">
                <a:latin typeface="Arial"/>
                <a:cs typeface="Arial"/>
              </a:rPr>
              <a:t> </a:t>
            </a:r>
            <a:r>
              <a:rPr lang="en-US" sz="1800" spc="-5" dirty="0">
                <a:latin typeface="Arial"/>
                <a:cs typeface="Arial"/>
              </a:rPr>
              <a:t>V</a:t>
            </a:r>
            <a:r>
              <a:rPr lang="en-US" sz="1800" spc="-7" baseline="-20833" dirty="0">
                <a:latin typeface="Arial"/>
                <a:cs typeface="Arial"/>
              </a:rPr>
              <a:t>in</a:t>
            </a:r>
            <a:r>
              <a:rPr lang="en-US" sz="1800" spc="-5" dirty="0">
                <a:latin typeface="Arial"/>
                <a:cs typeface="Arial"/>
              </a:rPr>
              <a:t>.</a:t>
            </a:r>
            <a:endParaRPr lang="en-US" sz="1800" dirty="0">
              <a:latin typeface="Arial"/>
              <a:cs typeface="Arial"/>
            </a:endParaRPr>
          </a:p>
          <a:p>
            <a:pPr marL="12700" marR="903605">
              <a:lnSpc>
                <a:spcPct val="120000"/>
              </a:lnSpc>
              <a:spcBef>
                <a:spcPts val="0"/>
              </a:spcBef>
            </a:pPr>
            <a:r>
              <a:rPr lang="en-US" sz="1800" spc="-10" dirty="0">
                <a:latin typeface="Arial"/>
                <a:cs typeface="Arial"/>
              </a:rPr>
              <a:t>S</a:t>
            </a:r>
            <a:r>
              <a:rPr lang="en-US" sz="1800" spc="-15" baseline="-20833" dirty="0">
                <a:latin typeface="Arial"/>
                <a:cs typeface="Arial"/>
              </a:rPr>
              <a:t>1 </a:t>
            </a:r>
            <a:r>
              <a:rPr lang="en-US" sz="1800" spc="-5" dirty="0">
                <a:latin typeface="Arial"/>
                <a:cs typeface="Arial"/>
              </a:rPr>
              <a:t>is held </a:t>
            </a:r>
            <a:r>
              <a:rPr lang="en-US" sz="1800" dirty="0">
                <a:latin typeface="Arial"/>
                <a:cs typeface="Arial"/>
              </a:rPr>
              <a:t>for T</a:t>
            </a:r>
            <a:r>
              <a:rPr lang="en-US" sz="1800" baseline="-20833" dirty="0">
                <a:latin typeface="Arial"/>
                <a:cs typeface="Arial"/>
              </a:rPr>
              <a:t>INT </a:t>
            </a:r>
            <a:r>
              <a:rPr lang="en-US" sz="1800" spc="-5" dirty="0">
                <a:latin typeface="Arial"/>
                <a:cs typeface="Arial"/>
              </a:rPr>
              <a:t>which is </a:t>
            </a:r>
            <a:r>
              <a:rPr lang="en-US" sz="1800" dirty="0">
                <a:latin typeface="Arial"/>
                <a:cs typeface="Arial"/>
              </a:rPr>
              <a:t>a constant </a:t>
            </a:r>
            <a:r>
              <a:rPr lang="en-US" sz="1800" spc="-5" dirty="0">
                <a:latin typeface="Arial"/>
                <a:cs typeface="Arial"/>
              </a:rPr>
              <a:t>predetermined </a:t>
            </a:r>
            <a:r>
              <a:rPr lang="en-US" sz="1800" dirty="0">
                <a:latin typeface="Arial"/>
                <a:cs typeface="Arial"/>
              </a:rPr>
              <a:t>time</a:t>
            </a:r>
            <a:r>
              <a:rPr lang="en-US" sz="1800" spc="-15" dirty="0">
                <a:latin typeface="Arial"/>
                <a:cs typeface="Arial"/>
              </a:rPr>
              <a:t> </a:t>
            </a:r>
            <a:r>
              <a:rPr lang="en-US" sz="1800" spc="-5" dirty="0">
                <a:latin typeface="Arial"/>
                <a:cs typeface="Arial"/>
              </a:rPr>
              <a:t>interval.</a:t>
            </a:r>
            <a:endParaRPr lang="en-US" sz="1800" dirty="0">
              <a:latin typeface="Arial"/>
              <a:cs typeface="Arial"/>
            </a:endParaRPr>
          </a:p>
          <a:p>
            <a:pPr marL="12700" marR="129539">
              <a:lnSpc>
                <a:spcPct val="120000"/>
              </a:lnSpc>
              <a:spcBef>
                <a:spcPts val="0"/>
              </a:spcBef>
            </a:pPr>
            <a:r>
              <a:rPr lang="en-US" sz="1800" dirty="0">
                <a:latin typeface="Arial"/>
                <a:cs typeface="Arial"/>
              </a:rPr>
              <a:t>When </a:t>
            </a:r>
            <a:r>
              <a:rPr lang="en-US" sz="1800" spc="-5" dirty="0">
                <a:latin typeface="Arial"/>
                <a:cs typeface="Arial"/>
              </a:rPr>
              <a:t>S</a:t>
            </a:r>
            <a:r>
              <a:rPr lang="en-US" sz="1800" spc="-7" baseline="-20833" dirty="0">
                <a:latin typeface="Arial"/>
                <a:cs typeface="Arial"/>
              </a:rPr>
              <a:t>1 </a:t>
            </a:r>
            <a:r>
              <a:rPr lang="en-US" sz="1800" spc="-5" dirty="0">
                <a:latin typeface="Arial"/>
                <a:cs typeface="Arial"/>
              </a:rPr>
              <a:t>is </a:t>
            </a:r>
            <a:r>
              <a:rPr lang="en-US" sz="1800" dirty="0">
                <a:latin typeface="Arial"/>
                <a:cs typeface="Arial"/>
              </a:rPr>
              <a:t>set the counter begins to count clock </a:t>
            </a:r>
            <a:r>
              <a:rPr lang="en-US" sz="1800" spc="-5" dirty="0">
                <a:latin typeface="Arial"/>
                <a:cs typeface="Arial"/>
              </a:rPr>
              <a:t>pulses, </a:t>
            </a:r>
            <a:r>
              <a:rPr lang="en-US" sz="1800" dirty="0">
                <a:latin typeface="Arial"/>
                <a:cs typeface="Arial"/>
              </a:rPr>
              <a:t>the counter resets to zero after</a:t>
            </a:r>
            <a:r>
              <a:rPr lang="en-US" sz="1800" spc="-45" dirty="0">
                <a:latin typeface="Arial"/>
                <a:cs typeface="Arial"/>
              </a:rPr>
              <a:t> </a:t>
            </a:r>
            <a:r>
              <a:rPr lang="en-US" sz="1800" dirty="0">
                <a:latin typeface="Arial"/>
                <a:cs typeface="Arial"/>
              </a:rPr>
              <a:t>T</a:t>
            </a:r>
            <a:r>
              <a:rPr lang="en-US" sz="1800" baseline="-20833" dirty="0">
                <a:latin typeface="Arial"/>
                <a:cs typeface="Arial"/>
              </a:rPr>
              <a:t>INT</a:t>
            </a:r>
          </a:p>
          <a:p>
            <a:pPr marL="12700" marR="94615">
              <a:lnSpc>
                <a:spcPct val="120000"/>
              </a:lnSpc>
              <a:spcBef>
                <a:spcPts val="0"/>
              </a:spcBef>
            </a:pPr>
            <a:r>
              <a:rPr lang="en-US" sz="1800" spc="-5" dirty="0">
                <a:latin typeface="Arial"/>
                <a:cs typeface="Arial"/>
              </a:rPr>
              <a:t>V</a:t>
            </a:r>
            <a:r>
              <a:rPr lang="en-US" sz="1800" spc="-7" baseline="-20833" dirty="0">
                <a:latin typeface="Arial"/>
                <a:cs typeface="Arial"/>
              </a:rPr>
              <a:t>o </a:t>
            </a:r>
            <a:r>
              <a:rPr lang="en-US" sz="1800" spc="5" dirty="0">
                <a:latin typeface="Arial"/>
                <a:cs typeface="Arial"/>
              </a:rPr>
              <a:t>of </a:t>
            </a:r>
            <a:r>
              <a:rPr lang="en-US" sz="1800" spc="-5" dirty="0">
                <a:latin typeface="Arial"/>
                <a:cs typeface="Arial"/>
              </a:rPr>
              <a:t>integrator at </a:t>
            </a:r>
            <a:r>
              <a:rPr lang="en-US" sz="1800" spc="5" dirty="0">
                <a:latin typeface="Arial"/>
                <a:cs typeface="Arial"/>
              </a:rPr>
              <a:t>t = T</a:t>
            </a:r>
            <a:r>
              <a:rPr lang="en-US" sz="1800" spc="7" baseline="-20833" dirty="0">
                <a:latin typeface="Arial"/>
                <a:cs typeface="Arial"/>
              </a:rPr>
              <a:t>INT </a:t>
            </a:r>
            <a:r>
              <a:rPr lang="en-US" sz="1800" dirty="0">
                <a:latin typeface="Arial"/>
                <a:cs typeface="Arial"/>
              </a:rPr>
              <a:t>is V</a:t>
            </a:r>
            <a:r>
              <a:rPr lang="en-US" sz="1800" baseline="-20833" dirty="0">
                <a:latin typeface="Arial"/>
                <a:cs typeface="Arial"/>
              </a:rPr>
              <a:t>IN</a:t>
            </a:r>
            <a:r>
              <a:rPr lang="en-US" sz="1800" dirty="0">
                <a:latin typeface="Arial"/>
                <a:cs typeface="Arial"/>
              </a:rPr>
              <a:t>T</a:t>
            </a:r>
            <a:r>
              <a:rPr lang="en-US" sz="1800" baseline="-20833" dirty="0">
                <a:latin typeface="Arial"/>
                <a:cs typeface="Arial"/>
              </a:rPr>
              <a:t>INT</a:t>
            </a:r>
            <a:r>
              <a:rPr lang="en-US" sz="1800" dirty="0">
                <a:latin typeface="Arial"/>
                <a:cs typeface="Arial"/>
              </a:rPr>
              <a:t>/RC </a:t>
            </a:r>
            <a:r>
              <a:rPr lang="en-US" sz="1800" spc="-5" dirty="0">
                <a:latin typeface="Arial"/>
                <a:cs typeface="Arial"/>
              </a:rPr>
              <a:t>is linearly proportional </a:t>
            </a:r>
            <a:r>
              <a:rPr lang="en-US" sz="1800" dirty="0">
                <a:latin typeface="Arial"/>
                <a:cs typeface="Arial"/>
              </a:rPr>
              <a:t>to</a:t>
            </a:r>
            <a:r>
              <a:rPr lang="en-US" sz="1800" spc="30" dirty="0">
                <a:latin typeface="Arial"/>
                <a:cs typeface="Arial"/>
              </a:rPr>
              <a:t> </a:t>
            </a:r>
            <a:r>
              <a:rPr lang="en-US" sz="1800" spc="15" dirty="0">
                <a:latin typeface="Arial"/>
                <a:cs typeface="Arial"/>
              </a:rPr>
              <a:t>V</a:t>
            </a:r>
            <a:r>
              <a:rPr lang="en-US" sz="1800" spc="22" baseline="-20833" dirty="0">
                <a:latin typeface="Arial"/>
                <a:cs typeface="Arial"/>
              </a:rPr>
              <a:t>IN</a:t>
            </a:r>
            <a:endParaRPr lang="en-US" sz="1800" baseline="-20833" dirty="0">
              <a:latin typeface="Arial"/>
              <a:cs typeface="Arial"/>
            </a:endParaRPr>
          </a:p>
          <a:p>
            <a:pPr marL="12700" marR="5080">
              <a:lnSpc>
                <a:spcPct val="120000"/>
              </a:lnSpc>
              <a:spcBef>
                <a:spcPts val="0"/>
              </a:spcBef>
            </a:pPr>
            <a:r>
              <a:rPr lang="en-US" sz="1800" dirty="0">
                <a:latin typeface="Arial"/>
                <a:cs typeface="Arial"/>
              </a:rPr>
              <a:t>At t = T</a:t>
            </a:r>
            <a:r>
              <a:rPr lang="en-US" sz="1800" baseline="-20833" dirty="0">
                <a:latin typeface="Arial"/>
                <a:cs typeface="Arial"/>
              </a:rPr>
              <a:t>INT</a:t>
            </a:r>
            <a:r>
              <a:rPr lang="en-US" sz="1800" dirty="0">
                <a:latin typeface="Arial"/>
                <a:cs typeface="Arial"/>
              </a:rPr>
              <a:t>, </a:t>
            </a:r>
            <a:r>
              <a:rPr lang="en-US" sz="1800" spc="5" dirty="0">
                <a:latin typeface="Arial"/>
                <a:cs typeface="Arial"/>
              </a:rPr>
              <a:t>S</a:t>
            </a:r>
            <a:r>
              <a:rPr lang="en-US" sz="1800" spc="7" baseline="-20833" dirty="0">
                <a:latin typeface="Arial"/>
                <a:cs typeface="Arial"/>
              </a:rPr>
              <a:t>1 </a:t>
            </a:r>
            <a:r>
              <a:rPr lang="en-US" sz="1800" spc="-5" dirty="0">
                <a:latin typeface="Arial"/>
                <a:cs typeface="Arial"/>
              </a:rPr>
              <a:t>is </a:t>
            </a:r>
            <a:r>
              <a:rPr lang="en-US" sz="1800" dirty="0">
                <a:latin typeface="Arial"/>
                <a:cs typeface="Arial"/>
              </a:rPr>
              <a:t>set </a:t>
            </a:r>
            <a:r>
              <a:rPr lang="en-US" sz="1800" spc="5" dirty="0">
                <a:latin typeface="Arial"/>
                <a:cs typeface="Arial"/>
              </a:rPr>
              <a:t>so </a:t>
            </a:r>
            <a:r>
              <a:rPr lang="en-US" sz="1800" spc="-5" dirty="0">
                <a:latin typeface="Arial"/>
                <a:cs typeface="Arial"/>
              </a:rPr>
              <a:t>-V</a:t>
            </a:r>
            <a:r>
              <a:rPr lang="en-US" sz="1800" spc="-7" baseline="-20833" dirty="0">
                <a:latin typeface="Arial"/>
                <a:cs typeface="Arial"/>
              </a:rPr>
              <a:t>ref </a:t>
            </a:r>
            <a:r>
              <a:rPr lang="en-US" sz="1800" dirty="0">
                <a:latin typeface="Arial"/>
                <a:cs typeface="Arial"/>
              </a:rPr>
              <a:t>is the </a:t>
            </a:r>
            <a:r>
              <a:rPr lang="en-US" sz="1800" spc="-5" dirty="0">
                <a:latin typeface="Arial"/>
                <a:cs typeface="Arial"/>
              </a:rPr>
              <a:t>input </a:t>
            </a:r>
            <a:r>
              <a:rPr lang="en-US" sz="1800" dirty="0">
                <a:latin typeface="Arial"/>
                <a:cs typeface="Arial"/>
              </a:rPr>
              <a:t>to the </a:t>
            </a:r>
            <a:r>
              <a:rPr lang="en-US" sz="1800" spc="-5" dirty="0">
                <a:latin typeface="Arial"/>
                <a:cs typeface="Arial"/>
              </a:rPr>
              <a:t>integrator which has </a:t>
            </a:r>
            <a:r>
              <a:rPr lang="en-US" sz="1800" dirty="0">
                <a:latin typeface="Arial"/>
                <a:cs typeface="Arial"/>
              </a:rPr>
              <a:t>the </a:t>
            </a:r>
            <a:r>
              <a:rPr lang="en-US" sz="1800" spc="-5" dirty="0">
                <a:latin typeface="Arial"/>
                <a:cs typeface="Arial"/>
              </a:rPr>
              <a:t>voltage </a:t>
            </a:r>
            <a:r>
              <a:rPr lang="en-US" sz="1800" dirty="0">
                <a:latin typeface="Arial"/>
                <a:cs typeface="Arial"/>
              </a:rPr>
              <a:t>V</a:t>
            </a:r>
            <a:r>
              <a:rPr lang="en-US" sz="1800" baseline="-20833" dirty="0">
                <a:latin typeface="Arial"/>
                <a:cs typeface="Arial"/>
              </a:rPr>
              <a:t>IN</a:t>
            </a:r>
            <a:r>
              <a:rPr lang="en-US" sz="1800" dirty="0">
                <a:latin typeface="Arial"/>
                <a:cs typeface="Arial"/>
              </a:rPr>
              <a:t>T</a:t>
            </a:r>
            <a:r>
              <a:rPr lang="en-US" sz="1800" baseline="-20833" dirty="0">
                <a:latin typeface="Arial"/>
                <a:cs typeface="Arial"/>
              </a:rPr>
              <a:t>INT</a:t>
            </a:r>
            <a:r>
              <a:rPr lang="en-US" sz="1800" dirty="0">
                <a:latin typeface="Arial"/>
                <a:cs typeface="Arial"/>
              </a:rPr>
              <a:t>/RC stored </a:t>
            </a:r>
            <a:r>
              <a:rPr lang="en-US" sz="1800" spc="-5" dirty="0">
                <a:latin typeface="Arial"/>
                <a:cs typeface="Arial"/>
              </a:rPr>
              <a:t>in</a:t>
            </a:r>
            <a:r>
              <a:rPr lang="en-US" sz="1800" spc="-10" dirty="0">
                <a:latin typeface="Arial"/>
                <a:cs typeface="Arial"/>
              </a:rPr>
              <a:t> </a:t>
            </a:r>
            <a:r>
              <a:rPr lang="en-US" sz="1800" spc="-5" dirty="0">
                <a:latin typeface="Arial"/>
                <a:cs typeface="Arial"/>
              </a:rPr>
              <a:t>it.</a:t>
            </a:r>
            <a:endParaRPr lang="en-US" sz="1800" dirty="0">
              <a:latin typeface="Arial"/>
              <a:cs typeface="Arial"/>
            </a:endParaRPr>
          </a:p>
          <a:p>
            <a:pPr marL="12700" marR="192405">
              <a:lnSpc>
                <a:spcPct val="120000"/>
              </a:lnSpc>
              <a:spcBef>
                <a:spcPts val="0"/>
              </a:spcBef>
            </a:pPr>
            <a:r>
              <a:rPr lang="en-US" sz="1800" dirty="0">
                <a:latin typeface="Arial"/>
                <a:cs typeface="Arial"/>
              </a:rPr>
              <a:t>The </a:t>
            </a:r>
            <a:r>
              <a:rPr lang="en-US" sz="1800" spc="-5" dirty="0">
                <a:latin typeface="Arial"/>
                <a:cs typeface="Arial"/>
              </a:rPr>
              <a:t>integrator voltage </a:t>
            </a:r>
            <a:r>
              <a:rPr lang="en-US" sz="1800" dirty="0">
                <a:latin typeface="Arial"/>
                <a:cs typeface="Arial"/>
              </a:rPr>
              <a:t>then </a:t>
            </a:r>
            <a:r>
              <a:rPr lang="en-US" sz="1800" spc="-5" dirty="0">
                <a:latin typeface="Arial"/>
                <a:cs typeface="Arial"/>
              </a:rPr>
              <a:t>drops linearly with </a:t>
            </a:r>
            <a:r>
              <a:rPr lang="en-US" sz="1800" dirty="0">
                <a:latin typeface="Arial"/>
                <a:cs typeface="Arial"/>
              </a:rPr>
              <a:t>a slope of       -</a:t>
            </a:r>
            <a:r>
              <a:rPr lang="en-US" sz="1800" dirty="0" err="1">
                <a:latin typeface="Arial"/>
                <a:cs typeface="Arial"/>
              </a:rPr>
              <a:t>V</a:t>
            </a:r>
            <a:r>
              <a:rPr lang="en-US" sz="1800" baseline="-20833" dirty="0" err="1">
                <a:latin typeface="Arial"/>
                <a:cs typeface="Arial"/>
              </a:rPr>
              <a:t>ref</a:t>
            </a:r>
            <a:r>
              <a:rPr lang="en-US" sz="1800" dirty="0">
                <a:latin typeface="Arial"/>
                <a:cs typeface="Arial"/>
              </a:rPr>
              <a:t>/RC.</a:t>
            </a:r>
          </a:p>
          <a:p>
            <a:pPr marL="12700" marR="31750">
              <a:lnSpc>
                <a:spcPct val="120000"/>
              </a:lnSpc>
              <a:spcBef>
                <a:spcPts val="0"/>
              </a:spcBef>
            </a:pPr>
            <a:r>
              <a:rPr lang="en-US" sz="1800" dirty="0">
                <a:latin typeface="Arial"/>
                <a:cs typeface="Arial"/>
              </a:rPr>
              <a:t>A </a:t>
            </a:r>
            <a:r>
              <a:rPr lang="en-US" sz="1800" spc="-5" dirty="0">
                <a:latin typeface="Arial"/>
                <a:cs typeface="Arial"/>
              </a:rPr>
              <a:t>comparator </a:t>
            </a:r>
            <a:r>
              <a:rPr lang="en-US" sz="1800" dirty="0">
                <a:latin typeface="Arial"/>
                <a:cs typeface="Arial"/>
              </a:rPr>
              <a:t>is </a:t>
            </a:r>
            <a:r>
              <a:rPr lang="en-US" sz="1800" spc="-5" dirty="0">
                <a:latin typeface="Arial"/>
                <a:cs typeface="Arial"/>
              </a:rPr>
              <a:t>used </a:t>
            </a:r>
            <a:r>
              <a:rPr lang="en-US" sz="1800" dirty="0">
                <a:latin typeface="Arial"/>
                <a:cs typeface="Arial"/>
              </a:rPr>
              <a:t>to </a:t>
            </a:r>
            <a:r>
              <a:rPr lang="en-US" sz="1800" spc="-5" dirty="0">
                <a:latin typeface="Arial"/>
                <a:cs typeface="Arial"/>
              </a:rPr>
              <a:t>determine when </a:t>
            </a:r>
            <a:r>
              <a:rPr lang="en-US" sz="1800" dirty="0">
                <a:latin typeface="Arial"/>
                <a:cs typeface="Arial"/>
              </a:rPr>
              <a:t>the </a:t>
            </a:r>
            <a:r>
              <a:rPr lang="en-US" sz="1800" spc="-5" dirty="0">
                <a:latin typeface="Arial"/>
                <a:cs typeface="Arial"/>
              </a:rPr>
              <a:t>output </a:t>
            </a:r>
            <a:r>
              <a:rPr lang="en-US" sz="1800" dirty="0">
                <a:latin typeface="Arial"/>
                <a:cs typeface="Arial"/>
              </a:rPr>
              <a:t>voltage </a:t>
            </a:r>
            <a:r>
              <a:rPr lang="en-US" sz="1800" spc="-5" dirty="0">
                <a:latin typeface="Arial"/>
                <a:cs typeface="Arial"/>
              </a:rPr>
              <a:t>of </a:t>
            </a:r>
            <a:r>
              <a:rPr lang="en-US" sz="1800" dirty="0">
                <a:latin typeface="Arial"/>
                <a:cs typeface="Arial"/>
              </a:rPr>
              <a:t>the </a:t>
            </a:r>
            <a:r>
              <a:rPr lang="en-US" sz="1800" spc="-5" dirty="0">
                <a:latin typeface="Arial"/>
                <a:cs typeface="Arial"/>
              </a:rPr>
              <a:t>integrator </a:t>
            </a:r>
            <a:r>
              <a:rPr lang="en-US" sz="1800" dirty="0">
                <a:latin typeface="Arial"/>
                <a:cs typeface="Arial"/>
              </a:rPr>
              <a:t>crosses</a:t>
            </a:r>
            <a:r>
              <a:rPr lang="en-US" sz="1800" spc="-20" dirty="0">
                <a:latin typeface="Arial"/>
                <a:cs typeface="Arial"/>
              </a:rPr>
              <a:t> </a:t>
            </a:r>
            <a:r>
              <a:rPr lang="en-US" sz="1800" dirty="0">
                <a:latin typeface="Arial"/>
                <a:cs typeface="Arial"/>
              </a:rPr>
              <a:t>zero</a:t>
            </a:r>
          </a:p>
          <a:p>
            <a:pPr marL="12700" marR="259715">
              <a:lnSpc>
                <a:spcPct val="120000"/>
              </a:lnSpc>
              <a:spcBef>
                <a:spcPts val="0"/>
              </a:spcBef>
            </a:pPr>
            <a:r>
              <a:rPr lang="en-US" sz="1800" dirty="0">
                <a:latin typeface="Arial"/>
                <a:cs typeface="Arial"/>
              </a:rPr>
              <a:t>When </a:t>
            </a:r>
            <a:r>
              <a:rPr lang="en-US" sz="1800" spc="-5" dirty="0">
                <a:latin typeface="Arial"/>
                <a:cs typeface="Arial"/>
              </a:rPr>
              <a:t>it is </a:t>
            </a:r>
            <a:r>
              <a:rPr lang="en-US" sz="1800" dirty="0">
                <a:latin typeface="Arial"/>
                <a:cs typeface="Arial"/>
              </a:rPr>
              <a:t>zero the </a:t>
            </a:r>
            <a:r>
              <a:rPr lang="en-US" sz="1800" spc="-5" dirty="0">
                <a:latin typeface="Arial"/>
                <a:cs typeface="Arial"/>
              </a:rPr>
              <a:t>digitized output </a:t>
            </a:r>
            <a:r>
              <a:rPr lang="en-US" sz="1800" dirty="0">
                <a:latin typeface="Arial"/>
                <a:cs typeface="Arial"/>
              </a:rPr>
              <a:t>value </a:t>
            </a:r>
            <a:r>
              <a:rPr lang="en-US" sz="1800" spc="-5" dirty="0">
                <a:latin typeface="Arial"/>
                <a:cs typeface="Arial"/>
              </a:rPr>
              <a:t>is </a:t>
            </a:r>
            <a:r>
              <a:rPr lang="en-US" sz="1800" dirty="0">
                <a:latin typeface="Arial"/>
                <a:cs typeface="Arial"/>
              </a:rPr>
              <a:t>the state </a:t>
            </a:r>
            <a:r>
              <a:rPr lang="en-US" sz="1800" spc="-5" dirty="0">
                <a:latin typeface="Arial"/>
                <a:cs typeface="Arial"/>
              </a:rPr>
              <a:t>of </a:t>
            </a:r>
            <a:r>
              <a:rPr lang="en-US" sz="1800" dirty="0">
                <a:latin typeface="Arial"/>
                <a:cs typeface="Arial"/>
              </a:rPr>
              <a:t>the</a:t>
            </a:r>
            <a:r>
              <a:rPr lang="en-US" sz="1800" spc="-10" dirty="0">
                <a:latin typeface="Arial"/>
                <a:cs typeface="Arial"/>
              </a:rPr>
              <a:t> </a:t>
            </a:r>
            <a:r>
              <a:rPr lang="en-US" sz="1800" dirty="0">
                <a:latin typeface="Arial"/>
                <a:cs typeface="Arial"/>
              </a:rPr>
              <a:t>counter.</a:t>
            </a:r>
          </a:p>
        </p:txBody>
      </p:sp>
      <p:sp>
        <p:nvSpPr>
          <p:cNvPr id="7" name="Title 6">
            <a:extLst>
              <a:ext uri="{FF2B5EF4-FFF2-40B4-BE49-F238E27FC236}">
                <a16:creationId xmlns:a16="http://schemas.microsoft.com/office/drawing/2014/main" id="{3F31B2A9-C22B-4534-BD9D-4E5EE41DC50C}"/>
              </a:ext>
            </a:extLst>
          </p:cNvPr>
          <p:cNvSpPr>
            <a:spLocks noGrp="1"/>
          </p:cNvSpPr>
          <p:nvPr>
            <p:ph type="title"/>
          </p:nvPr>
        </p:nvSpPr>
        <p:spPr/>
        <p:txBody>
          <a:bodyPr/>
          <a:lstStyle/>
          <a:p>
            <a:r>
              <a:rPr lang="en-US" spc="-10" dirty="0"/>
              <a:t>How</a:t>
            </a:r>
            <a:r>
              <a:rPr lang="en-US" spc="5" dirty="0"/>
              <a:t> </a:t>
            </a:r>
            <a:r>
              <a:rPr lang="en-US" spc="-5" dirty="0"/>
              <a:t>Does</a:t>
            </a:r>
            <a:r>
              <a:rPr lang="en-US" spc="5" dirty="0"/>
              <a:t> </a:t>
            </a:r>
            <a:r>
              <a:rPr lang="en-US" spc="-5" dirty="0"/>
              <a:t>it Work</a:t>
            </a:r>
            <a:r>
              <a:rPr lang="en-US" spc="-75" dirty="0"/>
              <a:t> </a:t>
            </a:r>
            <a:r>
              <a:rPr lang="en-US" spc="-5" dirty="0"/>
              <a:t>Cont.?</a:t>
            </a:r>
            <a:endParaRPr lang="en-GB" dirty="0"/>
          </a:p>
        </p:txBody>
      </p:sp>
      <p:sp>
        <p:nvSpPr>
          <p:cNvPr id="5" name="Date Placeholder 4">
            <a:extLst>
              <a:ext uri="{FF2B5EF4-FFF2-40B4-BE49-F238E27FC236}">
                <a16:creationId xmlns:a16="http://schemas.microsoft.com/office/drawing/2014/main" id="{2E8718EF-DBF3-4A8A-AF34-870D4B747CC0}"/>
              </a:ext>
            </a:extLst>
          </p:cNvPr>
          <p:cNvSpPr>
            <a:spLocks noGrp="1"/>
          </p:cNvSpPr>
          <p:nvPr>
            <p:ph type="dt" sz="half" idx="10"/>
          </p:nvPr>
        </p:nvSpPr>
        <p:spPr/>
        <p:txBody>
          <a:bodyPr/>
          <a:lstStyle/>
          <a:p>
            <a:r>
              <a:rPr lang="en-US"/>
              <a:t>V.T.M</a:t>
            </a:r>
            <a:endParaRPr lang="en-US" dirty="0"/>
          </a:p>
        </p:txBody>
      </p:sp>
      <p:sp>
        <p:nvSpPr>
          <p:cNvPr id="6" name="Footer Placeholder 5">
            <a:extLst>
              <a:ext uri="{FF2B5EF4-FFF2-40B4-BE49-F238E27FC236}">
                <a16:creationId xmlns:a16="http://schemas.microsoft.com/office/drawing/2014/main" id="{4581192E-62C1-4969-96FD-F7CB34134FFF}"/>
              </a:ext>
            </a:extLst>
          </p:cNvPr>
          <p:cNvSpPr>
            <a:spLocks noGrp="1"/>
          </p:cNvSpPr>
          <p:nvPr>
            <p:ph type="ftr" sz="quarter" idx="11"/>
          </p:nvPr>
        </p:nvSpPr>
        <p:spPr/>
        <p:txBody>
          <a:bodyPr/>
          <a:lstStyle/>
          <a:p>
            <a:r>
              <a:rPr lang="en-US"/>
              <a:t>DN, 2020</a:t>
            </a:r>
            <a:endParaRPr lang="en-US" dirty="0"/>
          </a:p>
        </p:txBody>
      </p:sp>
      <p:sp>
        <p:nvSpPr>
          <p:cNvPr id="4" name="Slide Number Placeholder 3">
            <a:extLst>
              <a:ext uri="{FF2B5EF4-FFF2-40B4-BE49-F238E27FC236}">
                <a16:creationId xmlns:a16="http://schemas.microsoft.com/office/drawing/2014/main" id="{8E8A0FF9-F130-423F-B9BC-82DF53264F34}"/>
              </a:ext>
            </a:extLst>
          </p:cNvPr>
          <p:cNvSpPr>
            <a:spLocks noGrp="1"/>
          </p:cNvSpPr>
          <p:nvPr>
            <p:ph type="sldNum" sz="quarter" idx="12"/>
          </p:nvPr>
        </p:nvSpPr>
        <p:spPr/>
        <p:txBody>
          <a:bodyPr/>
          <a:lstStyle/>
          <a:p>
            <a:fld id="{B6F15528-21DE-4FAA-801E-634DDDAF4B2B}" type="slidenum">
              <a:rPr lang="en-US" smtClean="0"/>
              <a:t>54</a:t>
            </a:fld>
            <a:endParaRPr lang="en-US" dirty="0"/>
          </a:p>
        </p:txBody>
      </p:sp>
    </p:spTree>
    <p:extLst>
      <p:ext uri="{BB962C8B-B14F-4D97-AF65-F5344CB8AC3E}">
        <p14:creationId xmlns:p14="http://schemas.microsoft.com/office/powerpoint/2010/main" val="11815145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84A661D-6943-4EEE-8617-7699C922E248}"/>
              </a:ext>
            </a:extLst>
          </p:cNvPr>
          <p:cNvSpPr>
            <a:spLocks noGrp="1"/>
          </p:cNvSpPr>
          <p:nvPr>
            <p:ph type="title"/>
          </p:nvPr>
        </p:nvSpPr>
        <p:spPr/>
        <p:txBody>
          <a:bodyPr/>
          <a:lstStyle/>
          <a:p>
            <a:r>
              <a:rPr lang="pt-BR" spc="-5" dirty="0"/>
              <a:t>Dual Slope A/D</a:t>
            </a:r>
            <a:r>
              <a:rPr lang="pt-BR" spc="-65" dirty="0"/>
              <a:t> </a:t>
            </a:r>
            <a:r>
              <a:rPr lang="pt-BR" spc="-5" dirty="0"/>
              <a:t>Converter</a:t>
            </a:r>
            <a:endParaRPr lang="en-GB" dirty="0"/>
          </a:p>
        </p:txBody>
      </p:sp>
      <p:sp>
        <p:nvSpPr>
          <p:cNvPr id="9" name="Date Placeholder 8">
            <a:extLst>
              <a:ext uri="{FF2B5EF4-FFF2-40B4-BE49-F238E27FC236}">
                <a16:creationId xmlns:a16="http://schemas.microsoft.com/office/drawing/2014/main" id="{9F9C929F-581C-4CD6-B60E-E0E104120B9F}"/>
              </a:ext>
            </a:extLst>
          </p:cNvPr>
          <p:cNvSpPr>
            <a:spLocks noGrp="1"/>
          </p:cNvSpPr>
          <p:nvPr>
            <p:ph type="dt" sz="half" idx="10"/>
          </p:nvPr>
        </p:nvSpPr>
        <p:spPr/>
        <p:txBody>
          <a:bodyPr/>
          <a:lstStyle/>
          <a:p>
            <a:r>
              <a:rPr lang="en-US"/>
              <a:t>V.T.M</a:t>
            </a:r>
            <a:endParaRPr lang="en-US" dirty="0"/>
          </a:p>
        </p:txBody>
      </p:sp>
      <p:sp>
        <p:nvSpPr>
          <p:cNvPr id="10" name="Footer Placeholder 9">
            <a:extLst>
              <a:ext uri="{FF2B5EF4-FFF2-40B4-BE49-F238E27FC236}">
                <a16:creationId xmlns:a16="http://schemas.microsoft.com/office/drawing/2014/main" id="{615917BA-DBA1-4342-AC25-3D21DE8955AC}"/>
              </a:ext>
            </a:extLst>
          </p:cNvPr>
          <p:cNvSpPr>
            <a:spLocks noGrp="1"/>
          </p:cNvSpPr>
          <p:nvPr>
            <p:ph type="ftr" sz="quarter" idx="11"/>
          </p:nvPr>
        </p:nvSpPr>
        <p:spPr/>
        <p:txBody>
          <a:bodyPr/>
          <a:lstStyle/>
          <a:p>
            <a:r>
              <a:rPr lang="en-US"/>
              <a:t>DN, 2020</a:t>
            </a:r>
            <a:endParaRPr lang="en-US" dirty="0"/>
          </a:p>
        </p:txBody>
      </p:sp>
      <p:sp>
        <p:nvSpPr>
          <p:cNvPr id="7" name="Slide Number Placeholder 6">
            <a:extLst>
              <a:ext uri="{FF2B5EF4-FFF2-40B4-BE49-F238E27FC236}">
                <a16:creationId xmlns:a16="http://schemas.microsoft.com/office/drawing/2014/main" id="{06C99994-BF62-4099-BDDC-B73FBCF88BD0}"/>
              </a:ext>
            </a:extLst>
          </p:cNvPr>
          <p:cNvSpPr>
            <a:spLocks noGrp="1"/>
          </p:cNvSpPr>
          <p:nvPr>
            <p:ph type="sldNum" sz="quarter" idx="12"/>
          </p:nvPr>
        </p:nvSpPr>
        <p:spPr/>
        <p:txBody>
          <a:bodyPr/>
          <a:lstStyle/>
          <a:p>
            <a:fld id="{B6F15528-21DE-4FAA-801E-634DDDAF4B2B}" type="slidenum">
              <a:rPr lang="en-US" smtClean="0"/>
              <a:t>55</a:t>
            </a:fld>
            <a:endParaRPr lang="en-US" dirty="0"/>
          </a:p>
        </p:txBody>
      </p:sp>
      <p:sp>
        <p:nvSpPr>
          <p:cNvPr id="3" name="object 3"/>
          <p:cNvSpPr txBox="1"/>
          <p:nvPr/>
        </p:nvSpPr>
        <p:spPr>
          <a:xfrm>
            <a:off x="1219200" y="2396511"/>
            <a:ext cx="3507104" cy="3426579"/>
          </a:xfrm>
          <a:prstGeom prst="rect">
            <a:avLst/>
          </a:prstGeom>
        </p:spPr>
        <p:txBody>
          <a:bodyPr vert="horz" wrap="square" lIns="0" tIns="106680" rIns="0" bIns="0" rtlCol="0">
            <a:spAutoFit/>
          </a:bodyPr>
          <a:lstStyle/>
          <a:p>
            <a:pPr marL="1322705">
              <a:lnSpc>
                <a:spcPct val="100000"/>
              </a:lnSpc>
              <a:spcBef>
                <a:spcPts val="840"/>
              </a:spcBef>
            </a:pPr>
            <a:r>
              <a:rPr lang="en-US" sz="3600" dirty="0">
                <a:latin typeface="Arial"/>
                <a:cs typeface="Arial"/>
              </a:rPr>
              <a:t>PROS</a:t>
            </a:r>
          </a:p>
          <a:p>
            <a:pPr marL="356870" marR="5080" indent="-344170">
              <a:lnSpc>
                <a:spcPct val="100000"/>
              </a:lnSpc>
              <a:spcBef>
                <a:spcPts val="470"/>
              </a:spcBef>
              <a:buClr>
                <a:srgbClr val="434DD6"/>
              </a:buClr>
              <a:buSzPct val="61111"/>
              <a:buFont typeface="Wingdings"/>
              <a:buChar char=""/>
              <a:tabLst>
                <a:tab pos="356870" algn="l"/>
                <a:tab pos="357505" algn="l"/>
              </a:tabLst>
            </a:pPr>
            <a:r>
              <a:rPr lang="en-US" sz="2400" spc="-5" dirty="0">
                <a:latin typeface="Arial"/>
                <a:cs typeface="Arial"/>
              </a:rPr>
              <a:t>Conversion </a:t>
            </a:r>
            <a:r>
              <a:rPr lang="en-US" sz="2400" dirty="0">
                <a:latin typeface="Arial"/>
                <a:cs typeface="Arial"/>
              </a:rPr>
              <a:t>result </a:t>
            </a:r>
            <a:r>
              <a:rPr lang="en-US" sz="2400" spc="-5" dirty="0">
                <a:latin typeface="Arial"/>
                <a:cs typeface="Arial"/>
              </a:rPr>
              <a:t>is insensitive </a:t>
            </a:r>
            <a:r>
              <a:rPr lang="en-US" sz="2400" dirty="0">
                <a:latin typeface="Arial"/>
                <a:cs typeface="Arial"/>
              </a:rPr>
              <a:t>to </a:t>
            </a:r>
            <a:r>
              <a:rPr lang="en-US" sz="2400" spc="-5" dirty="0">
                <a:latin typeface="Arial"/>
                <a:cs typeface="Arial"/>
              </a:rPr>
              <a:t>errors in </a:t>
            </a:r>
            <a:r>
              <a:rPr lang="en-US" sz="2400" dirty="0">
                <a:latin typeface="Arial"/>
                <a:cs typeface="Arial"/>
              </a:rPr>
              <a:t>the component  values.</a:t>
            </a:r>
          </a:p>
          <a:p>
            <a:pPr marL="356870" marR="372745" indent="-344170">
              <a:lnSpc>
                <a:spcPct val="100000"/>
              </a:lnSpc>
              <a:spcBef>
                <a:spcPts val="459"/>
              </a:spcBef>
              <a:buClr>
                <a:srgbClr val="434DD6"/>
              </a:buClr>
              <a:buSzPct val="61111"/>
              <a:buFont typeface="Wingdings"/>
              <a:buChar char=""/>
              <a:tabLst>
                <a:tab pos="356870" algn="l"/>
                <a:tab pos="357505" algn="l"/>
              </a:tabLst>
            </a:pPr>
            <a:r>
              <a:rPr lang="en-US" sz="2400" dirty="0">
                <a:latin typeface="Arial"/>
                <a:cs typeface="Arial"/>
              </a:rPr>
              <a:t>Fewer </a:t>
            </a:r>
            <a:r>
              <a:rPr lang="en-US" sz="2400" spc="-5" dirty="0">
                <a:latin typeface="Arial"/>
                <a:cs typeface="Arial"/>
              </a:rPr>
              <a:t>adverse affects</a:t>
            </a:r>
            <a:r>
              <a:rPr lang="en-US" sz="2400" spc="-95" dirty="0">
                <a:latin typeface="Arial"/>
                <a:cs typeface="Arial"/>
              </a:rPr>
              <a:t> </a:t>
            </a:r>
            <a:r>
              <a:rPr lang="en-US" sz="2400" dirty="0">
                <a:latin typeface="Arial"/>
                <a:cs typeface="Arial"/>
              </a:rPr>
              <a:t>from </a:t>
            </a:r>
            <a:r>
              <a:rPr lang="en-US" sz="2400" spc="-5" dirty="0">
                <a:latin typeface="Arial"/>
                <a:cs typeface="Arial"/>
              </a:rPr>
              <a:t>“noise”</a:t>
            </a:r>
            <a:endParaRPr lang="en-US" sz="2400" dirty="0">
              <a:latin typeface="Arial"/>
              <a:cs typeface="Arial"/>
            </a:endParaRPr>
          </a:p>
          <a:p>
            <a:pPr marL="356870" indent="-344170">
              <a:lnSpc>
                <a:spcPct val="100000"/>
              </a:lnSpc>
              <a:spcBef>
                <a:spcPts val="430"/>
              </a:spcBef>
              <a:buClr>
                <a:srgbClr val="434DD6"/>
              </a:buClr>
              <a:buSzPct val="61111"/>
              <a:buFont typeface="Wingdings"/>
              <a:buChar char=""/>
              <a:tabLst>
                <a:tab pos="356870" algn="l"/>
                <a:tab pos="357505" algn="l"/>
              </a:tabLst>
            </a:pPr>
            <a:r>
              <a:rPr lang="en-US" sz="2400" spc="-5" dirty="0">
                <a:latin typeface="Arial"/>
                <a:cs typeface="Arial"/>
              </a:rPr>
              <a:t>High</a:t>
            </a:r>
            <a:r>
              <a:rPr lang="en-US" sz="2400" spc="-10" dirty="0">
                <a:latin typeface="Arial"/>
                <a:cs typeface="Arial"/>
              </a:rPr>
              <a:t> </a:t>
            </a:r>
            <a:r>
              <a:rPr lang="en-US" sz="2400" dirty="0">
                <a:latin typeface="Arial"/>
                <a:cs typeface="Arial"/>
              </a:rPr>
              <a:t>Accuracy</a:t>
            </a:r>
          </a:p>
        </p:txBody>
      </p:sp>
      <p:sp>
        <p:nvSpPr>
          <p:cNvPr id="4" name="object 4"/>
          <p:cNvSpPr txBox="1"/>
          <p:nvPr/>
        </p:nvSpPr>
        <p:spPr>
          <a:xfrm>
            <a:off x="6553200" y="2489707"/>
            <a:ext cx="1482597" cy="567463"/>
          </a:xfrm>
          <a:prstGeom prst="rect">
            <a:avLst/>
          </a:prstGeom>
        </p:spPr>
        <p:txBody>
          <a:bodyPr vert="horz" wrap="square" lIns="0" tIns="13335" rIns="0" bIns="0" rtlCol="0">
            <a:spAutoFit/>
          </a:bodyPr>
          <a:lstStyle/>
          <a:p>
            <a:pPr marL="12700">
              <a:lnSpc>
                <a:spcPct val="100000"/>
              </a:lnSpc>
              <a:spcBef>
                <a:spcPts val="105"/>
              </a:spcBef>
            </a:pPr>
            <a:r>
              <a:rPr sz="3600" dirty="0">
                <a:latin typeface="Arial"/>
                <a:cs typeface="Arial"/>
              </a:rPr>
              <a:t>CONS</a:t>
            </a:r>
          </a:p>
        </p:txBody>
      </p:sp>
      <p:sp>
        <p:nvSpPr>
          <p:cNvPr id="5" name="object 5"/>
          <p:cNvSpPr txBox="1"/>
          <p:nvPr/>
        </p:nvSpPr>
        <p:spPr>
          <a:xfrm>
            <a:off x="5680201" y="2971800"/>
            <a:ext cx="3381375" cy="2402581"/>
          </a:xfrm>
          <a:prstGeom prst="rect">
            <a:avLst/>
          </a:prstGeom>
        </p:spPr>
        <p:txBody>
          <a:bodyPr vert="horz" wrap="square" lIns="0" tIns="70485" rIns="0" bIns="0" rtlCol="0">
            <a:spAutoFit/>
          </a:bodyPr>
          <a:lstStyle/>
          <a:p>
            <a:pPr marL="356870" indent="-344170">
              <a:lnSpc>
                <a:spcPct val="100000"/>
              </a:lnSpc>
              <a:spcBef>
                <a:spcPts val="555"/>
              </a:spcBef>
              <a:buClr>
                <a:srgbClr val="434DD6"/>
              </a:buClr>
              <a:buSzPct val="61111"/>
              <a:buFont typeface="Wingdings"/>
              <a:buChar char=""/>
              <a:tabLst>
                <a:tab pos="356870" algn="l"/>
                <a:tab pos="357505" algn="l"/>
              </a:tabLst>
            </a:pPr>
            <a:r>
              <a:rPr lang="en-US" sz="2400" dirty="0">
                <a:latin typeface="Arial"/>
                <a:cs typeface="Arial"/>
              </a:rPr>
              <a:t>Slow</a:t>
            </a:r>
          </a:p>
          <a:p>
            <a:pPr marL="356870" marR="5080" indent="-344170">
              <a:lnSpc>
                <a:spcPct val="100000"/>
              </a:lnSpc>
              <a:spcBef>
                <a:spcPts val="455"/>
              </a:spcBef>
              <a:buClr>
                <a:srgbClr val="434DD6"/>
              </a:buClr>
              <a:buSzPct val="61111"/>
              <a:buFont typeface="Wingdings"/>
              <a:buChar char=""/>
              <a:tabLst>
                <a:tab pos="356870" algn="l"/>
                <a:tab pos="357505" algn="l"/>
              </a:tabLst>
            </a:pPr>
            <a:r>
              <a:rPr lang="en-US" sz="2400" dirty="0">
                <a:latin typeface="Arial"/>
                <a:cs typeface="Arial"/>
              </a:rPr>
              <a:t>Accuracy </a:t>
            </a:r>
            <a:r>
              <a:rPr lang="en-US" sz="2400" spc="-5" dirty="0">
                <a:latin typeface="Arial"/>
                <a:cs typeface="Arial"/>
              </a:rPr>
              <a:t>is dependent on</a:t>
            </a:r>
            <a:r>
              <a:rPr lang="en-US" sz="2400" spc="-90" dirty="0">
                <a:latin typeface="Arial"/>
                <a:cs typeface="Arial"/>
              </a:rPr>
              <a:t> </a:t>
            </a:r>
            <a:r>
              <a:rPr lang="en-US" sz="2400" dirty="0">
                <a:latin typeface="Arial"/>
                <a:cs typeface="Arial"/>
              </a:rPr>
              <a:t>the </a:t>
            </a:r>
            <a:r>
              <a:rPr lang="en-US" sz="2400" spc="-5" dirty="0">
                <a:latin typeface="Arial"/>
                <a:cs typeface="Arial"/>
              </a:rPr>
              <a:t>use of precision external  </a:t>
            </a:r>
            <a:r>
              <a:rPr lang="en-US" sz="2400" dirty="0">
                <a:latin typeface="Arial"/>
                <a:cs typeface="Arial"/>
              </a:rPr>
              <a:t>components</a:t>
            </a:r>
          </a:p>
          <a:p>
            <a:pPr marL="356870" indent="-344170">
              <a:lnSpc>
                <a:spcPct val="100000"/>
              </a:lnSpc>
              <a:spcBef>
                <a:spcPts val="434"/>
              </a:spcBef>
              <a:buClr>
                <a:srgbClr val="434DD6"/>
              </a:buClr>
              <a:buSzPct val="61111"/>
              <a:buFont typeface="Wingdings"/>
              <a:buChar char=""/>
              <a:tabLst>
                <a:tab pos="356870" algn="l"/>
                <a:tab pos="357505" algn="l"/>
              </a:tabLst>
            </a:pPr>
            <a:r>
              <a:rPr lang="en-US" sz="2400" spc="-5" dirty="0">
                <a:latin typeface="Arial"/>
                <a:cs typeface="Arial"/>
              </a:rPr>
              <a:t>Cost</a:t>
            </a:r>
            <a:endParaRPr lang="en-US" sz="2400" dirty="0">
              <a:latin typeface="Arial"/>
              <a:cs typeface="Arial"/>
            </a:endParaRPr>
          </a:p>
        </p:txBody>
      </p:sp>
    </p:spTree>
    <p:extLst>
      <p:ext uri="{BB962C8B-B14F-4D97-AF65-F5344CB8AC3E}">
        <p14:creationId xmlns:p14="http://schemas.microsoft.com/office/powerpoint/2010/main" val="18565271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562600" y="1981200"/>
            <a:ext cx="4267200" cy="3919269"/>
          </a:xfrm>
          <a:prstGeom prst="rect">
            <a:avLst/>
          </a:prstGeom>
          <a:blipFill>
            <a:blip r:embed="rId2" cstate="print"/>
            <a:stretch>
              <a:fillRect/>
            </a:stretch>
          </a:blipFill>
        </p:spPr>
        <p:txBody>
          <a:bodyPr wrap="square" lIns="0" tIns="0" rIns="0" bIns="0" rtlCol="0"/>
          <a:lstStyle/>
          <a:p>
            <a:endParaRPr dirty="0"/>
          </a:p>
        </p:txBody>
      </p:sp>
      <p:sp>
        <p:nvSpPr>
          <p:cNvPr id="10" name="Content Placeholder 9">
            <a:extLst>
              <a:ext uri="{FF2B5EF4-FFF2-40B4-BE49-F238E27FC236}">
                <a16:creationId xmlns:a16="http://schemas.microsoft.com/office/drawing/2014/main" id="{0C1B8577-FE12-4940-AE9D-913ABBBF2ECC}"/>
              </a:ext>
            </a:extLst>
          </p:cNvPr>
          <p:cNvSpPr>
            <a:spLocks noGrp="1"/>
          </p:cNvSpPr>
          <p:nvPr>
            <p:ph sz="quarter" idx="1"/>
          </p:nvPr>
        </p:nvSpPr>
        <p:spPr>
          <a:xfrm>
            <a:off x="331927" y="1730654"/>
            <a:ext cx="5459273" cy="5181600"/>
          </a:xfrm>
        </p:spPr>
        <p:txBody>
          <a:bodyPr>
            <a:normAutofit/>
          </a:bodyPr>
          <a:lstStyle/>
          <a:p>
            <a:r>
              <a:rPr lang="en-US" sz="2400" dirty="0"/>
              <a:t>Uses a N-bit DAC to compare DAC and original analog results.</a:t>
            </a:r>
          </a:p>
          <a:p>
            <a:r>
              <a:rPr lang="en-US" sz="2400" dirty="0"/>
              <a:t>Uses Successive Approximation Register (SAR) supplies an  approximate digital code to DAC of V</a:t>
            </a:r>
            <a:r>
              <a:rPr lang="en-US" sz="2400" baseline="-25000" dirty="0"/>
              <a:t>IN</a:t>
            </a:r>
            <a:r>
              <a:rPr lang="en-US" sz="2400" dirty="0"/>
              <a:t>.</a:t>
            </a:r>
          </a:p>
          <a:p>
            <a:r>
              <a:rPr lang="en-US" sz="2400" dirty="0"/>
              <a:t>Comparison changes digital output to bring it closer to the input  value.</a:t>
            </a:r>
          </a:p>
          <a:p>
            <a:r>
              <a:rPr lang="en-US" sz="2400" dirty="0"/>
              <a:t>Uses Closed-Loop	Feedback Conversion</a:t>
            </a:r>
          </a:p>
        </p:txBody>
      </p:sp>
      <p:sp>
        <p:nvSpPr>
          <p:cNvPr id="2" name="Title 1">
            <a:extLst>
              <a:ext uri="{FF2B5EF4-FFF2-40B4-BE49-F238E27FC236}">
                <a16:creationId xmlns:a16="http://schemas.microsoft.com/office/drawing/2014/main" id="{61E0BB41-CEAA-42E3-B89F-BE9BA6B8B696}"/>
              </a:ext>
            </a:extLst>
          </p:cNvPr>
          <p:cNvSpPr>
            <a:spLocks noGrp="1"/>
          </p:cNvSpPr>
          <p:nvPr>
            <p:ph type="title"/>
          </p:nvPr>
        </p:nvSpPr>
        <p:spPr/>
        <p:txBody>
          <a:bodyPr/>
          <a:lstStyle/>
          <a:p>
            <a:r>
              <a:rPr lang="en-US" sz="3600" dirty="0"/>
              <a:t>Successive Approximation ADC</a:t>
            </a:r>
            <a:r>
              <a:rPr lang="en-US" sz="3600" spc="-95" dirty="0"/>
              <a:t> </a:t>
            </a:r>
            <a:r>
              <a:rPr lang="en-US" sz="3600" spc="-5" dirty="0"/>
              <a:t>Circuit</a:t>
            </a:r>
            <a:endParaRPr lang="en-GB" dirty="0"/>
          </a:p>
        </p:txBody>
      </p:sp>
      <p:sp>
        <p:nvSpPr>
          <p:cNvPr id="8" name="Date Placeholder 7">
            <a:extLst>
              <a:ext uri="{FF2B5EF4-FFF2-40B4-BE49-F238E27FC236}">
                <a16:creationId xmlns:a16="http://schemas.microsoft.com/office/drawing/2014/main" id="{746FDE31-A353-4447-A73A-3609A2BE6E66}"/>
              </a:ext>
            </a:extLst>
          </p:cNvPr>
          <p:cNvSpPr>
            <a:spLocks noGrp="1"/>
          </p:cNvSpPr>
          <p:nvPr>
            <p:ph type="dt" sz="half" idx="10"/>
          </p:nvPr>
        </p:nvSpPr>
        <p:spPr/>
        <p:txBody>
          <a:bodyPr/>
          <a:lstStyle/>
          <a:p>
            <a:r>
              <a:rPr lang="en-US"/>
              <a:t>V.T.M</a:t>
            </a:r>
            <a:endParaRPr lang="en-US" dirty="0"/>
          </a:p>
        </p:txBody>
      </p:sp>
      <p:sp>
        <p:nvSpPr>
          <p:cNvPr id="9" name="Footer Placeholder 8">
            <a:extLst>
              <a:ext uri="{FF2B5EF4-FFF2-40B4-BE49-F238E27FC236}">
                <a16:creationId xmlns:a16="http://schemas.microsoft.com/office/drawing/2014/main" id="{FCCBA43B-CCB7-4E95-8177-BB646A0FD575}"/>
              </a:ext>
            </a:extLst>
          </p:cNvPr>
          <p:cNvSpPr>
            <a:spLocks noGrp="1"/>
          </p:cNvSpPr>
          <p:nvPr>
            <p:ph type="ftr" sz="quarter" idx="11"/>
          </p:nvPr>
        </p:nvSpPr>
        <p:spPr/>
        <p:txBody>
          <a:bodyPr/>
          <a:lstStyle/>
          <a:p>
            <a:r>
              <a:rPr lang="en-US"/>
              <a:t>DN, 2020</a:t>
            </a:r>
            <a:endParaRPr lang="en-US" dirty="0"/>
          </a:p>
        </p:txBody>
      </p:sp>
      <p:sp>
        <p:nvSpPr>
          <p:cNvPr id="6" name="Slide Number Placeholder 5">
            <a:extLst>
              <a:ext uri="{FF2B5EF4-FFF2-40B4-BE49-F238E27FC236}">
                <a16:creationId xmlns:a16="http://schemas.microsoft.com/office/drawing/2014/main" id="{15AA5DCA-70A4-496D-B0A4-7D0113BC6AF5}"/>
              </a:ext>
            </a:extLst>
          </p:cNvPr>
          <p:cNvSpPr>
            <a:spLocks noGrp="1"/>
          </p:cNvSpPr>
          <p:nvPr>
            <p:ph type="sldNum" sz="quarter" idx="12"/>
          </p:nvPr>
        </p:nvSpPr>
        <p:spPr/>
        <p:txBody>
          <a:bodyPr/>
          <a:lstStyle/>
          <a:p>
            <a:fld id="{B6F15528-21DE-4FAA-801E-634DDDAF4B2B}" type="slidenum">
              <a:rPr lang="en-US" smtClean="0"/>
              <a:t>56</a:t>
            </a:fld>
            <a:endParaRPr lang="en-US" dirty="0"/>
          </a:p>
        </p:txBody>
      </p:sp>
    </p:spTree>
    <p:extLst>
      <p:ext uri="{BB962C8B-B14F-4D97-AF65-F5344CB8AC3E}">
        <p14:creationId xmlns:p14="http://schemas.microsoft.com/office/powerpoint/2010/main" val="25526555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2B256A-E710-4D96-807C-52A76E655330}"/>
              </a:ext>
            </a:extLst>
          </p:cNvPr>
          <p:cNvSpPr>
            <a:spLocks noGrp="1"/>
          </p:cNvSpPr>
          <p:nvPr>
            <p:ph type="title"/>
          </p:nvPr>
        </p:nvSpPr>
        <p:spPr/>
        <p:txBody>
          <a:bodyPr/>
          <a:lstStyle/>
          <a:p>
            <a:r>
              <a:rPr lang="en-US" spc="-5" dirty="0"/>
              <a:t>Successive</a:t>
            </a:r>
            <a:r>
              <a:rPr lang="en-US" spc="-60" dirty="0"/>
              <a:t> </a:t>
            </a:r>
            <a:r>
              <a:rPr lang="en-US" spc="-5" dirty="0"/>
              <a:t>Approximation</a:t>
            </a:r>
            <a:endParaRPr lang="en-GB" dirty="0"/>
          </a:p>
        </p:txBody>
      </p:sp>
      <p:sp>
        <p:nvSpPr>
          <p:cNvPr id="11" name="Date Placeholder 10">
            <a:extLst>
              <a:ext uri="{FF2B5EF4-FFF2-40B4-BE49-F238E27FC236}">
                <a16:creationId xmlns:a16="http://schemas.microsoft.com/office/drawing/2014/main" id="{DFEA276B-8A75-4685-9D67-E20384195EF4}"/>
              </a:ext>
            </a:extLst>
          </p:cNvPr>
          <p:cNvSpPr>
            <a:spLocks noGrp="1"/>
          </p:cNvSpPr>
          <p:nvPr>
            <p:ph type="dt" sz="half" idx="10"/>
          </p:nvPr>
        </p:nvSpPr>
        <p:spPr/>
        <p:txBody>
          <a:bodyPr/>
          <a:lstStyle/>
          <a:p>
            <a:r>
              <a:rPr lang="en-US"/>
              <a:t>V.T.M</a:t>
            </a:r>
            <a:endParaRPr lang="en-US" dirty="0"/>
          </a:p>
        </p:txBody>
      </p:sp>
      <p:sp>
        <p:nvSpPr>
          <p:cNvPr id="12" name="Footer Placeholder 11">
            <a:extLst>
              <a:ext uri="{FF2B5EF4-FFF2-40B4-BE49-F238E27FC236}">
                <a16:creationId xmlns:a16="http://schemas.microsoft.com/office/drawing/2014/main" id="{6DCA52E3-98E6-4B67-8BB2-C0C786545723}"/>
              </a:ext>
            </a:extLst>
          </p:cNvPr>
          <p:cNvSpPr>
            <a:spLocks noGrp="1"/>
          </p:cNvSpPr>
          <p:nvPr>
            <p:ph type="ftr" sz="quarter" idx="11"/>
          </p:nvPr>
        </p:nvSpPr>
        <p:spPr/>
        <p:txBody>
          <a:bodyPr/>
          <a:lstStyle/>
          <a:p>
            <a:r>
              <a:rPr lang="en-US"/>
              <a:t>DN, 2020</a:t>
            </a:r>
            <a:endParaRPr lang="en-US" dirty="0"/>
          </a:p>
        </p:txBody>
      </p:sp>
      <p:sp>
        <p:nvSpPr>
          <p:cNvPr id="8" name="Slide Number Placeholder 7">
            <a:extLst>
              <a:ext uri="{FF2B5EF4-FFF2-40B4-BE49-F238E27FC236}">
                <a16:creationId xmlns:a16="http://schemas.microsoft.com/office/drawing/2014/main" id="{7D7BDA4C-1993-48A5-8647-D27FFC4DEFF8}"/>
              </a:ext>
            </a:extLst>
          </p:cNvPr>
          <p:cNvSpPr>
            <a:spLocks noGrp="1"/>
          </p:cNvSpPr>
          <p:nvPr>
            <p:ph type="sldNum" sz="quarter" idx="12"/>
          </p:nvPr>
        </p:nvSpPr>
        <p:spPr/>
        <p:txBody>
          <a:bodyPr/>
          <a:lstStyle/>
          <a:p>
            <a:fld id="{B6F15528-21DE-4FAA-801E-634DDDAF4B2B}" type="slidenum">
              <a:rPr lang="en-US" smtClean="0"/>
              <a:t>57</a:t>
            </a:fld>
            <a:endParaRPr lang="en-US" dirty="0"/>
          </a:p>
        </p:txBody>
      </p:sp>
      <p:sp>
        <p:nvSpPr>
          <p:cNvPr id="3" name="object 3"/>
          <p:cNvSpPr txBox="1"/>
          <p:nvPr/>
        </p:nvSpPr>
        <p:spPr>
          <a:xfrm>
            <a:off x="990600" y="3108451"/>
            <a:ext cx="4039361" cy="3359253"/>
          </a:xfrm>
          <a:prstGeom prst="rect">
            <a:avLst/>
          </a:prstGeom>
        </p:spPr>
        <p:txBody>
          <a:bodyPr vert="horz" wrap="square" lIns="0" tIns="80645" rIns="0" bIns="0" rtlCol="0">
            <a:spAutoFit/>
          </a:bodyPr>
          <a:lstStyle/>
          <a:p>
            <a:pPr marL="356870" marR="144780" indent="-344170">
              <a:spcBef>
                <a:spcPts val="600"/>
              </a:spcBef>
              <a:buClr>
                <a:srgbClr val="434DD6"/>
              </a:buClr>
              <a:buSzPct val="59090"/>
              <a:buFont typeface="Wingdings"/>
              <a:buChar char=""/>
              <a:tabLst>
                <a:tab pos="356870" algn="l"/>
                <a:tab pos="357505" algn="l"/>
              </a:tabLst>
            </a:pPr>
            <a:r>
              <a:rPr sz="2200" dirty="0">
                <a:latin typeface="Arial"/>
                <a:cs typeface="Arial"/>
              </a:rPr>
              <a:t>Capable of high</a:t>
            </a:r>
            <a:r>
              <a:rPr sz="2200" spc="-95" dirty="0">
                <a:latin typeface="Arial"/>
                <a:cs typeface="Arial"/>
              </a:rPr>
              <a:t> </a:t>
            </a:r>
            <a:r>
              <a:rPr sz="2200" dirty="0">
                <a:latin typeface="Arial"/>
                <a:cs typeface="Arial"/>
              </a:rPr>
              <a:t>speed and</a:t>
            </a:r>
            <a:r>
              <a:rPr sz="2200" spc="-5" dirty="0">
                <a:latin typeface="Arial"/>
                <a:cs typeface="Arial"/>
              </a:rPr>
              <a:t> reliable</a:t>
            </a:r>
            <a:endParaRPr sz="2200" dirty="0">
              <a:latin typeface="Arial"/>
              <a:cs typeface="Arial"/>
            </a:endParaRPr>
          </a:p>
          <a:p>
            <a:pPr marL="356870" marR="5080" indent="-344170">
              <a:spcBef>
                <a:spcPts val="600"/>
              </a:spcBef>
              <a:buClr>
                <a:srgbClr val="434DD6"/>
              </a:buClr>
              <a:buSzPct val="59090"/>
              <a:buFont typeface="Wingdings"/>
              <a:buChar char=""/>
              <a:tabLst>
                <a:tab pos="356870" algn="l"/>
                <a:tab pos="357505" algn="l"/>
              </a:tabLst>
            </a:pPr>
            <a:r>
              <a:rPr sz="2200" dirty="0">
                <a:latin typeface="Arial"/>
                <a:cs typeface="Arial"/>
              </a:rPr>
              <a:t>Medium accuracy compared to other</a:t>
            </a:r>
            <a:r>
              <a:rPr sz="2200" spc="-80" dirty="0">
                <a:latin typeface="Arial"/>
                <a:cs typeface="Arial"/>
              </a:rPr>
              <a:t> </a:t>
            </a:r>
            <a:r>
              <a:rPr sz="2200" dirty="0">
                <a:latin typeface="Arial"/>
                <a:cs typeface="Arial"/>
              </a:rPr>
              <a:t>ADC types</a:t>
            </a:r>
          </a:p>
          <a:p>
            <a:pPr marL="356870" marR="97790" indent="-344170">
              <a:spcBef>
                <a:spcPts val="600"/>
              </a:spcBef>
              <a:buClr>
                <a:srgbClr val="434DD6"/>
              </a:buClr>
              <a:buSzPct val="59090"/>
              <a:buFont typeface="Wingdings"/>
              <a:buChar char=""/>
              <a:tabLst>
                <a:tab pos="356870" algn="l"/>
                <a:tab pos="357505" algn="l"/>
              </a:tabLst>
            </a:pPr>
            <a:r>
              <a:rPr sz="2200" dirty="0">
                <a:latin typeface="Arial"/>
                <a:cs typeface="Arial"/>
              </a:rPr>
              <a:t>Good trade</a:t>
            </a:r>
            <a:r>
              <a:rPr lang="en-US" sz="2200" dirty="0">
                <a:latin typeface="Arial"/>
                <a:cs typeface="Arial"/>
              </a:rPr>
              <a:t>-</a:t>
            </a:r>
            <a:r>
              <a:rPr sz="2200" dirty="0">
                <a:latin typeface="Arial"/>
                <a:cs typeface="Arial"/>
              </a:rPr>
              <a:t>off</a:t>
            </a:r>
            <a:r>
              <a:rPr sz="2200" spc="-80" dirty="0">
                <a:latin typeface="Arial"/>
                <a:cs typeface="Arial"/>
              </a:rPr>
              <a:t> </a:t>
            </a:r>
            <a:r>
              <a:rPr sz="2200" dirty="0">
                <a:latin typeface="Arial"/>
                <a:cs typeface="Arial"/>
              </a:rPr>
              <a:t>between  speed and</a:t>
            </a:r>
            <a:r>
              <a:rPr sz="2200" spc="-15" dirty="0">
                <a:latin typeface="Arial"/>
                <a:cs typeface="Arial"/>
              </a:rPr>
              <a:t> </a:t>
            </a:r>
            <a:r>
              <a:rPr sz="2200" spc="-5" dirty="0">
                <a:latin typeface="Arial"/>
                <a:cs typeface="Arial"/>
              </a:rPr>
              <a:t>cost</a:t>
            </a:r>
            <a:endParaRPr lang="en-US" sz="2200" spc="-5" dirty="0">
              <a:latin typeface="Arial"/>
              <a:cs typeface="Arial"/>
            </a:endParaRPr>
          </a:p>
          <a:p>
            <a:pPr marL="356870" marR="97790" indent="-344170">
              <a:spcBef>
                <a:spcPts val="600"/>
              </a:spcBef>
              <a:buClr>
                <a:srgbClr val="434DD6"/>
              </a:buClr>
              <a:buSzPct val="59090"/>
              <a:buFont typeface="Wingdings"/>
              <a:buChar char=""/>
              <a:tabLst>
                <a:tab pos="356870" algn="l"/>
                <a:tab pos="357505" algn="l"/>
              </a:tabLst>
            </a:pPr>
            <a:r>
              <a:rPr lang="en-US" sz="2200" dirty="0">
                <a:latin typeface="Arial"/>
                <a:cs typeface="Arial"/>
              </a:rPr>
              <a:t>Capable of outputting</a:t>
            </a:r>
            <a:r>
              <a:rPr lang="en-US" sz="2200" spc="-80" dirty="0">
                <a:latin typeface="Arial"/>
                <a:cs typeface="Arial"/>
              </a:rPr>
              <a:t> </a:t>
            </a:r>
            <a:r>
              <a:rPr lang="en-US" sz="2200" dirty="0">
                <a:latin typeface="Arial"/>
                <a:cs typeface="Arial"/>
              </a:rPr>
              <a:t>the binary number in serial (one </a:t>
            </a:r>
            <a:r>
              <a:rPr lang="en-US" sz="2200" spc="-5" dirty="0">
                <a:latin typeface="Arial"/>
                <a:cs typeface="Arial"/>
              </a:rPr>
              <a:t>bit </a:t>
            </a:r>
            <a:r>
              <a:rPr lang="en-US" sz="2200" dirty="0">
                <a:latin typeface="Arial"/>
                <a:cs typeface="Arial"/>
              </a:rPr>
              <a:t>at a time)</a:t>
            </a:r>
            <a:r>
              <a:rPr lang="en-US" sz="2200" spc="-55" dirty="0">
                <a:latin typeface="Arial"/>
                <a:cs typeface="Arial"/>
              </a:rPr>
              <a:t> </a:t>
            </a:r>
            <a:r>
              <a:rPr lang="en-US" sz="2200" dirty="0">
                <a:latin typeface="Arial"/>
                <a:cs typeface="Arial"/>
              </a:rPr>
              <a:t>format.</a:t>
            </a:r>
          </a:p>
        </p:txBody>
      </p:sp>
      <p:sp>
        <p:nvSpPr>
          <p:cNvPr id="5" name="object 5"/>
          <p:cNvSpPr txBox="1"/>
          <p:nvPr/>
        </p:nvSpPr>
        <p:spPr>
          <a:xfrm>
            <a:off x="2743200" y="2420802"/>
            <a:ext cx="5266690" cy="703398"/>
          </a:xfrm>
          <a:prstGeom prst="rect">
            <a:avLst/>
          </a:prstGeom>
        </p:spPr>
        <p:txBody>
          <a:bodyPr vert="horz" wrap="square" lIns="0" tIns="13335" rIns="0" bIns="0" rtlCol="0">
            <a:spAutoFit/>
          </a:bodyPr>
          <a:lstStyle/>
          <a:p>
            <a:pPr marL="3401695">
              <a:lnSpc>
                <a:spcPct val="100000"/>
              </a:lnSpc>
              <a:spcBef>
                <a:spcPts val="105"/>
              </a:spcBef>
            </a:pPr>
            <a:r>
              <a:rPr sz="2200" spc="-5" dirty="0">
                <a:solidFill>
                  <a:srgbClr val="00E6B7"/>
                </a:solidFill>
                <a:latin typeface="Arial"/>
                <a:cs typeface="Arial"/>
              </a:rPr>
              <a:t>Disadvantages</a:t>
            </a:r>
            <a:endParaRPr sz="2200" dirty="0">
              <a:latin typeface="Arial"/>
              <a:cs typeface="Arial"/>
            </a:endParaRPr>
          </a:p>
          <a:p>
            <a:pPr marL="12700">
              <a:lnSpc>
                <a:spcPct val="100000"/>
              </a:lnSpc>
              <a:spcBef>
                <a:spcPts val="50"/>
              </a:spcBef>
            </a:pPr>
            <a:endParaRPr sz="2200" dirty="0">
              <a:latin typeface="Arial"/>
              <a:cs typeface="Arial"/>
            </a:endParaRPr>
          </a:p>
        </p:txBody>
      </p:sp>
      <p:sp>
        <p:nvSpPr>
          <p:cNvPr id="6" name="object 6"/>
          <p:cNvSpPr txBox="1"/>
          <p:nvPr/>
        </p:nvSpPr>
        <p:spPr>
          <a:xfrm>
            <a:off x="5263515" y="3109595"/>
            <a:ext cx="3575685" cy="1849224"/>
          </a:xfrm>
          <a:prstGeom prst="rect">
            <a:avLst/>
          </a:prstGeom>
        </p:spPr>
        <p:txBody>
          <a:bodyPr vert="horz" wrap="square" lIns="0" tIns="78740" rIns="0" bIns="0" rtlCol="0">
            <a:spAutoFit/>
          </a:bodyPr>
          <a:lstStyle/>
          <a:p>
            <a:pPr marL="356870" marR="5080" indent="-344170">
              <a:spcBef>
                <a:spcPts val="600"/>
              </a:spcBef>
              <a:buClr>
                <a:srgbClr val="434DD6"/>
              </a:buClr>
              <a:buSzPct val="59090"/>
              <a:buFont typeface="Wingdings"/>
              <a:buChar char=""/>
              <a:tabLst>
                <a:tab pos="356870" algn="l"/>
                <a:tab pos="357505" algn="l"/>
              </a:tabLst>
            </a:pPr>
            <a:r>
              <a:rPr sz="2200" spc="-5" dirty="0">
                <a:latin typeface="Arial"/>
                <a:cs typeface="Arial"/>
              </a:rPr>
              <a:t>Higher </a:t>
            </a:r>
            <a:r>
              <a:rPr sz="2200" dirty="0">
                <a:latin typeface="Arial"/>
                <a:cs typeface="Arial"/>
              </a:rPr>
              <a:t>resolution  </a:t>
            </a:r>
            <a:r>
              <a:rPr sz="2200" spc="-5" dirty="0">
                <a:latin typeface="Arial"/>
                <a:cs typeface="Arial"/>
              </a:rPr>
              <a:t>successive </a:t>
            </a:r>
            <a:r>
              <a:rPr sz="2200" dirty="0">
                <a:latin typeface="Arial"/>
                <a:cs typeface="Arial"/>
              </a:rPr>
              <a:t>approximation  ADC’s </a:t>
            </a:r>
            <a:r>
              <a:rPr sz="2200" spc="-5" dirty="0">
                <a:latin typeface="Arial"/>
                <a:cs typeface="Arial"/>
              </a:rPr>
              <a:t>will </a:t>
            </a:r>
            <a:r>
              <a:rPr sz="2200" dirty="0">
                <a:latin typeface="Arial"/>
                <a:cs typeface="Arial"/>
              </a:rPr>
              <a:t>be</a:t>
            </a:r>
            <a:r>
              <a:rPr sz="2200" spc="15" dirty="0">
                <a:latin typeface="Arial"/>
                <a:cs typeface="Arial"/>
              </a:rPr>
              <a:t> </a:t>
            </a:r>
            <a:r>
              <a:rPr sz="2200" spc="-5" dirty="0">
                <a:latin typeface="Arial"/>
                <a:cs typeface="Arial"/>
              </a:rPr>
              <a:t>slower</a:t>
            </a:r>
            <a:endParaRPr lang="en-US" sz="2200" spc="-5" dirty="0">
              <a:latin typeface="Arial"/>
              <a:cs typeface="Arial"/>
            </a:endParaRPr>
          </a:p>
          <a:p>
            <a:pPr marL="356870" marR="5080" indent="-344170">
              <a:spcBef>
                <a:spcPts val="600"/>
              </a:spcBef>
              <a:buClr>
                <a:srgbClr val="434DD6"/>
              </a:buClr>
              <a:buSzPct val="59090"/>
              <a:buFont typeface="Wingdings"/>
              <a:buChar char=""/>
              <a:tabLst>
                <a:tab pos="356870" algn="l"/>
                <a:tab pos="357505" algn="l"/>
              </a:tabLst>
            </a:pPr>
            <a:r>
              <a:rPr lang="en-GB" sz="2200" spc="-5" dirty="0">
                <a:latin typeface="Arial"/>
                <a:cs typeface="Arial"/>
              </a:rPr>
              <a:t>Large are due to capacitors</a:t>
            </a:r>
            <a:endParaRPr sz="2200" dirty="0">
              <a:latin typeface="Arial"/>
              <a:cs typeface="Arial"/>
            </a:endParaRPr>
          </a:p>
        </p:txBody>
      </p:sp>
      <p:sp>
        <p:nvSpPr>
          <p:cNvPr id="9" name="Rectangle 8">
            <a:extLst>
              <a:ext uri="{FF2B5EF4-FFF2-40B4-BE49-F238E27FC236}">
                <a16:creationId xmlns:a16="http://schemas.microsoft.com/office/drawing/2014/main" id="{773747DD-53C2-4684-8066-203333D78C09}"/>
              </a:ext>
            </a:extLst>
          </p:cNvPr>
          <p:cNvSpPr/>
          <p:nvPr/>
        </p:nvSpPr>
        <p:spPr>
          <a:xfrm>
            <a:off x="2362200" y="2341614"/>
            <a:ext cx="1675459" cy="430887"/>
          </a:xfrm>
          <a:prstGeom prst="rect">
            <a:avLst/>
          </a:prstGeom>
        </p:spPr>
        <p:txBody>
          <a:bodyPr wrap="none">
            <a:spAutoFit/>
          </a:bodyPr>
          <a:lstStyle/>
          <a:p>
            <a:r>
              <a:rPr lang="en-US" sz="2200" dirty="0">
                <a:solidFill>
                  <a:srgbClr val="FF2800"/>
                </a:solidFill>
                <a:latin typeface="Arial"/>
                <a:cs typeface="Arial"/>
              </a:rPr>
              <a:t>Advantages</a:t>
            </a:r>
            <a:endParaRPr lang="en-GB" dirty="0"/>
          </a:p>
        </p:txBody>
      </p:sp>
    </p:spTree>
    <p:extLst>
      <p:ext uri="{BB962C8B-B14F-4D97-AF65-F5344CB8AC3E}">
        <p14:creationId xmlns:p14="http://schemas.microsoft.com/office/powerpoint/2010/main" val="28039443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BF3C3F7-623C-48C5-A61E-05AEEC50D0FA}"/>
              </a:ext>
            </a:extLst>
          </p:cNvPr>
          <p:cNvSpPr>
            <a:spLocks noGrp="1"/>
          </p:cNvSpPr>
          <p:nvPr>
            <p:ph sz="quarter" idx="1"/>
          </p:nvPr>
        </p:nvSpPr>
        <p:spPr/>
        <p:txBody>
          <a:bodyPr/>
          <a:lstStyle/>
          <a:p>
            <a:r>
              <a:rPr lang="en-GB" dirty="0"/>
              <a:t>Fundamental Components (For N bit Flash A/D)</a:t>
            </a:r>
          </a:p>
          <a:p>
            <a:pPr lvl="1"/>
            <a:r>
              <a:rPr lang="en-GB" dirty="0"/>
              <a:t>2</a:t>
            </a:r>
            <a:r>
              <a:rPr lang="en-GB" baseline="30000" dirty="0"/>
              <a:t>N-1</a:t>
            </a:r>
            <a:r>
              <a:rPr lang="en-GB" dirty="0"/>
              <a:t> Comparators</a:t>
            </a:r>
          </a:p>
          <a:p>
            <a:pPr lvl="1"/>
            <a:r>
              <a:rPr lang="en-GB" dirty="0"/>
              <a:t>2</a:t>
            </a:r>
            <a:r>
              <a:rPr lang="en-GB" baseline="30000" dirty="0"/>
              <a:t>N</a:t>
            </a:r>
            <a:r>
              <a:rPr lang="en-GB" dirty="0"/>
              <a:t> Resistors</a:t>
            </a:r>
          </a:p>
          <a:p>
            <a:pPr lvl="1"/>
            <a:r>
              <a:rPr lang="en-GB" dirty="0"/>
              <a:t>Control Logic</a:t>
            </a:r>
          </a:p>
          <a:p>
            <a:endParaRPr lang="en-GB" dirty="0"/>
          </a:p>
        </p:txBody>
      </p:sp>
      <p:sp>
        <p:nvSpPr>
          <p:cNvPr id="5" name="Title 4">
            <a:extLst>
              <a:ext uri="{FF2B5EF4-FFF2-40B4-BE49-F238E27FC236}">
                <a16:creationId xmlns:a16="http://schemas.microsoft.com/office/drawing/2014/main" id="{074ED036-6428-4E02-A642-B0E5381C25EC}"/>
              </a:ext>
            </a:extLst>
          </p:cNvPr>
          <p:cNvSpPr>
            <a:spLocks noGrp="1"/>
          </p:cNvSpPr>
          <p:nvPr>
            <p:ph type="title"/>
          </p:nvPr>
        </p:nvSpPr>
        <p:spPr/>
        <p:txBody>
          <a:bodyPr/>
          <a:lstStyle/>
          <a:p>
            <a:r>
              <a:rPr lang="en-US" spc="-5" dirty="0"/>
              <a:t>Flash A/D</a:t>
            </a:r>
            <a:r>
              <a:rPr lang="en-US" spc="-65" dirty="0"/>
              <a:t> </a:t>
            </a:r>
            <a:r>
              <a:rPr lang="en-US" spc="-5" dirty="0"/>
              <a:t>Converter</a:t>
            </a:r>
            <a:endParaRPr lang="en-GB" dirty="0"/>
          </a:p>
        </p:txBody>
      </p:sp>
      <p:sp>
        <p:nvSpPr>
          <p:cNvPr id="8" name="Date Placeholder 7">
            <a:extLst>
              <a:ext uri="{FF2B5EF4-FFF2-40B4-BE49-F238E27FC236}">
                <a16:creationId xmlns:a16="http://schemas.microsoft.com/office/drawing/2014/main" id="{C6D4488D-E251-4B61-8A32-260EB3AF9929}"/>
              </a:ext>
            </a:extLst>
          </p:cNvPr>
          <p:cNvSpPr>
            <a:spLocks noGrp="1"/>
          </p:cNvSpPr>
          <p:nvPr>
            <p:ph type="dt" sz="half" idx="10"/>
          </p:nvPr>
        </p:nvSpPr>
        <p:spPr/>
        <p:txBody>
          <a:bodyPr/>
          <a:lstStyle/>
          <a:p>
            <a:r>
              <a:rPr lang="en-US"/>
              <a:t>V.T.M</a:t>
            </a:r>
            <a:endParaRPr lang="en-US" dirty="0"/>
          </a:p>
        </p:txBody>
      </p:sp>
      <p:sp>
        <p:nvSpPr>
          <p:cNvPr id="9" name="Footer Placeholder 8">
            <a:extLst>
              <a:ext uri="{FF2B5EF4-FFF2-40B4-BE49-F238E27FC236}">
                <a16:creationId xmlns:a16="http://schemas.microsoft.com/office/drawing/2014/main" id="{1608B8E8-7058-4C63-B50E-2FFBA89EAC7B}"/>
              </a:ext>
            </a:extLst>
          </p:cNvPr>
          <p:cNvSpPr>
            <a:spLocks noGrp="1"/>
          </p:cNvSpPr>
          <p:nvPr>
            <p:ph type="ftr" sz="quarter" idx="11"/>
          </p:nvPr>
        </p:nvSpPr>
        <p:spPr/>
        <p:txBody>
          <a:bodyPr/>
          <a:lstStyle/>
          <a:p>
            <a:r>
              <a:rPr lang="en-US"/>
              <a:t>DN, 2020</a:t>
            </a:r>
            <a:endParaRPr lang="en-US" dirty="0"/>
          </a:p>
        </p:txBody>
      </p:sp>
      <p:sp>
        <p:nvSpPr>
          <p:cNvPr id="6" name="Slide Number Placeholder 5">
            <a:extLst>
              <a:ext uri="{FF2B5EF4-FFF2-40B4-BE49-F238E27FC236}">
                <a16:creationId xmlns:a16="http://schemas.microsoft.com/office/drawing/2014/main" id="{25759A50-EBD7-4401-B60F-75F71AD936D4}"/>
              </a:ext>
            </a:extLst>
          </p:cNvPr>
          <p:cNvSpPr>
            <a:spLocks noGrp="1"/>
          </p:cNvSpPr>
          <p:nvPr>
            <p:ph type="sldNum" sz="quarter" idx="12"/>
          </p:nvPr>
        </p:nvSpPr>
        <p:spPr/>
        <p:txBody>
          <a:bodyPr/>
          <a:lstStyle/>
          <a:p>
            <a:fld id="{B6F15528-21DE-4FAA-801E-634DDDAF4B2B}" type="slidenum">
              <a:rPr lang="en-US" smtClean="0"/>
              <a:t>58</a:t>
            </a:fld>
            <a:endParaRPr lang="en-US" dirty="0"/>
          </a:p>
        </p:txBody>
      </p:sp>
      <p:sp>
        <p:nvSpPr>
          <p:cNvPr id="4" name="object 4"/>
          <p:cNvSpPr/>
          <p:nvPr/>
        </p:nvSpPr>
        <p:spPr>
          <a:xfrm>
            <a:off x="3706720" y="2609435"/>
            <a:ext cx="5589680" cy="4096165"/>
          </a:xfrm>
          <a:prstGeom prst="rect">
            <a:avLst/>
          </a:prstGeom>
          <a:blipFill>
            <a:blip r:embed="rId2" cstate="print"/>
            <a:stretch>
              <a:fillRect/>
            </a:stretch>
          </a:blipFill>
        </p:spPr>
        <p:txBody>
          <a:bodyPr wrap="square" lIns="0" tIns="0" rIns="0" bIns="0" rtlCol="0"/>
          <a:lstStyle/>
          <a:p>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146AF506-8B06-4F69-8D08-54EAEAA66103}"/>
              </a:ext>
            </a:extLst>
          </p:cNvPr>
          <p:cNvSpPr>
            <a:spLocks noGrp="1"/>
          </p:cNvSpPr>
          <p:nvPr>
            <p:ph sz="quarter" idx="1"/>
          </p:nvPr>
        </p:nvSpPr>
        <p:spPr/>
        <p:txBody>
          <a:bodyPr>
            <a:normAutofit fontScale="92500"/>
          </a:bodyPr>
          <a:lstStyle/>
          <a:p>
            <a:r>
              <a:rPr lang="en-US" dirty="0"/>
              <a:t>Uses the 2</a:t>
            </a:r>
            <a:r>
              <a:rPr lang="en-US" baseline="30000" dirty="0"/>
              <a:t>N</a:t>
            </a:r>
            <a:r>
              <a:rPr lang="en-US" dirty="0"/>
              <a:t> resistors to form a ladder voltage divider, which  divides the reference voltage into 2</a:t>
            </a:r>
            <a:r>
              <a:rPr lang="en-US" baseline="30000" dirty="0"/>
              <a:t>N</a:t>
            </a:r>
            <a:r>
              <a:rPr lang="en-US" dirty="0"/>
              <a:t> equal intervals.</a:t>
            </a:r>
          </a:p>
          <a:p>
            <a:r>
              <a:rPr lang="en-US" dirty="0"/>
              <a:t>Uses the 2</a:t>
            </a:r>
            <a:r>
              <a:rPr lang="en-US" baseline="30000" dirty="0"/>
              <a:t>N</a:t>
            </a:r>
            <a:r>
              <a:rPr lang="en-US" dirty="0"/>
              <a:t>-1 comparators to determine in which of these 2</a:t>
            </a:r>
            <a:r>
              <a:rPr lang="en-US" baseline="30000" dirty="0"/>
              <a:t>N</a:t>
            </a:r>
            <a:r>
              <a:rPr lang="en-US" dirty="0"/>
              <a:t> voltage intervals the input voltage V</a:t>
            </a:r>
            <a:r>
              <a:rPr lang="en-US" baseline="-25000" dirty="0"/>
              <a:t>in</a:t>
            </a:r>
            <a:r>
              <a:rPr lang="en-US" dirty="0"/>
              <a:t> lies.</a:t>
            </a:r>
          </a:p>
          <a:p>
            <a:r>
              <a:rPr lang="en-US" dirty="0"/>
              <a:t>The Combinational logic then translates the information  provided by the output of the comparators</a:t>
            </a:r>
          </a:p>
          <a:p>
            <a:r>
              <a:rPr lang="en-US" dirty="0"/>
              <a:t>This ADC does not require a clock, so the conversion time is essentially set by the settling time of the comparators and the propagation time of the combinational logic.</a:t>
            </a:r>
          </a:p>
          <a:p>
            <a:endParaRPr lang="en-GB" dirty="0"/>
          </a:p>
        </p:txBody>
      </p:sp>
      <p:sp>
        <p:nvSpPr>
          <p:cNvPr id="4" name="Title 3">
            <a:extLst>
              <a:ext uri="{FF2B5EF4-FFF2-40B4-BE49-F238E27FC236}">
                <a16:creationId xmlns:a16="http://schemas.microsoft.com/office/drawing/2014/main" id="{1C91A0F1-388B-42CB-A3CA-3ED02B9BB224}"/>
              </a:ext>
            </a:extLst>
          </p:cNvPr>
          <p:cNvSpPr>
            <a:spLocks noGrp="1"/>
          </p:cNvSpPr>
          <p:nvPr>
            <p:ph type="title"/>
          </p:nvPr>
        </p:nvSpPr>
        <p:spPr/>
        <p:txBody>
          <a:bodyPr/>
          <a:lstStyle/>
          <a:p>
            <a:r>
              <a:rPr lang="en-US" spc="-10" dirty="0"/>
              <a:t>How </a:t>
            </a:r>
            <a:r>
              <a:rPr lang="en-US" spc="-5" dirty="0"/>
              <a:t>does it work?</a:t>
            </a:r>
            <a:endParaRPr lang="en-GB" dirty="0"/>
          </a:p>
        </p:txBody>
      </p:sp>
      <p:sp>
        <p:nvSpPr>
          <p:cNvPr id="7" name="Date Placeholder 6">
            <a:extLst>
              <a:ext uri="{FF2B5EF4-FFF2-40B4-BE49-F238E27FC236}">
                <a16:creationId xmlns:a16="http://schemas.microsoft.com/office/drawing/2014/main" id="{63132714-80D8-4E7E-93D3-DA0D06670851}"/>
              </a:ext>
            </a:extLst>
          </p:cNvPr>
          <p:cNvSpPr>
            <a:spLocks noGrp="1"/>
          </p:cNvSpPr>
          <p:nvPr>
            <p:ph type="dt" sz="half" idx="10"/>
          </p:nvPr>
        </p:nvSpPr>
        <p:spPr/>
        <p:txBody>
          <a:bodyPr/>
          <a:lstStyle/>
          <a:p>
            <a:r>
              <a:rPr lang="en-US"/>
              <a:t>V.T.M</a:t>
            </a:r>
            <a:endParaRPr lang="en-US" dirty="0"/>
          </a:p>
        </p:txBody>
      </p:sp>
      <p:sp>
        <p:nvSpPr>
          <p:cNvPr id="8" name="Footer Placeholder 7">
            <a:extLst>
              <a:ext uri="{FF2B5EF4-FFF2-40B4-BE49-F238E27FC236}">
                <a16:creationId xmlns:a16="http://schemas.microsoft.com/office/drawing/2014/main" id="{59A60422-7258-4D68-9A26-AABFB83FEBF4}"/>
              </a:ext>
            </a:extLst>
          </p:cNvPr>
          <p:cNvSpPr>
            <a:spLocks noGrp="1"/>
          </p:cNvSpPr>
          <p:nvPr>
            <p:ph type="ftr" sz="quarter" idx="11"/>
          </p:nvPr>
        </p:nvSpPr>
        <p:spPr/>
        <p:txBody>
          <a:bodyPr/>
          <a:lstStyle/>
          <a:p>
            <a:r>
              <a:rPr lang="en-US"/>
              <a:t>DN, 2020</a:t>
            </a:r>
            <a:endParaRPr lang="en-US" dirty="0"/>
          </a:p>
        </p:txBody>
      </p:sp>
      <p:sp>
        <p:nvSpPr>
          <p:cNvPr id="5" name="Slide Number Placeholder 4">
            <a:extLst>
              <a:ext uri="{FF2B5EF4-FFF2-40B4-BE49-F238E27FC236}">
                <a16:creationId xmlns:a16="http://schemas.microsoft.com/office/drawing/2014/main" id="{BDAA1EE6-6419-49EE-AE03-F95861E81199}"/>
              </a:ext>
            </a:extLst>
          </p:cNvPr>
          <p:cNvSpPr>
            <a:spLocks noGrp="1"/>
          </p:cNvSpPr>
          <p:nvPr>
            <p:ph type="sldNum" sz="quarter" idx="12"/>
          </p:nvPr>
        </p:nvSpPr>
        <p:spPr/>
        <p:txBody>
          <a:bodyPr/>
          <a:lstStyle/>
          <a:p>
            <a:fld id="{B6F15528-21DE-4FAA-801E-634DDDAF4B2B}" type="slidenum">
              <a:rPr lang="en-US" smtClean="0"/>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06695-12BC-4449-ACB6-FFE9DA35DA50}"/>
              </a:ext>
            </a:extLst>
          </p:cNvPr>
          <p:cNvSpPr>
            <a:spLocks noGrp="1"/>
          </p:cNvSpPr>
          <p:nvPr>
            <p:ph type="title"/>
          </p:nvPr>
        </p:nvSpPr>
        <p:spPr/>
        <p:txBody>
          <a:bodyPr/>
          <a:lstStyle/>
          <a:p>
            <a:r>
              <a:rPr lang="en-US" spc="-5" dirty="0"/>
              <a:t>Flash A/D</a:t>
            </a:r>
            <a:r>
              <a:rPr lang="en-US" spc="-65" dirty="0"/>
              <a:t> </a:t>
            </a:r>
            <a:r>
              <a:rPr lang="en-US" spc="-5" dirty="0"/>
              <a:t>Converter</a:t>
            </a:r>
            <a:endParaRPr lang="en-GB" dirty="0"/>
          </a:p>
        </p:txBody>
      </p:sp>
      <p:sp>
        <p:nvSpPr>
          <p:cNvPr id="8" name="Date Placeholder 7">
            <a:extLst>
              <a:ext uri="{FF2B5EF4-FFF2-40B4-BE49-F238E27FC236}">
                <a16:creationId xmlns:a16="http://schemas.microsoft.com/office/drawing/2014/main" id="{BE047AF4-F30B-4C31-8EAA-15C0E19BCE8D}"/>
              </a:ext>
            </a:extLst>
          </p:cNvPr>
          <p:cNvSpPr>
            <a:spLocks noGrp="1"/>
          </p:cNvSpPr>
          <p:nvPr>
            <p:ph type="dt" sz="half" idx="10"/>
          </p:nvPr>
        </p:nvSpPr>
        <p:spPr/>
        <p:txBody>
          <a:bodyPr/>
          <a:lstStyle/>
          <a:p>
            <a:r>
              <a:rPr lang="en-US"/>
              <a:t>V.T.M</a:t>
            </a:r>
            <a:endParaRPr lang="en-US" dirty="0"/>
          </a:p>
        </p:txBody>
      </p:sp>
      <p:sp>
        <p:nvSpPr>
          <p:cNvPr id="9" name="Footer Placeholder 8">
            <a:extLst>
              <a:ext uri="{FF2B5EF4-FFF2-40B4-BE49-F238E27FC236}">
                <a16:creationId xmlns:a16="http://schemas.microsoft.com/office/drawing/2014/main" id="{E84B9A24-5965-4934-BC26-E830AEFECBFA}"/>
              </a:ext>
            </a:extLst>
          </p:cNvPr>
          <p:cNvSpPr>
            <a:spLocks noGrp="1"/>
          </p:cNvSpPr>
          <p:nvPr>
            <p:ph type="ftr" sz="quarter" idx="11"/>
          </p:nvPr>
        </p:nvSpPr>
        <p:spPr/>
        <p:txBody>
          <a:bodyPr/>
          <a:lstStyle/>
          <a:p>
            <a:r>
              <a:rPr lang="en-US"/>
              <a:t>DN, 2020</a:t>
            </a:r>
            <a:endParaRPr lang="en-US" dirty="0"/>
          </a:p>
        </p:txBody>
      </p:sp>
      <p:sp>
        <p:nvSpPr>
          <p:cNvPr id="6" name="Slide Number Placeholder 5">
            <a:extLst>
              <a:ext uri="{FF2B5EF4-FFF2-40B4-BE49-F238E27FC236}">
                <a16:creationId xmlns:a16="http://schemas.microsoft.com/office/drawing/2014/main" id="{4239F2F1-196D-471E-8060-5C6B2A5F25C5}"/>
              </a:ext>
            </a:extLst>
          </p:cNvPr>
          <p:cNvSpPr>
            <a:spLocks noGrp="1"/>
          </p:cNvSpPr>
          <p:nvPr>
            <p:ph type="sldNum" sz="quarter" idx="12"/>
          </p:nvPr>
        </p:nvSpPr>
        <p:spPr/>
        <p:txBody>
          <a:bodyPr/>
          <a:lstStyle/>
          <a:p>
            <a:fld id="{B6F15528-21DE-4FAA-801E-634DDDAF4B2B}" type="slidenum">
              <a:rPr lang="en-US" smtClean="0"/>
              <a:t>60</a:t>
            </a:fld>
            <a:endParaRPr lang="en-US" dirty="0"/>
          </a:p>
        </p:txBody>
      </p:sp>
      <p:sp>
        <p:nvSpPr>
          <p:cNvPr id="3" name="object 3"/>
          <p:cNvSpPr txBox="1"/>
          <p:nvPr/>
        </p:nvSpPr>
        <p:spPr>
          <a:xfrm>
            <a:off x="1717801" y="2405582"/>
            <a:ext cx="3638550" cy="3783965"/>
          </a:xfrm>
          <a:prstGeom prst="rect">
            <a:avLst/>
          </a:prstGeom>
        </p:spPr>
        <p:txBody>
          <a:bodyPr vert="horz" wrap="square" lIns="0" tIns="97790" rIns="0" bIns="0" rtlCol="0">
            <a:spAutoFit/>
          </a:bodyPr>
          <a:lstStyle/>
          <a:p>
            <a:pPr marL="1322705">
              <a:lnSpc>
                <a:spcPct val="100000"/>
              </a:lnSpc>
              <a:spcBef>
                <a:spcPts val="770"/>
              </a:spcBef>
            </a:pPr>
            <a:r>
              <a:rPr sz="2800" dirty="0">
                <a:latin typeface="Arial"/>
                <a:cs typeface="Arial"/>
              </a:rPr>
              <a:t>PROS</a:t>
            </a:r>
          </a:p>
          <a:p>
            <a:pPr marL="356870" indent="-344170">
              <a:lnSpc>
                <a:spcPct val="100000"/>
              </a:lnSpc>
              <a:spcBef>
                <a:spcPts val="670"/>
              </a:spcBef>
              <a:buClr>
                <a:srgbClr val="434DD6"/>
              </a:buClr>
              <a:buSzPct val="60714"/>
              <a:buFont typeface="Wingdings"/>
              <a:buChar char=""/>
              <a:tabLst>
                <a:tab pos="356870" algn="l"/>
                <a:tab pos="357505" algn="l"/>
              </a:tabLst>
            </a:pPr>
            <a:r>
              <a:rPr sz="2800" dirty="0">
                <a:latin typeface="Arial"/>
                <a:cs typeface="Arial"/>
              </a:rPr>
              <a:t>Very Fast</a:t>
            </a:r>
            <a:r>
              <a:rPr sz="2800" spc="-30" dirty="0">
                <a:latin typeface="Arial"/>
                <a:cs typeface="Arial"/>
              </a:rPr>
              <a:t> </a:t>
            </a:r>
            <a:r>
              <a:rPr sz="2800" spc="-5" dirty="0">
                <a:latin typeface="Arial"/>
                <a:cs typeface="Arial"/>
              </a:rPr>
              <a:t>(Fastest)</a:t>
            </a:r>
            <a:endParaRPr sz="2800" dirty="0">
              <a:latin typeface="Arial"/>
              <a:cs typeface="Arial"/>
            </a:endParaRPr>
          </a:p>
          <a:p>
            <a:pPr marL="356870" marR="419100" indent="-344170">
              <a:lnSpc>
                <a:spcPct val="100000"/>
              </a:lnSpc>
              <a:spcBef>
                <a:spcPts val="675"/>
              </a:spcBef>
              <a:buClr>
                <a:srgbClr val="434DD6"/>
              </a:buClr>
              <a:buSzPct val="60714"/>
              <a:buFont typeface="Wingdings"/>
              <a:buChar char=""/>
              <a:tabLst>
                <a:tab pos="356870" algn="l"/>
                <a:tab pos="357505" algn="l"/>
              </a:tabLst>
            </a:pPr>
            <a:r>
              <a:rPr sz="2800" dirty="0">
                <a:latin typeface="Arial"/>
                <a:cs typeface="Arial"/>
              </a:rPr>
              <a:t>Very simple  </a:t>
            </a:r>
            <a:r>
              <a:rPr sz="2800" spc="-5" dirty="0">
                <a:latin typeface="Arial"/>
                <a:cs typeface="Arial"/>
              </a:rPr>
              <a:t>operational</a:t>
            </a:r>
            <a:r>
              <a:rPr sz="2800" spc="-35" dirty="0">
                <a:latin typeface="Arial"/>
                <a:cs typeface="Arial"/>
              </a:rPr>
              <a:t> </a:t>
            </a:r>
            <a:r>
              <a:rPr sz="2800" dirty="0">
                <a:latin typeface="Arial"/>
                <a:cs typeface="Arial"/>
              </a:rPr>
              <a:t>theory</a:t>
            </a:r>
          </a:p>
          <a:p>
            <a:pPr marL="356870" marR="5080" indent="-344170">
              <a:lnSpc>
                <a:spcPct val="100200"/>
              </a:lnSpc>
              <a:spcBef>
                <a:spcPts val="665"/>
              </a:spcBef>
              <a:buClr>
                <a:srgbClr val="434DD6"/>
              </a:buClr>
              <a:buSzPct val="60714"/>
              <a:buFont typeface="Wingdings"/>
              <a:buChar char=""/>
              <a:tabLst>
                <a:tab pos="356870" algn="l"/>
                <a:tab pos="357505" algn="l"/>
              </a:tabLst>
            </a:pPr>
            <a:r>
              <a:rPr sz="2800" dirty="0">
                <a:latin typeface="Arial"/>
                <a:cs typeface="Arial"/>
              </a:rPr>
              <a:t>Speed is </a:t>
            </a:r>
            <a:r>
              <a:rPr sz="2800" spc="-5" dirty="0">
                <a:latin typeface="Arial"/>
                <a:cs typeface="Arial"/>
              </a:rPr>
              <a:t>only limited  </a:t>
            </a:r>
            <a:r>
              <a:rPr sz="2800" dirty="0">
                <a:latin typeface="Arial"/>
                <a:cs typeface="Arial"/>
              </a:rPr>
              <a:t>by gate </a:t>
            </a:r>
            <a:r>
              <a:rPr sz="2800" spc="-5" dirty="0">
                <a:latin typeface="Arial"/>
                <a:cs typeface="Arial"/>
              </a:rPr>
              <a:t>and  </a:t>
            </a:r>
            <a:r>
              <a:rPr sz="2800" dirty="0">
                <a:latin typeface="Arial"/>
                <a:cs typeface="Arial"/>
              </a:rPr>
              <a:t>comparator  </a:t>
            </a:r>
            <a:r>
              <a:rPr sz="2800" spc="-5" dirty="0">
                <a:latin typeface="Arial"/>
                <a:cs typeface="Arial"/>
              </a:rPr>
              <a:t>propagation</a:t>
            </a:r>
            <a:r>
              <a:rPr sz="2800" spc="-10" dirty="0">
                <a:latin typeface="Arial"/>
                <a:cs typeface="Arial"/>
              </a:rPr>
              <a:t> </a:t>
            </a:r>
            <a:r>
              <a:rPr sz="2800" spc="-5" dirty="0">
                <a:latin typeface="Arial"/>
                <a:cs typeface="Arial"/>
              </a:rPr>
              <a:t>delay</a:t>
            </a:r>
            <a:endParaRPr sz="2800" dirty="0">
              <a:latin typeface="Arial"/>
              <a:cs typeface="Arial"/>
            </a:endParaRPr>
          </a:p>
        </p:txBody>
      </p:sp>
      <p:sp>
        <p:nvSpPr>
          <p:cNvPr id="4" name="object 4"/>
          <p:cNvSpPr txBox="1"/>
          <p:nvPr/>
        </p:nvSpPr>
        <p:spPr>
          <a:xfrm>
            <a:off x="5680201" y="2405582"/>
            <a:ext cx="3640454" cy="3783965"/>
          </a:xfrm>
          <a:prstGeom prst="rect">
            <a:avLst/>
          </a:prstGeom>
        </p:spPr>
        <p:txBody>
          <a:bodyPr vert="horz" wrap="square" lIns="0" tIns="97790" rIns="0" bIns="0" rtlCol="0">
            <a:spAutoFit/>
          </a:bodyPr>
          <a:lstStyle/>
          <a:p>
            <a:pPr marL="1313815">
              <a:lnSpc>
                <a:spcPct val="100000"/>
              </a:lnSpc>
              <a:spcBef>
                <a:spcPts val="770"/>
              </a:spcBef>
            </a:pPr>
            <a:r>
              <a:rPr sz="2800" dirty="0">
                <a:latin typeface="Arial"/>
                <a:cs typeface="Arial"/>
              </a:rPr>
              <a:t>CONS</a:t>
            </a:r>
          </a:p>
          <a:p>
            <a:pPr marL="356870" indent="-344170">
              <a:lnSpc>
                <a:spcPct val="100000"/>
              </a:lnSpc>
              <a:spcBef>
                <a:spcPts val="670"/>
              </a:spcBef>
              <a:buClr>
                <a:srgbClr val="434DD6"/>
              </a:buClr>
              <a:buSzPct val="60714"/>
              <a:buFont typeface="Wingdings"/>
              <a:buChar char=""/>
              <a:tabLst>
                <a:tab pos="356870" algn="l"/>
                <a:tab pos="357505" algn="l"/>
              </a:tabLst>
            </a:pPr>
            <a:r>
              <a:rPr sz="2800" dirty="0">
                <a:latin typeface="Arial"/>
                <a:cs typeface="Arial"/>
              </a:rPr>
              <a:t>Expensive</a:t>
            </a:r>
          </a:p>
          <a:p>
            <a:pPr marL="356870" marR="5080" indent="-344170">
              <a:lnSpc>
                <a:spcPct val="100000"/>
              </a:lnSpc>
              <a:spcBef>
                <a:spcPts val="675"/>
              </a:spcBef>
              <a:buClr>
                <a:srgbClr val="434DD6"/>
              </a:buClr>
              <a:buSzPct val="60714"/>
              <a:buFont typeface="Wingdings"/>
              <a:buChar char=""/>
              <a:tabLst>
                <a:tab pos="356870" algn="l"/>
                <a:tab pos="357505" algn="l"/>
              </a:tabLst>
            </a:pPr>
            <a:r>
              <a:rPr sz="2800" dirty="0">
                <a:latin typeface="Arial"/>
                <a:cs typeface="Arial"/>
              </a:rPr>
              <a:t>Prone to </a:t>
            </a:r>
            <a:r>
              <a:rPr sz="2800" spc="-5" dirty="0">
                <a:latin typeface="Arial"/>
                <a:cs typeface="Arial"/>
              </a:rPr>
              <a:t>produce  glitches </a:t>
            </a:r>
            <a:r>
              <a:rPr sz="2800" dirty="0">
                <a:latin typeface="Arial"/>
                <a:cs typeface="Arial"/>
              </a:rPr>
              <a:t>in the</a:t>
            </a:r>
            <a:r>
              <a:rPr sz="2800" spc="-30" dirty="0">
                <a:latin typeface="Arial"/>
                <a:cs typeface="Arial"/>
              </a:rPr>
              <a:t> </a:t>
            </a:r>
            <a:r>
              <a:rPr sz="2800" spc="-5" dirty="0">
                <a:latin typeface="Arial"/>
                <a:cs typeface="Arial"/>
              </a:rPr>
              <a:t>output</a:t>
            </a:r>
            <a:endParaRPr sz="2800" dirty="0">
              <a:latin typeface="Arial"/>
              <a:cs typeface="Arial"/>
            </a:endParaRPr>
          </a:p>
          <a:p>
            <a:pPr marL="356870" marR="362585" indent="-344170">
              <a:lnSpc>
                <a:spcPct val="100200"/>
              </a:lnSpc>
              <a:spcBef>
                <a:spcPts val="665"/>
              </a:spcBef>
              <a:buClr>
                <a:srgbClr val="434DD6"/>
              </a:buClr>
              <a:buSzPct val="60714"/>
              <a:buFont typeface="Wingdings"/>
              <a:buChar char=""/>
              <a:tabLst>
                <a:tab pos="356870" algn="l"/>
                <a:tab pos="357505" algn="l"/>
              </a:tabLst>
            </a:pPr>
            <a:r>
              <a:rPr sz="2800" dirty="0">
                <a:latin typeface="Arial"/>
                <a:cs typeface="Arial"/>
              </a:rPr>
              <a:t>Each </a:t>
            </a:r>
            <a:r>
              <a:rPr sz="2800" spc="-5" dirty="0">
                <a:latin typeface="Arial"/>
                <a:cs typeface="Arial"/>
              </a:rPr>
              <a:t>additional bit  </a:t>
            </a:r>
            <a:r>
              <a:rPr sz="2800" dirty="0">
                <a:latin typeface="Arial"/>
                <a:cs typeface="Arial"/>
              </a:rPr>
              <a:t>of resolution  requires twice the  </a:t>
            </a:r>
            <a:r>
              <a:rPr sz="2800" spc="-5" dirty="0">
                <a:latin typeface="Arial"/>
                <a:cs typeface="Arial"/>
              </a:rPr>
              <a:t>comparators.</a:t>
            </a:r>
            <a:endParaRPr sz="2800" dirty="0">
              <a:latin typeface="Arial"/>
              <a:cs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570D07C-FF38-41B1-862B-6D5304727866}"/>
              </a:ext>
            </a:extLst>
          </p:cNvPr>
          <p:cNvSpPr>
            <a:spLocks noGrp="1"/>
          </p:cNvSpPr>
          <p:nvPr>
            <p:ph sz="quarter" idx="1"/>
          </p:nvPr>
        </p:nvSpPr>
        <p:spPr/>
        <p:txBody>
          <a:bodyPr/>
          <a:lstStyle/>
          <a:p>
            <a:r>
              <a:rPr lang="en-GB" dirty="0"/>
              <a:t>Main Components</a:t>
            </a:r>
          </a:p>
          <a:p>
            <a:pPr lvl="1"/>
            <a:r>
              <a:rPr lang="en-GB" dirty="0"/>
              <a:t>Resistors</a:t>
            </a:r>
          </a:p>
          <a:p>
            <a:pPr lvl="1"/>
            <a:r>
              <a:rPr lang="en-GB" dirty="0"/>
              <a:t>Capacitor</a:t>
            </a:r>
          </a:p>
          <a:p>
            <a:pPr lvl="1"/>
            <a:r>
              <a:rPr lang="en-GB" dirty="0"/>
              <a:t>Comparators</a:t>
            </a:r>
          </a:p>
          <a:p>
            <a:pPr lvl="1"/>
            <a:r>
              <a:rPr lang="en-GB" dirty="0"/>
              <a:t>Control Logic</a:t>
            </a:r>
          </a:p>
          <a:p>
            <a:pPr lvl="1"/>
            <a:r>
              <a:rPr lang="en-GB" dirty="0"/>
              <a:t>DAC</a:t>
            </a:r>
          </a:p>
          <a:p>
            <a:endParaRPr lang="en-GB" dirty="0"/>
          </a:p>
        </p:txBody>
      </p:sp>
      <p:sp>
        <p:nvSpPr>
          <p:cNvPr id="5" name="Title 4">
            <a:extLst>
              <a:ext uri="{FF2B5EF4-FFF2-40B4-BE49-F238E27FC236}">
                <a16:creationId xmlns:a16="http://schemas.microsoft.com/office/drawing/2014/main" id="{00C383FF-9930-4067-AB0A-0433A8E179D7}"/>
              </a:ext>
            </a:extLst>
          </p:cNvPr>
          <p:cNvSpPr>
            <a:spLocks noGrp="1"/>
          </p:cNvSpPr>
          <p:nvPr>
            <p:ph type="title"/>
          </p:nvPr>
        </p:nvSpPr>
        <p:spPr/>
        <p:txBody>
          <a:bodyPr/>
          <a:lstStyle/>
          <a:p>
            <a:r>
              <a:rPr lang="en-US" spc="-5" dirty="0"/>
              <a:t>SIGMA-DELTA A/D</a:t>
            </a:r>
            <a:r>
              <a:rPr lang="en-US" spc="-60" dirty="0"/>
              <a:t> </a:t>
            </a:r>
            <a:r>
              <a:rPr lang="en-US" spc="-5" dirty="0"/>
              <a:t>Converter</a:t>
            </a:r>
            <a:endParaRPr lang="en-GB" dirty="0"/>
          </a:p>
        </p:txBody>
      </p:sp>
      <p:sp>
        <p:nvSpPr>
          <p:cNvPr id="8" name="Date Placeholder 7">
            <a:extLst>
              <a:ext uri="{FF2B5EF4-FFF2-40B4-BE49-F238E27FC236}">
                <a16:creationId xmlns:a16="http://schemas.microsoft.com/office/drawing/2014/main" id="{835BA122-FB38-4B1E-B992-CC6E4E420067}"/>
              </a:ext>
            </a:extLst>
          </p:cNvPr>
          <p:cNvSpPr>
            <a:spLocks noGrp="1"/>
          </p:cNvSpPr>
          <p:nvPr>
            <p:ph type="dt" sz="half" idx="10"/>
          </p:nvPr>
        </p:nvSpPr>
        <p:spPr/>
        <p:txBody>
          <a:bodyPr/>
          <a:lstStyle/>
          <a:p>
            <a:r>
              <a:rPr lang="en-US"/>
              <a:t>V.T.M</a:t>
            </a:r>
            <a:endParaRPr lang="en-US" dirty="0"/>
          </a:p>
        </p:txBody>
      </p:sp>
      <p:sp>
        <p:nvSpPr>
          <p:cNvPr id="9" name="Footer Placeholder 8">
            <a:extLst>
              <a:ext uri="{FF2B5EF4-FFF2-40B4-BE49-F238E27FC236}">
                <a16:creationId xmlns:a16="http://schemas.microsoft.com/office/drawing/2014/main" id="{95DC13F6-DEE0-404F-8444-7430A7CD41B1}"/>
              </a:ext>
            </a:extLst>
          </p:cNvPr>
          <p:cNvSpPr>
            <a:spLocks noGrp="1"/>
          </p:cNvSpPr>
          <p:nvPr>
            <p:ph type="ftr" sz="quarter" idx="11"/>
          </p:nvPr>
        </p:nvSpPr>
        <p:spPr/>
        <p:txBody>
          <a:bodyPr/>
          <a:lstStyle/>
          <a:p>
            <a:r>
              <a:rPr lang="en-US"/>
              <a:t>DN, 2020</a:t>
            </a:r>
            <a:endParaRPr lang="en-US" dirty="0"/>
          </a:p>
        </p:txBody>
      </p:sp>
      <p:sp>
        <p:nvSpPr>
          <p:cNvPr id="6" name="Slide Number Placeholder 5">
            <a:extLst>
              <a:ext uri="{FF2B5EF4-FFF2-40B4-BE49-F238E27FC236}">
                <a16:creationId xmlns:a16="http://schemas.microsoft.com/office/drawing/2014/main" id="{2917E94D-F204-4BCC-A916-93BBE6CD4411}"/>
              </a:ext>
            </a:extLst>
          </p:cNvPr>
          <p:cNvSpPr>
            <a:spLocks noGrp="1"/>
          </p:cNvSpPr>
          <p:nvPr>
            <p:ph type="sldNum" sz="quarter" idx="12"/>
          </p:nvPr>
        </p:nvSpPr>
        <p:spPr/>
        <p:txBody>
          <a:bodyPr/>
          <a:lstStyle/>
          <a:p>
            <a:fld id="{B6F15528-21DE-4FAA-801E-634DDDAF4B2B}" type="slidenum">
              <a:rPr lang="en-US" smtClean="0"/>
              <a:t>61</a:t>
            </a:fld>
            <a:endParaRPr lang="en-US" dirty="0"/>
          </a:p>
        </p:txBody>
      </p:sp>
      <p:sp>
        <p:nvSpPr>
          <p:cNvPr id="4" name="object 4"/>
          <p:cNvSpPr/>
          <p:nvPr/>
        </p:nvSpPr>
        <p:spPr>
          <a:xfrm>
            <a:off x="3048000" y="2362200"/>
            <a:ext cx="6638239" cy="4267200"/>
          </a:xfrm>
          <a:prstGeom prst="rect">
            <a:avLst/>
          </a:prstGeom>
          <a:blipFill>
            <a:blip r:embed="rId2" cstate="print"/>
            <a:stretch>
              <a:fillRect/>
            </a:stretch>
          </a:blipFill>
        </p:spPr>
        <p:txBody>
          <a:bodyPr wrap="square" lIns="0" tIns="0" rIns="0" bIns="0" rtlCol="0"/>
          <a:lstStyle/>
          <a:p>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6D89A76C-DC87-467A-96D1-28ED751146FF}"/>
              </a:ext>
            </a:extLst>
          </p:cNvPr>
          <p:cNvSpPr>
            <a:spLocks noGrp="1"/>
          </p:cNvSpPr>
          <p:nvPr>
            <p:ph sz="quarter" idx="1"/>
          </p:nvPr>
        </p:nvSpPr>
        <p:spPr/>
        <p:txBody>
          <a:bodyPr>
            <a:normAutofit/>
          </a:bodyPr>
          <a:lstStyle/>
          <a:p>
            <a:r>
              <a:rPr lang="en-US" sz="2000" dirty="0"/>
              <a:t>Input is over sampled and goes to integrator.</a:t>
            </a:r>
          </a:p>
          <a:p>
            <a:r>
              <a:rPr lang="en-US" sz="2000" dirty="0"/>
              <a:t>The integration is then compared to ground.</a:t>
            </a:r>
          </a:p>
          <a:p>
            <a:r>
              <a:rPr lang="en-US" sz="2000" dirty="0"/>
              <a:t>Iterates and produces a serial bit stream</a:t>
            </a:r>
          </a:p>
          <a:p>
            <a:r>
              <a:rPr lang="en-US" sz="2000" dirty="0"/>
              <a:t>Output is a serial bit stream with # of 1’s proportional to Vin</a:t>
            </a:r>
          </a:p>
          <a:p>
            <a:r>
              <a:rPr lang="en-US" sz="2000" dirty="0"/>
              <a:t>With this arrangement the sigma-delta modulator automatically adjusts its  output to ensure that the average error at the quantizer output is zero.</a:t>
            </a:r>
          </a:p>
          <a:p>
            <a:r>
              <a:rPr lang="en-US" sz="2000" dirty="0"/>
              <a:t>The integrator value is the sum of all past values of the error, so whenever  there is a non-zero error value the integrator value just keeps building until  the error is once again forced to zero.</a:t>
            </a:r>
          </a:p>
          <a:p>
            <a:endParaRPr lang="en-GB" sz="2000" dirty="0"/>
          </a:p>
        </p:txBody>
      </p:sp>
      <p:sp>
        <p:nvSpPr>
          <p:cNvPr id="6" name="Title 5">
            <a:extLst>
              <a:ext uri="{FF2B5EF4-FFF2-40B4-BE49-F238E27FC236}">
                <a16:creationId xmlns:a16="http://schemas.microsoft.com/office/drawing/2014/main" id="{16DE22A6-BCDA-4A59-B4EF-A99CD95B2848}"/>
              </a:ext>
            </a:extLst>
          </p:cNvPr>
          <p:cNvSpPr>
            <a:spLocks noGrp="1"/>
          </p:cNvSpPr>
          <p:nvPr>
            <p:ph type="title"/>
          </p:nvPr>
        </p:nvSpPr>
        <p:spPr/>
        <p:txBody>
          <a:bodyPr/>
          <a:lstStyle/>
          <a:p>
            <a:r>
              <a:rPr lang="en-US" spc="-10" dirty="0"/>
              <a:t>How </a:t>
            </a:r>
            <a:r>
              <a:rPr lang="en-US" spc="-5" dirty="0"/>
              <a:t>does it work?</a:t>
            </a:r>
            <a:endParaRPr lang="en-GB" dirty="0"/>
          </a:p>
        </p:txBody>
      </p:sp>
      <p:sp>
        <p:nvSpPr>
          <p:cNvPr id="9" name="Date Placeholder 8">
            <a:extLst>
              <a:ext uri="{FF2B5EF4-FFF2-40B4-BE49-F238E27FC236}">
                <a16:creationId xmlns:a16="http://schemas.microsoft.com/office/drawing/2014/main" id="{605B8DFD-BF43-4EC5-B6B6-B0679E3421DE}"/>
              </a:ext>
            </a:extLst>
          </p:cNvPr>
          <p:cNvSpPr>
            <a:spLocks noGrp="1"/>
          </p:cNvSpPr>
          <p:nvPr>
            <p:ph type="dt" sz="half" idx="10"/>
          </p:nvPr>
        </p:nvSpPr>
        <p:spPr/>
        <p:txBody>
          <a:bodyPr/>
          <a:lstStyle/>
          <a:p>
            <a:r>
              <a:rPr lang="en-US"/>
              <a:t>V.T.M</a:t>
            </a:r>
            <a:endParaRPr lang="en-US" dirty="0"/>
          </a:p>
        </p:txBody>
      </p:sp>
      <p:sp>
        <p:nvSpPr>
          <p:cNvPr id="10" name="Footer Placeholder 9">
            <a:extLst>
              <a:ext uri="{FF2B5EF4-FFF2-40B4-BE49-F238E27FC236}">
                <a16:creationId xmlns:a16="http://schemas.microsoft.com/office/drawing/2014/main" id="{6CCCD205-5696-4876-90C1-44BC04056A36}"/>
              </a:ext>
            </a:extLst>
          </p:cNvPr>
          <p:cNvSpPr>
            <a:spLocks noGrp="1"/>
          </p:cNvSpPr>
          <p:nvPr>
            <p:ph type="ftr" sz="quarter" idx="11"/>
          </p:nvPr>
        </p:nvSpPr>
        <p:spPr/>
        <p:txBody>
          <a:bodyPr/>
          <a:lstStyle/>
          <a:p>
            <a:r>
              <a:rPr lang="en-US"/>
              <a:t>DN, 2020</a:t>
            </a:r>
            <a:endParaRPr lang="en-US" dirty="0"/>
          </a:p>
        </p:txBody>
      </p:sp>
      <p:sp>
        <p:nvSpPr>
          <p:cNvPr id="7" name="Slide Number Placeholder 6">
            <a:extLst>
              <a:ext uri="{FF2B5EF4-FFF2-40B4-BE49-F238E27FC236}">
                <a16:creationId xmlns:a16="http://schemas.microsoft.com/office/drawing/2014/main" id="{3CE5EDE3-DED6-4D46-9B1C-676CF79FF90E}"/>
              </a:ext>
            </a:extLst>
          </p:cNvPr>
          <p:cNvSpPr>
            <a:spLocks noGrp="1"/>
          </p:cNvSpPr>
          <p:nvPr>
            <p:ph type="sldNum" sz="quarter" idx="12"/>
          </p:nvPr>
        </p:nvSpPr>
        <p:spPr/>
        <p:txBody>
          <a:bodyPr/>
          <a:lstStyle/>
          <a:p>
            <a:fld id="{B6F15528-21DE-4FAA-801E-634DDDAF4B2B}" type="slidenum">
              <a:rPr lang="en-US" smtClean="0"/>
              <a:t>62</a:t>
            </a:fld>
            <a:endParaRPr lang="en-US" dirty="0"/>
          </a:p>
        </p:txBody>
      </p:sp>
      <p:sp>
        <p:nvSpPr>
          <p:cNvPr id="5" name="object 5"/>
          <p:cNvSpPr/>
          <p:nvPr/>
        </p:nvSpPr>
        <p:spPr>
          <a:xfrm>
            <a:off x="2590800" y="4898746"/>
            <a:ext cx="4876800" cy="2286000"/>
          </a:xfrm>
          <a:prstGeom prst="rect">
            <a:avLst/>
          </a:prstGeom>
          <a:blipFill>
            <a:blip r:embed="rId2" cstate="print"/>
            <a:stretch>
              <a:fillRect/>
            </a:stretch>
          </a:blipFill>
        </p:spPr>
        <p:txBody>
          <a:bodyPr wrap="square" lIns="0" tIns="0" rIns="0" bIns="0" rtlCol="0"/>
          <a:lstStyle/>
          <a:p>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F508041-07D6-4279-8964-5D972A680774}"/>
              </a:ext>
            </a:extLst>
          </p:cNvPr>
          <p:cNvSpPr>
            <a:spLocks noGrp="1"/>
          </p:cNvSpPr>
          <p:nvPr>
            <p:ph type="title"/>
          </p:nvPr>
        </p:nvSpPr>
        <p:spPr/>
        <p:txBody>
          <a:bodyPr/>
          <a:lstStyle/>
          <a:p>
            <a:r>
              <a:rPr lang="en-US" spc="-5" dirty="0"/>
              <a:t>Sigma-Delta A/D</a:t>
            </a:r>
            <a:r>
              <a:rPr lang="en-US" spc="-60" dirty="0"/>
              <a:t> </a:t>
            </a:r>
            <a:r>
              <a:rPr lang="en-US" spc="-5" dirty="0"/>
              <a:t>Converter</a:t>
            </a:r>
            <a:endParaRPr lang="en-GB" dirty="0"/>
          </a:p>
        </p:txBody>
      </p:sp>
      <p:sp>
        <p:nvSpPr>
          <p:cNvPr id="8" name="Date Placeholder 7">
            <a:extLst>
              <a:ext uri="{FF2B5EF4-FFF2-40B4-BE49-F238E27FC236}">
                <a16:creationId xmlns:a16="http://schemas.microsoft.com/office/drawing/2014/main" id="{F4EB9D9F-02DE-4D46-9FF8-B312CA0B6FA5}"/>
              </a:ext>
            </a:extLst>
          </p:cNvPr>
          <p:cNvSpPr>
            <a:spLocks noGrp="1"/>
          </p:cNvSpPr>
          <p:nvPr>
            <p:ph type="dt" sz="half" idx="10"/>
          </p:nvPr>
        </p:nvSpPr>
        <p:spPr/>
        <p:txBody>
          <a:bodyPr/>
          <a:lstStyle/>
          <a:p>
            <a:r>
              <a:rPr lang="en-US"/>
              <a:t>V.T.M</a:t>
            </a:r>
            <a:endParaRPr lang="en-US" dirty="0"/>
          </a:p>
        </p:txBody>
      </p:sp>
      <p:sp>
        <p:nvSpPr>
          <p:cNvPr id="9" name="Footer Placeholder 8">
            <a:extLst>
              <a:ext uri="{FF2B5EF4-FFF2-40B4-BE49-F238E27FC236}">
                <a16:creationId xmlns:a16="http://schemas.microsoft.com/office/drawing/2014/main" id="{E664FBAA-FE16-4C6E-A409-121D27F73F22}"/>
              </a:ext>
            </a:extLst>
          </p:cNvPr>
          <p:cNvSpPr>
            <a:spLocks noGrp="1"/>
          </p:cNvSpPr>
          <p:nvPr>
            <p:ph type="ftr" sz="quarter" idx="11"/>
          </p:nvPr>
        </p:nvSpPr>
        <p:spPr/>
        <p:txBody>
          <a:bodyPr/>
          <a:lstStyle/>
          <a:p>
            <a:r>
              <a:rPr lang="en-US"/>
              <a:t>DN, 2020</a:t>
            </a:r>
            <a:endParaRPr lang="en-US" dirty="0"/>
          </a:p>
        </p:txBody>
      </p:sp>
      <p:sp>
        <p:nvSpPr>
          <p:cNvPr id="6" name="Slide Number Placeholder 5">
            <a:extLst>
              <a:ext uri="{FF2B5EF4-FFF2-40B4-BE49-F238E27FC236}">
                <a16:creationId xmlns:a16="http://schemas.microsoft.com/office/drawing/2014/main" id="{6CD701D1-DBD1-4218-9323-F94441328489}"/>
              </a:ext>
            </a:extLst>
          </p:cNvPr>
          <p:cNvSpPr>
            <a:spLocks noGrp="1"/>
          </p:cNvSpPr>
          <p:nvPr>
            <p:ph type="sldNum" sz="quarter" idx="12"/>
          </p:nvPr>
        </p:nvSpPr>
        <p:spPr/>
        <p:txBody>
          <a:bodyPr/>
          <a:lstStyle/>
          <a:p>
            <a:fld id="{B6F15528-21DE-4FAA-801E-634DDDAF4B2B}" type="slidenum">
              <a:rPr lang="en-US" smtClean="0"/>
              <a:t>63</a:t>
            </a:fld>
            <a:endParaRPr lang="en-US" dirty="0"/>
          </a:p>
        </p:txBody>
      </p:sp>
      <p:sp>
        <p:nvSpPr>
          <p:cNvPr id="3" name="object 3"/>
          <p:cNvSpPr txBox="1"/>
          <p:nvPr/>
        </p:nvSpPr>
        <p:spPr>
          <a:xfrm>
            <a:off x="1717801" y="2405582"/>
            <a:ext cx="2886075" cy="2415540"/>
          </a:xfrm>
          <a:prstGeom prst="rect">
            <a:avLst/>
          </a:prstGeom>
        </p:spPr>
        <p:txBody>
          <a:bodyPr vert="horz" wrap="square" lIns="0" tIns="97790" rIns="0" bIns="0" rtlCol="0">
            <a:spAutoFit/>
          </a:bodyPr>
          <a:lstStyle/>
          <a:p>
            <a:pPr marL="1322705">
              <a:lnSpc>
                <a:spcPct val="100000"/>
              </a:lnSpc>
              <a:spcBef>
                <a:spcPts val="770"/>
              </a:spcBef>
            </a:pPr>
            <a:r>
              <a:rPr sz="2800" dirty="0">
                <a:latin typeface="Arial"/>
                <a:cs typeface="Arial"/>
              </a:rPr>
              <a:t>PROS</a:t>
            </a:r>
          </a:p>
          <a:p>
            <a:pPr marL="356870" indent="-344170">
              <a:lnSpc>
                <a:spcPct val="100000"/>
              </a:lnSpc>
              <a:spcBef>
                <a:spcPts val="670"/>
              </a:spcBef>
              <a:buClr>
                <a:srgbClr val="434DD6"/>
              </a:buClr>
              <a:buSzPct val="60714"/>
              <a:buFont typeface="Wingdings"/>
              <a:buChar char=""/>
              <a:tabLst>
                <a:tab pos="356870" algn="l"/>
                <a:tab pos="357505" algn="l"/>
              </a:tabLst>
            </a:pPr>
            <a:r>
              <a:rPr sz="2800" dirty="0">
                <a:latin typeface="Arial"/>
                <a:cs typeface="Arial"/>
              </a:rPr>
              <a:t>High</a:t>
            </a:r>
            <a:r>
              <a:rPr sz="2800" spc="-55" dirty="0">
                <a:latin typeface="Arial"/>
                <a:cs typeface="Arial"/>
              </a:rPr>
              <a:t> </a:t>
            </a:r>
            <a:r>
              <a:rPr sz="2800" spc="-5" dirty="0">
                <a:latin typeface="Arial"/>
                <a:cs typeface="Arial"/>
              </a:rPr>
              <a:t>Resolution</a:t>
            </a:r>
            <a:endParaRPr sz="2800" dirty="0">
              <a:latin typeface="Arial"/>
              <a:cs typeface="Arial"/>
            </a:endParaRPr>
          </a:p>
          <a:p>
            <a:pPr marL="356870" marR="578485" indent="-344170">
              <a:lnSpc>
                <a:spcPct val="100000"/>
              </a:lnSpc>
              <a:spcBef>
                <a:spcPts val="675"/>
              </a:spcBef>
              <a:buClr>
                <a:srgbClr val="434DD6"/>
              </a:buClr>
              <a:buSzPct val="60714"/>
              <a:buFont typeface="Wingdings"/>
              <a:buChar char=""/>
              <a:tabLst>
                <a:tab pos="356870" algn="l"/>
                <a:tab pos="357505" algn="l"/>
              </a:tabLst>
            </a:pPr>
            <a:r>
              <a:rPr sz="2800" dirty="0">
                <a:latin typeface="Arial"/>
                <a:cs typeface="Arial"/>
              </a:rPr>
              <a:t>No need for  </a:t>
            </a:r>
            <a:r>
              <a:rPr sz="2800" spc="-5" dirty="0">
                <a:latin typeface="Arial"/>
                <a:cs typeface="Arial"/>
              </a:rPr>
              <a:t>precision  </a:t>
            </a:r>
            <a:r>
              <a:rPr sz="2800" dirty="0">
                <a:latin typeface="Arial"/>
                <a:cs typeface="Arial"/>
              </a:rPr>
              <a:t>co</a:t>
            </a:r>
            <a:r>
              <a:rPr sz="2800" spc="-5" dirty="0">
                <a:latin typeface="Arial"/>
                <a:cs typeface="Arial"/>
              </a:rPr>
              <a:t>mponents</a:t>
            </a:r>
            <a:endParaRPr sz="2800" dirty="0">
              <a:latin typeface="Arial"/>
              <a:cs typeface="Arial"/>
            </a:endParaRPr>
          </a:p>
        </p:txBody>
      </p:sp>
      <p:sp>
        <p:nvSpPr>
          <p:cNvPr id="4" name="object 4"/>
          <p:cNvSpPr txBox="1"/>
          <p:nvPr/>
        </p:nvSpPr>
        <p:spPr>
          <a:xfrm>
            <a:off x="5680201" y="2405582"/>
            <a:ext cx="3144520" cy="2415540"/>
          </a:xfrm>
          <a:prstGeom prst="rect">
            <a:avLst/>
          </a:prstGeom>
        </p:spPr>
        <p:txBody>
          <a:bodyPr vert="horz" wrap="square" lIns="0" tIns="97790" rIns="0" bIns="0" rtlCol="0">
            <a:spAutoFit/>
          </a:bodyPr>
          <a:lstStyle/>
          <a:p>
            <a:pPr marL="1313815">
              <a:lnSpc>
                <a:spcPct val="100000"/>
              </a:lnSpc>
              <a:spcBef>
                <a:spcPts val="770"/>
              </a:spcBef>
            </a:pPr>
            <a:r>
              <a:rPr sz="2800" dirty="0">
                <a:latin typeface="Arial"/>
                <a:cs typeface="Arial"/>
              </a:rPr>
              <a:t>CONS</a:t>
            </a:r>
          </a:p>
          <a:p>
            <a:pPr marL="356870" marR="123189" indent="-344170">
              <a:lnSpc>
                <a:spcPct val="100000"/>
              </a:lnSpc>
              <a:spcBef>
                <a:spcPts val="670"/>
              </a:spcBef>
              <a:buClr>
                <a:srgbClr val="434DD6"/>
              </a:buClr>
              <a:buSzPct val="60714"/>
              <a:buFont typeface="Wingdings"/>
              <a:buChar char=""/>
              <a:tabLst>
                <a:tab pos="356870" algn="l"/>
                <a:tab pos="357505" algn="l"/>
              </a:tabLst>
            </a:pPr>
            <a:r>
              <a:rPr sz="2800" dirty="0">
                <a:latin typeface="Arial"/>
                <a:cs typeface="Arial"/>
              </a:rPr>
              <a:t>Slow due to</a:t>
            </a:r>
            <a:r>
              <a:rPr sz="2800" spc="-70" dirty="0">
                <a:latin typeface="Arial"/>
                <a:cs typeface="Arial"/>
              </a:rPr>
              <a:t> </a:t>
            </a:r>
            <a:r>
              <a:rPr sz="2800" spc="-5" dirty="0">
                <a:latin typeface="Arial"/>
                <a:cs typeface="Arial"/>
              </a:rPr>
              <a:t>over  </a:t>
            </a:r>
            <a:r>
              <a:rPr sz="2800" dirty="0">
                <a:latin typeface="Arial"/>
                <a:cs typeface="Arial"/>
              </a:rPr>
              <a:t>sampling</a:t>
            </a:r>
          </a:p>
          <a:p>
            <a:pPr marL="356870" marR="5080" indent="-344170">
              <a:lnSpc>
                <a:spcPct val="100000"/>
              </a:lnSpc>
              <a:spcBef>
                <a:spcPts val="675"/>
              </a:spcBef>
              <a:buClr>
                <a:srgbClr val="434DD6"/>
              </a:buClr>
              <a:buSzPct val="60714"/>
              <a:buFont typeface="Wingdings"/>
              <a:buChar char=""/>
              <a:tabLst>
                <a:tab pos="356870" algn="l"/>
                <a:tab pos="357505" algn="l"/>
              </a:tabLst>
            </a:pPr>
            <a:r>
              <a:rPr sz="2800" dirty="0">
                <a:latin typeface="Arial"/>
                <a:cs typeface="Arial"/>
              </a:rPr>
              <a:t>Only good for</a:t>
            </a:r>
            <a:r>
              <a:rPr sz="2800" spc="-75" dirty="0">
                <a:latin typeface="Arial"/>
                <a:cs typeface="Arial"/>
              </a:rPr>
              <a:t> </a:t>
            </a:r>
            <a:r>
              <a:rPr sz="2800" spc="-5" dirty="0">
                <a:latin typeface="Arial"/>
                <a:cs typeface="Arial"/>
              </a:rPr>
              <a:t>low  bandwidth</a:t>
            </a:r>
            <a:endParaRPr sz="2800" dirty="0">
              <a:latin typeface="Arial"/>
              <a:cs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6266" y="2032838"/>
            <a:ext cx="5764530" cy="2569845"/>
          </a:xfrm>
          <a:custGeom>
            <a:avLst/>
            <a:gdLst/>
            <a:ahLst/>
            <a:cxnLst/>
            <a:rect l="l" t="t" r="r" b="b"/>
            <a:pathLst>
              <a:path w="5764530" h="2569845">
                <a:moveTo>
                  <a:pt x="0" y="2569806"/>
                </a:moveTo>
                <a:lnTo>
                  <a:pt x="5764143" y="2569806"/>
                </a:lnTo>
                <a:lnTo>
                  <a:pt x="5764143" y="0"/>
                </a:lnTo>
                <a:lnTo>
                  <a:pt x="0" y="0"/>
                </a:lnTo>
                <a:lnTo>
                  <a:pt x="0" y="2569806"/>
                </a:lnTo>
                <a:close/>
              </a:path>
            </a:pathLst>
          </a:custGeom>
          <a:solidFill>
            <a:srgbClr val="FFFFFF"/>
          </a:solidFill>
        </p:spPr>
        <p:txBody>
          <a:bodyPr wrap="square" lIns="0" tIns="0" rIns="0" bIns="0" rtlCol="0"/>
          <a:lstStyle/>
          <a:p>
            <a:endParaRPr dirty="0"/>
          </a:p>
        </p:txBody>
      </p:sp>
      <p:sp>
        <p:nvSpPr>
          <p:cNvPr id="3" name="object 3"/>
          <p:cNvSpPr/>
          <p:nvPr/>
        </p:nvSpPr>
        <p:spPr>
          <a:xfrm>
            <a:off x="3864282" y="2373048"/>
            <a:ext cx="0" cy="495300"/>
          </a:xfrm>
          <a:custGeom>
            <a:avLst/>
            <a:gdLst/>
            <a:ahLst/>
            <a:cxnLst/>
            <a:rect l="l" t="t" r="r" b="b"/>
            <a:pathLst>
              <a:path h="495300">
                <a:moveTo>
                  <a:pt x="0" y="0"/>
                </a:moveTo>
                <a:lnTo>
                  <a:pt x="0" y="495129"/>
                </a:lnTo>
              </a:path>
            </a:pathLst>
          </a:custGeom>
          <a:ln w="3175">
            <a:solidFill>
              <a:srgbClr val="000000"/>
            </a:solidFill>
          </a:ln>
        </p:spPr>
        <p:txBody>
          <a:bodyPr wrap="square" lIns="0" tIns="0" rIns="0" bIns="0" rtlCol="0"/>
          <a:lstStyle/>
          <a:p>
            <a:endParaRPr dirty="0"/>
          </a:p>
        </p:txBody>
      </p:sp>
      <p:sp>
        <p:nvSpPr>
          <p:cNvPr id="4" name="object 4"/>
          <p:cNvSpPr/>
          <p:nvPr/>
        </p:nvSpPr>
        <p:spPr>
          <a:xfrm>
            <a:off x="3864282" y="3020057"/>
            <a:ext cx="0" cy="873125"/>
          </a:xfrm>
          <a:custGeom>
            <a:avLst/>
            <a:gdLst/>
            <a:ahLst/>
            <a:cxnLst/>
            <a:rect l="l" t="t" r="r" b="b"/>
            <a:pathLst>
              <a:path h="873125">
                <a:moveTo>
                  <a:pt x="0" y="0"/>
                </a:moveTo>
                <a:lnTo>
                  <a:pt x="0" y="872549"/>
                </a:lnTo>
              </a:path>
            </a:pathLst>
          </a:custGeom>
          <a:ln w="3175">
            <a:solidFill>
              <a:srgbClr val="000000"/>
            </a:solidFill>
          </a:ln>
        </p:spPr>
        <p:txBody>
          <a:bodyPr wrap="square" lIns="0" tIns="0" rIns="0" bIns="0" rtlCol="0"/>
          <a:lstStyle/>
          <a:p>
            <a:endParaRPr dirty="0"/>
          </a:p>
        </p:txBody>
      </p:sp>
      <p:sp>
        <p:nvSpPr>
          <p:cNvPr id="5" name="object 5"/>
          <p:cNvSpPr/>
          <p:nvPr/>
        </p:nvSpPr>
        <p:spPr>
          <a:xfrm>
            <a:off x="4641743" y="2373048"/>
            <a:ext cx="0" cy="495300"/>
          </a:xfrm>
          <a:custGeom>
            <a:avLst/>
            <a:gdLst/>
            <a:ahLst/>
            <a:cxnLst/>
            <a:rect l="l" t="t" r="r" b="b"/>
            <a:pathLst>
              <a:path h="495300">
                <a:moveTo>
                  <a:pt x="0" y="0"/>
                </a:moveTo>
                <a:lnTo>
                  <a:pt x="0" y="495129"/>
                </a:lnTo>
              </a:path>
            </a:pathLst>
          </a:custGeom>
          <a:ln w="3175">
            <a:solidFill>
              <a:srgbClr val="000000"/>
            </a:solidFill>
          </a:ln>
        </p:spPr>
        <p:txBody>
          <a:bodyPr wrap="square" lIns="0" tIns="0" rIns="0" bIns="0" rtlCol="0"/>
          <a:lstStyle/>
          <a:p>
            <a:endParaRPr dirty="0"/>
          </a:p>
        </p:txBody>
      </p:sp>
      <p:sp>
        <p:nvSpPr>
          <p:cNvPr id="6" name="object 6"/>
          <p:cNvSpPr/>
          <p:nvPr/>
        </p:nvSpPr>
        <p:spPr>
          <a:xfrm>
            <a:off x="4641743" y="3020057"/>
            <a:ext cx="0" cy="227965"/>
          </a:xfrm>
          <a:custGeom>
            <a:avLst/>
            <a:gdLst/>
            <a:ahLst/>
            <a:cxnLst/>
            <a:rect l="l" t="t" r="r" b="b"/>
            <a:pathLst>
              <a:path h="227964">
                <a:moveTo>
                  <a:pt x="0" y="0"/>
                </a:moveTo>
                <a:lnTo>
                  <a:pt x="0" y="227818"/>
                </a:lnTo>
              </a:path>
            </a:pathLst>
          </a:custGeom>
          <a:ln w="3175">
            <a:solidFill>
              <a:srgbClr val="000000"/>
            </a:solidFill>
          </a:ln>
        </p:spPr>
        <p:txBody>
          <a:bodyPr wrap="square" lIns="0" tIns="0" rIns="0" bIns="0" rtlCol="0"/>
          <a:lstStyle/>
          <a:p>
            <a:endParaRPr dirty="0"/>
          </a:p>
        </p:txBody>
      </p:sp>
      <p:sp>
        <p:nvSpPr>
          <p:cNvPr id="7" name="object 7"/>
          <p:cNvSpPr/>
          <p:nvPr/>
        </p:nvSpPr>
        <p:spPr>
          <a:xfrm>
            <a:off x="4641743" y="3399756"/>
            <a:ext cx="0" cy="493395"/>
          </a:xfrm>
          <a:custGeom>
            <a:avLst/>
            <a:gdLst/>
            <a:ahLst/>
            <a:cxnLst/>
            <a:rect l="l" t="t" r="r" b="b"/>
            <a:pathLst>
              <a:path h="493395">
                <a:moveTo>
                  <a:pt x="0" y="0"/>
                </a:moveTo>
                <a:lnTo>
                  <a:pt x="0" y="492849"/>
                </a:lnTo>
              </a:path>
            </a:pathLst>
          </a:custGeom>
          <a:ln w="3175">
            <a:solidFill>
              <a:srgbClr val="000000"/>
            </a:solidFill>
          </a:ln>
        </p:spPr>
        <p:txBody>
          <a:bodyPr wrap="square" lIns="0" tIns="0" rIns="0" bIns="0" rtlCol="0"/>
          <a:lstStyle/>
          <a:p>
            <a:endParaRPr dirty="0"/>
          </a:p>
        </p:txBody>
      </p:sp>
      <p:sp>
        <p:nvSpPr>
          <p:cNvPr id="8" name="object 8"/>
          <p:cNvSpPr/>
          <p:nvPr/>
        </p:nvSpPr>
        <p:spPr>
          <a:xfrm>
            <a:off x="5422240" y="2373048"/>
            <a:ext cx="0" cy="115570"/>
          </a:xfrm>
          <a:custGeom>
            <a:avLst/>
            <a:gdLst/>
            <a:ahLst/>
            <a:cxnLst/>
            <a:rect l="l" t="t" r="r" b="b"/>
            <a:pathLst>
              <a:path h="115569">
                <a:moveTo>
                  <a:pt x="0" y="0"/>
                </a:moveTo>
                <a:lnTo>
                  <a:pt x="0" y="115428"/>
                </a:lnTo>
              </a:path>
            </a:pathLst>
          </a:custGeom>
          <a:ln w="3175">
            <a:solidFill>
              <a:srgbClr val="000000"/>
            </a:solidFill>
          </a:ln>
        </p:spPr>
        <p:txBody>
          <a:bodyPr wrap="square" lIns="0" tIns="0" rIns="0" bIns="0" rtlCol="0"/>
          <a:lstStyle/>
          <a:p>
            <a:endParaRPr dirty="0"/>
          </a:p>
        </p:txBody>
      </p:sp>
      <p:sp>
        <p:nvSpPr>
          <p:cNvPr id="9" name="object 9"/>
          <p:cNvSpPr/>
          <p:nvPr/>
        </p:nvSpPr>
        <p:spPr>
          <a:xfrm>
            <a:off x="5422240" y="2640358"/>
            <a:ext cx="0" cy="607695"/>
          </a:xfrm>
          <a:custGeom>
            <a:avLst/>
            <a:gdLst/>
            <a:ahLst/>
            <a:cxnLst/>
            <a:rect l="l" t="t" r="r" b="b"/>
            <a:pathLst>
              <a:path h="607694">
                <a:moveTo>
                  <a:pt x="0" y="0"/>
                </a:moveTo>
                <a:lnTo>
                  <a:pt x="0" y="607518"/>
                </a:lnTo>
              </a:path>
            </a:pathLst>
          </a:custGeom>
          <a:ln w="3175">
            <a:solidFill>
              <a:srgbClr val="000000"/>
            </a:solidFill>
          </a:ln>
        </p:spPr>
        <p:txBody>
          <a:bodyPr wrap="square" lIns="0" tIns="0" rIns="0" bIns="0" rtlCol="0"/>
          <a:lstStyle/>
          <a:p>
            <a:endParaRPr dirty="0"/>
          </a:p>
        </p:txBody>
      </p:sp>
      <p:sp>
        <p:nvSpPr>
          <p:cNvPr id="10" name="object 10"/>
          <p:cNvSpPr/>
          <p:nvPr/>
        </p:nvSpPr>
        <p:spPr>
          <a:xfrm>
            <a:off x="5422240" y="3399756"/>
            <a:ext cx="0" cy="227965"/>
          </a:xfrm>
          <a:custGeom>
            <a:avLst/>
            <a:gdLst/>
            <a:ahLst/>
            <a:cxnLst/>
            <a:rect l="l" t="t" r="r" b="b"/>
            <a:pathLst>
              <a:path h="227964">
                <a:moveTo>
                  <a:pt x="0" y="0"/>
                </a:moveTo>
                <a:lnTo>
                  <a:pt x="0" y="227820"/>
                </a:lnTo>
              </a:path>
            </a:pathLst>
          </a:custGeom>
          <a:ln w="3175">
            <a:solidFill>
              <a:srgbClr val="000000"/>
            </a:solidFill>
          </a:ln>
        </p:spPr>
        <p:txBody>
          <a:bodyPr wrap="square" lIns="0" tIns="0" rIns="0" bIns="0" rtlCol="0"/>
          <a:lstStyle/>
          <a:p>
            <a:endParaRPr dirty="0"/>
          </a:p>
        </p:txBody>
      </p:sp>
      <p:sp>
        <p:nvSpPr>
          <p:cNvPr id="11" name="object 11"/>
          <p:cNvSpPr/>
          <p:nvPr/>
        </p:nvSpPr>
        <p:spPr>
          <a:xfrm>
            <a:off x="5422240" y="3779456"/>
            <a:ext cx="0" cy="113664"/>
          </a:xfrm>
          <a:custGeom>
            <a:avLst/>
            <a:gdLst/>
            <a:ahLst/>
            <a:cxnLst/>
            <a:rect l="l" t="t" r="r" b="b"/>
            <a:pathLst>
              <a:path h="113664">
                <a:moveTo>
                  <a:pt x="0" y="0"/>
                </a:moveTo>
                <a:lnTo>
                  <a:pt x="0" y="113150"/>
                </a:lnTo>
              </a:path>
            </a:pathLst>
          </a:custGeom>
          <a:ln w="3175">
            <a:solidFill>
              <a:srgbClr val="000000"/>
            </a:solidFill>
          </a:ln>
        </p:spPr>
        <p:txBody>
          <a:bodyPr wrap="square" lIns="0" tIns="0" rIns="0" bIns="0" rtlCol="0"/>
          <a:lstStyle/>
          <a:p>
            <a:endParaRPr dirty="0"/>
          </a:p>
        </p:txBody>
      </p:sp>
      <p:sp>
        <p:nvSpPr>
          <p:cNvPr id="12" name="object 12"/>
          <p:cNvSpPr/>
          <p:nvPr/>
        </p:nvSpPr>
        <p:spPr>
          <a:xfrm>
            <a:off x="6199701" y="2373048"/>
            <a:ext cx="0" cy="1254760"/>
          </a:xfrm>
          <a:custGeom>
            <a:avLst/>
            <a:gdLst/>
            <a:ahLst/>
            <a:cxnLst/>
            <a:rect l="l" t="t" r="r" b="b"/>
            <a:pathLst>
              <a:path h="1254760">
                <a:moveTo>
                  <a:pt x="0" y="0"/>
                </a:moveTo>
                <a:lnTo>
                  <a:pt x="0" y="1254528"/>
                </a:lnTo>
              </a:path>
            </a:pathLst>
          </a:custGeom>
          <a:ln w="3175">
            <a:solidFill>
              <a:srgbClr val="000000"/>
            </a:solidFill>
          </a:ln>
        </p:spPr>
        <p:txBody>
          <a:bodyPr wrap="square" lIns="0" tIns="0" rIns="0" bIns="0" rtlCol="0"/>
          <a:lstStyle/>
          <a:p>
            <a:endParaRPr dirty="0"/>
          </a:p>
        </p:txBody>
      </p:sp>
      <p:sp>
        <p:nvSpPr>
          <p:cNvPr id="13" name="object 13"/>
          <p:cNvSpPr/>
          <p:nvPr/>
        </p:nvSpPr>
        <p:spPr>
          <a:xfrm>
            <a:off x="6199701" y="3779456"/>
            <a:ext cx="0" cy="113664"/>
          </a:xfrm>
          <a:custGeom>
            <a:avLst/>
            <a:gdLst/>
            <a:ahLst/>
            <a:cxnLst/>
            <a:rect l="l" t="t" r="r" b="b"/>
            <a:pathLst>
              <a:path h="113664">
                <a:moveTo>
                  <a:pt x="0" y="0"/>
                </a:moveTo>
                <a:lnTo>
                  <a:pt x="0" y="113150"/>
                </a:lnTo>
              </a:path>
            </a:pathLst>
          </a:custGeom>
          <a:ln w="3175">
            <a:solidFill>
              <a:srgbClr val="000000"/>
            </a:solidFill>
          </a:ln>
        </p:spPr>
        <p:txBody>
          <a:bodyPr wrap="square" lIns="0" tIns="0" rIns="0" bIns="0" rtlCol="0"/>
          <a:lstStyle/>
          <a:p>
            <a:endParaRPr dirty="0"/>
          </a:p>
        </p:txBody>
      </p:sp>
      <p:sp>
        <p:nvSpPr>
          <p:cNvPr id="14" name="object 14"/>
          <p:cNvSpPr/>
          <p:nvPr/>
        </p:nvSpPr>
        <p:spPr>
          <a:xfrm>
            <a:off x="6977162" y="2373048"/>
            <a:ext cx="0" cy="1519555"/>
          </a:xfrm>
          <a:custGeom>
            <a:avLst/>
            <a:gdLst/>
            <a:ahLst/>
            <a:cxnLst/>
            <a:rect l="l" t="t" r="r" b="b"/>
            <a:pathLst>
              <a:path h="1519554">
                <a:moveTo>
                  <a:pt x="0" y="0"/>
                </a:moveTo>
                <a:lnTo>
                  <a:pt x="0" y="1519557"/>
                </a:lnTo>
              </a:path>
            </a:pathLst>
          </a:custGeom>
          <a:ln w="3175">
            <a:solidFill>
              <a:srgbClr val="000000"/>
            </a:solidFill>
          </a:ln>
        </p:spPr>
        <p:txBody>
          <a:bodyPr wrap="square" lIns="0" tIns="0" rIns="0" bIns="0" rtlCol="0"/>
          <a:lstStyle/>
          <a:p>
            <a:endParaRPr dirty="0"/>
          </a:p>
        </p:txBody>
      </p:sp>
      <p:sp>
        <p:nvSpPr>
          <p:cNvPr id="15" name="object 15"/>
          <p:cNvSpPr/>
          <p:nvPr/>
        </p:nvSpPr>
        <p:spPr>
          <a:xfrm>
            <a:off x="3086442" y="2373428"/>
            <a:ext cx="3891279" cy="0"/>
          </a:xfrm>
          <a:custGeom>
            <a:avLst/>
            <a:gdLst/>
            <a:ahLst/>
            <a:cxnLst/>
            <a:rect l="l" t="t" r="r" b="b"/>
            <a:pathLst>
              <a:path w="3891279">
                <a:moveTo>
                  <a:pt x="0" y="0"/>
                </a:moveTo>
                <a:lnTo>
                  <a:pt x="3891099" y="0"/>
                </a:lnTo>
              </a:path>
            </a:pathLst>
          </a:custGeom>
          <a:ln w="3175">
            <a:solidFill>
              <a:srgbClr val="000000"/>
            </a:solidFill>
          </a:ln>
        </p:spPr>
        <p:txBody>
          <a:bodyPr wrap="square" lIns="0" tIns="0" rIns="0" bIns="0" rtlCol="0"/>
          <a:lstStyle/>
          <a:p>
            <a:endParaRPr dirty="0"/>
          </a:p>
        </p:txBody>
      </p:sp>
      <p:sp>
        <p:nvSpPr>
          <p:cNvPr id="16" name="object 16"/>
          <p:cNvSpPr/>
          <p:nvPr/>
        </p:nvSpPr>
        <p:spPr>
          <a:xfrm>
            <a:off x="6977162" y="2373048"/>
            <a:ext cx="0" cy="1519555"/>
          </a:xfrm>
          <a:custGeom>
            <a:avLst/>
            <a:gdLst/>
            <a:ahLst/>
            <a:cxnLst/>
            <a:rect l="l" t="t" r="r" b="b"/>
            <a:pathLst>
              <a:path h="1519554">
                <a:moveTo>
                  <a:pt x="0" y="0"/>
                </a:moveTo>
                <a:lnTo>
                  <a:pt x="0" y="1519557"/>
                </a:lnTo>
              </a:path>
            </a:pathLst>
          </a:custGeom>
          <a:ln w="3175">
            <a:solidFill>
              <a:srgbClr val="000000"/>
            </a:solidFill>
          </a:ln>
        </p:spPr>
        <p:txBody>
          <a:bodyPr wrap="square" lIns="0" tIns="0" rIns="0" bIns="0" rtlCol="0"/>
          <a:lstStyle/>
          <a:p>
            <a:endParaRPr dirty="0"/>
          </a:p>
        </p:txBody>
      </p:sp>
      <p:sp>
        <p:nvSpPr>
          <p:cNvPr id="17" name="object 17"/>
          <p:cNvSpPr/>
          <p:nvPr/>
        </p:nvSpPr>
        <p:spPr>
          <a:xfrm>
            <a:off x="3086442" y="3892227"/>
            <a:ext cx="3891279" cy="0"/>
          </a:xfrm>
          <a:custGeom>
            <a:avLst/>
            <a:gdLst/>
            <a:ahLst/>
            <a:cxnLst/>
            <a:rect l="l" t="t" r="r" b="b"/>
            <a:pathLst>
              <a:path w="3891279">
                <a:moveTo>
                  <a:pt x="0" y="0"/>
                </a:moveTo>
                <a:lnTo>
                  <a:pt x="3891099" y="0"/>
                </a:lnTo>
              </a:path>
            </a:pathLst>
          </a:custGeom>
          <a:ln w="3175">
            <a:solidFill>
              <a:srgbClr val="000000"/>
            </a:solidFill>
          </a:ln>
        </p:spPr>
        <p:txBody>
          <a:bodyPr wrap="square" lIns="0" tIns="0" rIns="0" bIns="0" rtlCol="0"/>
          <a:lstStyle/>
          <a:p>
            <a:endParaRPr dirty="0"/>
          </a:p>
        </p:txBody>
      </p:sp>
      <p:sp>
        <p:nvSpPr>
          <p:cNvPr id="18" name="object 18"/>
          <p:cNvSpPr/>
          <p:nvPr/>
        </p:nvSpPr>
        <p:spPr>
          <a:xfrm>
            <a:off x="3086821" y="2373048"/>
            <a:ext cx="0" cy="1519555"/>
          </a:xfrm>
          <a:custGeom>
            <a:avLst/>
            <a:gdLst/>
            <a:ahLst/>
            <a:cxnLst/>
            <a:rect l="l" t="t" r="r" b="b"/>
            <a:pathLst>
              <a:path h="1519554">
                <a:moveTo>
                  <a:pt x="0" y="0"/>
                </a:moveTo>
                <a:lnTo>
                  <a:pt x="0" y="1519557"/>
                </a:lnTo>
              </a:path>
            </a:pathLst>
          </a:custGeom>
          <a:ln w="3175">
            <a:solidFill>
              <a:srgbClr val="000000"/>
            </a:solidFill>
          </a:ln>
        </p:spPr>
        <p:txBody>
          <a:bodyPr wrap="square" lIns="0" tIns="0" rIns="0" bIns="0" rtlCol="0"/>
          <a:lstStyle/>
          <a:p>
            <a:endParaRPr dirty="0"/>
          </a:p>
        </p:txBody>
      </p:sp>
      <p:sp>
        <p:nvSpPr>
          <p:cNvPr id="19" name="object 19"/>
          <p:cNvSpPr/>
          <p:nvPr/>
        </p:nvSpPr>
        <p:spPr>
          <a:xfrm>
            <a:off x="4954169" y="3627577"/>
            <a:ext cx="1868170" cy="152400"/>
          </a:xfrm>
          <a:custGeom>
            <a:avLst/>
            <a:gdLst/>
            <a:ahLst/>
            <a:cxnLst/>
            <a:rect l="l" t="t" r="r" b="b"/>
            <a:pathLst>
              <a:path w="1868170" h="152400">
                <a:moveTo>
                  <a:pt x="0" y="0"/>
                </a:moveTo>
                <a:lnTo>
                  <a:pt x="1867728" y="0"/>
                </a:lnTo>
                <a:lnTo>
                  <a:pt x="1867728" y="151879"/>
                </a:lnTo>
                <a:lnTo>
                  <a:pt x="0" y="151879"/>
                </a:lnTo>
                <a:lnTo>
                  <a:pt x="0" y="0"/>
                </a:lnTo>
                <a:close/>
              </a:path>
            </a:pathLst>
          </a:custGeom>
          <a:solidFill>
            <a:srgbClr val="AB4979"/>
          </a:solidFill>
        </p:spPr>
        <p:txBody>
          <a:bodyPr wrap="square" lIns="0" tIns="0" rIns="0" bIns="0" rtlCol="0"/>
          <a:lstStyle/>
          <a:p>
            <a:endParaRPr dirty="0"/>
          </a:p>
        </p:txBody>
      </p:sp>
      <p:sp>
        <p:nvSpPr>
          <p:cNvPr id="20" name="object 20"/>
          <p:cNvSpPr/>
          <p:nvPr/>
        </p:nvSpPr>
        <p:spPr>
          <a:xfrm>
            <a:off x="4948096" y="3621501"/>
            <a:ext cx="1880235" cy="12700"/>
          </a:xfrm>
          <a:custGeom>
            <a:avLst/>
            <a:gdLst/>
            <a:ahLst/>
            <a:cxnLst/>
            <a:rect l="l" t="t" r="r" b="b"/>
            <a:pathLst>
              <a:path w="1880234" h="12700">
                <a:moveTo>
                  <a:pt x="0" y="0"/>
                </a:moveTo>
                <a:lnTo>
                  <a:pt x="1879875" y="0"/>
                </a:lnTo>
                <a:lnTo>
                  <a:pt x="1879875" y="12150"/>
                </a:lnTo>
                <a:lnTo>
                  <a:pt x="0" y="12150"/>
                </a:lnTo>
                <a:lnTo>
                  <a:pt x="0" y="0"/>
                </a:lnTo>
                <a:close/>
              </a:path>
            </a:pathLst>
          </a:custGeom>
          <a:solidFill>
            <a:srgbClr val="000000"/>
          </a:solidFill>
        </p:spPr>
        <p:txBody>
          <a:bodyPr wrap="square" lIns="0" tIns="0" rIns="0" bIns="0" rtlCol="0"/>
          <a:lstStyle/>
          <a:p>
            <a:endParaRPr dirty="0"/>
          </a:p>
        </p:txBody>
      </p:sp>
      <p:sp>
        <p:nvSpPr>
          <p:cNvPr id="21" name="object 21"/>
          <p:cNvSpPr/>
          <p:nvPr/>
        </p:nvSpPr>
        <p:spPr>
          <a:xfrm>
            <a:off x="6821897" y="3621501"/>
            <a:ext cx="0" cy="164465"/>
          </a:xfrm>
          <a:custGeom>
            <a:avLst/>
            <a:gdLst/>
            <a:ahLst/>
            <a:cxnLst/>
            <a:rect l="l" t="t" r="r" b="b"/>
            <a:pathLst>
              <a:path h="164464">
                <a:moveTo>
                  <a:pt x="0" y="0"/>
                </a:moveTo>
                <a:lnTo>
                  <a:pt x="0" y="164030"/>
                </a:lnTo>
              </a:path>
            </a:pathLst>
          </a:custGeom>
          <a:ln w="12147">
            <a:solidFill>
              <a:srgbClr val="000000"/>
            </a:solidFill>
          </a:ln>
        </p:spPr>
        <p:txBody>
          <a:bodyPr wrap="square" lIns="0" tIns="0" rIns="0" bIns="0" rtlCol="0"/>
          <a:lstStyle/>
          <a:p>
            <a:endParaRPr dirty="0"/>
          </a:p>
        </p:txBody>
      </p:sp>
      <p:sp>
        <p:nvSpPr>
          <p:cNvPr id="22" name="object 22"/>
          <p:cNvSpPr/>
          <p:nvPr/>
        </p:nvSpPr>
        <p:spPr>
          <a:xfrm>
            <a:off x="4948096" y="3779456"/>
            <a:ext cx="1880235" cy="0"/>
          </a:xfrm>
          <a:custGeom>
            <a:avLst/>
            <a:gdLst/>
            <a:ahLst/>
            <a:cxnLst/>
            <a:rect l="l" t="t" r="r" b="b"/>
            <a:pathLst>
              <a:path w="1880234">
                <a:moveTo>
                  <a:pt x="0" y="0"/>
                </a:moveTo>
                <a:lnTo>
                  <a:pt x="1879875" y="0"/>
                </a:lnTo>
              </a:path>
            </a:pathLst>
          </a:custGeom>
          <a:ln w="12150">
            <a:solidFill>
              <a:srgbClr val="000000"/>
            </a:solidFill>
          </a:ln>
        </p:spPr>
        <p:txBody>
          <a:bodyPr wrap="square" lIns="0" tIns="0" rIns="0" bIns="0" rtlCol="0"/>
          <a:lstStyle/>
          <a:p>
            <a:endParaRPr dirty="0"/>
          </a:p>
        </p:txBody>
      </p:sp>
      <p:sp>
        <p:nvSpPr>
          <p:cNvPr id="23" name="object 23"/>
          <p:cNvSpPr/>
          <p:nvPr/>
        </p:nvSpPr>
        <p:spPr>
          <a:xfrm>
            <a:off x="4954169" y="3621500"/>
            <a:ext cx="0" cy="164465"/>
          </a:xfrm>
          <a:custGeom>
            <a:avLst/>
            <a:gdLst/>
            <a:ahLst/>
            <a:cxnLst/>
            <a:rect l="l" t="t" r="r" b="b"/>
            <a:pathLst>
              <a:path h="164464">
                <a:moveTo>
                  <a:pt x="0" y="164030"/>
                </a:moveTo>
                <a:lnTo>
                  <a:pt x="0" y="0"/>
                </a:lnTo>
              </a:path>
            </a:pathLst>
          </a:custGeom>
          <a:ln w="12147">
            <a:solidFill>
              <a:srgbClr val="000000"/>
            </a:solidFill>
          </a:ln>
        </p:spPr>
        <p:txBody>
          <a:bodyPr wrap="square" lIns="0" tIns="0" rIns="0" bIns="0" rtlCol="0"/>
          <a:lstStyle/>
          <a:p>
            <a:endParaRPr dirty="0"/>
          </a:p>
        </p:txBody>
      </p:sp>
      <p:sp>
        <p:nvSpPr>
          <p:cNvPr id="24" name="object 24"/>
          <p:cNvSpPr/>
          <p:nvPr/>
        </p:nvSpPr>
        <p:spPr>
          <a:xfrm>
            <a:off x="4331594" y="3247876"/>
            <a:ext cx="1245235" cy="152400"/>
          </a:xfrm>
          <a:custGeom>
            <a:avLst/>
            <a:gdLst/>
            <a:ahLst/>
            <a:cxnLst/>
            <a:rect l="l" t="t" r="r" b="b"/>
            <a:pathLst>
              <a:path w="1245235" h="152400">
                <a:moveTo>
                  <a:pt x="0" y="0"/>
                </a:moveTo>
                <a:lnTo>
                  <a:pt x="1245152" y="0"/>
                </a:lnTo>
                <a:lnTo>
                  <a:pt x="1245152" y="151880"/>
                </a:lnTo>
                <a:lnTo>
                  <a:pt x="0" y="151880"/>
                </a:lnTo>
                <a:lnTo>
                  <a:pt x="0" y="0"/>
                </a:lnTo>
                <a:close/>
              </a:path>
            </a:pathLst>
          </a:custGeom>
          <a:solidFill>
            <a:srgbClr val="AB4979"/>
          </a:solidFill>
        </p:spPr>
        <p:txBody>
          <a:bodyPr wrap="square" lIns="0" tIns="0" rIns="0" bIns="0" rtlCol="0"/>
          <a:lstStyle/>
          <a:p>
            <a:endParaRPr dirty="0"/>
          </a:p>
        </p:txBody>
      </p:sp>
      <p:sp>
        <p:nvSpPr>
          <p:cNvPr id="25" name="object 25"/>
          <p:cNvSpPr/>
          <p:nvPr/>
        </p:nvSpPr>
        <p:spPr>
          <a:xfrm>
            <a:off x="4325520" y="3241801"/>
            <a:ext cx="1257300" cy="12700"/>
          </a:xfrm>
          <a:custGeom>
            <a:avLst/>
            <a:gdLst/>
            <a:ahLst/>
            <a:cxnLst/>
            <a:rect l="l" t="t" r="r" b="b"/>
            <a:pathLst>
              <a:path w="1257300" h="12700">
                <a:moveTo>
                  <a:pt x="0" y="0"/>
                </a:moveTo>
                <a:lnTo>
                  <a:pt x="1257299" y="0"/>
                </a:lnTo>
                <a:lnTo>
                  <a:pt x="1257299" y="12150"/>
                </a:lnTo>
                <a:lnTo>
                  <a:pt x="0" y="12150"/>
                </a:lnTo>
                <a:lnTo>
                  <a:pt x="0" y="0"/>
                </a:lnTo>
                <a:close/>
              </a:path>
            </a:pathLst>
          </a:custGeom>
          <a:solidFill>
            <a:srgbClr val="000000"/>
          </a:solidFill>
        </p:spPr>
        <p:txBody>
          <a:bodyPr wrap="square" lIns="0" tIns="0" rIns="0" bIns="0" rtlCol="0"/>
          <a:lstStyle/>
          <a:p>
            <a:endParaRPr dirty="0"/>
          </a:p>
        </p:txBody>
      </p:sp>
      <p:sp>
        <p:nvSpPr>
          <p:cNvPr id="26" name="object 26"/>
          <p:cNvSpPr/>
          <p:nvPr/>
        </p:nvSpPr>
        <p:spPr>
          <a:xfrm>
            <a:off x="5576746" y="3241801"/>
            <a:ext cx="0" cy="164465"/>
          </a:xfrm>
          <a:custGeom>
            <a:avLst/>
            <a:gdLst/>
            <a:ahLst/>
            <a:cxnLst/>
            <a:rect l="l" t="t" r="r" b="b"/>
            <a:pathLst>
              <a:path h="164464">
                <a:moveTo>
                  <a:pt x="0" y="0"/>
                </a:moveTo>
                <a:lnTo>
                  <a:pt x="0" y="164030"/>
                </a:lnTo>
              </a:path>
            </a:pathLst>
          </a:custGeom>
          <a:ln w="12147">
            <a:solidFill>
              <a:srgbClr val="000000"/>
            </a:solidFill>
          </a:ln>
        </p:spPr>
        <p:txBody>
          <a:bodyPr wrap="square" lIns="0" tIns="0" rIns="0" bIns="0" rtlCol="0"/>
          <a:lstStyle/>
          <a:p>
            <a:endParaRPr dirty="0"/>
          </a:p>
        </p:txBody>
      </p:sp>
      <p:sp>
        <p:nvSpPr>
          <p:cNvPr id="27" name="object 27"/>
          <p:cNvSpPr/>
          <p:nvPr/>
        </p:nvSpPr>
        <p:spPr>
          <a:xfrm>
            <a:off x="4325520" y="3399756"/>
            <a:ext cx="1257300" cy="0"/>
          </a:xfrm>
          <a:custGeom>
            <a:avLst/>
            <a:gdLst/>
            <a:ahLst/>
            <a:cxnLst/>
            <a:rect l="l" t="t" r="r" b="b"/>
            <a:pathLst>
              <a:path w="1257300">
                <a:moveTo>
                  <a:pt x="0" y="0"/>
                </a:moveTo>
                <a:lnTo>
                  <a:pt x="1257299" y="0"/>
                </a:lnTo>
              </a:path>
            </a:pathLst>
          </a:custGeom>
          <a:ln w="12150">
            <a:solidFill>
              <a:srgbClr val="000000"/>
            </a:solidFill>
          </a:ln>
        </p:spPr>
        <p:txBody>
          <a:bodyPr wrap="square" lIns="0" tIns="0" rIns="0" bIns="0" rtlCol="0"/>
          <a:lstStyle/>
          <a:p>
            <a:endParaRPr dirty="0"/>
          </a:p>
        </p:txBody>
      </p:sp>
      <p:sp>
        <p:nvSpPr>
          <p:cNvPr id="28" name="object 28"/>
          <p:cNvSpPr/>
          <p:nvPr/>
        </p:nvSpPr>
        <p:spPr>
          <a:xfrm>
            <a:off x="4331593" y="3241801"/>
            <a:ext cx="0" cy="164465"/>
          </a:xfrm>
          <a:custGeom>
            <a:avLst/>
            <a:gdLst/>
            <a:ahLst/>
            <a:cxnLst/>
            <a:rect l="l" t="t" r="r" b="b"/>
            <a:pathLst>
              <a:path h="164464">
                <a:moveTo>
                  <a:pt x="0" y="164030"/>
                </a:moveTo>
                <a:lnTo>
                  <a:pt x="0" y="0"/>
                </a:lnTo>
              </a:path>
            </a:pathLst>
          </a:custGeom>
          <a:ln w="12147">
            <a:solidFill>
              <a:srgbClr val="000000"/>
            </a:solidFill>
          </a:ln>
        </p:spPr>
        <p:txBody>
          <a:bodyPr wrap="square" lIns="0" tIns="0" rIns="0" bIns="0" rtlCol="0"/>
          <a:lstStyle/>
          <a:p>
            <a:endParaRPr dirty="0"/>
          </a:p>
        </p:txBody>
      </p:sp>
      <p:sp>
        <p:nvSpPr>
          <p:cNvPr id="29" name="object 29"/>
          <p:cNvSpPr/>
          <p:nvPr/>
        </p:nvSpPr>
        <p:spPr>
          <a:xfrm>
            <a:off x="3709017" y="2868178"/>
            <a:ext cx="1245235" cy="152400"/>
          </a:xfrm>
          <a:custGeom>
            <a:avLst/>
            <a:gdLst/>
            <a:ahLst/>
            <a:cxnLst/>
            <a:rect l="l" t="t" r="r" b="b"/>
            <a:pathLst>
              <a:path w="1245235" h="152400">
                <a:moveTo>
                  <a:pt x="0" y="0"/>
                </a:moveTo>
                <a:lnTo>
                  <a:pt x="1245152" y="0"/>
                </a:lnTo>
                <a:lnTo>
                  <a:pt x="1245152" y="151879"/>
                </a:lnTo>
                <a:lnTo>
                  <a:pt x="0" y="151879"/>
                </a:lnTo>
                <a:lnTo>
                  <a:pt x="0" y="0"/>
                </a:lnTo>
                <a:close/>
              </a:path>
            </a:pathLst>
          </a:custGeom>
          <a:solidFill>
            <a:srgbClr val="AB4979"/>
          </a:solidFill>
        </p:spPr>
        <p:txBody>
          <a:bodyPr wrap="square" lIns="0" tIns="0" rIns="0" bIns="0" rtlCol="0"/>
          <a:lstStyle/>
          <a:p>
            <a:endParaRPr dirty="0"/>
          </a:p>
        </p:txBody>
      </p:sp>
      <p:sp>
        <p:nvSpPr>
          <p:cNvPr id="30" name="object 30"/>
          <p:cNvSpPr/>
          <p:nvPr/>
        </p:nvSpPr>
        <p:spPr>
          <a:xfrm>
            <a:off x="3702944" y="2862101"/>
            <a:ext cx="1257300" cy="12700"/>
          </a:xfrm>
          <a:custGeom>
            <a:avLst/>
            <a:gdLst/>
            <a:ahLst/>
            <a:cxnLst/>
            <a:rect l="l" t="t" r="r" b="b"/>
            <a:pathLst>
              <a:path w="1257300" h="12700">
                <a:moveTo>
                  <a:pt x="0" y="0"/>
                </a:moveTo>
                <a:lnTo>
                  <a:pt x="1257299" y="0"/>
                </a:lnTo>
                <a:lnTo>
                  <a:pt x="1257299" y="12150"/>
                </a:lnTo>
                <a:lnTo>
                  <a:pt x="0" y="12150"/>
                </a:lnTo>
                <a:lnTo>
                  <a:pt x="0" y="0"/>
                </a:lnTo>
                <a:close/>
              </a:path>
            </a:pathLst>
          </a:custGeom>
          <a:solidFill>
            <a:srgbClr val="000000"/>
          </a:solidFill>
        </p:spPr>
        <p:txBody>
          <a:bodyPr wrap="square" lIns="0" tIns="0" rIns="0" bIns="0" rtlCol="0"/>
          <a:lstStyle/>
          <a:p>
            <a:endParaRPr dirty="0"/>
          </a:p>
        </p:txBody>
      </p:sp>
      <p:sp>
        <p:nvSpPr>
          <p:cNvPr id="31" name="object 31"/>
          <p:cNvSpPr/>
          <p:nvPr/>
        </p:nvSpPr>
        <p:spPr>
          <a:xfrm>
            <a:off x="4954170" y="2862101"/>
            <a:ext cx="0" cy="164465"/>
          </a:xfrm>
          <a:custGeom>
            <a:avLst/>
            <a:gdLst/>
            <a:ahLst/>
            <a:cxnLst/>
            <a:rect l="l" t="t" r="r" b="b"/>
            <a:pathLst>
              <a:path h="164464">
                <a:moveTo>
                  <a:pt x="0" y="0"/>
                </a:moveTo>
                <a:lnTo>
                  <a:pt x="0" y="164030"/>
                </a:lnTo>
              </a:path>
            </a:pathLst>
          </a:custGeom>
          <a:ln w="12147">
            <a:solidFill>
              <a:srgbClr val="000000"/>
            </a:solidFill>
          </a:ln>
        </p:spPr>
        <p:txBody>
          <a:bodyPr wrap="square" lIns="0" tIns="0" rIns="0" bIns="0" rtlCol="0"/>
          <a:lstStyle/>
          <a:p>
            <a:endParaRPr dirty="0"/>
          </a:p>
        </p:txBody>
      </p:sp>
      <p:sp>
        <p:nvSpPr>
          <p:cNvPr id="32" name="object 32"/>
          <p:cNvSpPr/>
          <p:nvPr/>
        </p:nvSpPr>
        <p:spPr>
          <a:xfrm>
            <a:off x="3702944" y="3020056"/>
            <a:ext cx="1257300" cy="0"/>
          </a:xfrm>
          <a:custGeom>
            <a:avLst/>
            <a:gdLst/>
            <a:ahLst/>
            <a:cxnLst/>
            <a:rect l="l" t="t" r="r" b="b"/>
            <a:pathLst>
              <a:path w="1257300">
                <a:moveTo>
                  <a:pt x="0" y="0"/>
                </a:moveTo>
                <a:lnTo>
                  <a:pt x="1257299" y="0"/>
                </a:lnTo>
              </a:path>
            </a:pathLst>
          </a:custGeom>
          <a:ln w="12150">
            <a:solidFill>
              <a:srgbClr val="000000"/>
            </a:solidFill>
          </a:ln>
        </p:spPr>
        <p:txBody>
          <a:bodyPr wrap="square" lIns="0" tIns="0" rIns="0" bIns="0" rtlCol="0"/>
          <a:lstStyle/>
          <a:p>
            <a:endParaRPr dirty="0"/>
          </a:p>
        </p:txBody>
      </p:sp>
      <p:sp>
        <p:nvSpPr>
          <p:cNvPr id="33" name="object 33"/>
          <p:cNvSpPr/>
          <p:nvPr/>
        </p:nvSpPr>
        <p:spPr>
          <a:xfrm>
            <a:off x="3709017" y="2862101"/>
            <a:ext cx="0" cy="164465"/>
          </a:xfrm>
          <a:custGeom>
            <a:avLst/>
            <a:gdLst/>
            <a:ahLst/>
            <a:cxnLst/>
            <a:rect l="l" t="t" r="r" b="b"/>
            <a:pathLst>
              <a:path h="164464">
                <a:moveTo>
                  <a:pt x="0" y="164030"/>
                </a:moveTo>
                <a:lnTo>
                  <a:pt x="0" y="0"/>
                </a:lnTo>
              </a:path>
            </a:pathLst>
          </a:custGeom>
          <a:ln w="12147">
            <a:solidFill>
              <a:srgbClr val="000000"/>
            </a:solidFill>
          </a:ln>
        </p:spPr>
        <p:txBody>
          <a:bodyPr wrap="square" lIns="0" tIns="0" rIns="0" bIns="0" rtlCol="0"/>
          <a:lstStyle/>
          <a:p>
            <a:endParaRPr dirty="0"/>
          </a:p>
        </p:txBody>
      </p:sp>
      <p:sp>
        <p:nvSpPr>
          <p:cNvPr id="34" name="object 34"/>
          <p:cNvSpPr/>
          <p:nvPr/>
        </p:nvSpPr>
        <p:spPr>
          <a:xfrm>
            <a:off x="4954169" y="2488477"/>
            <a:ext cx="932815" cy="152400"/>
          </a:xfrm>
          <a:custGeom>
            <a:avLst/>
            <a:gdLst/>
            <a:ahLst/>
            <a:cxnLst/>
            <a:rect l="l" t="t" r="r" b="b"/>
            <a:pathLst>
              <a:path w="932814" h="152400">
                <a:moveTo>
                  <a:pt x="0" y="0"/>
                </a:moveTo>
                <a:lnTo>
                  <a:pt x="932346" y="0"/>
                </a:lnTo>
                <a:lnTo>
                  <a:pt x="932346" y="151880"/>
                </a:lnTo>
                <a:lnTo>
                  <a:pt x="0" y="151880"/>
                </a:lnTo>
                <a:lnTo>
                  <a:pt x="0" y="0"/>
                </a:lnTo>
                <a:close/>
              </a:path>
            </a:pathLst>
          </a:custGeom>
          <a:solidFill>
            <a:srgbClr val="AB4979"/>
          </a:solidFill>
        </p:spPr>
        <p:txBody>
          <a:bodyPr wrap="square" lIns="0" tIns="0" rIns="0" bIns="0" rtlCol="0"/>
          <a:lstStyle/>
          <a:p>
            <a:endParaRPr dirty="0"/>
          </a:p>
        </p:txBody>
      </p:sp>
      <p:sp>
        <p:nvSpPr>
          <p:cNvPr id="35" name="object 35"/>
          <p:cNvSpPr/>
          <p:nvPr/>
        </p:nvSpPr>
        <p:spPr>
          <a:xfrm>
            <a:off x="4948096" y="2482401"/>
            <a:ext cx="944880" cy="12700"/>
          </a:xfrm>
          <a:custGeom>
            <a:avLst/>
            <a:gdLst/>
            <a:ahLst/>
            <a:cxnLst/>
            <a:rect l="l" t="t" r="r" b="b"/>
            <a:pathLst>
              <a:path w="944879" h="12700">
                <a:moveTo>
                  <a:pt x="0" y="0"/>
                </a:moveTo>
                <a:lnTo>
                  <a:pt x="944493" y="0"/>
                </a:lnTo>
                <a:lnTo>
                  <a:pt x="944493" y="12150"/>
                </a:lnTo>
                <a:lnTo>
                  <a:pt x="0" y="12150"/>
                </a:lnTo>
                <a:lnTo>
                  <a:pt x="0" y="0"/>
                </a:lnTo>
                <a:close/>
              </a:path>
            </a:pathLst>
          </a:custGeom>
          <a:solidFill>
            <a:srgbClr val="000000"/>
          </a:solidFill>
        </p:spPr>
        <p:txBody>
          <a:bodyPr wrap="square" lIns="0" tIns="0" rIns="0" bIns="0" rtlCol="0"/>
          <a:lstStyle/>
          <a:p>
            <a:endParaRPr dirty="0"/>
          </a:p>
        </p:txBody>
      </p:sp>
      <p:sp>
        <p:nvSpPr>
          <p:cNvPr id="36" name="object 36"/>
          <p:cNvSpPr/>
          <p:nvPr/>
        </p:nvSpPr>
        <p:spPr>
          <a:xfrm>
            <a:off x="5886515" y="2482401"/>
            <a:ext cx="0" cy="164465"/>
          </a:xfrm>
          <a:custGeom>
            <a:avLst/>
            <a:gdLst/>
            <a:ahLst/>
            <a:cxnLst/>
            <a:rect l="l" t="t" r="r" b="b"/>
            <a:pathLst>
              <a:path h="164464">
                <a:moveTo>
                  <a:pt x="0" y="0"/>
                </a:moveTo>
                <a:lnTo>
                  <a:pt x="0" y="164030"/>
                </a:lnTo>
              </a:path>
            </a:pathLst>
          </a:custGeom>
          <a:ln w="12147">
            <a:solidFill>
              <a:srgbClr val="000000"/>
            </a:solidFill>
          </a:ln>
        </p:spPr>
        <p:txBody>
          <a:bodyPr wrap="square" lIns="0" tIns="0" rIns="0" bIns="0" rtlCol="0"/>
          <a:lstStyle/>
          <a:p>
            <a:endParaRPr dirty="0"/>
          </a:p>
        </p:txBody>
      </p:sp>
      <p:sp>
        <p:nvSpPr>
          <p:cNvPr id="37" name="object 37"/>
          <p:cNvSpPr/>
          <p:nvPr/>
        </p:nvSpPr>
        <p:spPr>
          <a:xfrm>
            <a:off x="4948096" y="2640357"/>
            <a:ext cx="944880" cy="0"/>
          </a:xfrm>
          <a:custGeom>
            <a:avLst/>
            <a:gdLst/>
            <a:ahLst/>
            <a:cxnLst/>
            <a:rect l="l" t="t" r="r" b="b"/>
            <a:pathLst>
              <a:path w="944879">
                <a:moveTo>
                  <a:pt x="0" y="0"/>
                </a:moveTo>
                <a:lnTo>
                  <a:pt x="944493" y="0"/>
                </a:lnTo>
              </a:path>
            </a:pathLst>
          </a:custGeom>
          <a:ln w="12150">
            <a:solidFill>
              <a:srgbClr val="000000"/>
            </a:solidFill>
          </a:ln>
        </p:spPr>
        <p:txBody>
          <a:bodyPr wrap="square" lIns="0" tIns="0" rIns="0" bIns="0" rtlCol="0"/>
          <a:lstStyle/>
          <a:p>
            <a:endParaRPr dirty="0"/>
          </a:p>
        </p:txBody>
      </p:sp>
      <p:sp>
        <p:nvSpPr>
          <p:cNvPr id="38" name="object 38"/>
          <p:cNvSpPr/>
          <p:nvPr/>
        </p:nvSpPr>
        <p:spPr>
          <a:xfrm>
            <a:off x="4954169" y="2482401"/>
            <a:ext cx="0" cy="164465"/>
          </a:xfrm>
          <a:custGeom>
            <a:avLst/>
            <a:gdLst/>
            <a:ahLst/>
            <a:cxnLst/>
            <a:rect l="l" t="t" r="r" b="b"/>
            <a:pathLst>
              <a:path h="164464">
                <a:moveTo>
                  <a:pt x="0" y="164030"/>
                </a:moveTo>
                <a:lnTo>
                  <a:pt x="0" y="0"/>
                </a:lnTo>
              </a:path>
            </a:pathLst>
          </a:custGeom>
          <a:ln w="12147">
            <a:solidFill>
              <a:srgbClr val="000000"/>
            </a:solidFill>
          </a:ln>
        </p:spPr>
        <p:txBody>
          <a:bodyPr wrap="square" lIns="0" tIns="0" rIns="0" bIns="0" rtlCol="0"/>
          <a:lstStyle/>
          <a:p>
            <a:endParaRPr dirty="0"/>
          </a:p>
        </p:txBody>
      </p:sp>
      <p:sp>
        <p:nvSpPr>
          <p:cNvPr id="39" name="object 39"/>
          <p:cNvSpPr/>
          <p:nvPr/>
        </p:nvSpPr>
        <p:spPr>
          <a:xfrm>
            <a:off x="3086442" y="3892227"/>
            <a:ext cx="3891279" cy="0"/>
          </a:xfrm>
          <a:custGeom>
            <a:avLst/>
            <a:gdLst/>
            <a:ahLst/>
            <a:cxnLst/>
            <a:rect l="l" t="t" r="r" b="b"/>
            <a:pathLst>
              <a:path w="3891279">
                <a:moveTo>
                  <a:pt x="0" y="0"/>
                </a:moveTo>
                <a:lnTo>
                  <a:pt x="3891099" y="0"/>
                </a:lnTo>
              </a:path>
            </a:pathLst>
          </a:custGeom>
          <a:ln w="3175">
            <a:solidFill>
              <a:srgbClr val="000000"/>
            </a:solidFill>
          </a:ln>
        </p:spPr>
        <p:txBody>
          <a:bodyPr wrap="square" lIns="0" tIns="0" rIns="0" bIns="0" rtlCol="0"/>
          <a:lstStyle/>
          <a:p>
            <a:endParaRPr dirty="0"/>
          </a:p>
        </p:txBody>
      </p:sp>
      <p:sp>
        <p:nvSpPr>
          <p:cNvPr id="40" name="object 40"/>
          <p:cNvSpPr/>
          <p:nvPr/>
        </p:nvSpPr>
        <p:spPr>
          <a:xfrm>
            <a:off x="3086821" y="3891847"/>
            <a:ext cx="0" cy="64769"/>
          </a:xfrm>
          <a:custGeom>
            <a:avLst/>
            <a:gdLst/>
            <a:ahLst/>
            <a:cxnLst/>
            <a:rect l="l" t="t" r="r" b="b"/>
            <a:pathLst>
              <a:path h="64770">
                <a:moveTo>
                  <a:pt x="0" y="0"/>
                </a:moveTo>
                <a:lnTo>
                  <a:pt x="0" y="64548"/>
                </a:lnTo>
              </a:path>
            </a:pathLst>
          </a:custGeom>
          <a:ln w="3175">
            <a:solidFill>
              <a:srgbClr val="000000"/>
            </a:solidFill>
          </a:ln>
        </p:spPr>
        <p:txBody>
          <a:bodyPr wrap="square" lIns="0" tIns="0" rIns="0" bIns="0" rtlCol="0"/>
          <a:lstStyle/>
          <a:p>
            <a:endParaRPr dirty="0"/>
          </a:p>
        </p:txBody>
      </p:sp>
      <p:sp>
        <p:nvSpPr>
          <p:cNvPr id="41" name="object 41"/>
          <p:cNvSpPr/>
          <p:nvPr/>
        </p:nvSpPr>
        <p:spPr>
          <a:xfrm>
            <a:off x="3864282" y="3891847"/>
            <a:ext cx="0" cy="64769"/>
          </a:xfrm>
          <a:custGeom>
            <a:avLst/>
            <a:gdLst/>
            <a:ahLst/>
            <a:cxnLst/>
            <a:rect l="l" t="t" r="r" b="b"/>
            <a:pathLst>
              <a:path h="64770">
                <a:moveTo>
                  <a:pt x="0" y="0"/>
                </a:moveTo>
                <a:lnTo>
                  <a:pt x="0" y="64548"/>
                </a:lnTo>
              </a:path>
            </a:pathLst>
          </a:custGeom>
          <a:ln w="3175">
            <a:solidFill>
              <a:srgbClr val="000000"/>
            </a:solidFill>
          </a:ln>
        </p:spPr>
        <p:txBody>
          <a:bodyPr wrap="square" lIns="0" tIns="0" rIns="0" bIns="0" rtlCol="0"/>
          <a:lstStyle/>
          <a:p>
            <a:endParaRPr dirty="0"/>
          </a:p>
        </p:txBody>
      </p:sp>
      <p:sp>
        <p:nvSpPr>
          <p:cNvPr id="42" name="object 42"/>
          <p:cNvSpPr/>
          <p:nvPr/>
        </p:nvSpPr>
        <p:spPr>
          <a:xfrm>
            <a:off x="4641743" y="3891847"/>
            <a:ext cx="0" cy="64769"/>
          </a:xfrm>
          <a:custGeom>
            <a:avLst/>
            <a:gdLst/>
            <a:ahLst/>
            <a:cxnLst/>
            <a:rect l="l" t="t" r="r" b="b"/>
            <a:pathLst>
              <a:path h="64770">
                <a:moveTo>
                  <a:pt x="0" y="0"/>
                </a:moveTo>
                <a:lnTo>
                  <a:pt x="0" y="64548"/>
                </a:lnTo>
              </a:path>
            </a:pathLst>
          </a:custGeom>
          <a:ln w="3175">
            <a:solidFill>
              <a:srgbClr val="000000"/>
            </a:solidFill>
          </a:ln>
        </p:spPr>
        <p:txBody>
          <a:bodyPr wrap="square" lIns="0" tIns="0" rIns="0" bIns="0" rtlCol="0"/>
          <a:lstStyle/>
          <a:p>
            <a:endParaRPr dirty="0"/>
          </a:p>
        </p:txBody>
      </p:sp>
      <p:sp>
        <p:nvSpPr>
          <p:cNvPr id="43" name="object 43"/>
          <p:cNvSpPr/>
          <p:nvPr/>
        </p:nvSpPr>
        <p:spPr>
          <a:xfrm>
            <a:off x="5422240" y="3891847"/>
            <a:ext cx="0" cy="64769"/>
          </a:xfrm>
          <a:custGeom>
            <a:avLst/>
            <a:gdLst/>
            <a:ahLst/>
            <a:cxnLst/>
            <a:rect l="l" t="t" r="r" b="b"/>
            <a:pathLst>
              <a:path h="64770">
                <a:moveTo>
                  <a:pt x="0" y="0"/>
                </a:moveTo>
                <a:lnTo>
                  <a:pt x="0" y="64548"/>
                </a:lnTo>
              </a:path>
            </a:pathLst>
          </a:custGeom>
          <a:ln w="3175">
            <a:solidFill>
              <a:srgbClr val="000000"/>
            </a:solidFill>
          </a:ln>
        </p:spPr>
        <p:txBody>
          <a:bodyPr wrap="square" lIns="0" tIns="0" rIns="0" bIns="0" rtlCol="0"/>
          <a:lstStyle/>
          <a:p>
            <a:endParaRPr dirty="0"/>
          </a:p>
        </p:txBody>
      </p:sp>
      <p:sp>
        <p:nvSpPr>
          <p:cNvPr id="44" name="object 44"/>
          <p:cNvSpPr/>
          <p:nvPr/>
        </p:nvSpPr>
        <p:spPr>
          <a:xfrm>
            <a:off x="6199701" y="3891847"/>
            <a:ext cx="0" cy="64769"/>
          </a:xfrm>
          <a:custGeom>
            <a:avLst/>
            <a:gdLst/>
            <a:ahLst/>
            <a:cxnLst/>
            <a:rect l="l" t="t" r="r" b="b"/>
            <a:pathLst>
              <a:path h="64770">
                <a:moveTo>
                  <a:pt x="0" y="0"/>
                </a:moveTo>
                <a:lnTo>
                  <a:pt x="0" y="64548"/>
                </a:lnTo>
              </a:path>
            </a:pathLst>
          </a:custGeom>
          <a:ln w="3175">
            <a:solidFill>
              <a:srgbClr val="000000"/>
            </a:solidFill>
          </a:ln>
        </p:spPr>
        <p:txBody>
          <a:bodyPr wrap="square" lIns="0" tIns="0" rIns="0" bIns="0" rtlCol="0"/>
          <a:lstStyle/>
          <a:p>
            <a:endParaRPr dirty="0"/>
          </a:p>
        </p:txBody>
      </p:sp>
      <p:sp>
        <p:nvSpPr>
          <p:cNvPr id="45" name="object 45"/>
          <p:cNvSpPr/>
          <p:nvPr/>
        </p:nvSpPr>
        <p:spPr>
          <a:xfrm>
            <a:off x="6977162" y="3891847"/>
            <a:ext cx="0" cy="64769"/>
          </a:xfrm>
          <a:custGeom>
            <a:avLst/>
            <a:gdLst/>
            <a:ahLst/>
            <a:cxnLst/>
            <a:rect l="l" t="t" r="r" b="b"/>
            <a:pathLst>
              <a:path h="64770">
                <a:moveTo>
                  <a:pt x="0" y="0"/>
                </a:moveTo>
                <a:lnTo>
                  <a:pt x="0" y="64548"/>
                </a:lnTo>
              </a:path>
            </a:pathLst>
          </a:custGeom>
          <a:ln w="3175">
            <a:solidFill>
              <a:srgbClr val="000000"/>
            </a:solidFill>
          </a:ln>
        </p:spPr>
        <p:txBody>
          <a:bodyPr wrap="square" lIns="0" tIns="0" rIns="0" bIns="0" rtlCol="0"/>
          <a:lstStyle/>
          <a:p>
            <a:endParaRPr dirty="0"/>
          </a:p>
        </p:txBody>
      </p:sp>
      <p:sp>
        <p:nvSpPr>
          <p:cNvPr id="46" name="object 46"/>
          <p:cNvSpPr/>
          <p:nvPr/>
        </p:nvSpPr>
        <p:spPr>
          <a:xfrm>
            <a:off x="3086821" y="2373048"/>
            <a:ext cx="0" cy="1519555"/>
          </a:xfrm>
          <a:custGeom>
            <a:avLst/>
            <a:gdLst/>
            <a:ahLst/>
            <a:cxnLst/>
            <a:rect l="l" t="t" r="r" b="b"/>
            <a:pathLst>
              <a:path h="1519554">
                <a:moveTo>
                  <a:pt x="0" y="0"/>
                </a:moveTo>
                <a:lnTo>
                  <a:pt x="0" y="1519557"/>
                </a:lnTo>
              </a:path>
            </a:pathLst>
          </a:custGeom>
          <a:ln w="3175">
            <a:solidFill>
              <a:srgbClr val="000000"/>
            </a:solidFill>
          </a:ln>
        </p:spPr>
        <p:txBody>
          <a:bodyPr wrap="square" lIns="0" tIns="0" rIns="0" bIns="0" rtlCol="0"/>
          <a:lstStyle/>
          <a:p>
            <a:endParaRPr dirty="0"/>
          </a:p>
        </p:txBody>
      </p:sp>
      <p:sp>
        <p:nvSpPr>
          <p:cNvPr id="47" name="object 47"/>
          <p:cNvSpPr/>
          <p:nvPr/>
        </p:nvSpPr>
        <p:spPr>
          <a:xfrm>
            <a:off x="3022666" y="3892227"/>
            <a:ext cx="64769" cy="0"/>
          </a:xfrm>
          <a:custGeom>
            <a:avLst/>
            <a:gdLst/>
            <a:ahLst/>
            <a:cxnLst/>
            <a:rect l="l" t="t" r="r" b="b"/>
            <a:pathLst>
              <a:path w="64769">
                <a:moveTo>
                  <a:pt x="0" y="0"/>
                </a:moveTo>
                <a:lnTo>
                  <a:pt x="64535" y="0"/>
                </a:lnTo>
              </a:path>
            </a:pathLst>
          </a:custGeom>
          <a:ln w="3175">
            <a:solidFill>
              <a:srgbClr val="000000"/>
            </a:solidFill>
          </a:ln>
        </p:spPr>
        <p:txBody>
          <a:bodyPr wrap="square" lIns="0" tIns="0" rIns="0" bIns="0" rtlCol="0"/>
          <a:lstStyle/>
          <a:p>
            <a:endParaRPr dirty="0"/>
          </a:p>
        </p:txBody>
      </p:sp>
      <p:sp>
        <p:nvSpPr>
          <p:cNvPr id="48" name="object 48"/>
          <p:cNvSpPr/>
          <p:nvPr/>
        </p:nvSpPr>
        <p:spPr>
          <a:xfrm>
            <a:off x="3022666" y="3512527"/>
            <a:ext cx="64769" cy="0"/>
          </a:xfrm>
          <a:custGeom>
            <a:avLst/>
            <a:gdLst/>
            <a:ahLst/>
            <a:cxnLst/>
            <a:rect l="l" t="t" r="r" b="b"/>
            <a:pathLst>
              <a:path w="64769">
                <a:moveTo>
                  <a:pt x="0" y="0"/>
                </a:moveTo>
                <a:lnTo>
                  <a:pt x="64535" y="0"/>
                </a:lnTo>
              </a:path>
            </a:pathLst>
          </a:custGeom>
          <a:ln w="3175">
            <a:solidFill>
              <a:srgbClr val="000000"/>
            </a:solidFill>
          </a:ln>
        </p:spPr>
        <p:txBody>
          <a:bodyPr wrap="square" lIns="0" tIns="0" rIns="0" bIns="0" rtlCol="0"/>
          <a:lstStyle/>
          <a:p>
            <a:endParaRPr dirty="0"/>
          </a:p>
        </p:txBody>
      </p:sp>
      <p:sp>
        <p:nvSpPr>
          <p:cNvPr id="49" name="object 49"/>
          <p:cNvSpPr/>
          <p:nvPr/>
        </p:nvSpPr>
        <p:spPr>
          <a:xfrm>
            <a:off x="3022666" y="3132827"/>
            <a:ext cx="64769" cy="0"/>
          </a:xfrm>
          <a:custGeom>
            <a:avLst/>
            <a:gdLst/>
            <a:ahLst/>
            <a:cxnLst/>
            <a:rect l="l" t="t" r="r" b="b"/>
            <a:pathLst>
              <a:path w="64769">
                <a:moveTo>
                  <a:pt x="0" y="0"/>
                </a:moveTo>
                <a:lnTo>
                  <a:pt x="64535" y="0"/>
                </a:lnTo>
              </a:path>
            </a:pathLst>
          </a:custGeom>
          <a:ln w="3175">
            <a:solidFill>
              <a:srgbClr val="000000"/>
            </a:solidFill>
          </a:ln>
        </p:spPr>
        <p:txBody>
          <a:bodyPr wrap="square" lIns="0" tIns="0" rIns="0" bIns="0" rtlCol="0"/>
          <a:lstStyle/>
          <a:p>
            <a:endParaRPr dirty="0"/>
          </a:p>
        </p:txBody>
      </p:sp>
      <p:sp>
        <p:nvSpPr>
          <p:cNvPr id="50" name="object 50"/>
          <p:cNvSpPr/>
          <p:nvPr/>
        </p:nvSpPr>
        <p:spPr>
          <a:xfrm>
            <a:off x="3022666" y="2753128"/>
            <a:ext cx="64769" cy="0"/>
          </a:xfrm>
          <a:custGeom>
            <a:avLst/>
            <a:gdLst/>
            <a:ahLst/>
            <a:cxnLst/>
            <a:rect l="l" t="t" r="r" b="b"/>
            <a:pathLst>
              <a:path w="64769">
                <a:moveTo>
                  <a:pt x="0" y="0"/>
                </a:moveTo>
                <a:lnTo>
                  <a:pt x="64535" y="0"/>
                </a:lnTo>
              </a:path>
            </a:pathLst>
          </a:custGeom>
          <a:ln w="3175">
            <a:solidFill>
              <a:srgbClr val="000000"/>
            </a:solidFill>
          </a:ln>
        </p:spPr>
        <p:txBody>
          <a:bodyPr wrap="square" lIns="0" tIns="0" rIns="0" bIns="0" rtlCol="0"/>
          <a:lstStyle/>
          <a:p>
            <a:endParaRPr dirty="0"/>
          </a:p>
        </p:txBody>
      </p:sp>
      <p:sp>
        <p:nvSpPr>
          <p:cNvPr id="51" name="object 51"/>
          <p:cNvSpPr/>
          <p:nvPr/>
        </p:nvSpPr>
        <p:spPr>
          <a:xfrm>
            <a:off x="3022666" y="2373428"/>
            <a:ext cx="64769" cy="0"/>
          </a:xfrm>
          <a:custGeom>
            <a:avLst/>
            <a:gdLst/>
            <a:ahLst/>
            <a:cxnLst/>
            <a:rect l="l" t="t" r="r" b="b"/>
            <a:pathLst>
              <a:path w="64769">
                <a:moveTo>
                  <a:pt x="0" y="0"/>
                </a:moveTo>
                <a:lnTo>
                  <a:pt x="64535" y="0"/>
                </a:lnTo>
              </a:path>
            </a:pathLst>
          </a:custGeom>
          <a:ln w="3175">
            <a:solidFill>
              <a:srgbClr val="000000"/>
            </a:solidFill>
          </a:ln>
        </p:spPr>
        <p:txBody>
          <a:bodyPr wrap="square" lIns="0" tIns="0" rIns="0" bIns="0" rtlCol="0"/>
          <a:lstStyle/>
          <a:p>
            <a:endParaRPr dirty="0"/>
          </a:p>
        </p:txBody>
      </p:sp>
      <p:sp>
        <p:nvSpPr>
          <p:cNvPr id="52" name="object 52"/>
          <p:cNvSpPr txBox="1"/>
          <p:nvPr/>
        </p:nvSpPr>
        <p:spPr>
          <a:xfrm>
            <a:off x="3022113" y="4043178"/>
            <a:ext cx="12763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0</a:t>
            </a:r>
          </a:p>
        </p:txBody>
      </p:sp>
      <p:sp>
        <p:nvSpPr>
          <p:cNvPr id="53" name="object 53"/>
          <p:cNvSpPr txBox="1"/>
          <p:nvPr/>
        </p:nvSpPr>
        <p:spPr>
          <a:xfrm>
            <a:off x="3799574" y="4043178"/>
            <a:ext cx="12763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5</a:t>
            </a:r>
          </a:p>
        </p:txBody>
      </p:sp>
      <p:sp>
        <p:nvSpPr>
          <p:cNvPr id="54" name="object 54"/>
          <p:cNvSpPr txBox="1"/>
          <p:nvPr/>
        </p:nvSpPr>
        <p:spPr>
          <a:xfrm>
            <a:off x="6083365" y="4043178"/>
            <a:ext cx="230504" cy="269875"/>
          </a:xfrm>
          <a:prstGeom prst="rect">
            <a:avLst/>
          </a:prstGeom>
        </p:spPr>
        <p:txBody>
          <a:bodyPr vert="horz" wrap="square" lIns="0" tIns="12700" rIns="0" bIns="0" rtlCol="0">
            <a:spAutoFit/>
          </a:bodyPr>
          <a:lstStyle/>
          <a:p>
            <a:pPr marL="12700">
              <a:lnSpc>
                <a:spcPct val="100000"/>
              </a:lnSpc>
              <a:spcBef>
                <a:spcPts val="100"/>
              </a:spcBef>
            </a:pPr>
            <a:r>
              <a:rPr sz="1600" spc="10" dirty="0">
                <a:latin typeface="Times New Roman"/>
                <a:cs typeface="Times New Roman"/>
              </a:rPr>
              <a:t>2</a:t>
            </a:r>
            <a:r>
              <a:rPr sz="1600" dirty="0">
                <a:latin typeface="Times New Roman"/>
                <a:cs typeface="Times New Roman"/>
              </a:rPr>
              <a:t>0</a:t>
            </a:r>
          </a:p>
        </p:txBody>
      </p:sp>
      <p:sp>
        <p:nvSpPr>
          <p:cNvPr id="55" name="object 55"/>
          <p:cNvSpPr txBox="1"/>
          <p:nvPr/>
        </p:nvSpPr>
        <p:spPr>
          <a:xfrm>
            <a:off x="6860826" y="4043178"/>
            <a:ext cx="230504" cy="269875"/>
          </a:xfrm>
          <a:prstGeom prst="rect">
            <a:avLst/>
          </a:prstGeom>
        </p:spPr>
        <p:txBody>
          <a:bodyPr vert="horz" wrap="square" lIns="0" tIns="12700" rIns="0" bIns="0" rtlCol="0">
            <a:spAutoFit/>
          </a:bodyPr>
          <a:lstStyle/>
          <a:p>
            <a:pPr marL="12700">
              <a:lnSpc>
                <a:spcPct val="100000"/>
              </a:lnSpc>
              <a:spcBef>
                <a:spcPts val="100"/>
              </a:spcBef>
            </a:pPr>
            <a:r>
              <a:rPr sz="1600" spc="10" dirty="0">
                <a:latin typeface="Times New Roman"/>
                <a:cs typeface="Times New Roman"/>
              </a:rPr>
              <a:t>2</a:t>
            </a:r>
            <a:r>
              <a:rPr sz="1600" dirty="0">
                <a:latin typeface="Times New Roman"/>
                <a:cs typeface="Times New Roman"/>
              </a:rPr>
              <a:t>5</a:t>
            </a:r>
          </a:p>
        </p:txBody>
      </p:sp>
      <p:sp>
        <p:nvSpPr>
          <p:cNvPr id="56" name="object 56"/>
          <p:cNvSpPr txBox="1"/>
          <p:nvPr/>
        </p:nvSpPr>
        <p:spPr>
          <a:xfrm>
            <a:off x="1360898" y="1951487"/>
            <a:ext cx="4078604" cy="1869439"/>
          </a:xfrm>
          <a:prstGeom prst="rect">
            <a:avLst/>
          </a:prstGeom>
        </p:spPr>
        <p:txBody>
          <a:bodyPr vert="horz" wrap="square" lIns="0" tIns="120650" rIns="0" bIns="0" rtlCol="0">
            <a:spAutoFit/>
          </a:bodyPr>
          <a:lstStyle/>
          <a:p>
            <a:pPr marL="1661160">
              <a:lnSpc>
                <a:spcPct val="100000"/>
              </a:lnSpc>
              <a:spcBef>
                <a:spcPts val="950"/>
              </a:spcBef>
            </a:pPr>
            <a:r>
              <a:rPr sz="1600" spc="-15" dirty="0">
                <a:latin typeface="Times New Roman"/>
                <a:cs typeface="Times New Roman"/>
              </a:rPr>
              <a:t>ADC </a:t>
            </a:r>
            <a:r>
              <a:rPr sz="1600" spc="-5" dirty="0">
                <a:latin typeface="Times New Roman"/>
                <a:cs typeface="Times New Roman"/>
              </a:rPr>
              <a:t>Resolution</a:t>
            </a:r>
            <a:r>
              <a:rPr sz="1600" dirty="0">
                <a:latin typeface="Times New Roman"/>
                <a:cs typeface="Times New Roman"/>
              </a:rPr>
              <a:t> </a:t>
            </a:r>
            <a:r>
              <a:rPr sz="1600" spc="-5" dirty="0">
                <a:latin typeface="Times New Roman"/>
                <a:cs typeface="Times New Roman"/>
              </a:rPr>
              <a:t>Comparison</a:t>
            </a:r>
            <a:endParaRPr sz="1600" dirty="0">
              <a:latin typeface="Times New Roman"/>
              <a:cs typeface="Times New Roman"/>
            </a:endParaRPr>
          </a:p>
          <a:p>
            <a:pPr marL="665480">
              <a:lnSpc>
                <a:spcPct val="100000"/>
              </a:lnSpc>
              <a:spcBef>
                <a:spcPts val="855"/>
              </a:spcBef>
            </a:pPr>
            <a:r>
              <a:rPr sz="1600" dirty="0">
                <a:latin typeface="Times New Roman"/>
                <a:cs typeface="Times New Roman"/>
              </a:rPr>
              <a:t>Dual</a:t>
            </a:r>
            <a:r>
              <a:rPr sz="1600" spc="-105" dirty="0">
                <a:latin typeface="Times New Roman"/>
                <a:cs typeface="Times New Roman"/>
              </a:rPr>
              <a:t> </a:t>
            </a:r>
            <a:r>
              <a:rPr sz="1600" spc="-5" dirty="0">
                <a:latin typeface="Times New Roman"/>
                <a:cs typeface="Times New Roman"/>
              </a:rPr>
              <a:t>Slope</a:t>
            </a:r>
            <a:endParaRPr sz="1600" dirty="0">
              <a:latin typeface="Times New Roman"/>
              <a:cs typeface="Times New Roman"/>
            </a:endParaRPr>
          </a:p>
          <a:p>
            <a:pPr marL="12700" marR="2498090" indent="1120140">
              <a:lnSpc>
                <a:spcPct val="155700"/>
              </a:lnSpc>
            </a:pPr>
            <a:r>
              <a:rPr sz="1600" spc="-35" dirty="0">
                <a:latin typeface="Times New Roman"/>
                <a:cs typeface="Times New Roman"/>
              </a:rPr>
              <a:t>F</a:t>
            </a:r>
            <a:r>
              <a:rPr sz="1600" spc="-15" dirty="0">
                <a:latin typeface="Times New Roman"/>
                <a:cs typeface="Times New Roman"/>
              </a:rPr>
              <a:t>l</a:t>
            </a:r>
            <a:r>
              <a:rPr sz="1600" spc="5" dirty="0">
                <a:latin typeface="Times New Roman"/>
                <a:cs typeface="Times New Roman"/>
              </a:rPr>
              <a:t>a</a:t>
            </a:r>
            <a:r>
              <a:rPr sz="1600" spc="-5" dirty="0">
                <a:latin typeface="Times New Roman"/>
                <a:cs typeface="Times New Roman"/>
              </a:rPr>
              <a:t>s</a:t>
            </a:r>
            <a:r>
              <a:rPr sz="1600" dirty="0">
                <a:latin typeface="Times New Roman"/>
                <a:cs typeface="Times New Roman"/>
              </a:rPr>
              <a:t>h  </a:t>
            </a:r>
            <a:r>
              <a:rPr sz="1600" spc="-5" dirty="0">
                <a:latin typeface="Times New Roman"/>
                <a:cs typeface="Times New Roman"/>
              </a:rPr>
              <a:t>Successive</a:t>
            </a:r>
            <a:r>
              <a:rPr sz="1600" spc="-60" dirty="0">
                <a:latin typeface="Times New Roman"/>
                <a:cs typeface="Times New Roman"/>
              </a:rPr>
              <a:t> </a:t>
            </a:r>
            <a:r>
              <a:rPr sz="1600" spc="-10" dirty="0">
                <a:latin typeface="Times New Roman"/>
                <a:cs typeface="Times New Roman"/>
              </a:rPr>
              <a:t>Approx</a:t>
            </a:r>
            <a:endParaRPr sz="1600" dirty="0">
              <a:latin typeface="Times New Roman"/>
              <a:cs typeface="Times New Roman"/>
            </a:endParaRPr>
          </a:p>
          <a:p>
            <a:pPr marR="1953260" algn="ctr">
              <a:lnSpc>
                <a:spcPct val="100000"/>
              </a:lnSpc>
              <a:spcBef>
                <a:spcPts val="1070"/>
              </a:spcBef>
            </a:pPr>
            <a:r>
              <a:rPr sz="1600" spc="-10" dirty="0">
                <a:latin typeface="Times New Roman"/>
                <a:cs typeface="Times New Roman"/>
              </a:rPr>
              <a:t>Sigma-Delta</a:t>
            </a:r>
            <a:endParaRPr sz="1600" dirty="0">
              <a:latin typeface="Times New Roman"/>
              <a:cs typeface="Times New Roman"/>
            </a:endParaRPr>
          </a:p>
        </p:txBody>
      </p:sp>
      <p:sp>
        <p:nvSpPr>
          <p:cNvPr id="57" name="object 57"/>
          <p:cNvSpPr txBox="1"/>
          <p:nvPr/>
        </p:nvSpPr>
        <p:spPr>
          <a:xfrm>
            <a:off x="4318894" y="4043178"/>
            <a:ext cx="1423670" cy="497840"/>
          </a:xfrm>
          <a:prstGeom prst="rect">
            <a:avLst/>
          </a:prstGeom>
        </p:spPr>
        <p:txBody>
          <a:bodyPr vert="horz" wrap="square" lIns="0" tIns="12700" rIns="0" bIns="0" rtlCol="0">
            <a:spAutoFit/>
          </a:bodyPr>
          <a:lstStyle/>
          <a:p>
            <a:pPr algn="ctr">
              <a:lnSpc>
                <a:spcPts val="1855"/>
              </a:lnSpc>
              <a:spcBef>
                <a:spcPts val="100"/>
              </a:spcBef>
              <a:tabLst>
                <a:tab pos="780415" algn="l"/>
              </a:tabLst>
            </a:pPr>
            <a:r>
              <a:rPr sz="1600" spc="5" dirty="0">
                <a:latin typeface="Times New Roman"/>
                <a:cs typeface="Times New Roman"/>
              </a:rPr>
              <a:t>10	15</a:t>
            </a:r>
            <a:endParaRPr sz="1600" dirty="0">
              <a:latin typeface="Times New Roman"/>
              <a:cs typeface="Times New Roman"/>
            </a:endParaRPr>
          </a:p>
          <a:p>
            <a:pPr algn="ctr">
              <a:lnSpc>
                <a:spcPts val="1855"/>
              </a:lnSpc>
            </a:pPr>
            <a:r>
              <a:rPr sz="1600" spc="-5" dirty="0">
                <a:latin typeface="Times New Roman"/>
                <a:cs typeface="Times New Roman"/>
              </a:rPr>
              <a:t>Resolution</a:t>
            </a:r>
            <a:r>
              <a:rPr sz="1600" spc="-50" dirty="0">
                <a:latin typeface="Times New Roman"/>
                <a:cs typeface="Times New Roman"/>
              </a:rPr>
              <a:t> </a:t>
            </a:r>
            <a:r>
              <a:rPr sz="1600" dirty="0">
                <a:latin typeface="Times New Roman"/>
                <a:cs typeface="Times New Roman"/>
              </a:rPr>
              <a:t>(Bits)</a:t>
            </a:r>
          </a:p>
        </p:txBody>
      </p:sp>
      <p:graphicFrame>
        <p:nvGraphicFramePr>
          <p:cNvPr id="58" name="object 58"/>
          <p:cNvGraphicFramePr>
            <a:graphicFrameLocks noGrp="1"/>
          </p:cNvGraphicFramePr>
          <p:nvPr/>
        </p:nvGraphicFramePr>
        <p:xfrm>
          <a:off x="1669541" y="5099302"/>
          <a:ext cx="5992495" cy="1825747"/>
        </p:xfrm>
        <a:graphic>
          <a:graphicData uri="http://schemas.openxmlformats.org/drawingml/2006/table">
            <a:tbl>
              <a:tblPr firstRow="1" bandRow="1">
                <a:tableStyleId>{2D5ABB26-0587-4C30-8999-92F81FD0307C}</a:tableStyleId>
              </a:tblPr>
              <a:tblGrid>
                <a:gridCol w="211518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gridCol w="1969135">
                  <a:extLst>
                    <a:ext uri="{9D8B030D-6E8A-4147-A177-3AD203B41FA5}">
                      <a16:colId xmlns:a16="http://schemas.microsoft.com/office/drawing/2014/main" val="20002"/>
                    </a:ext>
                  </a:extLst>
                </a:gridCol>
              </a:tblGrid>
              <a:tr h="365759">
                <a:tc>
                  <a:txBody>
                    <a:bodyPr/>
                    <a:lstStyle/>
                    <a:p>
                      <a:pPr marL="91440">
                        <a:lnSpc>
                          <a:spcPct val="100000"/>
                        </a:lnSpc>
                        <a:spcBef>
                          <a:spcPts val="265"/>
                        </a:spcBef>
                      </a:pPr>
                      <a:r>
                        <a:rPr sz="1700" b="1" spc="-5" dirty="0">
                          <a:latin typeface="Arial"/>
                          <a:cs typeface="Arial"/>
                        </a:rPr>
                        <a:t>Type</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65"/>
                        </a:spcBef>
                      </a:pPr>
                      <a:r>
                        <a:rPr sz="1700" b="1" spc="-5" dirty="0">
                          <a:latin typeface="Arial"/>
                          <a:cs typeface="Arial"/>
                        </a:rPr>
                        <a:t>Speed</a:t>
                      </a:r>
                      <a:r>
                        <a:rPr sz="1700" b="1" spc="-20" dirty="0">
                          <a:latin typeface="Arial"/>
                          <a:cs typeface="Arial"/>
                        </a:rPr>
                        <a:t> </a:t>
                      </a:r>
                      <a:r>
                        <a:rPr sz="1700" b="1" dirty="0">
                          <a:latin typeface="Arial"/>
                          <a:cs typeface="Arial"/>
                        </a:rPr>
                        <a:t>(relative)</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980">
                        <a:lnSpc>
                          <a:spcPct val="100000"/>
                        </a:lnSpc>
                        <a:spcBef>
                          <a:spcPts val="265"/>
                        </a:spcBef>
                      </a:pPr>
                      <a:r>
                        <a:rPr sz="1700" b="1" spc="-5" dirty="0">
                          <a:latin typeface="Arial"/>
                          <a:cs typeface="Arial"/>
                        </a:rPr>
                        <a:t>Cost</a:t>
                      </a:r>
                      <a:r>
                        <a:rPr sz="1700" b="1" spc="-10" dirty="0">
                          <a:latin typeface="Arial"/>
                          <a:cs typeface="Arial"/>
                        </a:rPr>
                        <a:t> </a:t>
                      </a:r>
                      <a:r>
                        <a:rPr sz="1700" b="1" dirty="0">
                          <a:latin typeface="Arial"/>
                          <a:cs typeface="Arial"/>
                        </a:rPr>
                        <a:t>(relative)</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59">
                <a:tc>
                  <a:txBody>
                    <a:bodyPr/>
                    <a:lstStyle/>
                    <a:p>
                      <a:pPr marL="91440">
                        <a:lnSpc>
                          <a:spcPct val="100000"/>
                        </a:lnSpc>
                        <a:spcBef>
                          <a:spcPts val="265"/>
                        </a:spcBef>
                      </a:pPr>
                      <a:r>
                        <a:rPr sz="1700" spc="-5" dirty="0">
                          <a:latin typeface="Arial"/>
                          <a:cs typeface="Arial"/>
                        </a:rPr>
                        <a:t>Dual Slope</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65"/>
                        </a:spcBef>
                      </a:pPr>
                      <a:r>
                        <a:rPr sz="1700" spc="-5" dirty="0">
                          <a:latin typeface="Arial"/>
                          <a:cs typeface="Arial"/>
                        </a:rPr>
                        <a:t>Slow</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980">
                        <a:lnSpc>
                          <a:spcPct val="100000"/>
                        </a:lnSpc>
                        <a:spcBef>
                          <a:spcPts val="265"/>
                        </a:spcBef>
                      </a:pPr>
                      <a:r>
                        <a:rPr sz="1700" spc="-5" dirty="0">
                          <a:latin typeface="Arial"/>
                          <a:cs typeface="Arial"/>
                        </a:rPr>
                        <a:t>Med</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59">
                <a:tc>
                  <a:txBody>
                    <a:bodyPr/>
                    <a:lstStyle/>
                    <a:p>
                      <a:pPr marL="91440">
                        <a:lnSpc>
                          <a:spcPct val="100000"/>
                        </a:lnSpc>
                        <a:spcBef>
                          <a:spcPts val="265"/>
                        </a:spcBef>
                      </a:pPr>
                      <a:r>
                        <a:rPr sz="1700" spc="-5" dirty="0">
                          <a:latin typeface="Arial"/>
                          <a:cs typeface="Arial"/>
                        </a:rPr>
                        <a:t>Flash</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65"/>
                        </a:spcBef>
                      </a:pPr>
                      <a:r>
                        <a:rPr sz="1700" spc="-5" dirty="0">
                          <a:latin typeface="Arial"/>
                          <a:cs typeface="Arial"/>
                        </a:rPr>
                        <a:t>Very Fast</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980">
                        <a:lnSpc>
                          <a:spcPct val="100000"/>
                        </a:lnSpc>
                        <a:spcBef>
                          <a:spcPts val="265"/>
                        </a:spcBef>
                      </a:pPr>
                      <a:r>
                        <a:rPr sz="1700" spc="-5" dirty="0">
                          <a:latin typeface="Arial"/>
                          <a:cs typeface="Arial"/>
                        </a:rPr>
                        <a:t>High</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5759">
                <a:tc>
                  <a:txBody>
                    <a:bodyPr/>
                    <a:lstStyle/>
                    <a:p>
                      <a:pPr marL="91440">
                        <a:lnSpc>
                          <a:spcPct val="100000"/>
                        </a:lnSpc>
                        <a:spcBef>
                          <a:spcPts val="265"/>
                        </a:spcBef>
                      </a:pPr>
                      <a:r>
                        <a:rPr sz="1700" spc="-5" dirty="0">
                          <a:latin typeface="Arial"/>
                          <a:cs typeface="Arial"/>
                        </a:rPr>
                        <a:t>Successive</a:t>
                      </a:r>
                      <a:r>
                        <a:rPr sz="1700" spc="-30" dirty="0">
                          <a:latin typeface="Arial"/>
                          <a:cs typeface="Arial"/>
                        </a:rPr>
                        <a:t> </a:t>
                      </a:r>
                      <a:r>
                        <a:rPr sz="1700" dirty="0">
                          <a:latin typeface="Arial"/>
                          <a:cs typeface="Arial"/>
                        </a:rPr>
                        <a:t>Appox</a:t>
                      </a: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65"/>
                        </a:spcBef>
                      </a:pPr>
                      <a:r>
                        <a:rPr sz="1700" spc="-5" dirty="0">
                          <a:latin typeface="Arial"/>
                          <a:cs typeface="Arial"/>
                        </a:rPr>
                        <a:t>Medium </a:t>
                      </a:r>
                      <a:r>
                        <a:rPr sz="1700" dirty="0">
                          <a:latin typeface="Arial"/>
                          <a:cs typeface="Arial"/>
                        </a:rPr>
                        <a:t>–</a:t>
                      </a:r>
                      <a:r>
                        <a:rPr sz="1700" spc="15" dirty="0">
                          <a:latin typeface="Arial"/>
                          <a:cs typeface="Arial"/>
                        </a:rPr>
                        <a:t> </a:t>
                      </a:r>
                      <a:r>
                        <a:rPr sz="1700" spc="-5" dirty="0">
                          <a:latin typeface="Arial"/>
                          <a:cs typeface="Arial"/>
                        </a:rPr>
                        <a:t>Fast</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980">
                        <a:lnSpc>
                          <a:spcPct val="100000"/>
                        </a:lnSpc>
                        <a:spcBef>
                          <a:spcPts val="265"/>
                        </a:spcBef>
                      </a:pPr>
                      <a:r>
                        <a:rPr sz="1700" spc="-5" dirty="0">
                          <a:latin typeface="Arial"/>
                          <a:cs typeface="Arial"/>
                        </a:rPr>
                        <a:t>Low</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2711">
                <a:tc>
                  <a:txBody>
                    <a:bodyPr/>
                    <a:lstStyle/>
                    <a:p>
                      <a:pPr marL="91440">
                        <a:lnSpc>
                          <a:spcPct val="100000"/>
                        </a:lnSpc>
                        <a:spcBef>
                          <a:spcPts val="265"/>
                        </a:spcBef>
                      </a:pPr>
                      <a:r>
                        <a:rPr sz="1700" spc="-5" dirty="0">
                          <a:latin typeface="Arial"/>
                          <a:cs typeface="Arial"/>
                        </a:rPr>
                        <a:t>Sigma-Delta</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65"/>
                        </a:spcBef>
                      </a:pPr>
                      <a:r>
                        <a:rPr sz="1700" spc="-5" dirty="0">
                          <a:latin typeface="Arial"/>
                          <a:cs typeface="Arial"/>
                        </a:rPr>
                        <a:t>Slow</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980">
                        <a:lnSpc>
                          <a:spcPct val="100000"/>
                        </a:lnSpc>
                        <a:spcBef>
                          <a:spcPts val="265"/>
                        </a:spcBef>
                      </a:pPr>
                      <a:r>
                        <a:rPr sz="1700" spc="-5" dirty="0">
                          <a:latin typeface="Arial"/>
                          <a:cs typeface="Arial"/>
                        </a:rPr>
                        <a:t>Low</a:t>
                      </a:r>
                      <a:endParaRPr sz="1700" dirty="0">
                        <a:latin typeface="Arial"/>
                        <a:cs typeface="Aria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60" name="Title 59">
            <a:extLst>
              <a:ext uri="{FF2B5EF4-FFF2-40B4-BE49-F238E27FC236}">
                <a16:creationId xmlns:a16="http://schemas.microsoft.com/office/drawing/2014/main" id="{5113F55B-AE0A-4588-8F1E-8CB3C014FFDE}"/>
              </a:ext>
            </a:extLst>
          </p:cNvPr>
          <p:cNvSpPr>
            <a:spLocks noGrp="1"/>
          </p:cNvSpPr>
          <p:nvPr>
            <p:ph type="title"/>
          </p:nvPr>
        </p:nvSpPr>
        <p:spPr/>
        <p:txBody>
          <a:bodyPr/>
          <a:lstStyle/>
          <a:p>
            <a:r>
              <a:rPr lang="en-GB" dirty="0"/>
              <a:t>ADC Types Comparison</a:t>
            </a:r>
          </a:p>
        </p:txBody>
      </p:sp>
      <p:sp>
        <p:nvSpPr>
          <p:cNvPr id="63" name="Date Placeholder 62">
            <a:extLst>
              <a:ext uri="{FF2B5EF4-FFF2-40B4-BE49-F238E27FC236}">
                <a16:creationId xmlns:a16="http://schemas.microsoft.com/office/drawing/2014/main" id="{B43690B7-30C8-4756-962C-8F1D5B382A0C}"/>
              </a:ext>
            </a:extLst>
          </p:cNvPr>
          <p:cNvSpPr>
            <a:spLocks noGrp="1"/>
          </p:cNvSpPr>
          <p:nvPr>
            <p:ph type="dt" sz="half" idx="10"/>
          </p:nvPr>
        </p:nvSpPr>
        <p:spPr/>
        <p:txBody>
          <a:bodyPr/>
          <a:lstStyle/>
          <a:p>
            <a:r>
              <a:rPr lang="en-US"/>
              <a:t>V.T.M</a:t>
            </a:r>
            <a:endParaRPr lang="en-US" dirty="0"/>
          </a:p>
        </p:txBody>
      </p:sp>
      <p:sp>
        <p:nvSpPr>
          <p:cNvPr id="64" name="Footer Placeholder 63">
            <a:extLst>
              <a:ext uri="{FF2B5EF4-FFF2-40B4-BE49-F238E27FC236}">
                <a16:creationId xmlns:a16="http://schemas.microsoft.com/office/drawing/2014/main" id="{2EA775E5-E2AA-4848-9019-8F59D491A9E8}"/>
              </a:ext>
            </a:extLst>
          </p:cNvPr>
          <p:cNvSpPr>
            <a:spLocks noGrp="1"/>
          </p:cNvSpPr>
          <p:nvPr>
            <p:ph type="ftr" sz="quarter" idx="11"/>
          </p:nvPr>
        </p:nvSpPr>
        <p:spPr/>
        <p:txBody>
          <a:bodyPr/>
          <a:lstStyle/>
          <a:p>
            <a:r>
              <a:rPr lang="en-US"/>
              <a:t>DN, 2020</a:t>
            </a:r>
            <a:endParaRPr lang="en-US" dirty="0"/>
          </a:p>
        </p:txBody>
      </p:sp>
      <p:sp>
        <p:nvSpPr>
          <p:cNvPr id="61" name="Slide Number Placeholder 60">
            <a:extLst>
              <a:ext uri="{FF2B5EF4-FFF2-40B4-BE49-F238E27FC236}">
                <a16:creationId xmlns:a16="http://schemas.microsoft.com/office/drawing/2014/main" id="{10F2E1D0-9FE8-4027-81E1-A077B5642DB6}"/>
              </a:ext>
            </a:extLst>
          </p:cNvPr>
          <p:cNvSpPr>
            <a:spLocks noGrp="1"/>
          </p:cNvSpPr>
          <p:nvPr>
            <p:ph type="sldNum" sz="quarter" idx="12"/>
          </p:nvPr>
        </p:nvSpPr>
        <p:spPr/>
        <p:txBody>
          <a:bodyPr/>
          <a:lstStyle/>
          <a:p>
            <a:fld id="{B6F15528-21DE-4FAA-801E-634DDDAF4B2B}" type="slidenum">
              <a:rPr lang="en-US" smtClean="0"/>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a:extLst>
              <a:ext uri="{FF2B5EF4-FFF2-40B4-BE49-F238E27FC236}">
                <a16:creationId xmlns:a16="http://schemas.microsoft.com/office/drawing/2014/main" id="{1829154C-A859-4755-A7B9-D0B6A81BB8F1}"/>
              </a:ext>
            </a:extLst>
          </p:cNvPr>
          <p:cNvSpPr>
            <a:spLocks noGrp="1" noChangeArrowheads="1"/>
          </p:cNvSpPr>
          <p:nvPr>
            <p:ph sz="quarter" idx="1"/>
          </p:nvPr>
        </p:nvSpPr>
        <p:spPr>
          <a:xfrm>
            <a:off x="331927" y="5181600"/>
            <a:ext cx="9354312" cy="1730654"/>
          </a:xfrm>
        </p:spPr>
        <p:txBody>
          <a:bodyPr>
            <a:normAutofit/>
          </a:bodyPr>
          <a:lstStyle/>
          <a:p>
            <a:pPr>
              <a:lnSpc>
                <a:spcPct val="90000"/>
              </a:lnSpc>
              <a:buFont typeface="Wingdings" panose="05000000000000000000" pitchFamily="2" charset="2"/>
              <a:buNone/>
            </a:pPr>
            <a:r>
              <a:rPr lang="en-US" altLang="en-US" sz="2400" dirty="0"/>
              <a:t>Conversion divided into discrete stages thus causing pipeline delay</a:t>
            </a:r>
          </a:p>
          <a:p>
            <a:pPr lvl="1">
              <a:lnSpc>
                <a:spcPct val="90000"/>
              </a:lnSpc>
            </a:pPr>
            <a:r>
              <a:rPr lang="en-US" altLang="en-US" sz="2400" dirty="0"/>
              <a:t>1st Stage ADC is 6-bit FLASH</a:t>
            </a:r>
          </a:p>
          <a:p>
            <a:pPr lvl="1">
              <a:lnSpc>
                <a:spcPct val="90000"/>
              </a:lnSpc>
            </a:pPr>
            <a:r>
              <a:rPr lang="en-US" altLang="en-US" sz="2400" dirty="0"/>
              <a:t>2nd Stage ADC is 7-bit Flash</a:t>
            </a:r>
          </a:p>
          <a:p>
            <a:pPr lvl="1">
              <a:lnSpc>
                <a:spcPct val="90000"/>
              </a:lnSpc>
            </a:pPr>
            <a:r>
              <a:rPr lang="en-US" altLang="en-US" sz="2400" dirty="0"/>
              <a:t>Total resolution is 12 bits (one bit used for error correction)</a:t>
            </a:r>
          </a:p>
        </p:txBody>
      </p:sp>
      <p:sp>
        <p:nvSpPr>
          <p:cNvPr id="2" name="Title 1">
            <a:extLst>
              <a:ext uri="{FF2B5EF4-FFF2-40B4-BE49-F238E27FC236}">
                <a16:creationId xmlns:a16="http://schemas.microsoft.com/office/drawing/2014/main" id="{292453EF-3178-4201-9C6F-3A108F90146D}"/>
              </a:ext>
            </a:extLst>
          </p:cNvPr>
          <p:cNvSpPr>
            <a:spLocks noGrp="1"/>
          </p:cNvSpPr>
          <p:nvPr>
            <p:ph type="title"/>
          </p:nvPr>
        </p:nvSpPr>
        <p:spPr/>
        <p:txBody>
          <a:bodyPr/>
          <a:lstStyle/>
          <a:p>
            <a:r>
              <a:rPr lang="en-GB" dirty="0"/>
              <a:t>Pipelined Sub-ranging ADC</a:t>
            </a:r>
          </a:p>
        </p:txBody>
      </p:sp>
      <p:sp>
        <p:nvSpPr>
          <p:cNvPr id="3" name="Slide Number Placeholder 2">
            <a:extLst>
              <a:ext uri="{FF2B5EF4-FFF2-40B4-BE49-F238E27FC236}">
                <a16:creationId xmlns:a16="http://schemas.microsoft.com/office/drawing/2014/main" id="{4EFF706D-7F22-4CD4-9DFE-BC0FABFB4EAE}"/>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65</a:t>
            </a:fld>
            <a:endParaRPr lang="en-US" dirty="0"/>
          </a:p>
        </p:txBody>
      </p:sp>
      <p:graphicFrame>
        <p:nvGraphicFramePr>
          <p:cNvPr id="82948" name="Object 4">
            <a:extLst>
              <a:ext uri="{FF2B5EF4-FFF2-40B4-BE49-F238E27FC236}">
                <a16:creationId xmlns:a16="http://schemas.microsoft.com/office/drawing/2014/main" id="{DAEF20F1-7153-43BA-9FD1-76E385020F4D}"/>
              </a:ext>
            </a:extLst>
          </p:cNvPr>
          <p:cNvGraphicFramePr>
            <a:graphicFrameLocks noGrp="1"/>
          </p:cNvGraphicFramePr>
          <p:nvPr>
            <p:ph type="clipArt" sz="half" idx="4294967295"/>
            <p:extLst>
              <p:ext uri="{D42A27DB-BD31-4B8C-83A1-F6EECF244321}">
                <p14:modId xmlns:p14="http://schemas.microsoft.com/office/powerpoint/2010/main" val="1421182677"/>
              </p:ext>
            </p:extLst>
          </p:nvPr>
        </p:nvGraphicFramePr>
        <p:xfrm>
          <a:off x="2549347" y="1704467"/>
          <a:ext cx="4953000" cy="3400933"/>
        </p:xfrm>
        <a:graphic>
          <a:graphicData uri="http://schemas.openxmlformats.org/presentationml/2006/ole">
            <mc:AlternateContent xmlns:mc="http://schemas.openxmlformats.org/markup-compatibility/2006">
              <mc:Choice xmlns:v="urn:schemas-microsoft-com:vml" Requires="v">
                <p:oleObj name="Canvas Drawing" r:id="rId3" imgW="7245350" imgH="5318125" progId="Canvas">
                  <p:embed/>
                </p:oleObj>
              </mc:Choice>
              <mc:Fallback>
                <p:oleObj name="Canvas Drawing" r:id="rId3" imgW="7245350" imgH="5318125" progId="Canvas">
                  <p:embed/>
                  <p:pic>
                    <p:nvPicPr>
                      <p:cNvPr id="82948" name="Object 4">
                        <a:extLst>
                          <a:ext uri="{FF2B5EF4-FFF2-40B4-BE49-F238E27FC236}">
                            <a16:creationId xmlns:a16="http://schemas.microsoft.com/office/drawing/2014/main" id="{DAEF20F1-7153-43BA-9FD1-76E385020F4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9347" y="1704467"/>
                        <a:ext cx="4953000" cy="3400933"/>
                      </a:xfrm>
                      <a:prstGeom prst="rect">
                        <a:avLst/>
                      </a:prstGeom>
                      <a:noFill/>
                      <a:ln>
                        <a:noFill/>
                      </a:ln>
                      <a:effectLst/>
                    </p:spPr>
                  </p:pic>
                </p:oleObj>
              </mc:Fallback>
            </mc:AlternateContent>
          </a:graphicData>
        </a:graphic>
      </p:graphicFrame>
      <p:sp>
        <p:nvSpPr>
          <p:cNvPr id="4" name="Date Placeholder 3">
            <a:extLst>
              <a:ext uri="{FF2B5EF4-FFF2-40B4-BE49-F238E27FC236}">
                <a16:creationId xmlns:a16="http://schemas.microsoft.com/office/drawing/2014/main" id="{FF4CAAF6-4C62-4BEE-8583-77B411F749FC}"/>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5" name="Footer Placeholder 4">
            <a:extLst>
              <a:ext uri="{FF2B5EF4-FFF2-40B4-BE49-F238E27FC236}">
                <a16:creationId xmlns:a16="http://schemas.microsoft.com/office/drawing/2014/main" id="{4337FAEA-D69A-46A0-80F9-28635DBECBC7}"/>
              </a:ext>
            </a:extLst>
          </p:cNvPr>
          <p:cNvSpPr>
            <a:spLocks noGrp="1"/>
          </p:cNvSpPr>
          <p:nvPr>
            <p:ph type="ftr" sz="quarter" idx="11"/>
          </p:nvPr>
        </p:nvSpPr>
        <p:spPr/>
        <p:txBody>
          <a:bodyPr/>
          <a:lstStyle/>
          <a:p>
            <a:r>
              <a:rPr lang="en-US"/>
              <a:t>DN, 2020</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5746" name="Object 2">
            <a:extLst>
              <a:ext uri="{FF2B5EF4-FFF2-40B4-BE49-F238E27FC236}">
                <a16:creationId xmlns:a16="http://schemas.microsoft.com/office/drawing/2014/main" id="{315659E0-A405-4DA0-9E33-00F7129AE82B}"/>
              </a:ext>
            </a:extLst>
          </p:cNvPr>
          <p:cNvGraphicFramePr>
            <a:graphicFrameLocks noChangeAspect="1"/>
          </p:cNvGraphicFramePr>
          <p:nvPr>
            <p:extLst>
              <p:ext uri="{D42A27DB-BD31-4B8C-83A1-F6EECF244321}">
                <p14:modId xmlns:p14="http://schemas.microsoft.com/office/powerpoint/2010/main" val="3971146423"/>
              </p:ext>
            </p:extLst>
          </p:nvPr>
        </p:nvGraphicFramePr>
        <p:xfrm>
          <a:off x="1085433" y="1463040"/>
          <a:ext cx="7880827" cy="5699760"/>
        </p:xfrm>
        <a:graphic>
          <a:graphicData uri="http://schemas.openxmlformats.org/presentationml/2006/ole">
            <mc:AlternateContent xmlns:mc="http://schemas.openxmlformats.org/markup-compatibility/2006">
              <mc:Choice xmlns:v="urn:schemas-microsoft-com:vml" Requires="v">
                <p:oleObj name="VISIO" r:id="rId3" imgW="7163280" imgH="5180400" progId="Visio.Drawing.5">
                  <p:embed/>
                </p:oleObj>
              </mc:Choice>
              <mc:Fallback>
                <p:oleObj name="VISIO" r:id="rId3" imgW="7163280" imgH="5180400" progId="Visio.Drawing.5">
                  <p:embed/>
                  <p:pic>
                    <p:nvPicPr>
                      <p:cNvPr id="415746" name="Object 2">
                        <a:extLst>
                          <a:ext uri="{FF2B5EF4-FFF2-40B4-BE49-F238E27FC236}">
                            <a16:creationId xmlns:a16="http://schemas.microsoft.com/office/drawing/2014/main" id="{315659E0-A405-4DA0-9E33-00F7129AE8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433" y="1463040"/>
                        <a:ext cx="7880827" cy="569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5" name="Rectangle 3">
            <a:extLst>
              <a:ext uri="{FF2B5EF4-FFF2-40B4-BE49-F238E27FC236}">
                <a16:creationId xmlns:a16="http://schemas.microsoft.com/office/drawing/2014/main" id="{5D72485D-9516-4B9D-B611-0304C40542D8}"/>
              </a:ext>
            </a:extLst>
          </p:cNvPr>
          <p:cNvSpPr>
            <a:spLocks noGrp="1" noChangeArrowheads="1"/>
          </p:cNvSpPr>
          <p:nvPr>
            <p:ph type="title"/>
          </p:nvPr>
        </p:nvSpPr>
        <p:spPr/>
        <p:txBody>
          <a:bodyPr/>
          <a:lstStyle/>
          <a:p>
            <a:r>
              <a:rPr lang="en-US" altLang="en-US"/>
              <a:t>Pipelined Sub-ranging ADC</a:t>
            </a:r>
          </a:p>
        </p:txBody>
      </p:sp>
      <p:sp>
        <p:nvSpPr>
          <p:cNvPr id="3" name="Slide Number Placeholder 2">
            <a:extLst>
              <a:ext uri="{FF2B5EF4-FFF2-40B4-BE49-F238E27FC236}">
                <a16:creationId xmlns:a16="http://schemas.microsoft.com/office/drawing/2014/main" id="{47E81937-E4B6-49F6-ABB3-9E8129C73969}"/>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66</a:t>
            </a:fld>
            <a:endParaRPr lang="en-US" dirty="0"/>
          </a:p>
        </p:txBody>
      </p:sp>
      <p:sp>
        <p:nvSpPr>
          <p:cNvPr id="5" name="Date Placeholder 4">
            <a:extLst>
              <a:ext uri="{FF2B5EF4-FFF2-40B4-BE49-F238E27FC236}">
                <a16:creationId xmlns:a16="http://schemas.microsoft.com/office/drawing/2014/main" id="{96D0F99A-F63E-41B8-BE19-B32416BBDAAE}"/>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6920E041-6825-465D-ADC4-14F040B68DEF}"/>
              </a:ext>
            </a:extLst>
          </p:cNvPr>
          <p:cNvSpPr>
            <a:spLocks noGrp="1"/>
          </p:cNvSpPr>
          <p:nvPr>
            <p:ph type="ftr" sz="quarter" idx="11"/>
          </p:nvPr>
        </p:nvSpPr>
        <p:spPr/>
        <p:txBody>
          <a:bodyPr/>
          <a:lstStyle/>
          <a:p>
            <a:r>
              <a:rPr lang="en-US"/>
              <a:t>DN, 2020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15746"/>
                                        </p:tgtEl>
                                        <p:attrNameLst>
                                          <p:attrName>style.visibility</p:attrName>
                                        </p:attrNameLst>
                                      </p:cBhvr>
                                      <p:to>
                                        <p:strVal val="visible"/>
                                      </p:to>
                                    </p:set>
                                  </p:childTnLst>
                                  <p:subTnLst>
                                    <p:set>
                                      <p:cBhvr override="childStyle">
                                        <p:cTn dur="1" fill="hold" display="0" masterRel="nextClick" afterEffect="1"/>
                                        <p:tgtEl>
                                          <p:spTgt spid="41574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F6C706-4DE2-407D-B913-AD7EC68044CC}"/>
              </a:ext>
            </a:extLst>
          </p:cNvPr>
          <p:cNvSpPr>
            <a:spLocks noGrp="1"/>
          </p:cNvSpPr>
          <p:nvPr>
            <p:ph sz="quarter" idx="1"/>
          </p:nvPr>
        </p:nvSpPr>
        <p:spPr/>
        <p:txBody>
          <a:bodyPr>
            <a:normAutofit fontScale="92500"/>
          </a:bodyPr>
          <a:lstStyle/>
          <a:p>
            <a:pPr>
              <a:spcBef>
                <a:spcPct val="50000"/>
              </a:spcBef>
              <a:buClr>
                <a:schemeClr val="folHlink"/>
              </a:buClr>
              <a:buSzPct val="70000"/>
              <a:buNone/>
            </a:pPr>
            <a:r>
              <a:rPr lang="en-US" altLang="en-US" sz="2800" b="1" dirty="0">
                <a:latin typeface="Arial" panose="020B0604020202020204" pitchFamily="34" charset="0"/>
                <a:cs typeface="Arial" panose="020B0604020202020204" pitchFamily="34" charset="0"/>
              </a:rPr>
              <a:t>Advantages to Pipelined Sub-ranging A/D converters</a:t>
            </a:r>
            <a:endParaRPr lang="en-US" altLang="en-US" sz="3200" b="1" dirty="0">
              <a:latin typeface="Arial" panose="020B0604020202020204" pitchFamily="34" charset="0"/>
              <a:cs typeface="Arial" panose="020B0604020202020204" pitchFamily="34" charset="0"/>
            </a:endParaRPr>
          </a:p>
          <a:p>
            <a:pPr lvl="1">
              <a:spcBef>
                <a:spcPct val="50000"/>
              </a:spcBef>
              <a:buClr>
                <a:schemeClr val="folHlink"/>
              </a:buClr>
              <a:buSzPct val="70000"/>
              <a:buFontTx/>
              <a:buChar char="•"/>
            </a:pPr>
            <a:r>
              <a:rPr lang="en-US" altLang="en-US" sz="2400" dirty="0">
                <a:latin typeface="Arial" panose="020B0604020202020204" pitchFamily="34" charset="0"/>
                <a:cs typeface="Arial" panose="020B0604020202020204" pitchFamily="34" charset="0"/>
              </a:rPr>
              <a:t>Higher resolutions at high-speeds </a:t>
            </a:r>
          </a:p>
          <a:p>
            <a:pPr lvl="1">
              <a:spcBef>
                <a:spcPct val="50000"/>
              </a:spcBef>
              <a:buClr>
                <a:schemeClr val="folHlink"/>
              </a:buClr>
              <a:buSzPct val="70000"/>
              <a:buFontTx/>
              <a:buChar char="•"/>
            </a:pPr>
            <a:r>
              <a:rPr lang="en-US" altLang="en-US" sz="2400" dirty="0">
                <a:latin typeface="Arial" panose="020B0604020202020204" pitchFamily="34" charset="0"/>
                <a:cs typeface="Arial" panose="020B0604020202020204" pitchFamily="34" charset="0"/>
              </a:rPr>
              <a:t>Digitize wideband inputs</a:t>
            </a:r>
          </a:p>
          <a:p>
            <a:pPr>
              <a:spcBef>
                <a:spcPct val="50000"/>
              </a:spcBef>
              <a:buClr>
                <a:schemeClr val="folHlink"/>
              </a:buClr>
              <a:buSzPct val="70000"/>
              <a:buFontTx/>
              <a:buChar char="•"/>
            </a:pPr>
            <a:r>
              <a:rPr lang="en-US" altLang="en-US" sz="2800" b="1" dirty="0">
                <a:latin typeface="Arial" panose="020B0604020202020204" pitchFamily="34" charset="0"/>
                <a:cs typeface="Arial" panose="020B0604020202020204" pitchFamily="34" charset="0"/>
              </a:rPr>
              <a:t>Tradeoffs to pipelined sub-ranging A/D converters</a:t>
            </a:r>
            <a:endParaRPr lang="en-US" altLang="en-US" sz="3200" b="1" dirty="0">
              <a:latin typeface="Arial" panose="020B0604020202020204" pitchFamily="34" charset="0"/>
              <a:cs typeface="Arial" panose="020B0604020202020204" pitchFamily="34" charset="0"/>
            </a:endParaRPr>
          </a:p>
          <a:p>
            <a:pPr lvl="1">
              <a:spcBef>
                <a:spcPct val="50000"/>
              </a:spcBef>
              <a:buClr>
                <a:schemeClr val="folHlink"/>
              </a:buClr>
              <a:buSzPct val="70000"/>
              <a:buFontTx/>
              <a:buChar char="•"/>
            </a:pPr>
            <a:r>
              <a:rPr lang="en-US" altLang="en-US" sz="2400" dirty="0">
                <a:latin typeface="Arial" panose="020B0604020202020204" pitchFamily="34" charset="0"/>
                <a:cs typeface="Arial" panose="020B0604020202020204" pitchFamily="34" charset="0"/>
              </a:rPr>
              <a:t>Higher power dissipation</a:t>
            </a:r>
          </a:p>
          <a:p>
            <a:pPr lvl="1">
              <a:spcBef>
                <a:spcPct val="50000"/>
              </a:spcBef>
              <a:buClr>
                <a:schemeClr val="folHlink"/>
              </a:buClr>
              <a:buSzPct val="70000"/>
              <a:buFontTx/>
              <a:buChar char="•"/>
            </a:pPr>
            <a:r>
              <a:rPr lang="en-US" altLang="en-US" sz="2400" dirty="0">
                <a:latin typeface="Arial" panose="020B0604020202020204" pitchFamily="34" charset="0"/>
                <a:cs typeface="Arial" panose="020B0604020202020204" pitchFamily="34" charset="0"/>
              </a:rPr>
              <a:t>Larger die size</a:t>
            </a:r>
          </a:p>
          <a:p>
            <a:pPr>
              <a:spcBef>
                <a:spcPct val="50000"/>
              </a:spcBef>
              <a:buClr>
                <a:schemeClr val="folHlink"/>
              </a:buClr>
              <a:buSzPct val="70000"/>
              <a:buNone/>
            </a:pPr>
            <a:r>
              <a:rPr lang="en-US" altLang="en-US" sz="2800" b="1" dirty="0">
                <a:latin typeface="Arial" panose="020B0604020202020204" pitchFamily="34" charset="0"/>
                <a:cs typeface="Arial" panose="020B0604020202020204" pitchFamily="34" charset="0"/>
              </a:rPr>
              <a:t>Typical Applications</a:t>
            </a:r>
          </a:p>
          <a:p>
            <a:pPr lvl="1">
              <a:spcBef>
                <a:spcPct val="50000"/>
              </a:spcBef>
              <a:buClr>
                <a:schemeClr val="folHlink"/>
              </a:buClr>
              <a:buSzPct val="70000"/>
              <a:buFontTx/>
              <a:buChar char="•"/>
            </a:pPr>
            <a:r>
              <a:rPr lang="en-US" altLang="en-US" sz="2400" dirty="0">
                <a:latin typeface="Arial" panose="020B0604020202020204" pitchFamily="34" charset="0"/>
                <a:cs typeface="Arial" panose="020B0604020202020204" pitchFamily="34" charset="0"/>
              </a:rPr>
              <a:t>Communications</a:t>
            </a:r>
          </a:p>
          <a:p>
            <a:pPr lvl="1">
              <a:spcBef>
                <a:spcPct val="50000"/>
              </a:spcBef>
              <a:buClr>
                <a:schemeClr val="folHlink"/>
              </a:buClr>
              <a:buSzPct val="70000"/>
              <a:buFontTx/>
              <a:buChar char="•"/>
            </a:pPr>
            <a:r>
              <a:rPr lang="en-US" altLang="en-US" sz="2400" dirty="0">
                <a:latin typeface="Arial" panose="020B0604020202020204" pitchFamily="34" charset="0"/>
                <a:cs typeface="Arial" panose="020B0604020202020204" pitchFamily="34" charset="0"/>
              </a:rPr>
              <a:t>Medical imaging</a:t>
            </a:r>
          </a:p>
          <a:p>
            <a:pPr lvl="1">
              <a:spcBef>
                <a:spcPct val="50000"/>
              </a:spcBef>
              <a:buClr>
                <a:schemeClr val="folHlink"/>
              </a:buClr>
              <a:buSzPct val="70000"/>
              <a:buFontTx/>
              <a:buChar char="•"/>
            </a:pPr>
            <a:r>
              <a:rPr lang="en-US" altLang="en-US" sz="2400" dirty="0">
                <a:latin typeface="Arial" panose="020B0604020202020204" pitchFamily="34" charset="0"/>
                <a:cs typeface="Arial" panose="020B0604020202020204" pitchFamily="34" charset="0"/>
              </a:rPr>
              <a:t>Radar</a:t>
            </a:r>
          </a:p>
        </p:txBody>
      </p:sp>
      <p:sp>
        <p:nvSpPr>
          <p:cNvPr id="87042" name="Rectangle 3">
            <a:extLst>
              <a:ext uri="{FF2B5EF4-FFF2-40B4-BE49-F238E27FC236}">
                <a16:creationId xmlns:a16="http://schemas.microsoft.com/office/drawing/2014/main" id="{F11172D1-5E04-4FAF-8C95-C35A74E6EFDB}"/>
              </a:ext>
            </a:extLst>
          </p:cNvPr>
          <p:cNvSpPr>
            <a:spLocks noGrp="1" noChangeArrowheads="1"/>
          </p:cNvSpPr>
          <p:nvPr>
            <p:ph type="title"/>
          </p:nvPr>
        </p:nvSpPr>
        <p:spPr/>
        <p:txBody>
          <a:bodyPr/>
          <a:lstStyle/>
          <a:p>
            <a:r>
              <a:rPr lang="en-US" altLang="en-US"/>
              <a:t>Pipelined Sub-ranging ADC</a:t>
            </a:r>
          </a:p>
        </p:txBody>
      </p:sp>
      <p:sp>
        <p:nvSpPr>
          <p:cNvPr id="3" name="Slide Number Placeholder 2">
            <a:extLst>
              <a:ext uri="{FF2B5EF4-FFF2-40B4-BE49-F238E27FC236}">
                <a16:creationId xmlns:a16="http://schemas.microsoft.com/office/drawing/2014/main" id="{27915441-0525-4E62-9BF2-DA15EA4FAC6D}"/>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67</a:t>
            </a:fld>
            <a:endParaRPr lang="en-US" dirty="0"/>
          </a:p>
        </p:txBody>
      </p:sp>
      <p:sp>
        <p:nvSpPr>
          <p:cNvPr id="4" name="Date Placeholder 3">
            <a:extLst>
              <a:ext uri="{FF2B5EF4-FFF2-40B4-BE49-F238E27FC236}">
                <a16:creationId xmlns:a16="http://schemas.microsoft.com/office/drawing/2014/main" id="{8B51C77C-D37D-4EC8-8B08-D754E1FFD978}"/>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5" name="Footer Placeholder 4">
            <a:extLst>
              <a:ext uri="{FF2B5EF4-FFF2-40B4-BE49-F238E27FC236}">
                <a16:creationId xmlns:a16="http://schemas.microsoft.com/office/drawing/2014/main" id="{778F9CC3-EBCA-4097-933F-2E40EFDB1A94}"/>
              </a:ext>
            </a:extLst>
          </p:cNvPr>
          <p:cNvSpPr>
            <a:spLocks noGrp="1"/>
          </p:cNvSpPr>
          <p:nvPr>
            <p:ph type="ftr" sz="quarter" idx="11"/>
          </p:nvPr>
        </p:nvSpPr>
        <p:spPr/>
        <p:txBody>
          <a:bodyPr/>
          <a:lstStyle/>
          <a:p>
            <a:r>
              <a:rPr lang="en-US"/>
              <a:t>DN, 2020</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0533EC-E9FA-47A7-93B6-DCDAD299563D}"/>
              </a:ext>
            </a:extLst>
          </p:cNvPr>
          <p:cNvSpPr>
            <a:spLocks noGrp="1"/>
          </p:cNvSpPr>
          <p:nvPr>
            <p:ph type="title"/>
          </p:nvPr>
        </p:nvSpPr>
        <p:spPr/>
        <p:txBody>
          <a:bodyPr/>
          <a:lstStyle/>
          <a:p>
            <a:r>
              <a:rPr lang="en-IE" altLang="en-US" dirty="0"/>
              <a:t>Analog Input Signal Definitions</a:t>
            </a:r>
            <a:endParaRPr lang="en-GB" dirty="0"/>
          </a:p>
        </p:txBody>
      </p:sp>
      <p:sp>
        <p:nvSpPr>
          <p:cNvPr id="4" name="Slide Number Placeholder 3">
            <a:extLst>
              <a:ext uri="{FF2B5EF4-FFF2-40B4-BE49-F238E27FC236}">
                <a16:creationId xmlns:a16="http://schemas.microsoft.com/office/drawing/2014/main" id="{98E0B20D-4593-46D4-AFC3-B366F663AD32}"/>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68</a:t>
            </a:fld>
            <a:endParaRPr lang="en-US" dirty="0"/>
          </a:p>
        </p:txBody>
      </p:sp>
      <p:pic>
        <p:nvPicPr>
          <p:cNvPr id="30723" name="Picture 4" descr="signal-definitions for presentation">
            <a:extLst>
              <a:ext uri="{FF2B5EF4-FFF2-40B4-BE49-F238E27FC236}">
                <a16:creationId xmlns:a16="http://schemas.microsoft.com/office/drawing/2014/main" id="{614C02CF-624D-49B6-96A0-4CF0E06AC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1206" y="1752600"/>
            <a:ext cx="4809281" cy="5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a:extLst>
              <a:ext uri="{FF2B5EF4-FFF2-40B4-BE49-F238E27FC236}">
                <a16:creationId xmlns:a16="http://schemas.microsoft.com/office/drawing/2014/main" id="{52470CF1-E0A6-4E9A-804D-A36E741C6F6A}"/>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BDC22516-69A0-460C-93E2-C78F727E5272}"/>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940533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1A9D354-2E61-4D09-BC7E-7753DCE4B8FA}"/>
              </a:ext>
            </a:extLst>
          </p:cNvPr>
          <p:cNvGrpSpPr/>
          <p:nvPr/>
        </p:nvGrpSpPr>
        <p:grpSpPr>
          <a:xfrm>
            <a:off x="739832" y="1738672"/>
            <a:ext cx="8572029" cy="5378011"/>
            <a:chOff x="564039" y="1708589"/>
            <a:chExt cx="8572029" cy="5378011"/>
          </a:xfrm>
        </p:grpSpPr>
        <p:sp>
          <p:nvSpPr>
            <p:cNvPr id="32771" name="Line 5">
              <a:extLst>
                <a:ext uri="{FF2B5EF4-FFF2-40B4-BE49-F238E27FC236}">
                  <a16:creationId xmlns:a16="http://schemas.microsoft.com/office/drawing/2014/main" id="{05744C34-90C0-4DE6-A3A6-000938EACF70}"/>
                </a:ext>
              </a:extLst>
            </p:cNvPr>
            <p:cNvSpPr>
              <a:spLocks noChangeShapeType="1"/>
            </p:cNvSpPr>
            <p:nvPr/>
          </p:nvSpPr>
          <p:spPr bwMode="auto">
            <a:xfrm flipV="1">
              <a:off x="988377" y="4102697"/>
              <a:ext cx="2158365" cy="698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2" name="Line 6">
              <a:extLst>
                <a:ext uri="{FF2B5EF4-FFF2-40B4-BE49-F238E27FC236}">
                  <a16:creationId xmlns:a16="http://schemas.microsoft.com/office/drawing/2014/main" id="{092BBC4E-0B16-4060-A40A-B19F3083BB68}"/>
                </a:ext>
              </a:extLst>
            </p:cNvPr>
            <p:cNvSpPr>
              <a:spLocks noChangeShapeType="1"/>
            </p:cNvSpPr>
            <p:nvPr/>
          </p:nvSpPr>
          <p:spPr bwMode="auto">
            <a:xfrm flipV="1">
              <a:off x="988377" y="2077047"/>
              <a:ext cx="0" cy="202215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3" name="Line 7">
              <a:extLst>
                <a:ext uri="{FF2B5EF4-FFF2-40B4-BE49-F238E27FC236}">
                  <a16:creationId xmlns:a16="http://schemas.microsoft.com/office/drawing/2014/main" id="{4EAFBA28-6B81-4A1E-816A-F9A9CDE01399}"/>
                </a:ext>
              </a:extLst>
            </p:cNvPr>
            <p:cNvSpPr>
              <a:spLocks noChangeShapeType="1"/>
            </p:cNvSpPr>
            <p:nvPr/>
          </p:nvSpPr>
          <p:spPr bwMode="auto">
            <a:xfrm flipH="1" flipV="1">
              <a:off x="3799840" y="2014182"/>
              <a:ext cx="3493" cy="208502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4" name="Line 8">
              <a:extLst>
                <a:ext uri="{FF2B5EF4-FFF2-40B4-BE49-F238E27FC236}">
                  <a16:creationId xmlns:a16="http://schemas.microsoft.com/office/drawing/2014/main" id="{9CCE3043-FD78-40D3-BADD-2D66D66259F7}"/>
                </a:ext>
              </a:extLst>
            </p:cNvPr>
            <p:cNvSpPr>
              <a:spLocks noChangeShapeType="1"/>
            </p:cNvSpPr>
            <p:nvPr/>
          </p:nvSpPr>
          <p:spPr bwMode="auto">
            <a:xfrm flipH="1">
              <a:off x="3799840" y="4076504"/>
              <a:ext cx="3493" cy="19715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5" name="Line 9">
              <a:extLst>
                <a:ext uri="{FF2B5EF4-FFF2-40B4-BE49-F238E27FC236}">
                  <a16:creationId xmlns:a16="http://schemas.microsoft.com/office/drawing/2014/main" id="{295E8EE9-A9A5-4BB1-BA03-93322832BE79}"/>
                </a:ext>
              </a:extLst>
            </p:cNvPr>
            <p:cNvSpPr>
              <a:spLocks noChangeShapeType="1"/>
            </p:cNvSpPr>
            <p:nvPr/>
          </p:nvSpPr>
          <p:spPr bwMode="auto">
            <a:xfrm flipV="1">
              <a:off x="6600825" y="2031644"/>
              <a:ext cx="0" cy="201342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6" name="Line 10">
              <a:extLst>
                <a:ext uri="{FF2B5EF4-FFF2-40B4-BE49-F238E27FC236}">
                  <a16:creationId xmlns:a16="http://schemas.microsoft.com/office/drawing/2014/main" id="{E191CF5E-4E9E-4F96-B916-4E8FCC265D9D}"/>
                </a:ext>
              </a:extLst>
            </p:cNvPr>
            <p:cNvSpPr>
              <a:spLocks noChangeShapeType="1"/>
            </p:cNvSpPr>
            <p:nvPr/>
          </p:nvSpPr>
          <p:spPr bwMode="auto">
            <a:xfrm>
              <a:off x="6600825" y="4053802"/>
              <a:ext cx="0" cy="197326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7" name="Line 11">
              <a:extLst>
                <a:ext uri="{FF2B5EF4-FFF2-40B4-BE49-F238E27FC236}">
                  <a16:creationId xmlns:a16="http://schemas.microsoft.com/office/drawing/2014/main" id="{7CD8634A-A946-4F30-86ED-DE4085EBBD03}"/>
                </a:ext>
              </a:extLst>
            </p:cNvPr>
            <p:cNvSpPr>
              <a:spLocks noChangeShapeType="1"/>
            </p:cNvSpPr>
            <p:nvPr/>
          </p:nvSpPr>
          <p:spPr bwMode="auto">
            <a:xfrm flipV="1">
              <a:off x="3810317" y="4059041"/>
              <a:ext cx="2160112" cy="698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8" name="Line 12">
              <a:extLst>
                <a:ext uri="{FF2B5EF4-FFF2-40B4-BE49-F238E27FC236}">
                  <a16:creationId xmlns:a16="http://schemas.microsoft.com/office/drawing/2014/main" id="{5CF4DD66-F538-43BB-A07E-295857417B22}"/>
                </a:ext>
              </a:extLst>
            </p:cNvPr>
            <p:cNvSpPr>
              <a:spLocks noChangeShapeType="1"/>
            </p:cNvSpPr>
            <p:nvPr/>
          </p:nvSpPr>
          <p:spPr bwMode="auto">
            <a:xfrm flipV="1">
              <a:off x="6618287" y="4045071"/>
              <a:ext cx="2160112" cy="523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79" name="Line 13">
              <a:extLst>
                <a:ext uri="{FF2B5EF4-FFF2-40B4-BE49-F238E27FC236}">
                  <a16:creationId xmlns:a16="http://schemas.microsoft.com/office/drawing/2014/main" id="{BDC22998-0641-491F-A563-6DCA4B0493A3}"/>
                </a:ext>
              </a:extLst>
            </p:cNvPr>
            <p:cNvSpPr>
              <a:spLocks noChangeShapeType="1"/>
            </p:cNvSpPr>
            <p:nvPr/>
          </p:nvSpPr>
          <p:spPr bwMode="auto">
            <a:xfrm flipV="1">
              <a:off x="998855" y="2015929"/>
              <a:ext cx="2175828" cy="20867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80" name="Line 14">
              <a:extLst>
                <a:ext uri="{FF2B5EF4-FFF2-40B4-BE49-F238E27FC236}">
                  <a16:creationId xmlns:a16="http://schemas.microsoft.com/office/drawing/2014/main" id="{4A77AAC0-1FF2-4433-84FF-9D95281A22D3}"/>
                </a:ext>
              </a:extLst>
            </p:cNvPr>
            <p:cNvSpPr>
              <a:spLocks noChangeShapeType="1"/>
            </p:cNvSpPr>
            <p:nvPr/>
          </p:nvSpPr>
          <p:spPr bwMode="auto">
            <a:xfrm flipH="1">
              <a:off x="3810317" y="2045614"/>
              <a:ext cx="2202022" cy="39971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81" name="Line 15">
              <a:extLst>
                <a:ext uri="{FF2B5EF4-FFF2-40B4-BE49-F238E27FC236}">
                  <a16:creationId xmlns:a16="http://schemas.microsoft.com/office/drawing/2014/main" id="{9B60ADAA-EAD6-4547-8D39-3DC1C7C63FC1}"/>
                </a:ext>
              </a:extLst>
            </p:cNvPr>
            <p:cNvSpPr>
              <a:spLocks noChangeShapeType="1"/>
            </p:cNvSpPr>
            <p:nvPr/>
          </p:nvSpPr>
          <p:spPr bwMode="auto">
            <a:xfrm flipH="1">
              <a:off x="6600825" y="2056092"/>
              <a:ext cx="1093153" cy="197151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82" name="Line 16">
              <a:extLst>
                <a:ext uri="{FF2B5EF4-FFF2-40B4-BE49-F238E27FC236}">
                  <a16:creationId xmlns:a16="http://schemas.microsoft.com/office/drawing/2014/main" id="{9D344B7D-8534-4968-9D95-F7104FE21BDD}"/>
                </a:ext>
              </a:extLst>
            </p:cNvPr>
            <p:cNvSpPr>
              <a:spLocks noChangeShapeType="1"/>
            </p:cNvSpPr>
            <p:nvPr/>
          </p:nvSpPr>
          <p:spPr bwMode="auto">
            <a:xfrm flipH="1">
              <a:off x="7690485" y="4062534"/>
              <a:ext cx="1098392" cy="196627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83" name="Line 17">
              <a:extLst>
                <a:ext uri="{FF2B5EF4-FFF2-40B4-BE49-F238E27FC236}">
                  <a16:creationId xmlns:a16="http://schemas.microsoft.com/office/drawing/2014/main" id="{4937BC6D-17C3-42C9-AA0B-BE159BA12B9D}"/>
                </a:ext>
              </a:extLst>
            </p:cNvPr>
            <p:cNvSpPr>
              <a:spLocks noChangeShapeType="1"/>
            </p:cNvSpPr>
            <p:nvPr/>
          </p:nvSpPr>
          <p:spPr bwMode="auto">
            <a:xfrm flipH="1" flipV="1">
              <a:off x="4952365" y="4162070"/>
              <a:ext cx="281147" cy="41036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784" name="Rectangle 18">
              <a:extLst>
                <a:ext uri="{FF2B5EF4-FFF2-40B4-BE49-F238E27FC236}">
                  <a16:creationId xmlns:a16="http://schemas.microsoft.com/office/drawing/2014/main" id="{BA0961EA-FDA6-41C5-B198-09F17FCDB0E8}"/>
                </a:ext>
              </a:extLst>
            </p:cNvPr>
            <p:cNvSpPr>
              <a:spLocks noChangeArrowheads="1"/>
            </p:cNvSpPr>
            <p:nvPr/>
          </p:nvSpPr>
          <p:spPr bwMode="auto">
            <a:xfrm>
              <a:off x="619919" y="3912357"/>
              <a:ext cx="32156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0</a:t>
              </a:r>
            </a:p>
          </p:txBody>
        </p:sp>
        <p:sp>
          <p:nvSpPr>
            <p:cNvPr id="32785" name="Rectangle 19">
              <a:extLst>
                <a:ext uri="{FF2B5EF4-FFF2-40B4-BE49-F238E27FC236}">
                  <a16:creationId xmlns:a16="http://schemas.microsoft.com/office/drawing/2014/main" id="{7ECB5D07-64D3-43C0-BC7F-1AEF14E96660}"/>
                </a:ext>
              </a:extLst>
            </p:cNvPr>
            <p:cNvSpPr>
              <a:spLocks noChangeArrowheads="1"/>
            </p:cNvSpPr>
            <p:nvPr/>
          </p:nvSpPr>
          <p:spPr bwMode="auto">
            <a:xfrm>
              <a:off x="3487262" y="3942043"/>
              <a:ext cx="32156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0</a:t>
              </a:r>
            </a:p>
          </p:txBody>
        </p:sp>
        <p:sp>
          <p:nvSpPr>
            <p:cNvPr id="32786" name="Rectangle 20">
              <a:extLst>
                <a:ext uri="{FF2B5EF4-FFF2-40B4-BE49-F238E27FC236}">
                  <a16:creationId xmlns:a16="http://schemas.microsoft.com/office/drawing/2014/main" id="{195BE237-465E-4214-8030-FC45F1382958}"/>
                </a:ext>
              </a:extLst>
            </p:cNvPr>
            <p:cNvSpPr>
              <a:spLocks noChangeArrowheads="1"/>
            </p:cNvSpPr>
            <p:nvPr/>
          </p:nvSpPr>
          <p:spPr bwMode="auto">
            <a:xfrm>
              <a:off x="6296977" y="3926327"/>
              <a:ext cx="32156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0</a:t>
              </a:r>
            </a:p>
          </p:txBody>
        </p:sp>
        <p:sp>
          <p:nvSpPr>
            <p:cNvPr id="32787" name="Rectangle 21">
              <a:extLst>
                <a:ext uri="{FF2B5EF4-FFF2-40B4-BE49-F238E27FC236}">
                  <a16:creationId xmlns:a16="http://schemas.microsoft.com/office/drawing/2014/main" id="{7CEB8824-5D81-4649-BD15-F52C9E8825C3}"/>
                </a:ext>
              </a:extLst>
            </p:cNvPr>
            <p:cNvSpPr>
              <a:spLocks noChangeArrowheads="1"/>
            </p:cNvSpPr>
            <p:nvPr/>
          </p:nvSpPr>
          <p:spPr bwMode="auto">
            <a:xfrm>
              <a:off x="564039" y="1722559"/>
              <a:ext cx="1204818"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FS - 1LSB</a:t>
              </a:r>
            </a:p>
          </p:txBody>
        </p:sp>
        <p:sp>
          <p:nvSpPr>
            <p:cNvPr id="32788" name="Rectangle 22">
              <a:extLst>
                <a:ext uri="{FF2B5EF4-FFF2-40B4-BE49-F238E27FC236}">
                  <a16:creationId xmlns:a16="http://schemas.microsoft.com/office/drawing/2014/main" id="{611E280C-8D23-4441-B09D-230DF0EA255D}"/>
                </a:ext>
              </a:extLst>
            </p:cNvPr>
            <p:cNvSpPr>
              <a:spLocks noChangeArrowheads="1"/>
            </p:cNvSpPr>
            <p:nvPr/>
          </p:nvSpPr>
          <p:spPr bwMode="auto">
            <a:xfrm>
              <a:off x="3358039" y="1708589"/>
              <a:ext cx="1204818"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FS - 1LSB</a:t>
              </a:r>
            </a:p>
          </p:txBody>
        </p:sp>
        <p:sp>
          <p:nvSpPr>
            <p:cNvPr id="32789" name="Rectangle 23">
              <a:extLst>
                <a:ext uri="{FF2B5EF4-FFF2-40B4-BE49-F238E27FC236}">
                  <a16:creationId xmlns:a16="http://schemas.microsoft.com/office/drawing/2014/main" id="{6E2287FC-430A-483E-8A79-BC3E6F903465}"/>
                </a:ext>
              </a:extLst>
            </p:cNvPr>
            <p:cNvSpPr>
              <a:spLocks noChangeArrowheads="1"/>
            </p:cNvSpPr>
            <p:nvPr/>
          </p:nvSpPr>
          <p:spPr bwMode="auto">
            <a:xfrm>
              <a:off x="6129338" y="1715574"/>
              <a:ext cx="1204818"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FS - 1LSB</a:t>
              </a:r>
            </a:p>
          </p:txBody>
        </p:sp>
        <p:sp>
          <p:nvSpPr>
            <p:cNvPr id="32790" name="Rectangle 24">
              <a:extLst>
                <a:ext uri="{FF2B5EF4-FFF2-40B4-BE49-F238E27FC236}">
                  <a16:creationId xmlns:a16="http://schemas.microsoft.com/office/drawing/2014/main" id="{CB5ACD67-CCB4-4620-AAEE-658DD89D6032}"/>
                </a:ext>
              </a:extLst>
            </p:cNvPr>
            <p:cNvSpPr>
              <a:spLocks noChangeArrowheads="1"/>
            </p:cNvSpPr>
            <p:nvPr/>
          </p:nvSpPr>
          <p:spPr bwMode="auto">
            <a:xfrm>
              <a:off x="2830672" y="4217950"/>
              <a:ext cx="616516"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ALL</a:t>
              </a:r>
            </a:p>
          </p:txBody>
        </p:sp>
        <p:sp>
          <p:nvSpPr>
            <p:cNvPr id="32791" name="Rectangle 25">
              <a:extLst>
                <a:ext uri="{FF2B5EF4-FFF2-40B4-BE49-F238E27FC236}">
                  <a16:creationId xmlns:a16="http://schemas.microsoft.com/office/drawing/2014/main" id="{7B7F259D-EA2E-4D0C-AD14-1067B8DEF237}"/>
                </a:ext>
              </a:extLst>
            </p:cNvPr>
            <p:cNvSpPr>
              <a:spLocks noChangeArrowheads="1"/>
            </p:cNvSpPr>
            <p:nvPr/>
          </p:nvSpPr>
          <p:spPr bwMode="auto">
            <a:xfrm>
              <a:off x="2818448" y="4455440"/>
              <a:ext cx="640561"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"1"s</a:t>
              </a:r>
            </a:p>
          </p:txBody>
        </p:sp>
        <p:sp>
          <p:nvSpPr>
            <p:cNvPr id="32792" name="Rectangle 26">
              <a:extLst>
                <a:ext uri="{FF2B5EF4-FFF2-40B4-BE49-F238E27FC236}">
                  <a16:creationId xmlns:a16="http://schemas.microsoft.com/office/drawing/2014/main" id="{37A9047C-320A-4BC4-81C3-78625CEA0830}"/>
                </a:ext>
              </a:extLst>
            </p:cNvPr>
            <p:cNvSpPr>
              <a:spLocks noChangeArrowheads="1"/>
            </p:cNvSpPr>
            <p:nvPr/>
          </p:nvSpPr>
          <p:spPr bwMode="auto">
            <a:xfrm>
              <a:off x="4529772" y="4558469"/>
              <a:ext cx="180889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1 AND ALL "0"S</a:t>
              </a:r>
            </a:p>
          </p:txBody>
        </p:sp>
        <p:sp>
          <p:nvSpPr>
            <p:cNvPr id="32793" name="Rectangle 27">
              <a:extLst>
                <a:ext uri="{FF2B5EF4-FFF2-40B4-BE49-F238E27FC236}">
                  <a16:creationId xmlns:a16="http://schemas.microsoft.com/office/drawing/2014/main" id="{B19F06EB-B6D6-400C-A89A-F359299673E0}"/>
                </a:ext>
              </a:extLst>
            </p:cNvPr>
            <p:cNvSpPr>
              <a:spLocks noChangeArrowheads="1"/>
            </p:cNvSpPr>
            <p:nvPr/>
          </p:nvSpPr>
          <p:spPr bwMode="auto">
            <a:xfrm>
              <a:off x="8505985" y="4144608"/>
              <a:ext cx="616516"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ALL</a:t>
              </a:r>
            </a:p>
          </p:txBody>
        </p:sp>
        <p:sp>
          <p:nvSpPr>
            <p:cNvPr id="32794" name="Rectangle 28">
              <a:extLst>
                <a:ext uri="{FF2B5EF4-FFF2-40B4-BE49-F238E27FC236}">
                  <a16:creationId xmlns:a16="http://schemas.microsoft.com/office/drawing/2014/main" id="{17F4CB44-D593-41E4-B539-020461110AF7}"/>
                </a:ext>
              </a:extLst>
            </p:cNvPr>
            <p:cNvSpPr>
              <a:spLocks noChangeArrowheads="1"/>
            </p:cNvSpPr>
            <p:nvPr/>
          </p:nvSpPr>
          <p:spPr bwMode="auto">
            <a:xfrm>
              <a:off x="8495507" y="4382098"/>
              <a:ext cx="640561"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"1"s</a:t>
              </a:r>
            </a:p>
          </p:txBody>
        </p:sp>
        <p:sp>
          <p:nvSpPr>
            <p:cNvPr id="32795" name="Rectangle 29">
              <a:extLst>
                <a:ext uri="{FF2B5EF4-FFF2-40B4-BE49-F238E27FC236}">
                  <a16:creationId xmlns:a16="http://schemas.microsoft.com/office/drawing/2014/main" id="{1A5487E5-57F8-40CC-AC5E-F1223EF1F7D6}"/>
                </a:ext>
              </a:extLst>
            </p:cNvPr>
            <p:cNvSpPr>
              <a:spLocks noChangeArrowheads="1"/>
            </p:cNvSpPr>
            <p:nvPr/>
          </p:nvSpPr>
          <p:spPr bwMode="auto">
            <a:xfrm>
              <a:off x="1065213" y="6662700"/>
              <a:ext cx="1605569"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UNIPOLAR</a:t>
              </a:r>
            </a:p>
          </p:txBody>
        </p:sp>
        <p:sp>
          <p:nvSpPr>
            <p:cNvPr id="32796" name="Rectangle 30">
              <a:extLst>
                <a:ext uri="{FF2B5EF4-FFF2-40B4-BE49-F238E27FC236}">
                  <a16:creationId xmlns:a16="http://schemas.microsoft.com/office/drawing/2014/main" id="{CCDED367-70DF-4D0D-A564-B2E46B275A94}"/>
                </a:ext>
              </a:extLst>
            </p:cNvPr>
            <p:cNvSpPr>
              <a:spLocks noChangeArrowheads="1"/>
            </p:cNvSpPr>
            <p:nvPr/>
          </p:nvSpPr>
          <p:spPr bwMode="auto">
            <a:xfrm>
              <a:off x="3478530" y="6659207"/>
              <a:ext cx="2355454"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OFFSET BINARY</a:t>
              </a:r>
            </a:p>
          </p:txBody>
        </p:sp>
        <p:sp>
          <p:nvSpPr>
            <p:cNvPr id="32797" name="Rectangle 31">
              <a:extLst>
                <a:ext uri="{FF2B5EF4-FFF2-40B4-BE49-F238E27FC236}">
                  <a16:creationId xmlns:a16="http://schemas.microsoft.com/office/drawing/2014/main" id="{5A3DA75B-8D27-487A-B25D-789CEA3520E0}"/>
                </a:ext>
              </a:extLst>
            </p:cNvPr>
            <p:cNvSpPr>
              <a:spLocks noChangeArrowheads="1"/>
            </p:cNvSpPr>
            <p:nvPr/>
          </p:nvSpPr>
          <p:spPr bwMode="auto">
            <a:xfrm>
              <a:off x="6403500" y="6659207"/>
              <a:ext cx="2547814"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2’s COMPLEMENT</a:t>
              </a:r>
            </a:p>
          </p:txBody>
        </p:sp>
        <p:sp>
          <p:nvSpPr>
            <p:cNvPr id="32798" name="Rectangle 33">
              <a:extLst>
                <a:ext uri="{FF2B5EF4-FFF2-40B4-BE49-F238E27FC236}">
                  <a16:creationId xmlns:a16="http://schemas.microsoft.com/office/drawing/2014/main" id="{E1A38B2D-EB6C-436C-8D23-B71ECBEC1129}"/>
                </a:ext>
              </a:extLst>
            </p:cNvPr>
            <p:cNvSpPr>
              <a:spLocks noChangeArrowheads="1"/>
            </p:cNvSpPr>
            <p:nvPr/>
          </p:nvSpPr>
          <p:spPr bwMode="auto">
            <a:xfrm>
              <a:off x="3571082" y="6156288"/>
              <a:ext cx="54598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-FS</a:t>
              </a:r>
            </a:p>
          </p:txBody>
        </p:sp>
        <p:sp>
          <p:nvSpPr>
            <p:cNvPr id="32799" name="Rectangle 34">
              <a:extLst>
                <a:ext uri="{FF2B5EF4-FFF2-40B4-BE49-F238E27FC236}">
                  <a16:creationId xmlns:a16="http://schemas.microsoft.com/office/drawing/2014/main" id="{0F85091B-7AF6-4597-9806-E7DE682CF6A9}"/>
                </a:ext>
              </a:extLst>
            </p:cNvPr>
            <p:cNvSpPr>
              <a:spLocks noChangeArrowheads="1"/>
            </p:cNvSpPr>
            <p:nvPr/>
          </p:nvSpPr>
          <p:spPr bwMode="auto">
            <a:xfrm>
              <a:off x="6080443" y="6095169"/>
              <a:ext cx="141641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-(FS - 1LSB)</a:t>
              </a:r>
            </a:p>
          </p:txBody>
        </p:sp>
        <p:sp>
          <p:nvSpPr>
            <p:cNvPr id="32800" name="Line 35">
              <a:extLst>
                <a:ext uri="{FF2B5EF4-FFF2-40B4-BE49-F238E27FC236}">
                  <a16:creationId xmlns:a16="http://schemas.microsoft.com/office/drawing/2014/main" id="{5228474A-6BE7-4208-A375-E256F2E38B57}"/>
                </a:ext>
              </a:extLst>
            </p:cNvPr>
            <p:cNvSpPr>
              <a:spLocks noChangeShapeType="1"/>
            </p:cNvSpPr>
            <p:nvPr/>
          </p:nvSpPr>
          <p:spPr bwMode="auto">
            <a:xfrm>
              <a:off x="927260" y="2082287"/>
              <a:ext cx="113506" cy="174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801" name="Line 36">
              <a:extLst>
                <a:ext uri="{FF2B5EF4-FFF2-40B4-BE49-F238E27FC236}">
                  <a16:creationId xmlns:a16="http://schemas.microsoft.com/office/drawing/2014/main" id="{0BA6C624-6703-4B6D-AB62-9A65939940D8}"/>
                </a:ext>
              </a:extLst>
            </p:cNvPr>
            <p:cNvSpPr>
              <a:spLocks noChangeShapeType="1"/>
            </p:cNvSpPr>
            <p:nvPr/>
          </p:nvSpPr>
          <p:spPr bwMode="auto">
            <a:xfrm>
              <a:off x="3742215" y="2005452"/>
              <a:ext cx="113506" cy="174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802" name="Line 37">
              <a:extLst>
                <a:ext uri="{FF2B5EF4-FFF2-40B4-BE49-F238E27FC236}">
                  <a16:creationId xmlns:a16="http://schemas.microsoft.com/office/drawing/2014/main" id="{A8F7A4AC-5B78-43A9-AE35-9B4985E44324}"/>
                </a:ext>
              </a:extLst>
            </p:cNvPr>
            <p:cNvSpPr>
              <a:spLocks noChangeShapeType="1"/>
            </p:cNvSpPr>
            <p:nvPr/>
          </p:nvSpPr>
          <p:spPr bwMode="auto">
            <a:xfrm>
              <a:off x="6536215" y="2026407"/>
              <a:ext cx="113506" cy="174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803" name="Line 38">
              <a:extLst>
                <a:ext uri="{FF2B5EF4-FFF2-40B4-BE49-F238E27FC236}">
                  <a16:creationId xmlns:a16="http://schemas.microsoft.com/office/drawing/2014/main" id="{D50D6E09-DBAD-41C9-9FF7-46B84E7E9DD2}"/>
                </a:ext>
              </a:extLst>
            </p:cNvPr>
            <p:cNvSpPr>
              <a:spLocks noChangeShapeType="1"/>
            </p:cNvSpPr>
            <p:nvPr/>
          </p:nvSpPr>
          <p:spPr bwMode="auto">
            <a:xfrm>
              <a:off x="3150235" y="4060787"/>
              <a:ext cx="0" cy="1047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804" name="Line 39">
              <a:extLst>
                <a:ext uri="{FF2B5EF4-FFF2-40B4-BE49-F238E27FC236}">
                  <a16:creationId xmlns:a16="http://schemas.microsoft.com/office/drawing/2014/main" id="{78D72580-3715-4622-A2EB-D066B068295B}"/>
                </a:ext>
              </a:extLst>
            </p:cNvPr>
            <p:cNvSpPr>
              <a:spLocks noChangeShapeType="1"/>
            </p:cNvSpPr>
            <p:nvPr/>
          </p:nvSpPr>
          <p:spPr bwMode="auto">
            <a:xfrm>
              <a:off x="5979160" y="3997922"/>
              <a:ext cx="0" cy="1047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805" name="Line 40">
              <a:extLst>
                <a:ext uri="{FF2B5EF4-FFF2-40B4-BE49-F238E27FC236}">
                  <a16:creationId xmlns:a16="http://schemas.microsoft.com/office/drawing/2014/main" id="{F5E8AD31-1203-4468-8315-D2B4E257C0FF}"/>
                </a:ext>
              </a:extLst>
            </p:cNvPr>
            <p:cNvSpPr>
              <a:spLocks noChangeShapeType="1"/>
            </p:cNvSpPr>
            <p:nvPr/>
          </p:nvSpPr>
          <p:spPr bwMode="auto">
            <a:xfrm>
              <a:off x="8794115" y="3983952"/>
              <a:ext cx="0" cy="1047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806" name="Line 41">
              <a:extLst>
                <a:ext uri="{FF2B5EF4-FFF2-40B4-BE49-F238E27FC236}">
                  <a16:creationId xmlns:a16="http://schemas.microsoft.com/office/drawing/2014/main" id="{D52D2BB6-6C54-417B-B8BC-C9E771A99881}"/>
                </a:ext>
              </a:extLst>
            </p:cNvPr>
            <p:cNvSpPr>
              <a:spLocks noChangeShapeType="1"/>
            </p:cNvSpPr>
            <p:nvPr/>
          </p:nvSpPr>
          <p:spPr bwMode="auto">
            <a:xfrm>
              <a:off x="6550185" y="6035797"/>
              <a:ext cx="113506" cy="174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2807" name="Line 42">
              <a:extLst>
                <a:ext uri="{FF2B5EF4-FFF2-40B4-BE49-F238E27FC236}">
                  <a16:creationId xmlns:a16="http://schemas.microsoft.com/office/drawing/2014/main" id="{66DED001-FD81-4D20-B481-41A204F94308}"/>
                </a:ext>
              </a:extLst>
            </p:cNvPr>
            <p:cNvSpPr>
              <a:spLocks noChangeShapeType="1"/>
            </p:cNvSpPr>
            <p:nvPr/>
          </p:nvSpPr>
          <p:spPr bwMode="auto">
            <a:xfrm>
              <a:off x="3742215" y="6049767"/>
              <a:ext cx="113506" cy="174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sp>
        <p:nvSpPr>
          <p:cNvPr id="3" name="Title 2">
            <a:extLst>
              <a:ext uri="{FF2B5EF4-FFF2-40B4-BE49-F238E27FC236}">
                <a16:creationId xmlns:a16="http://schemas.microsoft.com/office/drawing/2014/main" id="{3728A8D9-6529-4303-BDE4-95C96C99C09E}"/>
              </a:ext>
            </a:extLst>
          </p:cNvPr>
          <p:cNvSpPr>
            <a:spLocks noGrp="1"/>
          </p:cNvSpPr>
          <p:nvPr>
            <p:ph type="title"/>
          </p:nvPr>
        </p:nvSpPr>
        <p:spPr/>
        <p:txBody>
          <a:bodyPr/>
          <a:lstStyle/>
          <a:p>
            <a:r>
              <a:rPr lang="en-GB" dirty="0"/>
              <a:t>Unipolar and Bipolar Converter Codes</a:t>
            </a:r>
          </a:p>
        </p:txBody>
      </p:sp>
      <p:sp>
        <p:nvSpPr>
          <p:cNvPr id="4" name="Slide Number Placeholder 3">
            <a:extLst>
              <a:ext uri="{FF2B5EF4-FFF2-40B4-BE49-F238E27FC236}">
                <a16:creationId xmlns:a16="http://schemas.microsoft.com/office/drawing/2014/main" id="{2FD43F34-DB3B-4B4D-8B0B-3FD7BE22DA66}"/>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69</a:t>
            </a:fld>
            <a:endParaRPr lang="en-US" dirty="0"/>
          </a:p>
        </p:txBody>
      </p:sp>
      <p:sp>
        <p:nvSpPr>
          <p:cNvPr id="6" name="Date Placeholder 5">
            <a:extLst>
              <a:ext uri="{FF2B5EF4-FFF2-40B4-BE49-F238E27FC236}">
                <a16:creationId xmlns:a16="http://schemas.microsoft.com/office/drawing/2014/main" id="{DCF1066C-F147-41E3-ACE0-407CC2AE7339}"/>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E75922CC-8A10-460B-9BEC-E2F64CDD27CF}"/>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41025049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E8EBAC-04B8-4160-99F4-A381C662A2B8}"/>
              </a:ext>
            </a:extLst>
          </p:cNvPr>
          <p:cNvSpPr>
            <a:spLocks noGrp="1"/>
          </p:cNvSpPr>
          <p:nvPr>
            <p:ph type="title"/>
          </p:nvPr>
        </p:nvSpPr>
        <p:spPr/>
        <p:txBody>
          <a:bodyPr/>
          <a:lstStyle/>
          <a:p>
            <a:r>
              <a:rPr lang="en-US" dirty="0"/>
              <a:t>Offset And Gain for Unipolar Ranges</a:t>
            </a:r>
            <a:endParaRPr lang="en-GB" dirty="0"/>
          </a:p>
        </p:txBody>
      </p:sp>
      <p:sp>
        <p:nvSpPr>
          <p:cNvPr id="4" name="Slide Number Placeholder 3">
            <a:extLst>
              <a:ext uri="{FF2B5EF4-FFF2-40B4-BE49-F238E27FC236}">
                <a16:creationId xmlns:a16="http://schemas.microsoft.com/office/drawing/2014/main" id="{C0578A80-FDA9-4F84-A9A8-AB14483F4349}"/>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70</a:t>
            </a:fld>
            <a:endParaRPr lang="en-US" dirty="0"/>
          </a:p>
        </p:txBody>
      </p:sp>
      <p:grpSp>
        <p:nvGrpSpPr>
          <p:cNvPr id="34819" name="Group 5">
            <a:extLst>
              <a:ext uri="{FF2B5EF4-FFF2-40B4-BE49-F238E27FC236}">
                <a16:creationId xmlns:a16="http://schemas.microsoft.com/office/drawing/2014/main" id="{D955402C-4879-4D1B-A5DC-49ABA9288DDF}"/>
              </a:ext>
            </a:extLst>
          </p:cNvPr>
          <p:cNvGrpSpPr>
            <a:grpSpLocks/>
          </p:cNvGrpSpPr>
          <p:nvPr/>
        </p:nvGrpSpPr>
        <p:grpSpPr bwMode="auto">
          <a:xfrm>
            <a:off x="1746251" y="5808822"/>
            <a:ext cx="110014" cy="867886"/>
            <a:chOff x="1144" y="2971"/>
            <a:chExt cx="63" cy="497"/>
          </a:xfrm>
        </p:grpSpPr>
        <p:sp>
          <p:nvSpPr>
            <p:cNvPr id="34855" name="Freeform 6">
              <a:extLst>
                <a:ext uri="{FF2B5EF4-FFF2-40B4-BE49-F238E27FC236}">
                  <a16:creationId xmlns:a16="http://schemas.microsoft.com/office/drawing/2014/main" id="{6C762E15-9CF2-478B-AA05-00A032757441}"/>
                </a:ext>
              </a:extLst>
            </p:cNvPr>
            <p:cNvSpPr>
              <a:spLocks/>
            </p:cNvSpPr>
            <p:nvPr/>
          </p:nvSpPr>
          <p:spPr bwMode="auto">
            <a:xfrm>
              <a:off x="1146" y="2971"/>
              <a:ext cx="61" cy="248"/>
            </a:xfrm>
            <a:custGeom>
              <a:avLst/>
              <a:gdLst>
                <a:gd name="T0" fmla="*/ 60 w 61"/>
                <a:gd name="T1" fmla="*/ 0 h 248"/>
                <a:gd name="T2" fmla="*/ 47 w 61"/>
                <a:gd name="T3" fmla="*/ 18 h 248"/>
                <a:gd name="T4" fmla="*/ 36 w 61"/>
                <a:gd name="T5" fmla="*/ 35 h 248"/>
                <a:gd name="T6" fmla="*/ 26 w 61"/>
                <a:gd name="T7" fmla="*/ 52 h 248"/>
                <a:gd name="T8" fmla="*/ 18 w 61"/>
                <a:gd name="T9" fmla="*/ 68 h 248"/>
                <a:gd name="T10" fmla="*/ 11 w 61"/>
                <a:gd name="T11" fmla="*/ 83 h 248"/>
                <a:gd name="T12" fmla="*/ 6 w 61"/>
                <a:gd name="T13" fmla="*/ 97 h 248"/>
                <a:gd name="T14" fmla="*/ 3 w 61"/>
                <a:gd name="T15" fmla="*/ 111 h 248"/>
                <a:gd name="T16" fmla="*/ 0 w 61"/>
                <a:gd name="T17" fmla="*/ 125 h 248"/>
                <a:gd name="T18" fmla="*/ 1 w 61"/>
                <a:gd name="T19" fmla="*/ 138 h 248"/>
                <a:gd name="T20" fmla="*/ 5 w 61"/>
                <a:gd name="T21" fmla="*/ 150 h 248"/>
                <a:gd name="T22" fmla="*/ 12 w 61"/>
                <a:gd name="T23" fmla="*/ 162 h 248"/>
                <a:gd name="T24" fmla="*/ 19 w 61"/>
                <a:gd name="T25" fmla="*/ 173 h 248"/>
                <a:gd name="T26" fmla="*/ 28 w 61"/>
                <a:gd name="T27" fmla="*/ 184 h 248"/>
                <a:gd name="T28" fmla="*/ 33 w 61"/>
                <a:gd name="T29" fmla="*/ 193 h 248"/>
                <a:gd name="T30" fmla="*/ 40 w 61"/>
                <a:gd name="T31" fmla="*/ 202 h 248"/>
                <a:gd name="T32" fmla="*/ 42 w 61"/>
                <a:gd name="T33" fmla="*/ 210 h 248"/>
                <a:gd name="T34" fmla="*/ 44 w 61"/>
                <a:gd name="T35" fmla="*/ 217 h 248"/>
                <a:gd name="T36" fmla="*/ 42 w 61"/>
                <a:gd name="T37" fmla="*/ 224 h 248"/>
                <a:gd name="T38" fmla="*/ 41 w 61"/>
                <a:gd name="T39" fmla="*/ 229 h 248"/>
                <a:gd name="T40" fmla="*/ 37 w 61"/>
                <a:gd name="T41" fmla="*/ 234 h 248"/>
                <a:gd name="T42" fmla="*/ 33 w 61"/>
                <a:gd name="T43" fmla="*/ 239 h 248"/>
                <a:gd name="T44" fmla="*/ 29 w 61"/>
                <a:gd name="T45" fmla="*/ 242 h 248"/>
                <a:gd name="T46" fmla="*/ 23 w 61"/>
                <a:gd name="T47" fmla="*/ 245 h 248"/>
                <a:gd name="T48" fmla="*/ 16 w 61"/>
                <a:gd name="T49" fmla="*/ 247 h 2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248">
                  <a:moveTo>
                    <a:pt x="60" y="0"/>
                  </a:moveTo>
                  <a:lnTo>
                    <a:pt x="47" y="18"/>
                  </a:lnTo>
                  <a:lnTo>
                    <a:pt x="36" y="35"/>
                  </a:lnTo>
                  <a:lnTo>
                    <a:pt x="26" y="52"/>
                  </a:lnTo>
                  <a:lnTo>
                    <a:pt x="18" y="68"/>
                  </a:lnTo>
                  <a:lnTo>
                    <a:pt x="11" y="83"/>
                  </a:lnTo>
                  <a:lnTo>
                    <a:pt x="6" y="97"/>
                  </a:lnTo>
                  <a:lnTo>
                    <a:pt x="3" y="111"/>
                  </a:lnTo>
                  <a:lnTo>
                    <a:pt x="0" y="125"/>
                  </a:lnTo>
                  <a:lnTo>
                    <a:pt x="1" y="138"/>
                  </a:lnTo>
                  <a:lnTo>
                    <a:pt x="5" y="150"/>
                  </a:lnTo>
                  <a:lnTo>
                    <a:pt x="12" y="162"/>
                  </a:lnTo>
                  <a:lnTo>
                    <a:pt x="19" y="173"/>
                  </a:lnTo>
                  <a:lnTo>
                    <a:pt x="28" y="184"/>
                  </a:lnTo>
                  <a:lnTo>
                    <a:pt x="33" y="193"/>
                  </a:lnTo>
                  <a:lnTo>
                    <a:pt x="40" y="202"/>
                  </a:lnTo>
                  <a:lnTo>
                    <a:pt x="42" y="210"/>
                  </a:lnTo>
                  <a:lnTo>
                    <a:pt x="44" y="217"/>
                  </a:lnTo>
                  <a:lnTo>
                    <a:pt x="42" y="224"/>
                  </a:lnTo>
                  <a:lnTo>
                    <a:pt x="41" y="229"/>
                  </a:lnTo>
                  <a:lnTo>
                    <a:pt x="37" y="234"/>
                  </a:lnTo>
                  <a:lnTo>
                    <a:pt x="33" y="239"/>
                  </a:lnTo>
                  <a:lnTo>
                    <a:pt x="29" y="242"/>
                  </a:lnTo>
                  <a:lnTo>
                    <a:pt x="23" y="245"/>
                  </a:lnTo>
                  <a:lnTo>
                    <a:pt x="16" y="24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34856" name="Freeform 7">
              <a:extLst>
                <a:ext uri="{FF2B5EF4-FFF2-40B4-BE49-F238E27FC236}">
                  <a16:creationId xmlns:a16="http://schemas.microsoft.com/office/drawing/2014/main" id="{4B17C7EA-C98E-4A31-B6EF-A991C5828059}"/>
                </a:ext>
              </a:extLst>
            </p:cNvPr>
            <p:cNvSpPr>
              <a:spLocks/>
            </p:cNvSpPr>
            <p:nvPr/>
          </p:nvSpPr>
          <p:spPr bwMode="auto">
            <a:xfrm>
              <a:off x="1144" y="3220"/>
              <a:ext cx="61" cy="248"/>
            </a:xfrm>
            <a:custGeom>
              <a:avLst/>
              <a:gdLst>
                <a:gd name="T0" fmla="*/ 60 w 61"/>
                <a:gd name="T1" fmla="*/ 247 h 248"/>
                <a:gd name="T2" fmla="*/ 46 w 61"/>
                <a:gd name="T3" fmla="*/ 229 h 248"/>
                <a:gd name="T4" fmla="*/ 35 w 61"/>
                <a:gd name="T5" fmla="*/ 211 h 248"/>
                <a:gd name="T6" fmla="*/ 25 w 61"/>
                <a:gd name="T7" fmla="*/ 195 h 248"/>
                <a:gd name="T8" fmla="*/ 18 w 61"/>
                <a:gd name="T9" fmla="*/ 179 h 248"/>
                <a:gd name="T10" fmla="*/ 10 w 61"/>
                <a:gd name="T11" fmla="*/ 163 h 248"/>
                <a:gd name="T12" fmla="*/ 6 w 61"/>
                <a:gd name="T13" fmla="*/ 149 h 248"/>
                <a:gd name="T14" fmla="*/ 2 w 61"/>
                <a:gd name="T15" fmla="*/ 135 h 248"/>
                <a:gd name="T16" fmla="*/ 0 w 61"/>
                <a:gd name="T17" fmla="*/ 122 h 248"/>
                <a:gd name="T18" fmla="*/ 1 w 61"/>
                <a:gd name="T19" fmla="*/ 109 h 248"/>
                <a:gd name="T20" fmla="*/ 5 w 61"/>
                <a:gd name="T21" fmla="*/ 97 h 248"/>
                <a:gd name="T22" fmla="*/ 12 w 61"/>
                <a:gd name="T23" fmla="*/ 84 h 248"/>
                <a:gd name="T24" fmla="*/ 19 w 61"/>
                <a:gd name="T25" fmla="*/ 74 h 248"/>
                <a:gd name="T26" fmla="*/ 28 w 61"/>
                <a:gd name="T27" fmla="*/ 63 h 248"/>
                <a:gd name="T28" fmla="*/ 33 w 61"/>
                <a:gd name="T29" fmla="*/ 53 h 248"/>
                <a:gd name="T30" fmla="*/ 39 w 61"/>
                <a:gd name="T31" fmla="*/ 45 h 248"/>
                <a:gd name="T32" fmla="*/ 42 w 61"/>
                <a:gd name="T33" fmla="*/ 36 h 248"/>
                <a:gd name="T34" fmla="*/ 43 w 61"/>
                <a:gd name="T35" fmla="*/ 29 h 248"/>
                <a:gd name="T36" fmla="*/ 42 w 61"/>
                <a:gd name="T37" fmla="*/ 22 h 248"/>
                <a:gd name="T38" fmla="*/ 41 w 61"/>
                <a:gd name="T39" fmla="*/ 18 h 248"/>
                <a:gd name="T40" fmla="*/ 37 w 61"/>
                <a:gd name="T41" fmla="*/ 11 h 248"/>
                <a:gd name="T42" fmla="*/ 33 w 61"/>
                <a:gd name="T43" fmla="*/ 7 h 248"/>
                <a:gd name="T44" fmla="*/ 28 w 61"/>
                <a:gd name="T45" fmla="*/ 4 h 248"/>
                <a:gd name="T46" fmla="*/ 23 w 61"/>
                <a:gd name="T47" fmla="*/ 2 h 248"/>
                <a:gd name="T48" fmla="*/ 15 w 61"/>
                <a:gd name="T49" fmla="*/ 0 h 2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248">
                  <a:moveTo>
                    <a:pt x="60" y="247"/>
                  </a:moveTo>
                  <a:lnTo>
                    <a:pt x="46" y="229"/>
                  </a:lnTo>
                  <a:lnTo>
                    <a:pt x="35" y="211"/>
                  </a:lnTo>
                  <a:lnTo>
                    <a:pt x="25" y="195"/>
                  </a:lnTo>
                  <a:lnTo>
                    <a:pt x="18" y="179"/>
                  </a:lnTo>
                  <a:lnTo>
                    <a:pt x="10" y="163"/>
                  </a:lnTo>
                  <a:lnTo>
                    <a:pt x="6" y="149"/>
                  </a:lnTo>
                  <a:lnTo>
                    <a:pt x="2" y="135"/>
                  </a:lnTo>
                  <a:lnTo>
                    <a:pt x="0" y="122"/>
                  </a:lnTo>
                  <a:lnTo>
                    <a:pt x="1" y="109"/>
                  </a:lnTo>
                  <a:lnTo>
                    <a:pt x="5" y="97"/>
                  </a:lnTo>
                  <a:lnTo>
                    <a:pt x="12" y="84"/>
                  </a:lnTo>
                  <a:lnTo>
                    <a:pt x="19" y="74"/>
                  </a:lnTo>
                  <a:lnTo>
                    <a:pt x="28" y="63"/>
                  </a:lnTo>
                  <a:lnTo>
                    <a:pt x="33" y="53"/>
                  </a:lnTo>
                  <a:lnTo>
                    <a:pt x="39" y="45"/>
                  </a:lnTo>
                  <a:lnTo>
                    <a:pt x="42" y="36"/>
                  </a:lnTo>
                  <a:lnTo>
                    <a:pt x="43" y="29"/>
                  </a:lnTo>
                  <a:lnTo>
                    <a:pt x="42" y="22"/>
                  </a:lnTo>
                  <a:lnTo>
                    <a:pt x="41" y="18"/>
                  </a:lnTo>
                  <a:lnTo>
                    <a:pt x="37" y="11"/>
                  </a:lnTo>
                  <a:lnTo>
                    <a:pt x="33" y="7"/>
                  </a:lnTo>
                  <a:lnTo>
                    <a:pt x="28" y="4"/>
                  </a:lnTo>
                  <a:lnTo>
                    <a:pt x="23" y="2"/>
                  </a:lnTo>
                  <a:lnTo>
                    <a:pt x="1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grpSp>
      <p:sp>
        <p:nvSpPr>
          <p:cNvPr id="34820" name="Rectangle 8">
            <a:extLst>
              <a:ext uri="{FF2B5EF4-FFF2-40B4-BE49-F238E27FC236}">
                <a16:creationId xmlns:a16="http://schemas.microsoft.com/office/drawing/2014/main" id="{64CCEA73-F7D8-4A0A-A512-36A6A41C51ED}"/>
              </a:ext>
            </a:extLst>
          </p:cNvPr>
          <p:cNvSpPr>
            <a:spLocks noChangeArrowheads="1"/>
          </p:cNvSpPr>
          <p:nvPr/>
        </p:nvSpPr>
        <p:spPr bwMode="auto">
          <a:xfrm>
            <a:off x="2649062" y="3119597"/>
            <a:ext cx="1073372"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ACTUAL</a:t>
            </a:r>
          </a:p>
        </p:txBody>
      </p:sp>
      <p:sp>
        <p:nvSpPr>
          <p:cNvPr id="34821" name="Rectangle 9">
            <a:extLst>
              <a:ext uri="{FF2B5EF4-FFF2-40B4-BE49-F238E27FC236}">
                <a16:creationId xmlns:a16="http://schemas.microsoft.com/office/drawing/2014/main" id="{236BA1D1-F666-4347-9ECD-0CE363AE492B}"/>
              </a:ext>
            </a:extLst>
          </p:cNvPr>
          <p:cNvSpPr>
            <a:spLocks noChangeArrowheads="1"/>
          </p:cNvSpPr>
          <p:nvPr/>
        </p:nvSpPr>
        <p:spPr bwMode="auto">
          <a:xfrm>
            <a:off x="309087" y="5810568"/>
            <a:ext cx="1262526"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OFFSET</a:t>
            </a:r>
          </a:p>
        </p:txBody>
      </p:sp>
      <p:sp>
        <p:nvSpPr>
          <p:cNvPr id="34822" name="Rectangle 10">
            <a:extLst>
              <a:ext uri="{FF2B5EF4-FFF2-40B4-BE49-F238E27FC236}">
                <a16:creationId xmlns:a16="http://schemas.microsoft.com/office/drawing/2014/main" id="{61B7912F-5537-42F8-9003-D501058FEA05}"/>
              </a:ext>
            </a:extLst>
          </p:cNvPr>
          <p:cNvSpPr>
            <a:spLocks noChangeArrowheads="1"/>
          </p:cNvSpPr>
          <p:nvPr/>
        </p:nvSpPr>
        <p:spPr bwMode="auto">
          <a:xfrm>
            <a:off x="8465820" y="3383280"/>
            <a:ext cx="1174361"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ERROR</a:t>
            </a:r>
          </a:p>
        </p:txBody>
      </p:sp>
      <p:sp>
        <p:nvSpPr>
          <p:cNvPr id="34823" name="Line 11">
            <a:extLst>
              <a:ext uri="{FF2B5EF4-FFF2-40B4-BE49-F238E27FC236}">
                <a16:creationId xmlns:a16="http://schemas.microsoft.com/office/drawing/2014/main" id="{FAD5F0A7-7039-46A1-8626-041F41A2CF1A}"/>
              </a:ext>
            </a:extLst>
          </p:cNvPr>
          <p:cNvSpPr>
            <a:spLocks noChangeShapeType="1"/>
          </p:cNvSpPr>
          <p:nvPr/>
        </p:nvSpPr>
        <p:spPr bwMode="auto">
          <a:xfrm>
            <a:off x="1929607" y="1787208"/>
            <a:ext cx="0" cy="488775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24" name="Line 12">
            <a:extLst>
              <a:ext uri="{FF2B5EF4-FFF2-40B4-BE49-F238E27FC236}">
                <a16:creationId xmlns:a16="http://schemas.microsoft.com/office/drawing/2014/main" id="{ADAD3189-15A2-4483-BEF1-0D04A015B4F6}"/>
              </a:ext>
            </a:extLst>
          </p:cNvPr>
          <p:cNvSpPr>
            <a:spLocks noChangeShapeType="1"/>
          </p:cNvSpPr>
          <p:nvPr/>
        </p:nvSpPr>
        <p:spPr bwMode="auto">
          <a:xfrm>
            <a:off x="6181725" y="1790700"/>
            <a:ext cx="0" cy="467296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25" name="Line 13">
            <a:extLst>
              <a:ext uri="{FF2B5EF4-FFF2-40B4-BE49-F238E27FC236}">
                <a16:creationId xmlns:a16="http://schemas.microsoft.com/office/drawing/2014/main" id="{4D62C167-FBDB-4881-86CE-9880B0037CA2}"/>
              </a:ext>
            </a:extLst>
          </p:cNvPr>
          <p:cNvSpPr>
            <a:spLocks noChangeShapeType="1"/>
          </p:cNvSpPr>
          <p:nvPr/>
        </p:nvSpPr>
        <p:spPr bwMode="auto">
          <a:xfrm flipH="1">
            <a:off x="1941830" y="1844835"/>
            <a:ext cx="2797493" cy="396398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26" name="Line 14">
            <a:extLst>
              <a:ext uri="{FF2B5EF4-FFF2-40B4-BE49-F238E27FC236}">
                <a16:creationId xmlns:a16="http://schemas.microsoft.com/office/drawing/2014/main" id="{2AD23257-F549-4BCD-8C3D-026410AF3B39}"/>
              </a:ext>
            </a:extLst>
          </p:cNvPr>
          <p:cNvSpPr>
            <a:spLocks noChangeShapeType="1"/>
          </p:cNvSpPr>
          <p:nvPr/>
        </p:nvSpPr>
        <p:spPr bwMode="auto">
          <a:xfrm flipH="1">
            <a:off x="1938338" y="2571275"/>
            <a:ext cx="2883059" cy="409670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27" name="Line 15">
            <a:extLst>
              <a:ext uri="{FF2B5EF4-FFF2-40B4-BE49-F238E27FC236}">
                <a16:creationId xmlns:a16="http://schemas.microsoft.com/office/drawing/2014/main" id="{F27EC697-B8C0-4AF6-BAA6-868575952852}"/>
              </a:ext>
            </a:extLst>
          </p:cNvPr>
          <p:cNvSpPr>
            <a:spLocks noChangeShapeType="1"/>
          </p:cNvSpPr>
          <p:nvPr/>
        </p:nvSpPr>
        <p:spPr bwMode="auto">
          <a:xfrm>
            <a:off x="1985487" y="6648768"/>
            <a:ext cx="2853373" cy="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28" name="Line 16">
            <a:extLst>
              <a:ext uri="{FF2B5EF4-FFF2-40B4-BE49-F238E27FC236}">
                <a16:creationId xmlns:a16="http://schemas.microsoft.com/office/drawing/2014/main" id="{B795EF04-2022-463A-B7B3-76F8EF9F492F}"/>
              </a:ext>
            </a:extLst>
          </p:cNvPr>
          <p:cNvSpPr>
            <a:spLocks noChangeShapeType="1"/>
          </p:cNvSpPr>
          <p:nvPr/>
        </p:nvSpPr>
        <p:spPr bwMode="auto">
          <a:xfrm>
            <a:off x="6202680" y="6484620"/>
            <a:ext cx="2851627" cy="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29" name="Line 17">
            <a:extLst>
              <a:ext uri="{FF2B5EF4-FFF2-40B4-BE49-F238E27FC236}">
                <a16:creationId xmlns:a16="http://schemas.microsoft.com/office/drawing/2014/main" id="{681CE9EF-83BA-41D4-A4A5-BFDCF2085A3B}"/>
              </a:ext>
            </a:extLst>
          </p:cNvPr>
          <p:cNvSpPr>
            <a:spLocks noChangeShapeType="1"/>
          </p:cNvSpPr>
          <p:nvPr/>
        </p:nvSpPr>
        <p:spPr bwMode="auto">
          <a:xfrm flipH="1">
            <a:off x="6190457" y="1958340"/>
            <a:ext cx="2191543" cy="450881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30" name="Line 18">
            <a:extLst>
              <a:ext uri="{FF2B5EF4-FFF2-40B4-BE49-F238E27FC236}">
                <a16:creationId xmlns:a16="http://schemas.microsoft.com/office/drawing/2014/main" id="{1A7F3872-36C4-463A-954D-359C54923471}"/>
              </a:ext>
            </a:extLst>
          </p:cNvPr>
          <p:cNvSpPr>
            <a:spLocks noChangeShapeType="1"/>
          </p:cNvSpPr>
          <p:nvPr/>
        </p:nvSpPr>
        <p:spPr bwMode="auto">
          <a:xfrm flipH="1">
            <a:off x="6188710" y="1958340"/>
            <a:ext cx="2947670" cy="451405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nvGrpSpPr>
          <p:cNvPr id="34831" name="Group 19">
            <a:extLst>
              <a:ext uri="{FF2B5EF4-FFF2-40B4-BE49-F238E27FC236}">
                <a16:creationId xmlns:a16="http://schemas.microsoft.com/office/drawing/2014/main" id="{6CD9BA1D-1D03-408B-ADBE-A9890C9E3640}"/>
              </a:ext>
            </a:extLst>
          </p:cNvPr>
          <p:cNvGrpSpPr>
            <a:grpSpLocks/>
          </p:cNvGrpSpPr>
          <p:nvPr/>
        </p:nvGrpSpPr>
        <p:grpSpPr bwMode="auto">
          <a:xfrm>
            <a:off x="3368517" y="3797142"/>
            <a:ext cx="0" cy="848678"/>
            <a:chOff x="2073" y="1819"/>
            <a:chExt cx="0" cy="486"/>
          </a:xfrm>
        </p:grpSpPr>
        <p:sp>
          <p:nvSpPr>
            <p:cNvPr id="34850" name="Line 20">
              <a:extLst>
                <a:ext uri="{FF2B5EF4-FFF2-40B4-BE49-F238E27FC236}">
                  <a16:creationId xmlns:a16="http://schemas.microsoft.com/office/drawing/2014/main" id="{875DC8C3-78B7-447B-BAE9-5FDD48985592}"/>
                </a:ext>
              </a:extLst>
            </p:cNvPr>
            <p:cNvSpPr>
              <a:spLocks noChangeShapeType="1"/>
            </p:cNvSpPr>
            <p:nvPr/>
          </p:nvSpPr>
          <p:spPr bwMode="auto">
            <a:xfrm>
              <a:off x="2073" y="1819"/>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51" name="Line 21">
              <a:extLst>
                <a:ext uri="{FF2B5EF4-FFF2-40B4-BE49-F238E27FC236}">
                  <a16:creationId xmlns:a16="http://schemas.microsoft.com/office/drawing/2014/main" id="{F4C20685-6AF6-461C-AE04-1ECE76D1086E}"/>
                </a:ext>
              </a:extLst>
            </p:cNvPr>
            <p:cNvSpPr>
              <a:spLocks noChangeShapeType="1"/>
            </p:cNvSpPr>
            <p:nvPr/>
          </p:nvSpPr>
          <p:spPr bwMode="auto">
            <a:xfrm>
              <a:off x="2073" y="1928"/>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52" name="Line 22">
              <a:extLst>
                <a:ext uri="{FF2B5EF4-FFF2-40B4-BE49-F238E27FC236}">
                  <a16:creationId xmlns:a16="http://schemas.microsoft.com/office/drawing/2014/main" id="{8AF69A4A-DEA3-4DEC-B06D-6B2F25976AEF}"/>
                </a:ext>
              </a:extLst>
            </p:cNvPr>
            <p:cNvSpPr>
              <a:spLocks noChangeShapeType="1"/>
            </p:cNvSpPr>
            <p:nvPr/>
          </p:nvSpPr>
          <p:spPr bwMode="auto">
            <a:xfrm>
              <a:off x="2073" y="2037"/>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53" name="Line 23">
              <a:extLst>
                <a:ext uri="{FF2B5EF4-FFF2-40B4-BE49-F238E27FC236}">
                  <a16:creationId xmlns:a16="http://schemas.microsoft.com/office/drawing/2014/main" id="{6C9C7C50-135F-4C67-AAA6-609088282C8C}"/>
                </a:ext>
              </a:extLst>
            </p:cNvPr>
            <p:cNvSpPr>
              <a:spLocks noChangeShapeType="1"/>
            </p:cNvSpPr>
            <p:nvPr/>
          </p:nvSpPr>
          <p:spPr bwMode="auto">
            <a:xfrm>
              <a:off x="2073" y="2146"/>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54" name="Line 24">
              <a:extLst>
                <a:ext uri="{FF2B5EF4-FFF2-40B4-BE49-F238E27FC236}">
                  <a16:creationId xmlns:a16="http://schemas.microsoft.com/office/drawing/2014/main" id="{9017A7C7-6C95-4417-88CE-417193F7FFAE}"/>
                </a:ext>
              </a:extLst>
            </p:cNvPr>
            <p:cNvSpPr>
              <a:spLocks noChangeShapeType="1"/>
            </p:cNvSpPr>
            <p:nvPr/>
          </p:nvSpPr>
          <p:spPr bwMode="auto">
            <a:xfrm>
              <a:off x="2073" y="2256"/>
              <a:ext cx="0" cy="49"/>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grpSp>
        <p:nvGrpSpPr>
          <p:cNvPr id="34832" name="Group 25">
            <a:extLst>
              <a:ext uri="{FF2B5EF4-FFF2-40B4-BE49-F238E27FC236}">
                <a16:creationId xmlns:a16="http://schemas.microsoft.com/office/drawing/2014/main" id="{0243F3D7-B5F0-428D-9AD9-12AD70545BC4}"/>
              </a:ext>
            </a:extLst>
          </p:cNvPr>
          <p:cNvGrpSpPr>
            <a:grpSpLocks/>
          </p:cNvGrpSpPr>
          <p:nvPr/>
        </p:nvGrpSpPr>
        <p:grpSpPr bwMode="auto">
          <a:xfrm>
            <a:off x="8298180" y="2125980"/>
            <a:ext cx="90805" cy="1005840"/>
            <a:chOff x="4373" y="1876"/>
            <a:chExt cx="0" cy="395"/>
          </a:xfrm>
        </p:grpSpPr>
        <p:sp>
          <p:nvSpPr>
            <p:cNvPr id="34846" name="Line 26">
              <a:extLst>
                <a:ext uri="{FF2B5EF4-FFF2-40B4-BE49-F238E27FC236}">
                  <a16:creationId xmlns:a16="http://schemas.microsoft.com/office/drawing/2014/main" id="{7187979C-8222-493E-ADDE-616D8F032F71}"/>
                </a:ext>
              </a:extLst>
            </p:cNvPr>
            <p:cNvSpPr>
              <a:spLocks noChangeShapeType="1"/>
            </p:cNvSpPr>
            <p:nvPr/>
          </p:nvSpPr>
          <p:spPr bwMode="auto">
            <a:xfrm>
              <a:off x="4373" y="1876"/>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47" name="Line 27">
              <a:extLst>
                <a:ext uri="{FF2B5EF4-FFF2-40B4-BE49-F238E27FC236}">
                  <a16:creationId xmlns:a16="http://schemas.microsoft.com/office/drawing/2014/main" id="{3DB6F2AE-01E7-432E-9F19-883E18475196}"/>
                </a:ext>
              </a:extLst>
            </p:cNvPr>
            <p:cNvSpPr>
              <a:spLocks noChangeShapeType="1"/>
            </p:cNvSpPr>
            <p:nvPr/>
          </p:nvSpPr>
          <p:spPr bwMode="auto">
            <a:xfrm>
              <a:off x="4373" y="1986"/>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48" name="Line 28">
              <a:extLst>
                <a:ext uri="{FF2B5EF4-FFF2-40B4-BE49-F238E27FC236}">
                  <a16:creationId xmlns:a16="http://schemas.microsoft.com/office/drawing/2014/main" id="{BDDEFDC3-4618-45B2-A802-CC7ED5315C15}"/>
                </a:ext>
              </a:extLst>
            </p:cNvPr>
            <p:cNvSpPr>
              <a:spLocks noChangeShapeType="1"/>
            </p:cNvSpPr>
            <p:nvPr/>
          </p:nvSpPr>
          <p:spPr bwMode="auto">
            <a:xfrm>
              <a:off x="4373" y="2095"/>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4849" name="Line 29">
              <a:extLst>
                <a:ext uri="{FF2B5EF4-FFF2-40B4-BE49-F238E27FC236}">
                  <a16:creationId xmlns:a16="http://schemas.microsoft.com/office/drawing/2014/main" id="{998AD425-CFFA-4579-AC6F-9FC08680BE3F}"/>
                </a:ext>
              </a:extLst>
            </p:cNvPr>
            <p:cNvSpPr>
              <a:spLocks noChangeShapeType="1"/>
            </p:cNvSpPr>
            <p:nvPr/>
          </p:nvSpPr>
          <p:spPr bwMode="auto">
            <a:xfrm>
              <a:off x="4373" y="2204"/>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sp>
        <p:nvSpPr>
          <p:cNvPr id="34833" name="Freeform 30">
            <a:extLst>
              <a:ext uri="{FF2B5EF4-FFF2-40B4-BE49-F238E27FC236}">
                <a16:creationId xmlns:a16="http://schemas.microsoft.com/office/drawing/2014/main" id="{58C06806-E5D0-49B3-B723-8D1207709C02}"/>
              </a:ext>
            </a:extLst>
          </p:cNvPr>
          <p:cNvSpPr>
            <a:spLocks/>
          </p:cNvSpPr>
          <p:nvPr/>
        </p:nvSpPr>
        <p:spPr bwMode="auto">
          <a:xfrm>
            <a:off x="3422650" y="4261644"/>
            <a:ext cx="384175" cy="731678"/>
          </a:xfrm>
          <a:custGeom>
            <a:avLst/>
            <a:gdLst>
              <a:gd name="T0" fmla="*/ 347663 w 220"/>
              <a:gd name="T1" fmla="*/ 663575 h 419"/>
              <a:gd name="T2" fmla="*/ 341313 w 220"/>
              <a:gd name="T3" fmla="*/ 620712 h 419"/>
              <a:gd name="T4" fmla="*/ 334963 w 220"/>
              <a:gd name="T5" fmla="*/ 579437 h 419"/>
              <a:gd name="T6" fmla="*/ 327025 w 220"/>
              <a:gd name="T7" fmla="*/ 539750 h 419"/>
              <a:gd name="T8" fmla="*/ 319088 w 220"/>
              <a:gd name="T9" fmla="*/ 501650 h 419"/>
              <a:gd name="T10" fmla="*/ 309563 w 220"/>
              <a:gd name="T11" fmla="*/ 465137 h 419"/>
              <a:gd name="T12" fmla="*/ 301625 w 220"/>
              <a:gd name="T13" fmla="*/ 430212 h 419"/>
              <a:gd name="T14" fmla="*/ 292100 w 220"/>
              <a:gd name="T15" fmla="*/ 396875 h 419"/>
              <a:gd name="T16" fmla="*/ 284163 w 220"/>
              <a:gd name="T17" fmla="*/ 365125 h 419"/>
              <a:gd name="T18" fmla="*/ 273050 w 220"/>
              <a:gd name="T19" fmla="*/ 336550 h 419"/>
              <a:gd name="T20" fmla="*/ 266700 w 220"/>
              <a:gd name="T21" fmla="*/ 309562 h 419"/>
              <a:gd name="T22" fmla="*/ 255588 w 220"/>
              <a:gd name="T23" fmla="*/ 284162 h 419"/>
              <a:gd name="T24" fmla="*/ 247650 w 220"/>
              <a:gd name="T25" fmla="*/ 260350 h 419"/>
              <a:gd name="T26" fmla="*/ 236538 w 220"/>
              <a:gd name="T27" fmla="*/ 238125 h 419"/>
              <a:gd name="T28" fmla="*/ 225425 w 220"/>
              <a:gd name="T29" fmla="*/ 214312 h 419"/>
              <a:gd name="T30" fmla="*/ 212725 w 220"/>
              <a:gd name="T31" fmla="*/ 192087 h 419"/>
              <a:gd name="T32" fmla="*/ 195263 w 220"/>
              <a:gd name="T33" fmla="*/ 169862 h 419"/>
              <a:gd name="T34" fmla="*/ 176213 w 220"/>
              <a:gd name="T35" fmla="*/ 147637 h 419"/>
              <a:gd name="T36" fmla="*/ 157163 w 220"/>
              <a:gd name="T37" fmla="*/ 125412 h 419"/>
              <a:gd name="T38" fmla="*/ 133350 w 220"/>
              <a:gd name="T39" fmla="*/ 101600 h 419"/>
              <a:gd name="T40" fmla="*/ 111125 w 220"/>
              <a:gd name="T41" fmla="*/ 80962 h 419"/>
              <a:gd name="T42" fmla="*/ 87313 w 220"/>
              <a:gd name="T43" fmla="*/ 60325 h 419"/>
              <a:gd name="T44" fmla="*/ 57150 w 220"/>
              <a:gd name="T45" fmla="*/ 39687 h 419"/>
              <a:gd name="T46" fmla="*/ 28575 w 220"/>
              <a:gd name="T47" fmla="*/ 19050 h 419"/>
              <a:gd name="T48" fmla="*/ 0 w 220"/>
              <a:gd name="T49" fmla="*/ 0 h 4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20" h="419">
                <a:moveTo>
                  <a:pt x="219" y="418"/>
                </a:moveTo>
                <a:lnTo>
                  <a:pt x="215" y="391"/>
                </a:lnTo>
                <a:lnTo>
                  <a:pt x="211" y="365"/>
                </a:lnTo>
                <a:lnTo>
                  <a:pt x="206" y="340"/>
                </a:lnTo>
                <a:lnTo>
                  <a:pt x="201" y="316"/>
                </a:lnTo>
                <a:lnTo>
                  <a:pt x="195" y="293"/>
                </a:lnTo>
                <a:lnTo>
                  <a:pt x="190" y="271"/>
                </a:lnTo>
                <a:lnTo>
                  <a:pt x="184" y="250"/>
                </a:lnTo>
                <a:lnTo>
                  <a:pt x="179" y="230"/>
                </a:lnTo>
                <a:lnTo>
                  <a:pt x="172" y="212"/>
                </a:lnTo>
                <a:lnTo>
                  <a:pt x="168" y="195"/>
                </a:lnTo>
                <a:lnTo>
                  <a:pt x="161" y="179"/>
                </a:lnTo>
                <a:lnTo>
                  <a:pt x="156" y="164"/>
                </a:lnTo>
                <a:lnTo>
                  <a:pt x="149" y="150"/>
                </a:lnTo>
                <a:lnTo>
                  <a:pt x="142" y="135"/>
                </a:lnTo>
                <a:lnTo>
                  <a:pt x="134" y="121"/>
                </a:lnTo>
                <a:lnTo>
                  <a:pt x="123" y="107"/>
                </a:lnTo>
                <a:lnTo>
                  <a:pt x="111" y="93"/>
                </a:lnTo>
                <a:lnTo>
                  <a:pt x="99" y="79"/>
                </a:lnTo>
                <a:lnTo>
                  <a:pt x="84" y="64"/>
                </a:lnTo>
                <a:lnTo>
                  <a:pt x="70" y="51"/>
                </a:lnTo>
                <a:lnTo>
                  <a:pt x="55" y="38"/>
                </a:lnTo>
                <a:lnTo>
                  <a:pt x="36" y="25"/>
                </a:lnTo>
                <a:lnTo>
                  <a:pt x="18" y="12"/>
                </a:lnTo>
                <a:lnTo>
                  <a:pt x="0" y="0"/>
                </a:lnTo>
              </a:path>
            </a:pathLst>
          </a:custGeom>
          <a:noFill/>
          <a:ln w="12700" cap="rnd" cmpd="sng">
            <a:solidFill>
              <a:srgbClr val="000000"/>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34834" name="Rectangle 31">
            <a:extLst>
              <a:ext uri="{FF2B5EF4-FFF2-40B4-BE49-F238E27FC236}">
                <a16:creationId xmlns:a16="http://schemas.microsoft.com/office/drawing/2014/main" id="{8C23AAA6-4D49-4DE2-99F7-B0B6248463EF}"/>
              </a:ext>
            </a:extLst>
          </p:cNvPr>
          <p:cNvSpPr>
            <a:spLocks noChangeArrowheads="1"/>
          </p:cNvSpPr>
          <p:nvPr/>
        </p:nvSpPr>
        <p:spPr bwMode="auto">
          <a:xfrm>
            <a:off x="6705600" y="5789613"/>
            <a:ext cx="222753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WITH GAIN ERROR:</a:t>
            </a:r>
          </a:p>
        </p:txBody>
      </p:sp>
      <p:sp>
        <p:nvSpPr>
          <p:cNvPr id="34835" name="Rectangle 32">
            <a:extLst>
              <a:ext uri="{FF2B5EF4-FFF2-40B4-BE49-F238E27FC236}">
                <a16:creationId xmlns:a16="http://schemas.microsoft.com/office/drawing/2014/main" id="{5D18DAC9-1F20-48B5-9866-D14294DC0926}"/>
              </a:ext>
            </a:extLst>
          </p:cNvPr>
          <p:cNvSpPr>
            <a:spLocks noChangeArrowheads="1"/>
          </p:cNvSpPr>
          <p:nvPr/>
        </p:nvSpPr>
        <p:spPr bwMode="auto">
          <a:xfrm>
            <a:off x="6705600" y="6025357"/>
            <a:ext cx="2222725"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OFFSET ERROR = 0</a:t>
            </a:r>
          </a:p>
        </p:txBody>
      </p:sp>
      <p:sp>
        <p:nvSpPr>
          <p:cNvPr id="34836" name="Rectangle 35">
            <a:extLst>
              <a:ext uri="{FF2B5EF4-FFF2-40B4-BE49-F238E27FC236}">
                <a16:creationId xmlns:a16="http://schemas.microsoft.com/office/drawing/2014/main" id="{236517C3-1290-498C-A705-F69B6D8F181D}"/>
              </a:ext>
            </a:extLst>
          </p:cNvPr>
          <p:cNvSpPr>
            <a:spLocks noChangeArrowheads="1"/>
          </p:cNvSpPr>
          <p:nvPr/>
        </p:nvSpPr>
        <p:spPr bwMode="auto">
          <a:xfrm>
            <a:off x="6751002" y="3000852"/>
            <a:ext cx="1073372"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ACTUAL</a:t>
            </a:r>
          </a:p>
        </p:txBody>
      </p:sp>
      <p:sp>
        <p:nvSpPr>
          <p:cNvPr id="34837" name="Rectangle 36">
            <a:extLst>
              <a:ext uri="{FF2B5EF4-FFF2-40B4-BE49-F238E27FC236}">
                <a16:creationId xmlns:a16="http://schemas.microsoft.com/office/drawing/2014/main" id="{8E1C5DD6-0393-44A7-A8C3-37B7FA8A4987}"/>
              </a:ext>
            </a:extLst>
          </p:cNvPr>
          <p:cNvSpPr>
            <a:spLocks noChangeArrowheads="1"/>
          </p:cNvSpPr>
          <p:nvPr/>
        </p:nvSpPr>
        <p:spPr bwMode="auto">
          <a:xfrm>
            <a:off x="4004152" y="3825082"/>
            <a:ext cx="839333"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IDEAL</a:t>
            </a:r>
          </a:p>
        </p:txBody>
      </p:sp>
      <p:sp>
        <p:nvSpPr>
          <p:cNvPr id="34838" name="Rectangle 37">
            <a:extLst>
              <a:ext uri="{FF2B5EF4-FFF2-40B4-BE49-F238E27FC236}">
                <a16:creationId xmlns:a16="http://schemas.microsoft.com/office/drawing/2014/main" id="{C1B7D565-927D-4473-8915-82089765E89B}"/>
              </a:ext>
            </a:extLst>
          </p:cNvPr>
          <p:cNvSpPr>
            <a:spLocks noChangeArrowheads="1"/>
          </p:cNvSpPr>
          <p:nvPr/>
        </p:nvSpPr>
        <p:spPr bwMode="auto">
          <a:xfrm>
            <a:off x="7879080" y="3886201"/>
            <a:ext cx="839333"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IDEAL</a:t>
            </a:r>
          </a:p>
        </p:txBody>
      </p:sp>
      <p:sp>
        <p:nvSpPr>
          <p:cNvPr id="34839" name="Freeform 38">
            <a:extLst>
              <a:ext uri="{FF2B5EF4-FFF2-40B4-BE49-F238E27FC236}">
                <a16:creationId xmlns:a16="http://schemas.microsoft.com/office/drawing/2014/main" id="{D3E07E0D-BC76-43BA-A8AB-77216DA67470}"/>
              </a:ext>
            </a:extLst>
          </p:cNvPr>
          <p:cNvSpPr>
            <a:spLocks/>
          </p:cNvSpPr>
          <p:nvPr/>
        </p:nvSpPr>
        <p:spPr bwMode="auto">
          <a:xfrm>
            <a:off x="8382000" y="2461261"/>
            <a:ext cx="384175" cy="731679"/>
          </a:xfrm>
          <a:custGeom>
            <a:avLst/>
            <a:gdLst>
              <a:gd name="T0" fmla="*/ 347663 w 220"/>
              <a:gd name="T1" fmla="*/ 663575 h 419"/>
              <a:gd name="T2" fmla="*/ 341313 w 220"/>
              <a:gd name="T3" fmla="*/ 620713 h 419"/>
              <a:gd name="T4" fmla="*/ 333375 w 220"/>
              <a:gd name="T5" fmla="*/ 581025 h 419"/>
              <a:gd name="T6" fmla="*/ 325438 w 220"/>
              <a:gd name="T7" fmla="*/ 539750 h 419"/>
              <a:gd name="T8" fmla="*/ 319088 w 220"/>
              <a:gd name="T9" fmla="*/ 503238 h 419"/>
              <a:gd name="T10" fmla="*/ 311150 w 220"/>
              <a:gd name="T11" fmla="*/ 466725 h 419"/>
              <a:gd name="T12" fmla="*/ 301625 w 220"/>
              <a:gd name="T13" fmla="*/ 430213 h 419"/>
              <a:gd name="T14" fmla="*/ 293688 w 220"/>
              <a:gd name="T15" fmla="*/ 398463 h 419"/>
              <a:gd name="T16" fmla="*/ 284163 w 220"/>
              <a:gd name="T17" fmla="*/ 365125 h 419"/>
              <a:gd name="T18" fmla="*/ 274638 w 220"/>
              <a:gd name="T19" fmla="*/ 336550 h 419"/>
              <a:gd name="T20" fmla="*/ 265113 w 220"/>
              <a:gd name="T21" fmla="*/ 309563 h 419"/>
              <a:gd name="T22" fmla="*/ 257175 w 220"/>
              <a:gd name="T23" fmla="*/ 284163 h 419"/>
              <a:gd name="T24" fmla="*/ 247650 w 220"/>
              <a:gd name="T25" fmla="*/ 261938 h 419"/>
              <a:gd name="T26" fmla="*/ 238125 w 220"/>
              <a:gd name="T27" fmla="*/ 236538 h 419"/>
              <a:gd name="T28" fmla="*/ 227013 w 220"/>
              <a:gd name="T29" fmla="*/ 214313 h 419"/>
              <a:gd name="T30" fmla="*/ 211138 w 220"/>
              <a:gd name="T31" fmla="*/ 193675 h 419"/>
              <a:gd name="T32" fmla="*/ 196850 w 220"/>
              <a:gd name="T33" fmla="*/ 171450 h 419"/>
              <a:gd name="T34" fmla="*/ 176213 w 220"/>
              <a:gd name="T35" fmla="*/ 147638 h 419"/>
              <a:gd name="T36" fmla="*/ 155575 w 220"/>
              <a:gd name="T37" fmla="*/ 125413 h 419"/>
              <a:gd name="T38" fmla="*/ 134938 w 220"/>
              <a:gd name="T39" fmla="*/ 104775 h 419"/>
              <a:gd name="T40" fmla="*/ 111125 w 220"/>
              <a:gd name="T41" fmla="*/ 82550 h 419"/>
              <a:gd name="T42" fmla="*/ 85725 w 220"/>
              <a:gd name="T43" fmla="*/ 60325 h 419"/>
              <a:gd name="T44" fmla="*/ 58738 w 220"/>
              <a:gd name="T45" fmla="*/ 39688 h 419"/>
              <a:gd name="T46" fmla="*/ 30163 w 220"/>
              <a:gd name="T47" fmla="*/ 20638 h 419"/>
              <a:gd name="T48" fmla="*/ 0 w 220"/>
              <a:gd name="T49" fmla="*/ 0 h 4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20" h="419">
                <a:moveTo>
                  <a:pt x="219" y="418"/>
                </a:moveTo>
                <a:lnTo>
                  <a:pt x="215" y="391"/>
                </a:lnTo>
                <a:lnTo>
                  <a:pt x="210" y="366"/>
                </a:lnTo>
                <a:lnTo>
                  <a:pt x="205" y="340"/>
                </a:lnTo>
                <a:lnTo>
                  <a:pt x="201" y="317"/>
                </a:lnTo>
                <a:lnTo>
                  <a:pt x="196" y="294"/>
                </a:lnTo>
                <a:lnTo>
                  <a:pt x="190" y="271"/>
                </a:lnTo>
                <a:lnTo>
                  <a:pt x="185" y="251"/>
                </a:lnTo>
                <a:lnTo>
                  <a:pt x="179" y="230"/>
                </a:lnTo>
                <a:lnTo>
                  <a:pt x="173" y="212"/>
                </a:lnTo>
                <a:lnTo>
                  <a:pt x="167" y="195"/>
                </a:lnTo>
                <a:lnTo>
                  <a:pt x="162" y="179"/>
                </a:lnTo>
                <a:lnTo>
                  <a:pt x="156" y="165"/>
                </a:lnTo>
                <a:lnTo>
                  <a:pt x="150" y="149"/>
                </a:lnTo>
                <a:lnTo>
                  <a:pt x="143" y="135"/>
                </a:lnTo>
                <a:lnTo>
                  <a:pt x="133" y="122"/>
                </a:lnTo>
                <a:lnTo>
                  <a:pt x="124" y="108"/>
                </a:lnTo>
                <a:lnTo>
                  <a:pt x="111" y="93"/>
                </a:lnTo>
                <a:lnTo>
                  <a:pt x="98" y="79"/>
                </a:lnTo>
                <a:lnTo>
                  <a:pt x="85" y="66"/>
                </a:lnTo>
                <a:lnTo>
                  <a:pt x="70" y="52"/>
                </a:lnTo>
                <a:lnTo>
                  <a:pt x="54" y="38"/>
                </a:lnTo>
                <a:lnTo>
                  <a:pt x="37" y="25"/>
                </a:lnTo>
                <a:lnTo>
                  <a:pt x="19" y="13"/>
                </a:lnTo>
                <a:lnTo>
                  <a:pt x="0" y="0"/>
                </a:lnTo>
              </a:path>
            </a:pathLst>
          </a:custGeom>
          <a:noFill/>
          <a:ln w="12700" cap="rnd" cmpd="sng">
            <a:solidFill>
              <a:srgbClr val="000000"/>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34840" name="Rectangle 39">
            <a:extLst>
              <a:ext uri="{FF2B5EF4-FFF2-40B4-BE49-F238E27FC236}">
                <a16:creationId xmlns:a16="http://schemas.microsoft.com/office/drawing/2014/main" id="{A39E1766-AFF2-401F-8343-053362D9B258}"/>
              </a:ext>
            </a:extLst>
          </p:cNvPr>
          <p:cNvSpPr>
            <a:spLocks noChangeArrowheads="1"/>
          </p:cNvSpPr>
          <p:nvPr/>
        </p:nvSpPr>
        <p:spPr bwMode="auto">
          <a:xfrm>
            <a:off x="3356293" y="4968876"/>
            <a:ext cx="1615187"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ZERO ERROR</a:t>
            </a:r>
          </a:p>
        </p:txBody>
      </p:sp>
      <p:sp>
        <p:nvSpPr>
          <p:cNvPr id="34841" name="Rectangle 41">
            <a:extLst>
              <a:ext uri="{FF2B5EF4-FFF2-40B4-BE49-F238E27FC236}">
                <a16:creationId xmlns:a16="http://schemas.microsoft.com/office/drawing/2014/main" id="{74283B7E-22EB-4207-8644-B39A323756D0}"/>
              </a:ext>
            </a:extLst>
          </p:cNvPr>
          <p:cNvSpPr>
            <a:spLocks noChangeArrowheads="1"/>
          </p:cNvSpPr>
          <p:nvPr/>
        </p:nvSpPr>
        <p:spPr bwMode="auto">
          <a:xfrm>
            <a:off x="2430780" y="5997417"/>
            <a:ext cx="2003113"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NO GAIN ERROR:</a:t>
            </a:r>
          </a:p>
        </p:txBody>
      </p:sp>
      <p:sp>
        <p:nvSpPr>
          <p:cNvPr id="34842" name="Rectangle 42">
            <a:extLst>
              <a:ext uri="{FF2B5EF4-FFF2-40B4-BE49-F238E27FC236}">
                <a16:creationId xmlns:a16="http://schemas.microsoft.com/office/drawing/2014/main" id="{7ACCE1A9-F6CC-47FF-A2FA-9CF59BB8B0F2}"/>
              </a:ext>
            </a:extLst>
          </p:cNvPr>
          <p:cNvSpPr>
            <a:spLocks noChangeArrowheads="1"/>
          </p:cNvSpPr>
          <p:nvPr/>
        </p:nvSpPr>
        <p:spPr bwMode="auto">
          <a:xfrm>
            <a:off x="2430780" y="6233161"/>
            <a:ext cx="3516348"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ZERO ERROR = OFFSET ERROR</a:t>
            </a:r>
          </a:p>
        </p:txBody>
      </p:sp>
      <p:sp>
        <p:nvSpPr>
          <p:cNvPr id="34843" name="Rectangle 43">
            <a:extLst>
              <a:ext uri="{FF2B5EF4-FFF2-40B4-BE49-F238E27FC236}">
                <a16:creationId xmlns:a16="http://schemas.microsoft.com/office/drawing/2014/main" id="{0B343AA5-8330-4C70-931B-5BFFD2D812C5}"/>
              </a:ext>
            </a:extLst>
          </p:cNvPr>
          <p:cNvSpPr>
            <a:spLocks noChangeArrowheads="1"/>
          </p:cNvSpPr>
          <p:nvPr/>
        </p:nvSpPr>
        <p:spPr bwMode="auto">
          <a:xfrm>
            <a:off x="1482567" y="6481128"/>
            <a:ext cx="32156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0</a:t>
            </a:r>
          </a:p>
        </p:txBody>
      </p:sp>
      <p:sp>
        <p:nvSpPr>
          <p:cNvPr id="34844" name="Rectangle 44">
            <a:extLst>
              <a:ext uri="{FF2B5EF4-FFF2-40B4-BE49-F238E27FC236}">
                <a16:creationId xmlns:a16="http://schemas.microsoft.com/office/drawing/2014/main" id="{0DD125E7-149D-4D2D-8D7D-FED409C98E95}"/>
              </a:ext>
            </a:extLst>
          </p:cNvPr>
          <p:cNvSpPr>
            <a:spLocks noChangeArrowheads="1"/>
          </p:cNvSpPr>
          <p:nvPr/>
        </p:nvSpPr>
        <p:spPr bwMode="auto">
          <a:xfrm>
            <a:off x="5867400" y="6400801"/>
            <a:ext cx="32156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0</a:t>
            </a:r>
          </a:p>
        </p:txBody>
      </p:sp>
      <p:sp>
        <p:nvSpPr>
          <p:cNvPr id="34845" name="Rectangle 45">
            <a:extLst>
              <a:ext uri="{FF2B5EF4-FFF2-40B4-BE49-F238E27FC236}">
                <a16:creationId xmlns:a16="http://schemas.microsoft.com/office/drawing/2014/main" id="{EAEDE227-633E-4449-A3FF-6F85601EACF3}"/>
              </a:ext>
            </a:extLst>
          </p:cNvPr>
          <p:cNvSpPr>
            <a:spLocks noChangeArrowheads="1"/>
          </p:cNvSpPr>
          <p:nvPr/>
        </p:nvSpPr>
        <p:spPr bwMode="auto">
          <a:xfrm>
            <a:off x="8633460" y="3131820"/>
            <a:ext cx="874599"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GAIN</a:t>
            </a:r>
          </a:p>
        </p:txBody>
      </p:sp>
      <p:sp>
        <p:nvSpPr>
          <p:cNvPr id="6" name="Date Placeholder 5">
            <a:extLst>
              <a:ext uri="{FF2B5EF4-FFF2-40B4-BE49-F238E27FC236}">
                <a16:creationId xmlns:a16="http://schemas.microsoft.com/office/drawing/2014/main" id="{1B4F099A-B726-4A87-9CDD-9370DA35B338}"/>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BE73F759-CDD8-487C-8A0B-FB6B65BE7501}"/>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366298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5">
            <a:extLst>
              <a:ext uri="{FF2B5EF4-FFF2-40B4-BE49-F238E27FC236}">
                <a16:creationId xmlns:a16="http://schemas.microsoft.com/office/drawing/2014/main" id="{C27E0578-7650-4E1D-AA32-283A59AA4D50}"/>
              </a:ext>
            </a:extLst>
          </p:cNvPr>
          <p:cNvGrpSpPr>
            <a:grpSpLocks/>
          </p:cNvGrpSpPr>
          <p:nvPr/>
        </p:nvGrpSpPr>
        <p:grpSpPr bwMode="auto">
          <a:xfrm>
            <a:off x="1940084" y="5644675"/>
            <a:ext cx="110013" cy="867886"/>
            <a:chOff x="1144" y="2971"/>
            <a:chExt cx="63" cy="497"/>
          </a:xfrm>
        </p:grpSpPr>
        <p:sp>
          <p:nvSpPr>
            <p:cNvPr id="36905" name="Freeform 6">
              <a:extLst>
                <a:ext uri="{FF2B5EF4-FFF2-40B4-BE49-F238E27FC236}">
                  <a16:creationId xmlns:a16="http://schemas.microsoft.com/office/drawing/2014/main" id="{39A7D5F8-E498-4765-8134-80FD56FD7DEA}"/>
                </a:ext>
              </a:extLst>
            </p:cNvPr>
            <p:cNvSpPr>
              <a:spLocks/>
            </p:cNvSpPr>
            <p:nvPr/>
          </p:nvSpPr>
          <p:spPr bwMode="auto">
            <a:xfrm>
              <a:off x="1146" y="2971"/>
              <a:ext cx="61" cy="248"/>
            </a:xfrm>
            <a:custGeom>
              <a:avLst/>
              <a:gdLst>
                <a:gd name="T0" fmla="*/ 60 w 61"/>
                <a:gd name="T1" fmla="*/ 0 h 248"/>
                <a:gd name="T2" fmla="*/ 47 w 61"/>
                <a:gd name="T3" fmla="*/ 18 h 248"/>
                <a:gd name="T4" fmla="*/ 36 w 61"/>
                <a:gd name="T5" fmla="*/ 35 h 248"/>
                <a:gd name="T6" fmla="*/ 26 w 61"/>
                <a:gd name="T7" fmla="*/ 52 h 248"/>
                <a:gd name="T8" fmla="*/ 18 w 61"/>
                <a:gd name="T9" fmla="*/ 68 h 248"/>
                <a:gd name="T10" fmla="*/ 11 w 61"/>
                <a:gd name="T11" fmla="*/ 83 h 248"/>
                <a:gd name="T12" fmla="*/ 6 w 61"/>
                <a:gd name="T13" fmla="*/ 97 h 248"/>
                <a:gd name="T14" fmla="*/ 3 w 61"/>
                <a:gd name="T15" fmla="*/ 111 h 248"/>
                <a:gd name="T16" fmla="*/ 0 w 61"/>
                <a:gd name="T17" fmla="*/ 125 h 248"/>
                <a:gd name="T18" fmla="*/ 1 w 61"/>
                <a:gd name="T19" fmla="*/ 138 h 248"/>
                <a:gd name="T20" fmla="*/ 5 w 61"/>
                <a:gd name="T21" fmla="*/ 150 h 248"/>
                <a:gd name="T22" fmla="*/ 12 w 61"/>
                <a:gd name="T23" fmla="*/ 162 h 248"/>
                <a:gd name="T24" fmla="*/ 19 w 61"/>
                <a:gd name="T25" fmla="*/ 173 h 248"/>
                <a:gd name="T26" fmla="*/ 28 w 61"/>
                <a:gd name="T27" fmla="*/ 184 h 248"/>
                <a:gd name="T28" fmla="*/ 33 w 61"/>
                <a:gd name="T29" fmla="*/ 193 h 248"/>
                <a:gd name="T30" fmla="*/ 40 w 61"/>
                <a:gd name="T31" fmla="*/ 202 h 248"/>
                <a:gd name="T32" fmla="*/ 42 w 61"/>
                <a:gd name="T33" fmla="*/ 210 h 248"/>
                <a:gd name="T34" fmla="*/ 44 w 61"/>
                <a:gd name="T35" fmla="*/ 217 h 248"/>
                <a:gd name="T36" fmla="*/ 42 w 61"/>
                <a:gd name="T37" fmla="*/ 224 h 248"/>
                <a:gd name="T38" fmla="*/ 41 w 61"/>
                <a:gd name="T39" fmla="*/ 229 h 248"/>
                <a:gd name="T40" fmla="*/ 37 w 61"/>
                <a:gd name="T41" fmla="*/ 234 h 248"/>
                <a:gd name="T42" fmla="*/ 33 w 61"/>
                <a:gd name="T43" fmla="*/ 239 h 248"/>
                <a:gd name="T44" fmla="*/ 29 w 61"/>
                <a:gd name="T45" fmla="*/ 242 h 248"/>
                <a:gd name="T46" fmla="*/ 23 w 61"/>
                <a:gd name="T47" fmla="*/ 245 h 248"/>
                <a:gd name="T48" fmla="*/ 16 w 61"/>
                <a:gd name="T49" fmla="*/ 247 h 2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248">
                  <a:moveTo>
                    <a:pt x="60" y="0"/>
                  </a:moveTo>
                  <a:lnTo>
                    <a:pt x="47" y="18"/>
                  </a:lnTo>
                  <a:lnTo>
                    <a:pt x="36" y="35"/>
                  </a:lnTo>
                  <a:lnTo>
                    <a:pt x="26" y="52"/>
                  </a:lnTo>
                  <a:lnTo>
                    <a:pt x="18" y="68"/>
                  </a:lnTo>
                  <a:lnTo>
                    <a:pt x="11" y="83"/>
                  </a:lnTo>
                  <a:lnTo>
                    <a:pt x="6" y="97"/>
                  </a:lnTo>
                  <a:lnTo>
                    <a:pt x="3" y="111"/>
                  </a:lnTo>
                  <a:lnTo>
                    <a:pt x="0" y="125"/>
                  </a:lnTo>
                  <a:lnTo>
                    <a:pt x="1" y="138"/>
                  </a:lnTo>
                  <a:lnTo>
                    <a:pt x="5" y="150"/>
                  </a:lnTo>
                  <a:lnTo>
                    <a:pt x="12" y="162"/>
                  </a:lnTo>
                  <a:lnTo>
                    <a:pt x="19" y="173"/>
                  </a:lnTo>
                  <a:lnTo>
                    <a:pt x="28" y="184"/>
                  </a:lnTo>
                  <a:lnTo>
                    <a:pt x="33" y="193"/>
                  </a:lnTo>
                  <a:lnTo>
                    <a:pt x="40" y="202"/>
                  </a:lnTo>
                  <a:lnTo>
                    <a:pt x="42" y="210"/>
                  </a:lnTo>
                  <a:lnTo>
                    <a:pt x="44" y="217"/>
                  </a:lnTo>
                  <a:lnTo>
                    <a:pt x="42" y="224"/>
                  </a:lnTo>
                  <a:lnTo>
                    <a:pt x="41" y="229"/>
                  </a:lnTo>
                  <a:lnTo>
                    <a:pt x="37" y="234"/>
                  </a:lnTo>
                  <a:lnTo>
                    <a:pt x="33" y="239"/>
                  </a:lnTo>
                  <a:lnTo>
                    <a:pt x="29" y="242"/>
                  </a:lnTo>
                  <a:lnTo>
                    <a:pt x="23" y="245"/>
                  </a:lnTo>
                  <a:lnTo>
                    <a:pt x="16" y="24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36906" name="Freeform 7">
              <a:extLst>
                <a:ext uri="{FF2B5EF4-FFF2-40B4-BE49-F238E27FC236}">
                  <a16:creationId xmlns:a16="http://schemas.microsoft.com/office/drawing/2014/main" id="{AB4D716B-5399-41DC-81A4-57FBEA907D22}"/>
                </a:ext>
              </a:extLst>
            </p:cNvPr>
            <p:cNvSpPr>
              <a:spLocks/>
            </p:cNvSpPr>
            <p:nvPr/>
          </p:nvSpPr>
          <p:spPr bwMode="auto">
            <a:xfrm>
              <a:off x="1144" y="3220"/>
              <a:ext cx="61" cy="248"/>
            </a:xfrm>
            <a:custGeom>
              <a:avLst/>
              <a:gdLst>
                <a:gd name="T0" fmla="*/ 60 w 61"/>
                <a:gd name="T1" fmla="*/ 247 h 248"/>
                <a:gd name="T2" fmla="*/ 46 w 61"/>
                <a:gd name="T3" fmla="*/ 229 h 248"/>
                <a:gd name="T4" fmla="*/ 35 w 61"/>
                <a:gd name="T5" fmla="*/ 211 h 248"/>
                <a:gd name="T6" fmla="*/ 25 w 61"/>
                <a:gd name="T7" fmla="*/ 195 h 248"/>
                <a:gd name="T8" fmla="*/ 18 w 61"/>
                <a:gd name="T9" fmla="*/ 179 h 248"/>
                <a:gd name="T10" fmla="*/ 10 w 61"/>
                <a:gd name="T11" fmla="*/ 163 h 248"/>
                <a:gd name="T12" fmla="*/ 6 w 61"/>
                <a:gd name="T13" fmla="*/ 149 h 248"/>
                <a:gd name="T14" fmla="*/ 2 w 61"/>
                <a:gd name="T15" fmla="*/ 135 h 248"/>
                <a:gd name="T16" fmla="*/ 0 w 61"/>
                <a:gd name="T17" fmla="*/ 122 h 248"/>
                <a:gd name="T18" fmla="*/ 1 w 61"/>
                <a:gd name="T19" fmla="*/ 109 h 248"/>
                <a:gd name="T20" fmla="*/ 5 w 61"/>
                <a:gd name="T21" fmla="*/ 97 h 248"/>
                <a:gd name="T22" fmla="*/ 12 w 61"/>
                <a:gd name="T23" fmla="*/ 84 h 248"/>
                <a:gd name="T24" fmla="*/ 19 w 61"/>
                <a:gd name="T25" fmla="*/ 74 h 248"/>
                <a:gd name="T26" fmla="*/ 28 w 61"/>
                <a:gd name="T27" fmla="*/ 63 h 248"/>
                <a:gd name="T28" fmla="*/ 33 w 61"/>
                <a:gd name="T29" fmla="*/ 53 h 248"/>
                <a:gd name="T30" fmla="*/ 39 w 61"/>
                <a:gd name="T31" fmla="*/ 45 h 248"/>
                <a:gd name="T32" fmla="*/ 42 w 61"/>
                <a:gd name="T33" fmla="*/ 36 h 248"/>
                <a:gd name="T34" fmla="*/ 43 w 61"/>
                <a:gd name="T35" fmla="*/ 29 h 248"/>
                <a:gd name="T36" fmla="*/ 42 w 61"/>
                <a:gd name="T37" fmla="*/ 22 h 248"/>
                <a:gd name="T38" fmla="*/ 41 w 61"/>
                <a:gd name="T39" fmla="*/ 18 h 248"/>
                <a:gd name="T40" fmla="*/ 37 w 61"/>
                <a:gd name="T41" fmla="*/ 11 h 248"/>
                <a:gd name="T42" fmla="*/ 33 w 61"/>
                <a:gd name="T43" fmla="*/ 7 h 248"/>
                <a:gd name="T44" fmla="*/ 28 w 61"/>
                <a:gd name="T45" fmla="*/ 4 h 248"/>
                <a:gd name="T46" fmla="*/ 23 w 61"/>
                <a:gd name="T47" fmla="*/ 2 h 248"/>
                <a:gd name="T48" fmla="*/ 15 w 61"/>
                <a:gd name="T49" fmla="*/ 0 h 2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248">
                  <a:moveTo>
                    <a:pt x="60" y="247"/>
                  </a:moveTo>
                  <a:lnTo>
                    <a:pt x="46" y="229"/>
                  </a:lnTo>
                  <a:lnTo>
                    <a:pt x="35" y="211"/>
                  </a:lnTo>
                  <a:lnTo>
                    <a:pt x="25" y="195"/>
                  </a:lnTo>
                  <a:lnTo>
                    <a:pt x="18" y="179"/>
                  </a:lnTo>
                  <a:lnTo>
                    <a:pt x="10" y="163"/>
                  </a:lnTo>
                  <a:lnTo>
                    <a:pt x="6" y="149"/>
                  </a:lnTo>
                  <a:lnTo>
                    <a:pt x="2" y="135"/>
                  </a:lnTo>
                  <a:lnTo>
                    <a:pt x="0" y="122"/>
                  </a:lnTo>
                  <a:lnTo>
                    <a:pt x="1" y="109"/>
                  </a:lnTo>
                  <a:lnTo>
                    <a:pt x="5" y="97"/>
                  </a:lnTo>
                  <a:lnTo>
                    <a:pt x="12" y="84"/>
                  </a:lnTo>
                  <a:lnTo>
                    <a:pt x="19" y="74"/>
                  </a:lnTo>
                  <a:lnTo>
                    <a:pt x="28" y="63"/>
                  </a:lnTo>
                  <a:lnTo>
                    <a:pt x="33" y="53"/>
                  </a:lnTo>
                  <a:lnTo>
                    <a:pt x="39" y="45"/>
                  </a:lnTo>
                  <a:lnTo>
                    <a:pt x="42" y="36"/>
                  </a:lnTo>
                  <a:lnTo>
                    <a:pt x="43" y="29"/>
                  </a:lnTo>
                  <a:lnTo>
                    <a:pt x="42" y="22"/>
                  </a:lnTo>
                  <a:lnTo>
                    <a:pt x="41" y="18"/>
                  </a:lnTo>
                  <a:lnTo>
                    <a:pt x="37" y="11"/>
                  </a:lnTo>
                  <a:lnTo>
                    <a:pt x="33" y="7"/>
                  </a:lnTo>
                  <a:lnTo>
                    <a:pt x="28" y="4"/>
                  </a:lnTo>
                  <a:lnTo>
                    <a:pt x="23" y="2"/>
                  </a:lnTo>
                  <a:lnTo>
                    <a:pt x="15" y="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grpSp>
      <p:sp>
        <p:nvSpPr>
          <p:cNvPr id="36867" name="Rectangle 8">
            <a:extLst>
              <a:ext uri="{FF2B5EF4-FFF2-40B4-BE49-F238E27FC236}">
                <a16:creationId xmlns:a16="http://schemas.microsoft.com/office/drawing/2014/main" id="{24D7B228-BA07-4CB4-8157-40EC7BCB0774}"/>
              </a:ext>
            </a:extLst>
          </p:cNvPr>
          <p:cNvSpPr>
            <a:spLocks noChangeArrowheads="1"/>
          </p:cNvSpPr>
          <p:nvPr/>
        </p:nvSpPr>
        <p:spPr bwMode="auto">
          <a:xfrm>
            <a:off x="2842895" y="2955450"/>
            <a:ext cx="1073372"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ACTUAL</a:t>
            </a:r>
          </a:p>
        </p:txBody>
      </p:sp>
      <p:sp>
        <p:nvSpPr>
          <p:cNvPr id="36868" name="Rectangle 9">
            <a:extLst>
              <a:ext uri="{FF2B5EF4-FFF2-40B4-BE49-F238E27FC236}">
                <a16:creationId xmlns:a16="http://schemas.microsoft.com/office/drawing/2014/main" id="{A4BB549E-E484-48AC-9032-B01A78440A7A}"/>
              </a:ext>
            </a:extLst>
          </p:cNvPr>
          <p:cNvSpPr>
            <a:spLocks noChangeArrowheads="1"/>
          </p:cNvSpPr>
          <p:nvPr/>
        </p:nvSpPr>
        <p:spPr bwMode="auto">
          <a:xfrm>
            <a:off x="651352" y="5780882"/>
            <a:ext cx="1262526"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OFFSET</a:t>
            </a:r>
          </a:p>
        </p:txBody>
      </p:sp>
      <p:sp>
        <p:nvSpPr>
          <p:cNvPr id="36869" name="Rectangle 10">
            <a:extLst>
              <a:ext uri="{FF2B5EF4-FFF2-40B4-BE49-F238E27FC236}">
                <a16:creationId xmlns:a16="http://schemas.microsoft.com/office/drawing/2014/main" id="{E7C7049E-DB76-463B-BB26-76D6FCD55F6B}"/>
              </a:ext>
            </a:extLst>
          </p:cNvPr>
          <p:cNvSpPr>
            <a:spLocks noChangeArrowheads="1"/>
          </p:cNvSpPr>
          <p:nvPr/>
        </p:nvSpPr>
        <p:spPr bwMode="auto">
          <a:xfrm>
            <a:off x="695007" y="6086475"/>
            <a:ext cx="1174361" cy="4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90" b="1">
                <a:solidFill>
                  <a:srgbClr val="000000"/>
                </a:solidFill>
              </a:rPr>
              <a:t>ERROR</a:t>
            </a:r>
          </a:p>
        </p:txBody>
      </p:sp>
      <p:sp>
        <p:nvSpPr>
          <p:cNvPr id="36870" name="Line 11">
            <a:extLst>
              <a:ext uri="{FF2B5EF4-FFF2-40B4-BE49-F238E27FC236}">
                <a16:creationId xmlns:a16="http://schemas.microsoft.com/office/drawing/2014/main" id="{F039B31E-8357-4B64-8D13-B982329BA9BE}"/>
              </a:ext>
            </a:extLst>
          </p:cNvPr>
          <p:cNvSpPr>
            <a:spLocks noChangeShapeType="1"/>
          </p:cNvSpPr>
          <p:nvPr/>
        </p:nvSpPr>
        <p:spPr bwMode="auto">
          <a:xfrm>
            <a:off x="2123440" y="2457767"/>
            <a:ext cx="0" cy="405304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71" name="Line 12">
            <a:extLst>
              <a:ext uri="{FF2B5EF4-FFF2-40B4-BE49-F238E27FC236}">
                <a16:creationId xmlns:a16="http://schemas.microsoft.com/office/drawing/2014/main" id="{30F07369-C162-4353-9DFE-CD075173F1F8}"/>
              </a:ext>
            </a:extLst>
          </p:cNvPr>
          <p:cNvSpPr>
            <a:spLocks noChangeShapeType="1"/>
          </p:cNvSpPr>
          <p:nvPr/>
        </p:nvSpPr>
        <p:spPr bwMode="auto">
          <a:xfrm>
            <a:off x="6181725" y="2442052"/>
            <a:ext cx="0" cy="402161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72" name="Line 13">
            <a:extLst>
              <a:ext uri="{FF2B5EF4-FFF2-40B4-BE49-F238E27FC236}">
                <a16:creationId xmlns:a16="http://schemas.microsoft.com/office/drawing/2014/main" id="{BC1EA19E-112D-4CA4-86E7-4D242F6B1709}"/>
              </a:ext>
            </a:extLst>
          </p:cNvPr>
          <p:cNvSpPr>
            <a:spLocks noChangeShapeType="1"/>
          </p:cNvSpPr>
          <p:nvPr/>
        </p:nvSpPr>
        <p:spPr bwMode="auto">
          <a:xfrm flipH="1">
            <a:off x="2135665" y="1680687"/>
            <a:ext cx="2797493" cy="396398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73" name="Line 14">
            <a:extLst>
              <a:ext uri="{FF2B5EF4-FFF2-40B4-BE49-F238E27FC236}">
                <a16:creationId xmlns:a16="http://schemas.microsoft.com/office/drawing/2014/main" id="{72476401-F7B7-442D-94CD-C58B40FFDD6C}"/>
              </a:ext>
            </a:extLst>
          </p:cNvPr>
          <p:cNvSpPr>
            <a:spLocks noChangeShapeType="1"/>
          </p:cNvSpPr>
          <p:nvPr/>
        </p:nvSpPr>
        <p:spPr bwMode="auto">
          <a:xfrm flipH="1">
            <a:off x="2132172" y="2407127"/>
            <a:ext cx="2883058" cy="409670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74" name="Line 15">
            <a:extLst>
              <a:ext uri="{FF2B5EF4-FFF2-40B4-BE49-F238E27FC236}">
                <a16:creationId xmlns:a16="http://schemas.microsoft.com/office/drawing/2014/main" id="{4DB7ECC7-256B-4792-A801-6FB079C3AD82}"/>
              </a:ext>
            </a:extLst>
          </p:cNvPr>
          <p:cNvSpPr>
            <a:spLocks noChangeShapeType="1"/>
          </p:cNvSpPr>
          <p:nvPr/>
        </p:nvSpPr>
        <p:spPr bwMode="auto">
          <a:xfrm>
            <a:off x="2123440" y="4481672"/>
            <a:ext cx="2853373" cy="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75" name="Line 16">
            <a:extLst>
              <a:ext uri="{FF2B5EF4-FFF2-40B4-BE49-F238E27FC236}">
                <a16:creationId xmlns:a16="http://schemas.microsoft.com/office/drawing/2014/main" id="{1C2DC924-5091-49C0-84E0-571BDAF33F52}"/>
              </a:ext>
            </a:extLst>
          </p:cNvPr>
          <p:cNvSpPr>
            <a:spLocks noChangeShapeType="1"/>
          </p:cNvSpPr>
          <p:nvPr/>
        </p:nvSpPr>
        <p:spPr bwMode="auto">
          <a:xfrm>
            <a:off x="6181725" y="4453732"/>
            <a:ext cx="2851627" cy="0"/>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76" name="Line 17">
            <a:extLst>
              <a:ext uri="{FF2B5EF4-FFF2-40B4-BE49-F238E27FC236}">
                <a16:creationId xmlns:a16="http://schemas.microsoft.com/office/drawing/2014/main" id="{47534359-B110-4466-9F8A-61B0BB2414F3}"/>
              </a:ext>
            </a:extLst>
          </p:cNvPr>
          <p:cNvSpPr>
            <a:spLocks noChangeShapeType="1"/>
          </p:cNvSpPr>
          <p:nvPr/>
        </p:nvSpPr>
        <p:spPr bwMode="auto">
          <a:xfrm flipH="1">
            <a:off x="6190457" y="2370455"/>
            <a:ext cx="2013426" cy="409670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77" name="Line 18">
            <a:extLst>
              <a:ext uri="{FF2B5EF4-FFF2-40B4-BE49-F238E27FC236}">
                <a16:creationId xmlns:a16="http://schemas.microsoft.com/office/drawing/2014/main" id="{F7582846-A0B0-4FC1-8F9D-F29ECA58E702}"/>
              </a:ext>
            </a:extLst>
          </p:cNvPr>
          <p:cNvSpPr>
            <a:spLocks noChangeShapeType="1"/>
          </p:cNvSpPr>
          <p:nvPr/>
        </p:nvSpPr>
        <p:spPr bwMode="auto">
          <a:xfrm flipH="1">
            <a:off x="6188710" y="2389665"/>
            <a:ext cx="2794000" cy="408273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nvGrpSpPr>
          <p:cNvPr id="36878" name="Group 19">
            <a:extLst>
              <a:ext uri="{FF2B5EF4-FFF2-40B4-BE49-F238E27FC236}">
                <a16:creationId xmlns:a16="http://schemas.microsoft.com/office/drawing/2014/main" id="{F75D27F1-339A-4B96-9D78-D82F4559B9C5}"/>
              </a:ext>
            </a:extLst>
          </p:cNvPr>
          <p:cNvGrpSpPr>
            <a:grpSpLocks/>
          </p:cNvGrpSpPr>
          <p:nvPr/>
        </p:nvGrpSpPr>
        <p:grpSpPr bwMode="auto">
          <a:xfrm>
            <a:off x="3562350" y="3632995"/>
            <a:ext cx="0" cy="848678"/>
            <a:chOff x="2073" y="1819"/>
            <a:chExt cx="0" cy="486"/>
          </a:xfrm>
        </p:grpSpPr>
        <p:sp>
          <p:nvSpPr>
            <p:cNvPr id="36900" name="Line 20">
              <a:extLst>
                <a:ext uri="{FF2B5EF4-FFF2-40B4-BE49-F238E27FC236}">
                  <a16:creationId xmlns:a16="http://schemas.microsoft.com/office/drawing/2014/main" id="{5B650577-D864-4C27-BD66-D07CBF0B2894}"/>
                </a:ext>
              </a:extLst>
            </p:cNvPr>
            <p:cNvSpPr>
              <a:spLocks noChangeShapeType="1"/>
            </p:cNvSpPr>
            <p:nvPr/>
          </p:nvSpPr>
          <p:spPr bwMode="auto">
            <a:xfrm>
              <a:off x="2073" y="1819"/>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901" name="Line 21">
              <a:extLst>
                <a:ext uri="{FF2B5EF4-FFF2-40B4-BE49-F238E27FC236}">
                  <a16:creationId xmlns:a16="http://schemas.microsoft.com/office/drawing/2014/main" id="{05C781FD-AF4E-4379-AC4C-578AABCAE44A}"/>
                </a:ext>
              </a:extLst>
            </p:cNvPr>
            <p:cNvSpPr>
              <a:spLocks noChangeShapeType="1"/>
            </p:cNvSpPr>
            <p:nvPr/>
          </p:nvSpPr>
          <p:spPr bwMode="auto">
            <a:xfrm>
              <a:off x="2073" y="1928"/>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902" name="Line 22">
              <a:extLst>
                <a:ext uri="{FF2B5EF4-FFF2-40B4-BE49-F238E27FC236}">
                  <a16:creationId xmlns:a16="http://schemas.microsoft.com/office/drawing/2014/main" id="{AF0465AB-B338-4003-AB3E-654E0C01722F}"/>
                </a:ext>
              </a:extLst>
            </p:cNvPr>
            <p:cNvSpPr>
              <a:spLocks noChangeShapeType="1"/>
            </p:cNvSpPr>
            <p:nvPr/>
          </p:nvSpPr>
          <p:spPr bwMode="auto">
            <a:xfrm>
              <a:off x="2073" y="2037"/>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903" name="Line 23">
              <a:extLst>
                <a:ext uri="{FF2B5EF4-FFF2-40B4-BE49-F238E27FC236}">
                  <a16:creationId xmlns:a16="http://schemas.microsoft.com/office/drawing/2014/main" id="{C4870BEF-71ED-480E-8798-B34D69733CA7}"/>
                </a:ext>
              </a:extLst>
            </p:cNvPr>
            <p:cNvSpPr>
              <a:spLocks noChangeShapeType="1"/>
            </p:cNvSpPr>
            <p:nvPr/>
          </p:nvSpPr>
          <p:spPr bwMode="auto">
            <a:xfrm>
              <a:off x="2073" y="2146"/>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904" name="Line 24">
              <a:extLst>
                <a:ext uri="{FF2B5EF4-FFF2-40B4-BE49-F238E27FC236}">
                  <a16:creationId xmlns:a16="http://schemas.microsoft.com/office/drawing/2014/main" id="{396D9A46-76CC-4A97-86AF-4815E9C38555}"/>
                </a:ext>
              </a:extLst>
            </p:cNvPr>
            <p:cNvSpPr>
              <a:spLocks noChangeShapeType="1"/>
            </p:cNvSpPr>
            <p:nvPr/>
          </p:nvSpPr>
          <p:spPr bwMode="auto">
            <a:xfrm>
              <a:off x="2073" y="2256"/>
              <a:ext cx="0" cy="49"/>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grpSp>
        <p:nvGrpSpPr>
          <p:cNvPr id="36879" name="Group 25">
            <a:extLst>
              <a:ext uri="{FF2B5EF4-FFF2-40B4-BE49-F238E27FC236}">
                <a16:creationId xmlns:a16="http://schemas.microsoft.com/office/drawing/2014/main" id="{DF4A68BF-FB3F-4CA3-89E2-E387370D2165}"/>
              </a:ext>
            </a:extLst>
          </p:cNvPr>
          <p:cNvGrpSpPr>
            <a:grpSpLocks/>
          </p:cNvGrpSpPr>
          <p:nvPr/>
        </p:nvGrpSpPr>
        <p:grpSpPr bwMode="auto">
          <a:xfrm>
            <a:off x="7578725" y="3732531"/>
            <a:ext cx="0" cy="689769"/>
            <a:chOff x="4373" y="1876"/>
            <a:chExt cx="0" cy="395"/>
          </a:xfrm>
        </p:grpSpPr>
        <p:sp>
          <p:nvSpPr>
            <p:cNvPr id="36896" name="Line 26">
              <a:extLst>
                <a:ext uri="{FF2B5EF4-FFF2-40B4-BE49-F238E27FC236}">
                  <a16:creationId xmlns:a16="http://schemas.microsoft.com/office/drawing/2014/main" id="{4CCD5DEC-10EE-4D3A-AC91-12C2EF184690}"/>
                </a:ext>
              </a:extLst>
            </p:cNvPr>
            <p:cNvSpPr>
              <a:spLocks noChangeShapeType="1"/>
            </p:cNvSpPr>
            <p:nvPr/>
          </p:nvSpPr>
          <p:spPr bwMode="auto">
            <a:xfrm>
              <a:off x="4373" y="1876"/>
              <a:ext cx="0" cy="6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97" name="Line 27">
              <a:extLst>
                <a:ext uri="{FF2B5EF4-FFF2-40B4-BE49-F238E27FC236}">
                  <a16:creationId xmlns:a16="http://schemas.microsoft.com/office/drawing/2014/main" id="{C9042FFE-65E9-4396-BC9F-3BB5C44779F8}"/>
                </a:ext>
              </a:extLst>
            </p:cNvPr>
            <p:cNvSpPr>
              <a:spLocks noChangeShapeType="1"/>
            </p:cNvSpPr>
            <p:nvPr/>
          </p:nvSpPr>
          <p:spPr bwMode="auto">
            <a:xfrm>
              <a:off x="4373" y="1986"/>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98" name="Line 28">
              <a:extLst>
                <a:ext uri="{FF2B5EF4-FFF2-40B4-BE49-F238E27FC236}">
                  <a16:creationId xmlns:a16="http://schemas.microsoft.com/office/drawing/2014/main" id="{5A2C5C79-142C-4D30-8172-1039522EC1BF}"/>
                </a:ext>
              </a:extLst>
            </p:cNvPr>
            <p:cNvSpPr>
              <a:spLocks noChangeShapeType="1"/>
            </p:cNvSpPr>
            <p:nvPr/>
          </p:nvSpPr>
          <p:spPr bwMode="auto">
            <a:xfrm>
              <a:off x="4373" y="2095"/>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36899" name="Line 29">
              <a:extLst>
                <a:ext uri="{FF2B5EF4-FFF2-40B4-BE49-F238E27FC236}">
                  <a16:creationId xmlns:a16="http://schemas.microsoft.com/office/drawing/2014/main" id="{8A7EE6DD-6572-4EEC-B713-EC16528166F9}"/>
                </a:ext>
              </a:extLst>
            </p:cNvPr>
            <p:cNvSpPr>
              <a:spLocks noChangeShapeType="1"/>
            </p:cNvSpPr>
            <p:nvPr/>
          </p:nvSpPr>
          <p:spPr bwMode="auto">
            <a:xfrm>
              <a:off x="4373" y="2204"/>
              <a:ext cx="0" cy="6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sp>
        <p:nvSpPr>
          <p:cNvPr id="36880" name="Freeform 30">
            <a:extLst>
              <a:ext uri="{FF2B5EF4-FFF2-40B4-BE49-F238E27FC236}">
                <a16:creationId xmlns:a16="http://schemas.microsoft.com/office/drawing/2014/main" id="{871F6027-EB0F-4D3F-A124-7A81FA55A94F}"/>
              </a:ext>
            </a:extLst>
          </p:cNvPr>
          <p:cNvSpPr>
            <a:spLocks/>
          </p:cNvSpPr>
          <p:nvPr/>
        </p:nvSpPr>
        <p:spPr bwMode="auto">
          <a:xfrm>
            <a:off x="3616484" y="4097497"/>
            <a:ext cx="384175" cy="731678"/>
          </a:xfrm>
          <a:custGeom>
            <a:avLst/>
            <a:gdLst>
              <a:gd name="T0" fmla="*/ 347663 w 220"/>
              <a:gd name="T1" fmla="*/ 663575 h 419"/>
              <a:gd name="T2" fmla="*/ 341313 w 220"/>
              <a:gd name="T3" fmla="*/ 620712 h 419"/>
              <a:gd name="T4" fmla="*/ 334963 w 220"/>
              <a:gd name="T5" fmla="*/ 579437 h 419"/>
              <a:gd name="T6" fmla="*/ 327025 w 220"/>
              <a:gd name="T7" fmla="*/ 539750 h 419"/>
              <a:gd name="T8" fmla="*/ 319088 w 220"/>
              <a:gd name="T9" fmla="*/ 501650 h 419"/>
              <a:gd name="T10" fmla="*/ 309563 w 220"/>
              <a:gd name="T11" fmla="*/ 465137 h 419"/>
              <a:gd name="T12" fmla="*/ 301625 w 220"/>
              <a:gd name="T13" fmla="*/ 430212 h 419"/>
              <a:gd name="T14" fmla="*/ 292100 w 220"/>
              <a:gd name="T15" fmla="*/ 396875 h 419"/>
              <a:gd name="T16" fmla="*/ 284163 w 220"/>
              <a:gd name="T17" fmla="*/ 365125 h 419"/>
              <a:gd name="T18" fmla="*/ 273050 w 220"/>
              <a:gd name="T19" fmla="*/ 336550 h 419"/>
              <a:gd name="T20" fmla="*/ 266700 w 220"/>
              <a:gd name="T21" fmla="*/ 309562 h 419"/>
              <a:gd name="T22" fmla="*/ 255588 w 220"/>
              <a:gd name="T23" fmla="*/ 284162 h 419"/>
              <a:gd name="T24" fmla="*/ 247650 w 220"/>
              <a:gd name="T25" fmla="*/ 260350 h 419"/>
              <a:gd name="T26" fmla="*/ 236538 w 220"/>
              <a:gd name="T27" fmla="*/ 238125 h 419"/>
              <a:gd name="T28" fmla="*/ 225425 w 220"/>
              <a:gd name="T29" fmla="*/ 214312 h 419"/>
              <a:gd name="T30" fmla="*/ 212725 w 220"/>
              <a:gd name="T31" fmla="*/ 192087 h 419"/>
              <a:gd name="T32" fmla="*/ 195263 w 220"/>
              <a:gd name="T33" fmla="*/ 169862 h 419"/>
              <a:gd name="T34" fmla="*/ 176213 w 220"/>
              <a:gd name="T35" fmla="*/ 147637 h 419"/>
              <a:gd name="T36" fmla="*/ 157163 w 220"/>
              <a:gd name="T37" fmla="*/ 125412 h 419"/>
              <a:gd name="T38" fmla="*/ 133350 w 220"/>
              <a:gd name="T39" fmla="*/ 101600 h 419"/>
              <a:gd name="T40" fmla="*/ 111125 w 220"/>
              <a:gd name="T41" fmla="*/ 80962 h 419"/>
              <a:gd name="T42" fmla="*/ 87313 w 220"/>
              <a:gd name="T43" fmla="*/ 60325 h 419"/>
              <a:gd name="T44" fmla="*/ 57150 w 220"/>
              <a:gd name="T45" fmla="*/ 39687 h 419"/>
              <a:gd name="T46" fmla="*/ 28575 w 220"/>
              <a:gd name="T47" fmla="*/ 19050 h 419"/>
              <a:gd name="T48" fmla="*/ 0 w 220"/>
              <a:gd name="T49" fmla="*/ 0 h 4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20" h="419">
                <a:moveTo>
                  <a:pt x="219" y="418"/>
                </a:moveTo>
                <a:lnTo>
                  <a:pt x="215" y="391"/>
                </a:lnTo>
                <a:lnTo>
                  <a:pt x="211" y="365"/>
                </a:lnTo>
                <a:lnTo>
                  <a:pt x="206" y="340"/>
                </a:lnTo>
                <a:lnTo>
                  <a:pt x="201" y="316"/>
                </a:lnTo>
                <a:lnTo>
                  <a:pt x="195" y="293"/>
                </a:lnTo>
                <a:lnTo>
                  <a:pt x="190" y="271"/>
                </a:lnTo>
                <a:lnTo>
                  <a:pt x="184" y="250"/>
                </a:lnTo>
                <a:lnTo>
                  <a:pt x="179" y="230"/>
                </a:lnTo>
                <a:lnTo>
                  <a:pt x="172" y="212"/>
                </a:lnTo>
                <a:lnTo>
                  <a:pt x="168" y="195"/>
                </a:lnTo>
                <a:lnTo>
                  <a:pt x="161" y="179"/>
                </a:lnTo>
                <a:lnTo>
                  <a:pt x="156" y="164"/>
                </a:lnTo>
                <a:lnTo>
                  <a:pt x="149" y="150"/>
                </a:lnTo>
                <a:lnTo>
                  <a:pt x="142" y="135"/>
                </a:lnTo>
                <a:lnTo>
                  <a:pt x="134" y="121"/>
                </a:lnTo>
                <a:lnTo>
                  <a:pt x="123" y="107"/>
                </a:lnTo>
                <a:lnTo>
                  <a:pt x="111" y="93"/>
                </a:lnTo>
                <a:lnTo>
                  <a:pt x="99" y="79"/>
                </a:lnTo>
                <a:lnTo>
                  <a:pt x="84" y="64"/>
                </a:lnTo>
                <a:lnTo>
                  <a:pt x="70" y="51"/>
                </a:lnTo>
                <a:lnTo>
                  <a:pt x="55" y="38"/>
                </a:lnTo>
                <a:lnTo>
                  <a:pt x="36" y="25"/>
                </a:lnTo>
                <a:lnTo>
                  <a:pt x="18" y="12"/>
                </a:lnTo>
                <a:lnTo>
                  <a:pt x="0" y="0"/>
                </a:lnTo>
              </a:path>
            </a:pathLst>
          </a:custGeom>
          <a:noFill/>
          <a:ln w="12700" cap="rnd" cmpd="sng">
            <a:solidFill>
              <a:srgbClr val="000000"/>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36881" name="Rectangle 31">
            <a:extLst>
              <a:ext uri="{FF2B5EF4-FFF2-40B4-BE49-F238E27FC236}">
                <a16:creationId xmlns:a16="http://schemas.microsoft.com/office/drawing/2014/main" id="{3B3F69BE-B955-41B5-99AF-7AF930E7DB66}"/>
              </a:ext>
            </a:extLst>
          </p:cNvPr>
          <p:cNvSpPr>
            <a:spLocks noChangeArrowheads="1"/>
          </p:cNvSpPr>
          <p:nvPr/>
        </p:nvSpPr>
        <p:spPr bwMode="auto">
          <a:xfrm>
            <a:off x="6705600" y="5789613"/>
            <a:ext cx="222753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WITH GAIN ERROR:</a:t>
            </a:r>
          </a:p>
        </p:txBody>
      </p:sp>
      <p:sp>
        <p:nvSpPr>
          <p:cNvPr id="36882" name="Rectangle 32">
            <a:extLst>
              <a:ext uri="{FF2B5EF4-FFF2-40B4-BE49-F238E27FC236}">
                <a16:creationId xmlns:a16="http://schemas.microsoft.com/office/drawing/2014/main" id="{B6A77C2E-96C5-45AA-B094-E37CEC9C8D77}"/>
              </a:ext>
            </a:extLst>
          </p:cNvPr>
          <p:cNvSpPr>
            <a:spLocks noChangeArrowheads="1"/>
          </p:cNvSpPr>
          <p:nvPr/>
        </p:nvSpPr>
        <p:spPr bwMode="auto">
          <a:xfrm>
            <a:off x="6705600" y="6025357"/>
            <a:ext cx="2222725"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OFFSET ERROR = 0</a:t>
            </a:r>
          </a:p>
        </p:txBody>
      </p:sp>
      <p:sp>
        <p:nvSpPr>
          <p:cNvPr id="36883" name="Rectangle 33">
            <a:extLst>
              <a:ext uri="{FF2B5EF4-FFF2-40B4-BE49-F238E27FC236}">
                <a16:creationId xmlns:a16="http://schemas.microsoft.com/office/drawing/2014/main" id="{DEE0E339-CB1C-4BFD-9363-46C39BBB80C8}"/>
              </a:ext>
            </a:extLst>
          </p:cNvPr>
          <p:cNvSpPr>
            <a:spLocks noChangeArrowheads="1"/>
          </p:cNvSpPr>
          <p:nvPr/>
        </p:nvSpPr>
        <p:spPr bwMode="auto">
          <a:xfrm>
            <a:off x="6705600" y="6254116"/>
            <a:ext cx="2646238"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ZERO ERROR RESULTS</a:t>
            </a:r>
          </a:p>
        </p:txBody>
      </p:sp>
      <p:sp>
        <p:nvSpPr>
          <p:cNvPr id="36884" name="Rectangle 34">
            <a:extLst>
              <a:ext uri="{FF2B5EF4-FFF2-40B4-BE49-F238E27FC236}">
                <a16:creationId xmlns:a16="http://schemas.microsoft.com/office/drawing/2014/main" id="{ECC04A39-373E-4C29-9903-BC6C0DEDDBD6}"/>
              </a:ext>
            </a:extLst>
          </p:cNvPr>
          <p:cNvSpPr>
            <a:spLocks noChangeArrowheads="1"/>
          </p:cNvSpPr>
          <p:nvPr/>
        </p:nvSpPr>
        <p:spPr bwMode="auto">
          <a:xfrm>
            <a:off x="6705600" y="6484621"/>
            <a:ext cx="2238755"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FROM GAIN ERROR</a:t>
            </a:r>
          </a:p>
        </p:txBody>
      </p:sp>
      <p:sp>
        <p:nvSpPr>
          <p:cNvPr id="36885" name="Rectangle 35">
            <a:extLst>
              <a:ext uri="{FF2B5EF4-FFF2-40B4-BE49-F238E27FC236}">
                <a16:creationId xmlns:a16="http://schemas.microsoft.com/office/drawing/2014/main" id="{E9A7A00B-7BF4-4D82-9FE8-7A2CEF12370B}"/>
              </a:ext>
            </a:extLst>
          </p:cNvPr>
          <p:cNvSpPr>
            <a:spLocks noChangeArrowheads="1"/>
          </p:cNvSpPr>
          <p:nvPr/>
        </p:nvSpPr>
        <p:spPr bwMode="auto">
          <a:xfrm>
            <a:off x="6751002" y="3000852"/>
            <a:ext cx="1073372"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ACTUAL</a:t>
            </a:r>
          </a:p>
        </p:txBody>
      </p:sp>
      <p:sp>
        <p:nvSpPr>
          <p:cNvPr id="36886" name="Rectangle 36">
            <a:extLst>
              <a:ext uri="{FF2B5EF4-FFF2-40B4-BE49-F238E27FC236}">
                <a16:creationId xmlns:a16="http://schemas.microsoft.com/office/drawing/2014/main" id="{FCC12356-F4F1-4185-AB91-AE90BBF31A98}"/>
              </a:ext>
            </a:extLst>
          </p:cNvPr>
          <p:cNvSpPr>
            <a:spLocks noChangeArrowheads="1"/>
          </p:cNvSpPr>
          <p:nvPr/>
        </p:nvSpPr>
        <p:spPr bwMode="auto">
          <a:xfrm>
            <a:off x="4197985" y="3660935"/>
            <a:ext cx="839333"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IDEAL</a:t>
            </a:r>
          </a:p>
        </p:txBody>
      </p:sp>
      <p:sp>
        <p:nvSpPr>
          <p:cNvPr id="36887" name="Rectangle 37">
            <a:extLst>
              <a:ext uri="{FF2B5EF4-FFF2-40B4-BE49-F238E27FC236}">
                <a16:creationId xmlns:a16="http://schemas.microsoft.com/office/drawing/2014/main" id="{35EC2651-B3DC-4120-9D15-B7DA4006A0E2}"/>
              </a:ext>
            </a:extLst>
          </p:cNvPr>
          <p:cNvSpPr>
            <a:spLocks noChangeArrowheads="1"/>
          </p:cNvSpPr>
          <p:nvPr/>
        </p:nvSpPr>
        <p:spPr bwMode="auto">
          <a:xfrm>
            <a:off x="8149749" y="3617278"/>
            <a:ext cx="839333"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IDEAL</a:t>
            </a:r>
          </a:p>
        </p:txBody>
      </p:sp>
      <p:sp>
        <p:nvSpPr>
          <p:cNvPr id="36888" name="Freeform 38">
            <a:extLst>
              <a:ext uri="{FF2B5EF4-FFF2-40B4-BE49-F238E27FC236}">
                <a16:creationId xmlns:a16="http://schemas.microsoft.com/office/drawing/2014/main" id="{2E42C6D2-FC4C-4B82-AD86-5DD4A4A611A6}"/>
              </a:ext>
            </a:extLst>
          </p:cNvPr>
          <p:cNvSpPr>
            <a:spLocks/>
          </p:cNvSpPr>
          <p:nvPr/>
        </p:nvSpPr>
        <p:spPr bwMode="auto">
          <a:xfrm>
            <a:off x="7659053" y="4024154"/>
            <a:ext cx="384175" cy="731678"/>
          </a:xfrm>
          <a:custGeom>
            <a:avLst/>
            <a:gdLst>
              <a:gd name="T0" fmla="*/ 347663 w 220"/>
              <a:gd name="T1" fmla="*/ 663575 h 419"/>
              <a:gd name="T2" fmla="*/ 341313 w 220"/>
              <a:gd name="T3" fmla="*/ 620712 h 419"/>
              <a:gd name="T4" fmla="*/ 333375 w 220"/>
              <a:gd name="T5" fmla="*/ 581025 h 419"/>
              <a:gd name="T6" fmla="*/ 325438 w 220"/>
              <a:gd name="T7" fmla="*/ 539750 h 419"/>
              <a:gd name="T8" fmla="*/ 319088 w 220"/>
              <a:gd name="T9" fmla="*/ 503237 h 419"/>
              <a:gd name="T10" fmla="*/ 311150 w 220"/>
              <a:gd name="T11" fmla="*/ 466725 h 419"/>
              <a:gd name="T12" fmla="*/ 301625 w 220"/>
              <a:gd name="T13" fmla="*/ 430212 h 419"/>
              <a:gd name="T14" fmla="*/ 293688 w 220"/>
              <a:gd name="T15" fmla="*/ 398462 h 419"/>
              <a:gd name="T16" fmla="*/ 284163 w 220"/>
              <a:gd name="T17" fmla="*/ 365125 h 419"/>
              <a:gd name="T18" fmla="*/ 274638 w 220"/>
              <a:gd name="T19" fmla="*/ 336550 h 419"/>
              <a:gd name="T20" fmla="*/ 265113 w 220"/>
              <a:gd name="T21" fmla="*/ 309562 h 419"/>
              <a:gd name="T22" fmla="*/ 257175 w 220"/>
              <a:gd name="T23" fmla="*/ 284162 h 419"/>
              <a:gd name="T24" fmla="*/ 247650 w 220"/>
              <a:gd name="T25" fmla="*/ 261937 h 419"/>
              <a:gd name="T26" fmla="*/ 238125 w 220"/>
              <a:gd name="T27" fmla="*/ 236537 h 419"/>
              <a:gd name="T28" fmla="*/ 227013 w 220"/>
              <a:gd name="T29" fmla="*/ 214312 h 419"/>
              <a:gd name="T30" fmla="*/ 211138 w 220"/>
              <a:gd name="T31" fmla="*/ 193675 h 419"/>
              <a:gd name="T32" fmla="*/ 196850 w 220"/>
              <a:gd name="T33" fmla="*/ 171450 h 419"/>
              <a:gd name="T34" fmla="*/ 176213 w 220"/>
              <a:gd name="T35" fmla="*/ 147637 h 419"/>
              <a:gd name="T36" fmla="*/ 155575 w 220"/>
              <a:gd name="T37" fmla="*/ 125412 h 419"/>
              <a:gd name="T38" fmla="*/ 134938 w 220"/>
              <a:gd name="T39" fmla="*/ 104775 h 419"/>
              <a:gd name="T40" fmla="*/ 111125 w 220"/>
              <a:gd name="T41" fmla="*/ 82550 h 419"/>
              <a:gd name="T42" fmla="*/ 85725 w 220"/>
              <a:gd name="T43" fmla="*/ 60325 h 419"/>
              <a:gd name="T44" fmla="*/ 58738 w 220"/>
              <a:gd name="T45" fmla="*/ 39687 h 419"/>
              <a:gd name="T46" fmla="*/ 30163 w 220"/>
              <a:gd name="T47" fmla="*/ 20637 h 419"/>
              <a:gd name="T48" fmla="*/ 0 w 220"/>
              <a:gd name="T49" fmla="*/ 0 h 4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20" h="419">
                <a:moveTo>
                  <a:pt x="219" y="418"/>
                </a:moveTo>
                <a:lnTo>
                  <a:pt x="215" y="391"/>
                </a:lnTo>
                <a:lnTo>
                  <a:pt x="210" y="366"/>
                </a:lnTo>
                <a:lnTo>
                  <a:pt x="205" y="340"/>
                </a:lnTo>
                <a:lnTo>
                  <a:pt x="201" y="317"/>
                </a:lnTo>
                <a:lnTo>
                  <a:pt x="196" y="294"/>
                </a:lnTo>
                <a:lnTo>
                  <a:pt x="190" y="271"/>
                </a:lnTo>
                <a:lnTo>
                  <a:pt x="185" y="251"/>
                </a:lnTo>
                <a:lnTo>
                  <a:pt x="179" y="230"/>
                </a:lnTo>
                <a:lnTo>
                  <a:pt x="173" y="212"/>
                </a:lnTo>
                <a:lnTo>
                  <a:pt x="167" y="195"/>
                </a:lnTo>
                <a:lnTo>
                  <a:pt x="162" y="179"/>
                </a:lnTo>
                <a:lnTo>
                  <a:pt x="156" y="165"/>
                </a:lnTo>
                <a:lnTo>
                  <a:pt x="150" y="149"/>
                </a:lnTo>
                <a:lnTo>
                  <a:pt x="143" y="135"/>
                </a:lnTo>
                <a:lnTo>
                  <a:pt x="133" y="122"/>
                </a:lnTo>
                <a:lnTo>
                  <a:pt x="124" y="108"/>
                </a:lnTo>
                <a:lnTo>
                  <a:pt x="111" y="93"/>
                </a:lnTo>
                <a:lnTo>
                  <a:pt x="98" y="79"/>
                </a:lnTo>
                <a:lnTo>
                  <a:pt x="85" y="66"/>
                </a:lnTo>
                <a:lnTo>
                  <a:pt x="70" y="52"/>
                </a:lnTo>
                <a:lnTo>
                  <a:pt x="54" y="38"/>
                </a:lnTo>
                <a:lnTo>
                  <a:pt x="37" y="25"/>
                </a:lnTo>
                <a:lnTo>
                  <a:pt x="19" y="13"/>
                </a:lnTo>
                <a:lnTo>
                  <a:pt x="0" y="0"/>
                </a:lnTo>
              </a:path>
            </a:pathLst>
          </a:custGeom>
          <a:noFill/>
          <a:ln w="12700" cap="rnd" cmpd="sng">
            <a:solidFill>
              <a:srgbClr val="000000"/>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36889" name="Rectangle 39">
            <a:extLst>
              <a:ext uri="{FF2B5EF4-FFF2-40B4-BE49-F238E27FC236}">
                <a16:creationId xmlns:a16="http://schemas.microsoft.com/office/drawing/2014/main" id="{3089305B-0ECB-4AF8-95BA-C69E86CC5381}"/>
              </a:ext>
            </a:extLst>
          </p:cNvPr>
          <p:cNvSpPr>
            <a:spLocks noChangeArrowheads="1"/>
          </p:cNvSpPr>
          <p:nvPr/>
        </p:nvSpPr>
        <p:spPr bwMode="auto">
          <a:xfrm>
            <a:off x="3550127" y="4804728"/>
            <a:ext cx="1615187"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ZERO ERROR</a:t>
            </a:r>
          </a:p>
        </p:txBody>
      </p:sp>
      <p:sp>
        <p:nvSpPr>
          <p:cNvPr id="36890" name="Rectangle 40">
            <a:extLst>
              <a:ext uri="{FF2B5EF4-FFF2-40B4-BE49-F238E27FC236}">
                <a16:creationId xmlns:a16="http://schemas.microsoft.com/office/drawing/2014/main" id="{151E0A61-488C-4AD7-B52F-60D9F21AAB42}"/>
              </a:ext>
            </a:extLst>
          </p:cNvPr>
          <p:cNvSpPr>
            <a:spLocks noChangeArrowheads="1"/>
          </p:cNvSpPr>
          <p:nvPr/>
        </p:nvSpPr>
        <p:spPr bwMode="auto">
          <a:xfrm>
            <a:off x="7507130" y="4804728"/>
            <a:ext cx="1615187"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ZERO ERROR</a:t>
            </a:r>
          </a:p>
        </p:txBody>
      </p:sp>
      <p:sp>
        <p:nvSpPr>
          <p:cNvPr id="36891" name="Rectangle 41">
            <a:extLst>
              <a:ext uri="{FF2B5EF4-FFF2-40B4-BE49-F238E27FC236}">
                <a16:creationId xmlns:a16="http://schemas.microsoft.com/office/drawing/2014/main" id="{B414D1C7-3BFE-4C7A-811D-D2E195824573}"/>
              </a:ext>
            </a:extLst>
          </p:cNvPr>
          <p:cNvSpPr>
            <a:spLocks noChangeArrowheads="1"/>
          </p:cNvSpPr>
          <p:nvPr/>
        </p:nvSpPr>
        <p:spPr bwMode="auto">
          <a:xfrm>
            <a:off x="2624614" y="5833270"/>
            <a:ext cx="2003113"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NO GAIN ERROR:</a:t>
            </a:r>
          </a:p>
        </p:txBody>
      </p:sp>
      <p:sp>
        <p:nvSpPr>
          <p:cNvPr id="36892" name="Rectangle 42">
            <a:extLst>
              <a:ext uri="{FF2B5EF4-FFF2-40B4-BE49-F238E27FC236}">
                <a16:creationId xmlns:a16="http://schemas.microsoft.com/office/drawing/2014/main" id="{A3977F43-8D7E-44AF-9A3E-2EB0B4CC29F8}"/>
              </a:ext>
            </a:extLst>
          </p:cNvPr>
          <p:cNvSpPr>
            <a:spLocks noChangeArrowheads="1"/>
          </p:cNvSpPr>
          <p:nvPr/>
        </p:nvSpPr>
        <p:spPr bwMode="auto">
          <a:xfrm>
            <a:off x="2624614" y="6069013"/>
            <a:ext cx="3516348"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ZERO ERROR = OFFSET ERROR</a:t>
            </a:r>
          </a:p>
        </p:txBody>
      </p:sp>
      <p:sp>
        <p:nvSpPr>
          <p:cNvPr id="36893" name="Rectangle 43">
            <a:extLst>
              <a:ext uri="{FF2B5EF4-FFF2-40B4-BE49-F238E27FC236}">
                <a16:creationId xmlns:a16="http://schemas.microsoft.com/office/drawing/2014/main" id="{1DED9B08-30EE-4EE6-A6E7-62F9AA3A147F}"/>
              </a:ext>
            </a:extLst>
          </p:cNvPr>
          <p:cNvSpPr>
            <a:spLocks noChangeArrowheads="1"/>
          </p:cNvSpPr>
          <p:nvPr/>
        </p:nvSpPr>
        <p:spPr bwMode="auto">
          <a:xfrm>
            <a:off x="1800384" y="4319271"/>
            <a:ext cx="32156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0</a:t>
            </a:r>
          </a:p>
        </p:txBody>
      </p:sp>
      <p:sp>
        <p:nvSpPr>
          <p:cNvPr id="36894" name="Rectangle 44">
            <a:extLst>
              <a:ext uri="{FF2B5EF4-FFF2-40B4-BE49-F238E27FC236}">
                <a16:creationId xmlns:a16="http://schemas.microsoft.com/office/drawing/2014/main" id="{32FEFBBB-6DC1-48A5-A1DF-1F210DC34158}"/>
              </a:ext>
            </a:extLst>
          </p:cNvPr>
          <p:cNvSpPr>
            <a:spLocks noChangeArrowheads="1"/>
          </p:cNvSpPr>
          <p:nvPr/>
        </p:nvSpPr>
        <p:spPr bwMode="auto">
          <a:xfrm>
            <a:off x="5874385" y="4289585"/>
            <a:ext cx="321564" cy="35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650" b="1">
                <a:solidFill>
                  <a:srgbClr val="000000"/>
                </a:solidFill>
              </a:rPr>
              <a:t>0</a:t>
            </a:r>
          </a:p>
        </p:txBody>
      </p:sp>
      <p:sp>
        <p:nvSpPr>
          <p:cNvPr id="3" name="Title 2">
            <a:extLst>
              <a:ext uri="{FF2B5EF4-FFF2-40B4-BE49-F238E27FC236}">
                <a16:creationId xmlns:a16="http://schemas.microsoft.com/office/drawing/2014/main" id="{C8E3FE23-B1E2-4AAF-8D7B-8C35464BF7BF}"/>
              </a:ext>
            </a:extLst>
          </p:cNvPr>
          <p:cNvSpPr>
            <a:spLocks noGrp="1"/>
          </p:cNvSpPr>
          <p:nvPr>
            <p:ph type="title"/>
          </p:nvPr>
        </p:nvSpPr>
        <p:spPr/>
        <p:txBody>
          <a:bodyPr/>
          <a:lstStyle/>
          <a:p>
            <a:r>
              <a:rPr lang="en-US" dirty="0"/>
              <a:t>Offset And Gain for Bipolar Ranges</a:t>
            </a:r>
            <a:endParaRPr lang="en-GB" dirty="0"/>
          </a:p>
        </p:txBody>
      </p:sp>
      <p:sp>
        <p:nvSpPr>
          <p:cNvPr id="4" name="Slide Number Placeholder 3">
            <a:extLst>
              <a:ext uri="{FF2B5EF4-FFF2-40B4-BE49-F238E27FC236}">
                <a16:creationId xmlns:a16="http://schemas.microsoft.com/office/drawing/2014/main" id="{B4EA25BD-D739-4604-BB15-0977C6C7118B}"/>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71</a:t>
            </a:fld>
            <a:endParaRPr lang="en-US" dirty="0"/>
          </a:p>
        </p:txBody>
      </p:sp>
      <p:sp>
        <p:nvSpPr>
          <p:cNvPr id="6" name="Date Placeholder 5">
            <a:extLst>
              <a:ext uri="{FF2B5EF4-FFF2-40B4-BE49-F238E27FC236}">
                <a16:creationId xmlns:a16="http://schemas.microsoft.com/office/drawing/2014/main" id="{9714E575-204B-4410-A98D-0396AEFC11C5}"/>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BECC1ED6-872E-4696-9051-4D653E3A4CB3}"/>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9296242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5445AAC2-5293-465F-9544-449191EC87BA}"/>
              </a:ext>
            </a:extLst>
          </p:cNvPr>
          <p:cNvSpPr>
            <a:spLocks noGrp="1" noChangeArrowheads="1"/>
          </p:cNvSpPr>
          <p:nvPr>
            <p:ph sz="quarter" idx="1"/>
          </p:nvPr>
        </p:nvSpPr>
        <p:spPr>
          <a:xfrm>
            <a:off x="331927" y="1730654"/>
            <a:ext cx="4948733" cy="5181600"/>
          </a:xfrm>
        </p:spPr>
        <p:txBody>
          <a:bodyPr>
            <a:normAutofit/>
          </a:bodyPr>
          <a:lstStyle/>
          <a:p>
            <a:r>
              <a:rPr lang="en-US" altLang="en-US" sz="2400" dirty="0">
                <a:latin typeface="Arial" panose="020B0604020202020204" pitchFamily="34" charset="0"/>
                <a:cs typeface="Arial" panose="020B0604020202020204" pitchFamily="34" charset="0"/>
              </a:rPr>
              <a:t>Differential Non-Linearity (DNL) is the deviation of an actual code width from the ideal</a:t>
            </a:r>
            <a:r>
              <a:rPr lang="en-IE" altLang="en-US" sz="2400" dirty="0">
                <a:latin typeface="Arial" panose="020B0604020202020204" pitchFamily="34" charset="0"/>
                <a:cs typeface="Arial" panose="020B0604020202020204" pitchFamily="34" charset="0"/>
              </a:rPr>
              <a:t> </a:t>
            </a:r>
            <a:r>
              <a:rPr lang="en-IE" altLang="en-US" sz="2400" dirty="0">
                <a:solidFill>
                  <a:srgbClr val="FF0000"/>
                </a:solidFill>
                <a:latin typeface="Arial" panose="020B0604020202020204" pitchFamily="34" charset="0"/>
                <a:cs typeface="Arial" panose="020B0604020202020204" pitchFamily="34" charset="0"/>
              </a:rPr>
              <a:t>1 LSB code width</a:t>
            </a:r>
            <a:endParaRPr lang="en-US" altLang="en-US" sz="2400" dirty="0">
              <a:solidFill>
                <a:srgbClr val="FF0000"/>
              </a:solidFill>
              <a:latin typeface="Arial" panose="020B0604020202020204" pitchFamily="34" charset="0"/>
              <a:cs typeface="Arial" panose="020B0604020202020204" pitchFamily="34" charset="0"/>
            </a:endParaRPr>
          </a:p>
          <a:p>
            <a:r>
              <a:rPr lang="en-IE" altLang="en-US" sz="2400" dirty="0">
                <a:solidFill>
                  <a:srgbClr val="FF0000"/>
                </a:solidFill>
                <a:latin typeface="Arial" panose="020B0604020202020204" pitchFamily="34" charset="0"/>
                <a:cs typeface="Arial" panose="020B0604020202020204" pitchFamily="34" charset="0"/>
              </a:rPr>
              <a:t>Results in narrow or wider code widths than ideal and can result in missing codes</a:t>
            </a:r>
          </a:p>
          <a:p>
            <a:r>
              <a:rPr lang="en-US" altLang="en-US" sz="2400" dirty="0">
                <a:solidFill>
                  <a:srgbClr val="FF0000"/>
                </a:solidFill>
                <a:latin typeface="Arial" panose="020B0604020202020204" pitchFamily="34" charset="0"/>
                <a:cs typeface="Arial" panose="020B0604020202020204" pitchFamily="34" charset="0"/>
              </a:rPr>
              <a:t>Results in additive noise/spurs beyond the effects of quantization</a:t>
            </a:r>
          </a:p>
          <a:p>
            <a:endParaRPr lang="en-US" altLang="en-US" sz="2400" dirty="0">
              <a:solidFill>
                <a:srgbClr val="FF0000"/>
              </a:solidFill>
              <a:latin typeface="Arial" panose="020B0604020202020204" pitchFamily="34" charset="0"/>
              <a:cs typeface="Arial" panose="020B0604020202020204" pitchFamily="34" charset="0"/>
            </a:endParaRPr>
          </a:p>
        </p:txBody>
      </p:sp>
      <p:sp>
        <p:nvSpPr>
          <p:cNvPr id="40962" name="Rectangle 2">
            <a:extLst>
              <a:ext uri="{FF2B5EF4-FFF2-40B4-BE49-F238E27FC236}">
                <a16:creationId xmlns:a16="http://schemas.microsoft.com/office/drawing/2014/main" id="{EB20F3C9-9906-4B41-BA5F-27E443C62F7D}"/>
              </a:ext>
            </a:extLst>
          </p:cNvPr>
          <p:cNvSpPr>
            <a:spLocks noGrp="1" noChangeArrowheads="1"/>
          </p:cNvSpPr>
          <p:nvPr>
            <p:ph type="title"/>
          </p:nvPr>
        </p:nvSpPr>
        <p:spPr/>
        <p:txBody>
          <a:bodyPr/>
          <a:lstStyle/>
          <a:p>
            <a:r>
              <a:rPr lang="en-US" altLang="en-US"/>
              <a:t>DC Specifications (DNL)</a:t>
            </a:r>
          </a:p>
        </p:txBody>
      </p:sp>
      <p:sp>
        <p:nvSpPr>
          <p:cNvPr id="2" name="Slide Number Placeholder 1">
            <a:extLst>
              <a:ext uri="{FF2B5EF4-FFF2-40B4-BE49-F238E27FC236}">
                <a16:creationId xmlns:a16="http://schemas.microsoft.com/office/drawing/2014/main" id="{0C1BE186-AB61-45E7-A247-39865F9D5CBC}"/>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72</a:t>
            </a:fld>
            <a:endParaRPr lang="en-US" dirty="0"/>
          </a:p>
        </p:txBody>
      </p:sp>
      <p:graphicFrame>
        <p:nvGraphicFramePr>
          <p:cNvPr id="40964" name="Object 4">
            <a:extLst>
              <a:ext uri="{FF2B5EF4-FFF2-40B4-BE49-F238E27FC236}">
                <a16:creationId xmlns:a16="http://schemas.microsoft.com/office/drawing/2014/main" id="{3E05508E-CEC3-4AE3-89DA-6EA2C62F48A2}"/>
              </a:ext>
            </a:extLst>
          </p:cNvPr>
          <p:cNvGraphicFramePr>
            <a:graphicFrameLocks noGrp="1" noChangeAspect="1"/>
          </p:cNvGraphicFramePr>
          <p:nvPr>
            <p:ph type="clipArt" sz="half" idx="4294967295"/>
          </p:nvPr>
        </p:nvGraphicFramePr>
        <p:xfrm>
          <a:off x="4778375" y="2266950"/>
          <a:ext cx="5280025" cy="4505325"/>
        </p:xfrm>
        <a:graphic>
          <a:graphicData uri="http://schemas.openxmlformats.org/presentationml/2006/ole">
            <mc:AlternateContent xmlns:mc="http://schemas.openxmlformats.org/markup-compatibility/2006">
              <mc:Choice xmlns:v="urn:schemas-microsoft-com:vml" Requires="v">
                <p:oleObj name="VISIO" r:id="rId3" imgW="5402520" imgH="4608720" progId="Visio.Drawing.5">
                  <p:embed/>
                </p:oleObj>
              </mc:Choice>
              <mc:Fallback>
                <p:oleObj name="VISIO" r:id="rId3" imgW="5402520" imgH="4608720" progId="Visio.Drawing.5">
                  <p:embed/>
                  <p:pic>
                    <p:nvPicPr>
                      <p:cNvPr id="40964" name="Object 4">
                        <a:extLst>
                          <a:ext uri="{FF2B5EF4-FFF2-40B4-BE49-F238E27FC236}">
                            <a16:creationId xmlns:a16="http://schemas.microsoft.com/office/drawing/2014/main" id="{3E05508E-CEC3-4AE3-89DA-6EA2C62F48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8375" y="2266950"/>
                        <a:ext cx="5280025" cy="450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 name="Date Placeholder 2">
            <a:extLst>
              <a:ext uri="{FF2B5EF4-FFF2-40B4-BE49-F238E27FC236}">
                <a16:creationId xmlns:a16="http://schemas.microsoft.com/office/drawing/2014/main" id="{D5463391-8278-4E08-86AC-B80277CDE6F9}"/>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95C01304-F202-48B7-8F5C-0C3E1C75638D}"/>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2696746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52BEA9F-645C-4683-8AA8-E1483C1D502C}"/>
              </a:ext>
            </a:extLst>
          </p:cNvPr>
          <p:cNvSpPr>
            <a:spLocks noGrp="1"/>
          </p:cNvSpPr>
          <p:nvPr>
            <p:ph sz="quarter" idx="1"/>
          </p:nvPr>
        </p:nvSpPr>
        <p:spPr>
          <a:xfrm>
            <a:off x="331927" y="5715000"/>
            <a:ext cx="9354312" cy="1197254"/>
          </a:xfrm>
        </p:spPr>
        <p:txBody>
          <a:bodyPr/>
          <a:lstStyle/>
          <a:p>
            <a:r>
              <a:rPr lang="en-US" sz="2400" dirty="0">
                <a:latin typeface="Arial" panose="020B0604020202020204" pitchFamily="34" charset="0"/>
                <a:cs typeface="Arial" panose="020B0604020202020204" pitchFamily="34" charset="0"/>
              </a:rPr>
              <a:t>Many A/D converter data sheets specify “no missing codes” as this specification can be critical in some applications, such as in servo systems.</a:t>
            </a:r>
          </a:p>
          <a:p>
            <a:endParaRPr lang="en-GB" dirty="0"/>
          </a:p>
        </p:txBody>
      </p:sp>
      <p:sp>
        <p:nvSpPr>
          <p:cNvPr id="2" name="Title 1">
            <a:extLst>
              <a:ext uri="{FF2B5EF4-FFF2-40B4-BE49-F238E27FC236}">
                <a16:creationId xmlns:a16="http://schemas.microsoft.com/office/drawing/2014/main" id="{D67806B2-2228-4BCE-AC55-BA7112FC7824}"/>
              </a:ext>
            </a:extLst>
          </p:cNvPr>
          <p:cNvSpPr>
            <a:spLocks noGrp="1"/>
          </p:cNvSpPr>
          <p:nvPr>
            <p:ph type="title"/>
          </p:nvPr>
        </p:nvSpPr>
        <p:spPr/>
        <p:txBody>
          <a:bodyPr/>
          <a:lstStyle/>
          <a:p>
            <a:r>
              <a:rPr lang="en-GB" dirty="0"/>
              <a:t>Missing Codes</a:t>
            </a:r>
          </a:p>
        </p:txBody>
      </p:sp>
      <p:sp>
        <p:nvSpPr>
          <p:cNvPr id="4" name="Slide Number Placeholder 3">
            <a:extLst>
              <a:ext uri="{FF2B5EF4-FFF2-40B4-BE49-F238E27FC236}">
                <a16:creationId xmlns:a16="http://schemas.microsoft.com/office/drawing/2014/main" id="{9DFA3A13-25EA-4E15-AA14-F3E21743E182}"/>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73</a:t>
            </a:fld>
            <a:endParaRPr lang="en-US" dirty="0"/>
          </a:p>
        </p:txBody>
      </p:sp>
      <p:pic>
        <p:nvPicPr>
          <p:cNvPr id="23" name="Picture 22">
            <a:extLst>
              <a:ext uri="{FF2B5EF4-FFF2-40B4-BE49-F238E27FC236}">
                <a16:creationId xmlns:a16="http://schemas.microsoft.com/office/drawing/2014/main" id="{E28BF1A9-74DC-4986-ACC9-ECCC1A43A3C2}"/>
              </a:ext>
            </a:extLst>
          </p:cNvPr>
          <p:cNvPicPr>
            <a:picLocks noChangeAspect="1"/>
          </p:cNvPicPr>
          <p:nvPr/>
        </p:nvPicPr>
        <p:blipFill>
          <a:blip r:embed="rId2"/>
          <a:stretch>
            <a:fillRect/>
          </a:stretch>
        </p:blipFill>
        <p:spPr>
          <a:xfrm>
            <a:off x="2794514" y="1507536"/>
            <a:ext cx="4469372" cy="4283664"/>
          </a:xfrm>
          <a:prstGeom prst="rect">
            <a:avLst/>
          </a:prstGeom>
        </p:spPr>
      </p:pic>
      <p:sp>
        <p:nvSpPr>
          <p:cNvPr id="6" name="Date Placeholder 5">
            <a:extLst>
              <a:ext uri="{FF2B5EF4-FFF2-40B4-BE49-F238E27FC236}">
                <a16:creationId xmlns:a16="http://schemas.microsoft.com/office/drawing/2014/main" id="{91BEB87D-89F3-4F11-8B28-F236DEEEC94B}"/>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DF77FB02-C604-486D-B7F2-9C466D1854DA}"/>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7296234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B4871607-1C82-4170-9855-FD7B713B8B70}"/>
              </a:ext>
            </a:extLst>
          </p:cNvPr>
          <p:cNvSpPr>
            <a:spLocks noGrp="1" noChangeArrowheads="1"/>
          </p:cNvSpPr>
          <p:nvPr>
            <p:ph sz="quarter" idx="1"/>
          </p:nvPr>
        </p:nvSpPr>
        <p:spPr>
          <a:xfrm>
            <a:off x="331927" y="1730654"/>
            <a:ext cx="5002073" cy="5181600"/>
          </a:xfrm>
        </p:spPr>
        <p:txBody>
          <a:bodyPr>
            <a:normAutofit/>
          </a:bodyPr>
          <a:lstStyle/>
          <a:p>
            <a:r>
              <a:rPr lang="en-US" altLang="en-US" sz="2400" dirty="0">
                <a:latin typeface="Arial" panose="020B0604020202020204" pitchFamily="34" charset="0"/>
                <a:cs typeface="Arial" panose="020B0604020202020204" pitchFamily="34" charset="0"/>
              </a:rPr>
              <a:t>Integral Non-Linearity (INL) is the deviation of an actual code transition point from </a:t>
            </a:r>
            <a:r>
              <a:rPr lang="en-US" altLang="en-US" sz="2400" dirty="0">
                <a:solidFill>
                  <a:srgbClr val="FF0000"/>
                </a:solidFill>
                <a:latin typeface="Arial" panose="020B0604020202020204" pitchFamily="34" charset="0"/>
                <a:cs typeface="Arial" panose="020B0604020202020204" pitchFamily="34" charset="0"/>
              </a:rPr>
              <a:t>its ideal</a:t>
            </a:r>
            <a:r>
              <a:rPr lang="en-IE" altLang="en-US" sz="2400" dirty="0">
                <a:solidFill>
                  <a:srgbClr val="FF0000"/>
                </a:solidFill>
                <a:latin typeface="Arial" panose="020B0604020202020204" pitchFamily="34" charset="0"/>
                <a:cs typeface="Arial" panose="020B0604020202020204" pitchFamily="34" charset="0"/>
              </a:rPr>
              <a:t> position on a straight line drawn between the end points of the transfer function</a:t>
            </a:r>
            <a:r>
              <a:rPr lang="en-US" altLang="en-US" sz="2400" dirty="0">
                <a:solidFill>
                  <a:srgbClr val="FF0000"/>
                </a:solidFill>
                <a:latin typeface="Arial" panose="020B0604020202020204" pitchFamily="34" charset="0"/>
                <a:cs typeface="Arial" panose="020B0604020202020204" pitchFamily="34" charset="0"/>
              </a:rPr>
              <a:t>.</a:t>
            </a:r>
          </a:p>
          <a:p>
            <a:r>
              <a:rPr lang="en-IE" altLang="en-US" sz="2400" dirty="0">
                <a:latin typeface="Arial" panose="020B0604020202020204" pitchFamily="34" charset="0"/>
                <a:cs typeface="Arial" panose="020B0604020202020204" pitchFamily="34" charset="0"/>
              </a:rPr>
              <a:t>INL is calculated after offset and gain errors are removed</a:t>
            </a:r>
          </a:p>
          <a:p>
            <a:r>
              <a:rPr lang="en-US" altLang="en-US" sz="2400" dirty="0">
                <a:latin typeface="Arial" panose="020B0604020202020204" pitchFamily="34" charset="0"/>
                <a:cs typeface="Arial" panose="020B0604020202020204" pitchFamily="34" charset="0"/>
              </a:rPr>
              <a:t>Results in additive harmonics and spurs</a:t>
            </a:r>
          </a:p>
        </p:txBody>
      </p:sp>
      <p:sp>
        <p:nvSpPr>
          <p:cNvPr id="45058" name="Rectangle 2">
            <a:extLst>
              <a:ext uri="{FF2B5EF4-FFF2-40B4-BE49-F238E27FC236}">
                <a16:creationId xmlns:a16="http://schemas.microsoft.com/office/drawing/2014/main" id="{F306FA68-9CE9-4E83-A7DE-D5DAA48692C7}"/>
              </a:ext>
            </a:extLst>
          </p:cNvPr>
          <p:cNvSpPr>
            <a:spLocks noGrp="1" noChangeArrowheads="1"/>
          </p:cNvSpPr>
          <p:nvPr>
            <p:ph type="title"/>
          </p:nvPr>
        </p:nvSpPr>
        <p:spPr/>
        <p:txBody>
          <a:bodyPr/>
          <a:lstStyle/>
          <a:p>
            <a:r>
              <a:rPr lang="en-US" altLang="en-US" dirty="0"/>
              <a:t>DC Specifications (INL)</a:t>
            </a:r>
          </a:p>
        </p:txBody>
      </p:sp>
      <p:sp>
        <p:nvSpPr>
          <p:cNvPr id="2" name="Slide Number Placeholder 1">
            <a:extLst>
              <a:ext uri="{FF2B5EF4-FFF2-40B4-BE49-F238E27FC236}">
                <a16:creationId xmlns:a16="http://schemas.microsoft.com/office/drawing/2014/main" id="{7E626E00-61EB-4D62-B5BC-C245697465F8}"/>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74</a:t>
            </a:fld>
            <a:endParaRPr lang="en-US" dirty="0"/>
          </a:p>
        </p:txBody>
      </p:sp>
      <p:graphicFrame>
        <p:nvGraphicFramePr>
          <p:cNvPr id="45060" name="Object 4">
            <a:extLst>
              <a:ext uri="{FF2B5EF4-FFF2-40B4-BE49-F238E27FC236}">
                <a16:creationId xmlns:a16="http://schemas.microsoft.com/office/drawing/2014/main" id="{E8B2986F-BEA1-4793-A406-648A14C9BC58}"/>
              </a:ext>
            </a:extLst>
          </p:cNvPr>
          <p:cNvGraphicFramePr>
            <a:graphicFrameLocks noGrp="1" noChangeAspect="1"/>
          </p:cNvGraphicFramePr>
          <p:nvPr>
            <p:ph type="clipArt" sz="half" idx="4294967295"/>
          </p:nvPr>
        </p:nvGraphicFramePr>
        <p:xfrm>
          <a:off x="4778375" y="2266950"/>
          <a:ext cx="5280025" cy="4505325"/>
        </p:xfrm>
        <a:graphic>
          <a:graphicData uri="http://schemas.openxmlformats.org/presentationml/2006/ole">
            <mc:AlternateContent xmlns:mc="http://schemas.openxmlformats.org/markup-compatibility/2006">
              <mc:Choice xmlns:v="urn:schemas-microsoft-com:vml" Requires="v">
                <p:oleObj name="VISIO" r:id="rId3" imgW="5402520" imgH="4608720" progId="Visio.Drawing.5">
                  <p:embed/>
                </p:oleObj>
              </mc:Choice>
              <mc:Fallback>
                <p:oleObj name="VISIO" r:id="rId3" imgW="5402520" imgH="4608720" progId="Visio.Drawing.5">
                  <p:embed/>
                  <p:pic>
                    <p:nvPicPr>
                      <p:cNvPr id="45060" name="Object 4">
                        <a:extLst>
                          <a:ext uri="{FF2B5EF4-FFF2-40B4-BE49-F238E27FC236}">
                            <a16:creationId xmlns:a16="http://schemas.microsoft.com/office/drawing/2014/main" id="{E8B2986F-BEA1-4793-A406-648A14C9BC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8375" y="2266950"/>
                        <a:ext cx="5280025" cy="450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 name="Date Placeholder 2">
            <a:extLst>
              <a:ext uri="{FF2B5EF4-FFF2-40B4-BE49-F238E27FC236}">
                <a16:creationId xmlns:a16="http://schemas.microsoft.com/office/drawing/2014/main" id="{3EE69B85-D90A-4D0A-9599-D6745323C921}"/>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DA552A17-923B-4DA6-8DEB-4B362C486B71}"/>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2524762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CFF8DDD2-5FB5-464C-9F16-1707428E3D7E}"/>
              </a:ext>
            </a:extLst>
          </p:cNvPr>
          <p:cNvSpPr>
            <a:spLocks noGrp="1" noChangeArrowheads="1"/>
          </p:cNvSpPr>
          <p:nvPr>
            <p:ph sz="quarter" idx="1"/>
          </p:nvPr>
        </p:nvSpPr>
        <p:spPr/>
        <p:txBody>
          <a:bodyPr>
            <a:normAutofit/>
          </a:bodyPr>
          <a:lstStyle/>
          <a:p>
            <a:pPr>
              <a:lnSpc>
                <a:spcPct val="150000"/>
              </a:lnSpc>
            </a:pPr>
            <a:r>
              <a:rPr lang="en-US" altLang="en-US" sz="2400" dirty="0">
                <a:latin typeface="Arial" panose="020B0604020202020204" pitchFamily="34" charset="0"/>
                <a:cs typeface="Arial" panose="020B0604020202020204" pitchFamily="34" charset="0"/>
              </a:rPr>
              <a:t>2 signals </a:t>
            </a:r>
            <a:r>
              <a:rPr lang="en-IE" altLang="en-US" sz="2400" dirty="0">
                <a:latin typeface="Arial" panose="020B0604020202020204" pitchFamily="34" charset="0"/>
                <a:cs typeface="Arial" panose="020B0604020202020204" pitchFamily="34" charset="0"/>
              </a:rPr>
              <a:t>t</a:t>
            </a:r>
            <a:r>
              <a:rPr lang="en-US" altLang="en-US" sz="2400" dirty="0">
                <a:latin typeface="Arial" panose="020B0604020202020204" pitchFamily="34" charset="0"/>
                <a:cs typeface="Arial" panose="020B0604020202020204" pitchFamily="34" charset="0"/>
              </a:rPr>
              <a:t>hat </a:t>
            </a:r>
            <a:r>
              <a:rPr lang="en-IE" altLang="en-US" sz="2400" dirty="0">
                <a:latin typeface="Arial" panose="020B0604020202020204" pitchFamily="34" charset="0"/>
                <a:cs typeface="Arial" panose="020B0604020202020204" pitchFamily="34" charset="0"/>
              </a:rPr>
              <a:t>a</a:t>
            </a:r>
            <a:r>
              <a:rPr lang="en-US" altLang="en-US" sz="2400" dirty="0">
                <a:latin typeface="Arial" panose="020B0604020202020204" pitchFamily="34" charset="0"/>
                <a:cs typeface="Arial" panose="020B0604020202020204" pitchFamily="34" charset="0"/>
              </a:rPr>
              <a:t>re mixed together produce sum and difference frequency components</a:t>
            </a:r>
          </a:p>
          <a:p>
            <a:pPr>
              <a:lnSpc>
                <a:spcPct val="150000"/>
              </a:lnSpc>
            </a:pPr>
            <a:r>
              <a:rPr lang="en-US" altLang="en-US" sz="2400" dirty="0">
                <a:latin typeface="Arial" panose="020B0604020202020204" pitchFamily="34" charset="0"/>
                <a:cs typeface="Arial" panose="020B0604020202020204" pitchFamily="34" charset="0"/>
              </a:rPr>
              <a:t>Nyquist theory stipulates </a:t>
            </a:r>
            <a:r>
              <a:rPr lang="en-IE" altLang="en-US" sz="2400" dirty="0">
                <a:latin typeface="Arial" panose="020B0604020202020204" pitchFamily="34" charset="0"/>
                <a:cs typeface="Arial" panose="020B0604020202020204" pitchFamily="34" charset="0"/>
              </a:rPr>
              <a:t>t</a:t>
            </a:r>
            <a:r>
              <a:rPr lang="en-US" altLang="en-US" sz="2400" dirty="0">
                <a:latin typeface="Arial" panose="020B0604020202020204" pitchFamily="34" charset="0"/>
                <a:cs typeface="Arial" panose="020B0604020202020204" pitchFamily="34" charset="0"/>
              </a:rPr>
              <a:t>hat the signal frequency, F</a:t>
            </a:r>
            <a:r>
              <a:rPr lang="en-US" altLang="en-US" sz="2400" baseline="-25000" dirty="0">
                <a:latin typeface="Arial" panose="020B0604020202020204" pitchFamily="34" charset="0"/>
                <a:cs typeface="Arial" panose="020B0604020202020204" pitchFamily="34" charset="0"/>
              </a:rPr>
              <a:t>SIGNAL </a:t>
            </a:r>
            <a:r>
              <a:rPr lang="en-IE" altLang="en-US" sz="2400" dirty="0">
                <a:latin typeface="Arial" panose="020B0604020202020204" pitchFamily="34" charset="0"/>
                <a:cs typeface="Arial" panose="020B0604020202020204" pitchFamily="34" charset="0"/>
              </a:rPr>
              <a:t>m</a:t>
            </a:r>
            <a:r>
              <a:rPr lang="en-US" altLang="en-US" sz="2400" dirty="0" err="1">
                <a:latin typeface="Arial" panose="020B0604020202020204" pitchFamily="34" charset="0"/>
                <a:cs typeface="Arial" panose="020B0604020202020204" pitchFamily="34" charset="0"/>
              </a:rPr>
              <a:t>ust</a:t>
            </a:r>
            <a:r>
              <a:rPr lang="en-US" altLang="en-US" sz="2400" dirty="0">
                <a:latin typeface="Arial" panose="020B0604020202020204" pitchFamily="34" charset="0"/>
                <a:cs typeface="Arial" panose="020B0604020202020204" pitchFamily="34" charset="0"/>
              </a:rPr>
              <a:t> </a:t>
            </a:r>
            <a:r>
              <a:rPr lang="en-IE" altLang="en-US" sz="2400" dirty="0">
                <a:latin typeface="Arial" panose="020B0604020202020204" pitchFamily="34" charset="0"/>
                <a:cs typeface="Arial" panose="020B0604020202020204" pitchFamily="34" charset="0"/>
              </a:rPr>
              <a:t>b</a:t>
            </a:r>
            <a:r>
              <a:rPr lang="en-US" altLang="en-US" sz="2400" dirty="0">
                <a:latin typeface="Arial" panose="020B0604020202020204" pitchFamily="34" charset="0"/>
                <a:cs typeface="Arial" panose="020B0604020202020204" pitchFamily="34" charset="0"/>
              </a:rPr>
              <a:t>e </a:t>
            </a:r>
            <a:r>
              <a:rPr lang="en-US" altLang="en-US" sz="2400" u="sng" dirty="0">
                <a:latin typeface="Arial" panose="020B0604020202020204" pitchFamily="34" charset="0"/>
                <a:cs typeface="Arial" panose="020B0604020202020204" pitchFamily="34" charset="0"/>
              </a:rPr>
              <a:t>&lt;</a:t>
            </a:r>
            <a:r>
              <a:rPr lang="en-US" altLang="en-US" sz="2400" dirty="0">
                <a:latin typeface="Arial" panose="020B0604020202020204" pitchFamily="34" charset="0"/>
                <a:cs typeface="Arial" panose="020B0604020202020204" pitchFamily="34" charset="0"/>
              </a:rPr>
              <a:t> to ½ F</a:t>
            </a:r>
            <a:r>
              <a:rPr lang="en-US" altLang="en-US" sz="2400" baseline="-25000" dirty="0">
                <a:latin typeface="Arial" panose="020B0604020202020204" pitchFamily="34" charset="0"/>
                <a:cs typeface="Arial" panose="020B0604020202020204" pitchFamily="34" charset="0"/>
              </a:rPr>
              <a:t>SAMPLING</a:t>
            </a:r>
            <a:r>
              <a:rPr lang="en-US" altLang="en-US" sz="2400" dirty="0">
                <a:latin typeface="Arial" panose="020B0604020202020204" pitchFamily="34" charset="0"/>
                <a:cs typeface="Arial" panose="020B0604020202020204" pitchFamily="34" charset="0"/>
              </a:rPr>
              <a:t> to prevent a condition known as “aliasing”, in which the difference component appears within the signal bandwidth of interest</a:t>
            </a:r>
          </a:p>
          <a:p>
            <a:endParaRPr lang="en-US" altLang="en-US" sz="24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1B1A2EBD-417D-4842-A75C-F9A5A524E0CE}"/>
              </a:ext>
            </a:extLst>
          </p:cNvPr>
          <p:cNvSpPr>
            <a:spLocks noGrp="1"/>
          </p:cNvSpPr>
          <p:nvPr>
            <p:ph type="title"/>
          </p:nvPr>
        </p:nvSpPr>
        <p:spPr/>
        <p:txBody>
          <a:bodyPr/>
          <a:lstStyle/>
          <a:p>
            <a:r>
              <a:rPr lang="en-US" altLang="en-US" dirty="0"/>
              <a:t>Nyquist Bandwidth &amp; Aliasing</a:t>
            </a:r>
            <a:endParaRPr lang="en-GB" dirty="0"/>
          </a:p>
        </p:txBody>
      </p:sp>
      <p:sp>
        <p:nvSpPr>
          <p:cNvPr id="3" name="Slide Number Placeholder 2">
            <a:extLst>
              <a:ext uri="{FF2B5EF4-FFF2-40B4-BE49-F238E27FC236}">
                <a16:creationId xmlns:a16="http://schemas.microsoft.com/office/drawing/2014/main" id="{F97A2BFD-D258-47DE-949C-46FA9EBFBA0D}"/>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75</a:t>
            </a:fld>
            <a:endParaRPr lang="en-US" dirty="0"/>
          </a:p>
        </p:txBody>
      </p:sp>
      <p:sp>
        <p:nvSpPr>
          <p:cNvPr id="4" name="Date Placeholder 3">
            <a:extLst>
              <a:ext uri="{FF2B5EF4-FFF2-40B4-BE49-F238E27FC236}">
                <a16:creationId xmlns:a16="http://schemas.microsoft.com/office/drawing/2014/main" id="{CD24D8D6-403D-453D-867D-67301304DAC6}"/>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5" name="Footer Placeholder 4">
            <a:extLst>
              <a:ext uri="{FF2B5EF4-FFF2-40B4-BE49-F238E27FC236}">
                <a16:creationId xmlns:a16="http://schemas.microsoft.com/office/drawing/2014/main" id="{3313715D-7893-4DF7-ADC3-54C72F72EF8A}"/>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750282299"/>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67" name="Group 24">
            <a:extLst>
              <a:ext uri="{FF2B5EF4-FFF2-40B4-BE49-F238E27FC236}">
                <a16:creationId xmlns:a16="http://schemas.microsoft.com/office/drawing/2014/main" id="{2D0AE7E0-7EFD-4A59-9982-468278978657}"/>
              </a:ext>
            </a:extLst>
          </p:cNvPr>
          <p:cNvGrpSpPr>
            <a:grpSpLocks/>
          </p:cNvGrpSpPr>
          <p:nvPr/>
        </p:nvGrpSpPr>
        <p:grpSpPr bwMode="auto">
          <a:xfrm>
            <a:off x="1005840" y="1981200"/>
            <a:ext cx="8046720" cy="3340577"/>
            <a:chOff x="576" y="1224"/>
            <a:chExt cx="4608" cy="1913"/>
          </a:xfrm>
        </p:grpSpPr>
        <p:sp>
          <p:nvSpPr>
            <p:cNvPr id="62469" name="Line 4">
              <a:extLst>
                <a:ext uri="{FF2B5EF4-FFF2-40B4-BE49-F238E27FC236}">
                  <a16:creationId xmlns:a16="http://schemas.microsoft.com/office/drawing/2014/main" id="{E8FA131B-4EEA-492F-9306-E4B60C4AF077}"/>
                </a:ext>
              </a:extLst>
            </p:cNvPr>
            <p:cNvSpPr>
              <a:spLocks noChangeShapeType="1"/>
            </p:cNvSpPr>
            <p:nvPr/>
          </p:nvSpPr>
          <p:spPr bwMode="auto">
            <a:xfrm>
              <a:off x="577" y="2736"/>
              <a:ext cx="4607"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70" name="Line 5">
              <a:extLst>
                <a:ext uri="{FF2B5EF4-FFF2-40B4-BE49-F238E27FC236}">
                  <a16:creationId xmlns:a16="http://schemas.microsoft.com/office/drawing/2014/main" id="{BAA0E64E-B042-416C-A1E8-67FF6EB9C29E}"/>
                </a:ext>
              </a:extLst>
            </p:cNvPr>
            <p:cNvSpPr>
              <a:spLocks noChangeShapeType="1"/>
            </p:cNvSpPr>
            <p:nvPr/>
          </p:nvSpPr>
          <p:spPr bwMode="auto">
            <a:xfrm flipV="1">
              <a:off x="576" y="1585"/>
              <a:ext cx="0" cy="115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71" name="Rectangle 6" descr="Light upward diagonal">
              <a:extLst>
                <a:ext uri="{FF2B5EF4-FFF2-40B4-BE49-F238E27FC236}">
                  <a16:creationId xmlns:a16="http://schemas.microsoft.com/office/drawing/2014/main" id="{5652F1D5-1549-4301-A017-C10BAAECE45D}"/>
                </a:ext>
              </a:extLst>
            </p:cNvPr>
            <p:cNvSpPr>
              <a:spLocks noChangeArrowheads="1"/>
            </p:cNvSpPr>
            <p:nvPr/>
          </p:nvSpPr>
          <p:spPr bwMode="auto">
            <a:xfrm>
              <a:off x="580" y="1876"/>
              <a:ext cx="1144" cy="856"/>
            </a:xfrm>
            <a:prstGeom prst="rect">
              <a:avLst/>
            </a:prstGeom>
            <a:blipFill dpi="0" rotWithShape="0">
              <a:blip r:embed="rId3"/>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62472" name="Rectangle 7">
              <a:extLst>
                <a:ext uri="{FF2B5EF4-FFF2-40B4-BE49-F238E27FC236}">
                  <a16:creationId xmlns:a16="http://schemas.microsoft.com/office/drawing/2014/main" id="{71B2FD10-ABE5-4327-BC37-1865628831BC}"/>
                </a:ext>
              </a:extLst>
            </p:cNvPr>
            <p:cNvSpPr>
              <a:spLocks noChangeArrowheads="1"/>
            </p:cNvSpPr>
            <p:nvPr/>
          </p:nvSpPr>
          <p:spPr bwMode="auto">
            <a:xfrm>
              <a:off x="1462" y="2923"/>
              <a:ext cx="490"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1 MHz</a:t>
              </a:r>
            </a:p>
          </p:txBody>
        </p:sp>
        <p:sp>
          <p:nvSpPr>
            <p:cNvPr id="62473" name="Rectangle 8">
              <a:extLst>
                <a:ext uri="{FF2B5EF4-FFF2-40B4-BE49-F238E27FC236}">
                  <a16:creationId xmlns:a16="http://schemas.microsoft.com/office/drawing/2014/main" id="{DC81285B-0E09-4144-9225-D7C86C3460ED}"/>
                </a:ext>
              </a:extLst>
            </p:cNvPr>
            <p:cNvSpPr>
              <a:spLocks noChangeArrowheads="1"/>
            </p:cNvSpPr>
            <p:nvPr/>
          </p:nvSpPr>
          <p:spPr bwMode="auto">
            <a:xfrm>
              <a:off x="2925" y="2918"/>
              <a:ext cx="490"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4 MHz</a:t>
              </a:r>
            </a:p>
          </p:txBody>
        </p:sp>
        <p:sp>
          <p:nvSpPr>
            <p:cNvPr id="62474" name="Line 9">
              <a:extLst>
                <a:ext uri="{FF2B5EF4-FFF2-40B4-BE49-F238E27FC236}">
                  <a16:creationId xmlns:a16="http://schemas.microsoft.com/office/drawing/2014/main" id="{5732310A-439C-4F70-A659-255ED703E793}"/>
                </a:ext>
              </a:extLst>
            </p:cNvPr>
            <p:cNvSpPr>
              <a:spLocks noChangeShapeType="1"/>
            </p:cNvSpPr>
            <p:nvPr/>
          </p:nvSpPr>
          <p:spPr bwMode="auto">
            <a:xfrm flipV="1">
              <a:off x="1725" y="1873"/>
              <a:ext cx="0" cy="863"/>
            </a:xfrm>
            <a:prstGeom prst="line">
              <a:avLst/>
            </a:prstGeom>
            <a:noFill/>
            <a:ln w="50800">
              <a:solidFill>
                <a:srgbClr val="006B6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75" name="Line 10">
              <a:extLst>
                <a:ext uri="{FF2B5EF4-FFF2-40B4-BE49-F238E27FC236}">
                  <a16:creationId xmlns:a16="http://schemas.microsoft.com/office/drawing/2014/main" id="{A4F4CA52-A01C-4240-AA63-B6880F87AACE}"/>
                </a:ext>
              </a:extLst>
            </p:cNvPr>
            <p:cNvSpPr>
              <a:spLocks noChangeShapeType="1"/>
            </p:cNvSpPr>
            <p:nvPr/>
          </p:nvSpPr>
          <p:spPr bwMode="auto">
            <a:xfrm flipV="1">
              <a:off x="3168" y="1873"/>
              <a:ext cx="0" cy="863"/>
            </a:xfrm>
            <a:prstGeom prst="line">
              <a:avLst/>
            </a:prstGeom>
            <a:noFill/>
            <a:ln w="50800">
              <a:solidFill>
                <a:srgbClr val="006B6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76" name="Line 11">
              <a:extLst>
                <a:ext uri="{FF2B5EF4-FFF2-40B4-BE49-F238E27FC236}">
                  <a16:creationId xmlns:a16="http://schemas.microsoft.com/office/drawing/2014/main" id="{6D5A67A6-4240-4C3B-8B04-60F6F03EC50C}"/>
                </a:ext>
              </a:extLst>
            </p:cNvPr>
            <p:cNvSpPr>
              <a:spLocks noChangeShapeType="1"/>
            </p:cNvSpPr>
            <p:nvPr/>
          </p:nvSpPr>
          <p:spPr bwMode="auto">
            <a:xfrm flipV="1">
              <a:off x="2592" y="1873"/>
              <a:ext cx="0" cy="863"/>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77" name="Line 12">
              <a:extLst>
                <a:ext uri="{FF2B5EF4-FFF2-40B4-BE49-F238E27FC236}">
                  <a16:creationId xmlns:a16="http://schemas.microsoft.com/office/drawing/2014/main" id="{FBEBBC28-E709-43F1-BC14-B294055D7AAE}"/>
                </a:ext>
              </a:extLst>
            </p:cNvPr>
            <p:cNvSpPr>
              <a:spLocks noChangeShapeType="1"/>
            </p:cNvSpPr>
            <p:nvPr/>
          </p:nvSpPr>
          <p:spPr bwMode="auto">
            <a:xfrm flipV="1">
              <a:off x="3744" y="1873"/>
              <a:ext cx="0" cy="863"/>
            </a:xfrm>
            <a:prstGeom prst="line">
              <a:avLst/>
            </a:prstGeom>
            <a:noFill/>
            <a:ln w="50800">
              <a:solidFill>
                <a:srgbClr val="00279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78" name="Rectangle 13">
              <a:extLst>
                <a:ext uri="{FF2B5EF4-FFF2-40B4-BE49-F238E27FC236}">
                  <a16:creationId xmlns:a16="http://schemas.microsoft.com/office/drawing/2014/main" id="{C8E99EC4-EB08-4AF9-A107-729003FC6324}"/>
                </a:ext>
              </a:extLst>
            </p:cNvPr>
            <p:cNvSpPr>
              <a:spLocks noChangeArrowheads="1"/>
            </p:cNvSpPr>
            <p:nvPr/>
          </p:nvSpPr>
          <p:spPr bwMode="auto">
            <a:xfrm>
              <a:off x="2896" y="1233"/>
              <a:ext cx="59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f</a:t>
              </a:r>
              <a:r>
                <a:rPr lang="en-US" altLang="en-US" sz="1980" b="1" baseline="-25000"/>
                <a:t>sampling</a:t>
              </a:r>
            </a:p>
          </p:txBody>
        </p:sp>
        <p:sp>
          <p:nvSpPr>
            <p:cNvPr id="62479" name="Line 14">
              <a:extLst>
                <a:ext uri="{FF2B5EF4-FFF2-40B4-BE49-F238E27FC236}">
                  <a16:creationId xmlns:a16="http://schemas.microsoft.com/office/drawing/2014/main" id="{DBEB6404-6270-40A9-B4DD-B7A13B5FDEDE}"/>
                </a:ext>
              </a:extLst>
            </p:cNvPr>
            <p:cNvSpPr>
              <a:spLocks noChangeShapeType="1"/>
            </p:cNvSpPr>
            <p:nvPr/>
          </p:nvSpPr>
          <p:spPr bwMode="auto">
            <a:xfrm>
              <a:off x="3168" y="1489"/>
              <a:ext cx="0" cy="239"/>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80" name="Rectangle 15">
              <a:extLst>
                <a:ext uri="{FF2B5EF4-FFF2-40B4-BE49-F238E27FC236}">
                  <a16:creationId xmlns:a16="http://schemas.microsoft.com/office/drawing/2014/main" id="{CF611D9D-5571-4696-A4C4-15A86F442B43}"/>
                </a:ext>
              </a:extLst>
            </p:cNvPr>
            <p:cNvSpPr>
              <a:spLocks noChangeArrowheads="1"/>
            </p:cNvSpPr>
            <p:nvPr/>
          </p:nvSpPr>
          <p:spPr bwMode="auto">
            <a:xfrm>
              <a:off x="3832" y="1224"/>
              <a:ext cx="10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f</a:t>
              </a:r>
              <a:r>
                <a:rPr lang="en-US" altLang="en-US" sz="1980" b="1" baseline="-25000"/>
                <a:t>sampling </a:t>
              </a:r>
              <a:r>
                <a:rPr lang="en-US" altLang="en-US" sz="1980" b="1"/>
                <a:t>+ f</a:t>
              </a:r>
              <a:r>
                <a:rPr lang="en-US" altLang="en-US" sz="1980" b="1" baseline="-25000"/>
                <a:t>signal</a:t>
              </a:r>
            </a:p>
          </p:txBody>
        </p:sp>
        <p:sp>
          <p:nvSpPr>
            <p:cNvPr id="62481" name="Line 16">
              <a:extLst>
                <a:ext uri="{FF2B5EF4-FFF2-40B4-BE49-F238E27FC236}">
                  <a16:creationId xmlns:a16="http://schemas.microsoft.com/office/drawing/2014/main" id="{11D9563A-7FF6-4456-B293-8E90200E9A74}"/>
                </a:ext>
              </a:extLst>
            </p:cNvPr>
            <p:cNvSpPr>
              <a:spLocks noChangeShapeType="1"/>
            </p:cNvSpPr>
            <p:nvPr/>
          </p:nvSpPr>
          <p:spPr bwMode="auto">
            <a:xfrm flipH="1">
              <a:off x="3793" y="1489"/>
              <a:ext cx="191" cy="335"/>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82" name="Rectangle 17">
              <a:extLst>
                <a:ext uri="{FF2B5EF4-FFF2-40B4-BE49-F238E27FC236}">
                  <a16:creationId xmlns:a16="http://schemas.microsoft.com/office/drawing/2014/main" id="{C76B74EE-C65F-4FFC-AF8F-A4C2E67C4A8C}"/>
                </a:ext>
              </a:extLst>
            </p:cNvPr>
            <p:cNvSpPr>
              <a:spLocks noChangeArrowheads="1"/>
            </p:cNvSpPr>
            <p:nvPr/>
          </p:nvSpPr>
          <p:spPr bwMode="auto">
            <a:xfrm>
              <a:off x="1576" y="1224"/>
              <a:ext cx="103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f</a:t>
              </a:r>
              <a:r>
                <a:rPr lang="en-US" altLang="en-US" sz="1980" b="1" baseline="-25000"/>
                <a:t>sampling </a:t>
              </a:r>
              <a:r>
                <a:rPr lang="en-US" altLang="en-US" sz="1980" b="1"/>
                <a:t>- f</a:t>
              </a:r>
              <a:r>
                <a:rPr lang="en-US" altLang="en-US" sz="1980" b="1" baseline="-25000"/>
                <a:t>signal</a:t>
              </a:r>
            </a:p>
          </p:txBody>
        </p:sp>
        <p:sp>
          <p:nvSpPr>
            <p:cNvPr id="62483" name="Line 18">
              <a:extLst>
                <a:ext uri="{FF2B5EF4-FFF2-40B4-BE49-F238E27FC236}">
                  <a16:creationId xmlns:a16="http://schemas.microsoft.com/office/drawing/2014/main" id="{8872D9B1-7CE7-484E-83B6-87E63A77DBF5}"/>
                </a:ext>
              </a:extLst>
            </p:cNvPr>
            <p:cNvSpPr>
              <a:spLocks noChangeShapeType="1"/>
            </p:cNvSpPr>
            <p:nvPr/>
          </p:nvSpPr>
          <p:spPr bwMode="auto">
            <a:xfrm>
              <a:off x="2353" y="1489"/>
              <a:ext cx="191" cy="335"/>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sp>
          <p:nvSpPr>
            <p:cNvPr id="62484" name="Rectangle 19">
              <a:extLst>
                <a:ext uri="{FF2B5EF4-FFF2-40B4-BE49-F238E27FC236}">
                  <a16:creationId xmlns:a16="http://schemas.microsoft.com/office/drawing/2014/main" id="{41EFF41B-EB72-401C-817C-759B7065DF3C}"/>
                </a:ext>
              </a:extLst>
            </p:cNvPr>
            <p:cNvSpPr>
              <a:spLocks noChangeArrowheads="1"/>
            </p:cNvSpPr>
            <p:nvPr/>
          </p:nvSpPr>
          <p:spPr bwMode="auto">
            <a:xfrm>
              <a:off x="728" y="2097"/>
              <a:ext cx="796"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ltLang="en-US" sz="1980" b="1"/>
                <a:t>signal</a:t>
              </a:r>
            </a:p>
            <a:p>
              <a:r>
                <a:rPr lang="en-US" altLang="en-US" sz="1980" b="1"/>
                <a:t>passband</a:t>
              </a:r>
            </a:p>
          </p:txBody>
        </p:sp>
        <p:sp>
          <p:nvSpPr>
            <p:cNvPr id="62485" name="Rectangle 20">
              <a:extLst>
                <a:ext uri="{FF2B5EF4-FFF2-40B4-BE49-F238E27FC236}">
                  <a16:creationId xmlns:a16="http://schemas.microsoft.com/office/drawing/2014/main" id="{A4F4FD77-68F6-4775-BA62-AA98793F454C}"/>
                </a:ext>
              </a:extLst>
            </p:cNvPr>
            <p:cNvSpPr>
              <a:spLocks noChangeArrowheads="1"/>
            </p:cNvSpPr>
            <p:nvPr/>
          </p:nvSpPr>
          <p:spPr bwMode="auto">
            <a:xfrm>
              <a:off x="2301" y="2918"/>
              <a:ext cx="490"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3 MHz</a:t>
              </a:r>
            </a:p>
          </p:txBody>
        </p:sp>
        <p:sp>
          <p:nvSpPr>
            <p:cNvPr id="62486" name="Rectangle 21">
              <a:extLst>
                <a:ext uri="{FF2B5EF4-FFF2-40B4-BE49-F238E27FC236}">
                  <a16:creationId xmlns:a16="http://schemas.microsoft.com/office/drawing/2014/main" id="{A3953C01-9A58-48E3-AD47-F532AEB36B6E}"/>
                </a:ext>
              </a:extLst>
            </p:cNvPr>
            <p:cNvSpPr>
              <a:spLocks noChangeArrowheads="1"/>
            </p:cNvSpPr>
            <p:nvPr/>
          </p:nvSpPr>
          <p:spPr bwMode="auto">
            <a:xfrm>
              <a:off x="3501" y="2918"/>
              <a:ext cx="490"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760" b="1"/>
                <a:t>5 MHz</a:t>
              </a:r>
            </a:p>
          </p:txBody>
        </p:sp>
        <p:sp>
          <p:nvSpPr>
            <p:cNvPr id="62487" name="Rectangle 22">
              <a:extLst>
                <a:ext uri="{FF2B5EF4-FFF2-40B4-BE49-F238E27FC236}">
                  <a16:creationId xmlns:a16="http://schemas.microsoft.com/office/drawing/2014/main" id="{CE143FBE-7951-414E-A13F-2487F38A257D}"/>
                </a:ext>
              </a:extLst>
            </p:cNvPr>
            <p:cNvSpPr>
              <a:spLocks noChangeArrowheads="1"/>
            </p:cNvSpPr>
            <p:nvPr/>
          </p:nvSpPr>
          <p:spPr bwMode="auto">
            <a:xfrm>
              <a:off x="928" y="1228"/>
              <a:ext cx="44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283" tIns="50642" rIns="101283" bIns="50642">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1980" b="1"/>
                <a:t>f</a:t>
              </a:r>
              <a:r>
                <a:rPr lang="en-US" altLang="en-US" sz="1980" b="1" baseline="-25000"/>
                <a:t>signal</a:t>
              </a:r>
            </a:p>
          </p:txBody>
        </p:sp>
        <p:sp>
          <p:nvSpPr>
            <p:cNvPr id="62488" name="Line 23">
              <a:extLst>
                <a:ext uri="{FF2B5EF4-FFF2-40B4-BE49-F238E27FC236}">
                  <a16:creationId xmlns:a16="http://schemas.microsoft.com/office/drawing/2014/main" id="{98852629-7D35-4B0C-BE7D-3DB1C8A58EBE}"/>
                </a:ext>
              </a:extLst>
            </p:cNvPr>
            <p:cNvSpPr>
              <a:spLocks noChangeShapeType="1"/>
            </p:cNvSpPr>
            <p:nvPr/>
          </p:nvSpPr>
          <p:spPr bwMode="auto">
            <a:xfrm>
              <a:off x="1489" y="1489"/>
              <a:ext cx="191" cy="335"/>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0"/>
            </a:p>
          </p:txBody>
        </p:sp>
      </p:grpSp>
      <p:sp>
        <p:nvSpPr>
          <p:cNvPr id="4" name="Content Placeholder 3">
            <a:extLst>
              <a:ext uri="{FF2B5EF4-FFF2-40B4-BE49-F238E27FC236}">
                <a16:creationId xmlns:a16="http://schemas.microsoft.com/office/drawing/2014/main" id="{825D1090-6853-4063-BA69-1F2505876824}"/>
              </a:ext>
            </a:extLst>
          </p:cNvPr>
          <p:cNvSpPr>
            <a:spLocks noGrp="1"/>
          </p:cNvSpPr>
          <p:nvPr>
            <p:ph sz="quarter" idx="1"/>
          </p:nvPr>
        </p:nvSpPr>
        <p:spPr>
          <a:xfrm>
            <a:off x="331927" y="5353208"/>
            <a:ext cx="9354312" cy="1559045"/>
          </a:xfrm>
        </p:spPr>
        <p:txBody>
          <a:bodyPr/>
          <a:lstStyle/>
          <a:p>
            <a:r>
              <a:rPr lang="en-US" altLang="en-US" sz="2400" dirty="0"/>
              <a:t>The signal frequency is &lt; 1/2 the sampling frequency and so the sum and difference components fall outside (beyond) the signal passband</a:t>
            </a:r>
          </a:p>
          <a:p>
            <a:endParaRPr lang="en-GB" dirty="0"/>
          </a:p>
        </p:txBody>
      </p:sp>
      <p:sp>
        <p:nvSpPr>
          <p:cNvPr id="2" name="Title 1">
            <a:extLst>
              <a:ext uri="{FF2B5EF4-FFF2-40B4-BE49-F238E27FC236}">
                <a16:creationId xmlns:a16="http://schemas.microsoft.com/office/drawing/2014/main" id="{4CB6F502-62FF-46C8-9F51-63A2C2E17D91}"/>
              </a:ext>
            </a:extLst>
          </p:cNvPr>
          <p:cNvSpPr>
            <a:spLocks noGrp="1"/>
          </p:cNvSpPr>
          <p:nvPr>
            <p:ph type="title"/>
          </p:nvPr>
        </p:nvSpPr>
        <p:spPr/>
        <p:txBody>
          <a:bodyPr/>
          <a:lstStyle/>
          <a:p>
            <a:r>
              <a:rPr lang="en-US" altLang="en-US" dirty="0"/>
              <a:t>The Nyquist Bandwidth &amp; Aliasing</a:t>
            </a:r>
            <a:endParaRPr lang="en-GB" dirty="0"/>
          </a:p>
        </p:txBody>
      </p:sp>
      <p:sp>
        <p:nvSpPr>
          <p:cNvPr id="5" name="Date Placeholder 4">
            <a:extLst>
              <a:ext uri="{FF2B5EF4-FFF2-40B4-BE49-F238E27FC236}">
                <a16:creationId xmlns:a16="http://schemas.microsoft.com/office/drawing/2014/main" id="{C7A44C98-DAB9-4CED-9839-B376364E347F}"/>
              </a:ext>
            </a:extLst>
          </p:cNvPr>
          <p:cNvSpPr>
            <a:spLocks noGrp="1"/>
          </p:cNvSpPr>
          <p:nvPr>
            <p:ph type="dt" sz="half" idx="10"/>
          </p:nvPr>
        </p:nvSpPr>
        <p:spPr/>
        <p:txBody>
          <a:bodyPr/>
          <a:lstStyle/>
          <a:p>
            <a:r>
              <a:rPr lang="en-US"/>
              <a:t>V.T.M</a:t>
            </a:r>
            <a:endParaRPr lang="en-US" dirty="0"/>
          </a:p>
        </p:txBody>
      </p:sp>
      <p:sp>
        <p:nvSpPr>
          <p:cNvPr id="6" name="Footer Placeholder 5">
            <a:extLst>
              <a:ext uri="{FF2B5EF4-FFF2-40B4-BE49-F238E27FC236}">
                <a16:creationId xmlns:a16="http://schemas.microsoft.com/office/drawing/2014/main" id="{F07BDDE5-5D4B-4B06-89EC-C2641C583B51}"/>
              </a:ext>
            </a:extLst>
          </p:cNvPr>
          <p:cNvSpPr>
            <a:spLocks noGrp="1"/>
          </p:cNvSpPr>
          <p:nvPr>
            <p:ph type="ftr" sz="quarter" idx="11"/>
          </p:nvPr>
        </p:nvSpPr>
        <p:spPr/>
        <p:txBody>
          <a:bodyPr/>
          <a:lstStyle/>
          <a:p>
            <a:r>
              <a:rPr lang="en-US"/>
              <a:t>DN, 2020</a:t>
            </a:r>
            <a:endParaRPr lang="en-US" dirty="0"/>
          </a:p>
        </p:txBody>
      </p:sp>
      <p:sp>
        <p:nvSpPr>
          <p:cNvPr id="3" name="Slide Number Placeholder 2">
            <a:extLst>
              <a:ext uri="{FF2B5EF4-FFF2-40B4-BE49-F238E27FC236}">
                <a16:creationId xmlns:a16="http://schemas.microsoft.com/office/drawing/2014/main" id="{0C777F5F-1636-41F3-A6B0-6894F4445875}"/>
              </a:ext>
            </a:extLst>
          </p:cNvPr>
          <p:cNvSpPr>
            <a:spLocks noGrp="1"/>
          </p:cNvSpPr>
          <p:nvPr>
            <p:ph type="sldNum" sz="quarter" idx="12"/>
          </p:nvPr>
        </p:nvSpPr>
        <p:spPr/>
        <p:txBody>
          <a:bodyPr/>
          <a:lstStyle/>
          <a:p>
            <a:fld id="{B6F15528-21DE-4FAA-801E-634DDDAF4B2B}" type="slidenum">
              <a:rPr lang="en-US" smtClean="0"/>
              <a:t>76</a:t>
            </a:fld>
            <a:endParaRPr lang="en-US" dirty="0"/>
          </a:p>
        </p:txBody>
      </p:sp>
    </p:spTree>
    <p:extLst>
      <p:ext uri="{BB962C8B-B14F-4D97-AF65-F5344CB8AC3E}">
        <p14:creationId xmlns:p14="http://schemas.microsoft.com/office/powerpoint/2010/main" val="19000216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845E01B-E6D2-448D-8281-624C2C13C0F0}"/>
              </a:ext>
            </a:extLst>
          </p:cNvPr>
          <p:cNvSpPr>
            <a:spLocks noGrp="1"/>
          </p:cNvSpPr>
          <p:nvPr>
            <p:ph sz="quarter" idx="1"/>
          </p:nvPr>
        </p:nvSpPr>
        <p:spPr>
          <a:xfrm>
            <a:off x="331927" y="5562600"/>
            <a:ext cx="9354312" cy="1349653"/>
          </a:xfrm>
        </p:spPr>
        <p:txBody>
          <a:bodyPr>
            <a:normAutofit/>
          </a:bodyPr>
          <a:lstStyle/>
          <a:p>
            <a:r>
              <a:rPr lang="en-US" altLang="en-US" sz="2400" dirty="0"/>
              <a:t>The signal frequency is &gt; 1/2 (</a:t>
            </a:r>
            <a:r>
              <a:rPr lang="en-US" altLang="en-US" sz="2400" dirty="0" err="1"/>
              <a:t>approx</a:t>
            </a:r>
            <a:r>
              <a:rPr lang="en-US" altLang="en-US" sz="2400" dirty="0"/>
              <a:t> 2/3) the sampling frequency. An “alias” or false image is thus created that falls within the passband of interest.</a:t>
            </a:r>
          </a:p>
          <a:p>
            <a:endParaRPr lang="en-GB" sz="2400" dirty="0"/>
          </a:p>
        </p:txBody>
      </p:sp>
      <p:sp>
        <p:nvSpPr>
          <p:cNvPr id="3" name="Slide Number Placeholder 2">
            <a:extLst>
              <a:ext uri="{FF2B5EF4-FFF2-40B4-BE49-F238E27FC236}">
                <a16:creationId xmlns:a16="http://schemas.microsoft.com/office/drawing/2014/main" id="{68041C6C-43E4-4A35-8CD6-9D9E152F2314}"/>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77</a:t>
            </a:fld>
            <a:endParaRPr lang="en-US" dirty="0"/>
          </a:p>
        </p:txBody>
      </p:sp>
      <p:grpSp>
        <p:nvGrpSpPr>
          <p:cNvPr id="64516" name="Group 69">
            <a:extLst>
              <a:ext uri="{FF2B5EF4-FFF2-40B4-BE49-F238E27FC236}">
                <a16:creationId xmlns:a16="http://schemas.microsoft.com/office/drawing/2014/main" id="{8BF83B7D-A679-486C-8DF5-F78E5FEE8054}"/>
              </a:ext>
            </a:extLst>
          </p:cNvPr>
          <p:cNvGrpSpPr>
            <a:grpSpLocks/>
          </p:cNvGrpSpPr>
          <p:nvPr/>
        </p:nvGrpSpPr>
        <p:grpSpPr bwMode="auto">
          <a:xfrm>
            <a:off x="960577" y="1752600"/>
            <a:ext cx="8130540" cy="3724752"/>
            <a:chOff x="288" y="768"/>
            <a:chExt cx="4656" cy="2133"/>
          </a:xfrm>
        </p:grpSpPr>
        <p:sp>
          <p:nvSpPr>
            <p:cNvPr id="64517" name="Rectangle 70" descr="Light upward diagonal">
              <a:extLst>
                <a:ext uri="{FF2B5EF4-FFF2-40B4-BE49-F238E27FC236}">
                  <a16:creationId xmlns:a16="http://schemas.microsoft.com/office/drawing/2014/main" id="{59B78C8A-4723-42ED-861A-F446A6DA4122}"/>
                </a:ext>
              </a:extLst>
            </p:cNvPr>
            <p:cNvSpPr>
              <a:spLocks noChangeArrowheads="1"/>
            </p:cNvSpPr>
            <p:nvPr/>
          </p:nvSpPr>
          <p:spPr bwMode="auto">
            <a:xfrm>
              <a:off x="960" y="1450"/>
              <a:ext cx="1152" cy="1008"/>
            </a:xfrm>
            <a:prstGeom prst="rect">
              <a:avLst/>
            </a:pr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GB" altLang="en-US" sz="1760"/>
            </a:p>
          </p:txBody>
        </p:sp>
        <p:sp>
          <p:nvSpPr>
            <p:cNvPr id="64518" name="Line 71">
              <a:extLst>
                <a:ext uri="{FF2B5EF4-FFF2-40B4-BE49-F238E27FC236}">
                  <a16:creationId xmlns:a16="http://schemas.microsoft.com/office/drawing/2014/main" id="{839CD70B-6325-4FF3-95D3-1E09424A5AC6}"/>
                </a:ext>
              </a:extLst>
            </p:cNvPr>
            <p:cNvSpPr>
              <a:spLocks noChangeShapeType="1"/>
            </p:cNvSpPr>
            <p:nvPr/>
          </p:nvSpPr>
          <p:spPr bwMode="auto">
            <a:xfrm>
              <a:off x="960" y="1018"/>
              <a:ext cx="0" cy="14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19" name="Line 72">
              <a:extLst>
                <a:ext uri="{FF2B5EF4-FFF2-40B4-BE49-F238E27FC236}">
                  <a16:creationId xmlns:a16="http://schemas.microsoft.com/office/drawing/2014/main" id="{07C64867-E179-4023-BE74-C23B2A79A491}"/>
                </a:ext>
              </a:extLst>
            </p:cNvPr>
            <p:cNvSpPr>
              <a:spLocks noChangeShapeType="1"/>
            </p:cNvSpPr>
            <p:nvPr/>
          </p:nvSpPr>
          <p:spPr bwMode="auto">
            <a:xfrm>
              <a:off x="960" y="2458"/>
              <a:ext cx="38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20" name="Line 73">
              <a:extLst>
                <a:ext uri="{FF2B5EF4-FFF2-40B4-BE49-F238E27FC236}">
                  <a16:creationId xmlns:a16="http://schemas.microsoft.com/office/drawing/2014/main" id="{59653D47-9A0D-46CC-BF7E-254BF1843709}"/>
                </a:ext>
              </a:extLst>
            </p:cNvPr>
            <p:cNvSpPr>
              <a:spLocks noChangeShapeType="1"/>
            </p:cNvSpPr>
            <p:nvPr/>
          </p:nvSpPr>
          <p:spPr bwMode="auto">
            <a:xfrm flipV="1">
              <a:off x="1536" y="1450"/>
              <a:ext cx="0" cy="1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21" name="Line 74">
              <a:extLst>
                <a:ext uri="{FF2B5EF4-FFF2-40B4-BE49-F238E27FC236}">
                  <a16:creationId xmlns:a16="http://schemas.microsoft.com/office/drawing/2014/main" id="{73E68F89-CE1A-4924-B58B-04526B74C2D8}"/>
                </a:ext>
              </a:extLst>
            </p:cNvPr>
            <p:cNvSpPr>
              <a:spLocks noChangeShapeType="1"/>
            </p:cNvSpPr>
            <p:nvPr/>
          </p:nvSpPr>
          <p:spPr bwMode="auto">
            <a:xfrm flipV="1">
              <a:off x="2112" y="1450"/>
              <a:ext cx="0" cy="1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22" name="Line 75">
              <a:extLst>
                <a:ext uri="{FF2B5EF4-FFF2-40B4-BE49-F238E27FC236}">
                  <a16:creationId xmlns:a16="http://schemas.microsoft.com/office/drawing/2014/main" id="{2481CCC1-B2B5-434B-9B52-D95FF80A2428}"/>
                </a:ext>
              </a:extLst>
            </p:cNvPr>
            <p:cNvSpPr>
              <a:spLocks noChangeShapeType="1"/>
            </p:cNvSpPr>
            <p:nvPr/>
          </p:nvSpPr>
          <p:spPr bwMode="auto">
            <a:xfrm flipV="1">
              <a:off x="2688" y="1450"/>
              <a:ext cx="0" cy="1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23" name="Line 76">
              <a:extLst>
                <a:ext uri="{FF2B5EF4-FFF2-40B4-BE49-F238E27FC236}">
                  <a16:creationId xmlns:a16="http://schemas.microsoft.com/office/drawing/2014/main" id="{3BC19C95-89C6-4BA9-A5CE-5742C640F855}"/>
                </a:ext>
              </a:extLst>
            </p:cNvPr>
            <p:cNvSpPr>
              <a:spLocks noChangeShapeType="1"/>
            </p:cNvSpPr>
            <p:nvPr/>
          </p:nvSpPr>
          <p:spPr bwMode="auto">
            <a:xfrm flipV="1">
              <a:off x="3840" y="1450"/>
              <a:ext cx="0" cy="1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24" name="Text Box 77">
              <a:extLst>
                <a:ext uri="{FF2B5EF4-FFF2-40B4-BE49-F238E27FC236}">
                  <a16:creationId xmlns:a16="http://schemas.microsoft.com/office/drawing/2014/main" id="{1EBC5F5F-6403-4FA9-9D2A-65072DD4FB6A}"/>
                </a:ext>
              </a:extLst>
            </p:cNvPr>
            <p:cNvSpPr txBox="1">
              <a:spLocks noChangeArrowheads="1"/>
            </p:cNvSpPr>
            <p:nvPr/>
          </p:nvSpPr>
          <p:spPr bwMode="auto">
            <a:xfrm>
              <a:off x="1104" y="768"/>
              <a:ext cx="1392"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eaLnBrk="1" hangingPunct="1">
                <a:spcBef>
                  <a:spcPct val="50000"/>
                </a:spcBef>
              </a:pPr>
              <a:r>
                <a:rPr lang="en-IE" altLang="en-US" sz="2200">
                  <a:latin typeface="Times New Roman" panose="02020603050405020304" pitchFamily="18" charset="0"/>
                  <a:cs typeface="Times New Roman" panose="02020603050405020304" pitchFamily="18" charset="0"/>
                </a:rPr>
                <a:t>f</a:t>
              </a:r>
              <a:r>
                <a:rPr lang="en-IE" altLang="en-US" sz="2200" baseline="-25000">
                  <a:latin typeface="Times New Roman" panose="02020603050405020304" pitchFamily="18" charset="0"/>
                  <a:cs typeface="Times New Roman" panose="02020603050405020304" pitchFamily="18" charset="0"/>
                </a:rPr>
                <a:t>sampling</a:t>
              </a:r>
              <a:r>
                <a:rPr lang="en-IE" altLang="en-US" sz="2200">
                  <a:latin typeface="Times New Roman" panose="02020603050405020304" pitchFamily="18" charset="0"/>
                  <a:cs typeface="Times New Roman" panose="02020603050405020304" pitchFamily="18" charset="0"/>
                </a:rPr>
                <a:t>- f</a:t>
              </a:r>
              <a:r>
                <a:rPr lang="en-IE" altLang="en-US" sz="2200" baseline="-25000">
                  <a:latin typeface="Times New Roman" panose="02020603050405020304" pitchFamily="18" charset="0"/>
                  <a:cs typeface="Times New Roman" panose="02020603050405020304" pitchFamily="18" charset="0"/>
                </a:rPr>
                <a:t>signal</a:t>
              </a:r>
              <a:endParaRPr lang="en-US" altLang="en-US" sz="2200" baseline="-25000">
                <a:latin typeface="Times New Roman" panose="02020603050405020304" pitchFamily="18" charset="0"/>
                <a:cs typeface="Times New Roman" panose="02020603050405020304" pitchFamily="18" charset="0"/>
              </a:endParaRPr>
            </a:p>
          </p:txBody>
        </p:sp>
        <p:sp>
          <p:nvSpPr>
            <p:cNvPr id="64525" name="Line 78">
              <a:extLst>
                <a:ext uri="{FF2B5EF4-FFF2-40B4-BE49-F238E27FC236}">
                  <a16:creationId xmlns:a16="http://schemas.microsoft.com/office/drawing/2014/main" id="{477884B9-A1DC-45A2-BE7E-4A643F9230F1}"/>
                </a:ext>
              </a:extLst>
            </p:cNvPr>
            <p:cNvSpPr>
              <a:spLocks noChangeShapeType="1"/>
            </p:cNvSpPr>
            <p:nvPr/>
          </p:nvSpPr>
          <p:spPr bwMode="auto">
            <a:xfrm>
              <a:off x="1536" y="106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26" name="Text Box 79">
              <a:extLst>
                <a:ext uri="{FF2B5EF4-FFF2-40B4-BE49-F238E27FC236}">
                  <a16:creationId xmlns:a16="http://schemas.microsoft.com/office/drawing/2014/main" id="{08E05889-D1D1-4335-8D48-14857D6E7D56}"/>
                </a:ext>
              </a:extLst>
            </p:cNvPr>
            <p:cNvSpPr txBox="1">
              <a:spLocks noChangeArrowheads="1"/>
            </p:cNvSpPr>
            <p:nvPr/>
          </p:nvSpPr>
          <p:spPr bwMode="auto">
            <a:xfrm>
              <a:off x="2160" y="778"/>
              <a:ext cx="432"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eaLnBrk="1" hangingPunct="1">
                <a:spcBef>
                  <a:spcPct val="50000"/>
                </a:spcBef>
              </a:pPr>
              <a:r>
                <a:rPr lang="en-IE" altLang="en-US" sz="2200">
                  <a:latin typeface="Times New Roman" panose="02020603050405020304" pitchFamily="18" charset="0"/>
                  <a:cs typeface="Times New Roman" panose="02020603050405020304" pitchFamily="18" charset="0"/>
                </a:rPr>
                <a:t>f</a:t>
              </a:r>
              <a:r>
                <a:rPr lang="en-IE" altLang="en-US" sz="2200" baseline="-25000">
                  <a:latin typeface="Times New Roman" panose="02020603050405020304" pitchFamily="18" charset="0"/>
                  <a:cs typeface="Times New Roman" panose="02020603050405020304" pitchFamily="18" charset="0"/>
                </a:rPr>
                <a:t>signal</a:t>
              </a:r>
              <a:endParaRPr lang="en-US" altLang="en-US" sz="2200" baseline="-25000">
                <a:latin typeface="Times New Roman" panose="02020603050405020304" pitchFamily="18" charset="0"/>
                <a:cs typeface="Times New Roman" panose="02020603050405020304" pitchFamily="18" charset="0"/>
              </a:endParaRPr>
            </a:p>
          </p:txBody>
        </p:sp>
        <p:sp>
          <p:nvSpPr>
            <p:cNvPr id="64527" name="Line 80">
              <a:extLst>
                <a:ext uri="{FF2B5EF4-FFF2-40B4-BE49-F238E27FC236}">
                  <a16:creationId xmlns:a16="http://schemas.microsoft.com/office/drawing/2014/main" id="{033FA990-FE02-43C9-AA9D-EB7EAD57A590}"/>
                </a:ext>
              </a:extLst>
            </p:cNvPr>
            <p:cNvSpPr>
              <a:spLocks noChangeShapeType="1"/>
            </p:cNvSpPr>
            <p:nvPr/>
          </p:nvSpPr>
          <p:spPr bwMode="auto">
            <a:xfrm flipH="1">
              <a:off x="2112" y="1114"/>
              <a:ext cx="115"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28" name="Text Box 81">
              <a:extLst>
                <a:ext uri="{FF2B5EF4-FFF2-40B4-BE49-F238E27FC236}">
                  <a16:creationId xmlns:a16="http://schemas.microsoft.com/office/drawing/2014/main" id="{3B3CB1F7-5C32-4B5C-AD13-A530B45B8F67}"/>
                </a:ext>
              </a:extLst>
            </p:cNvPr>
            <p:cNvSpPr txBox="1">
              <a:spLocks noChangeArrowheads="1"/>
            </p:cNvSpPr>
            <p:nvPr/>
          </p:nvSpPr>
          <p:spPr bwMode="auto">
            <a:xfrm>
              <a:off x="2688" y="778"/>
              <a:ext cx="57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eaLnBrk="1" hangingPunct="1">
                <a:spcBef>
                  <a:spcPct val="50000"/>
                </a:spcBef>
              </a:pPr>
              <a:r>
                <a:rPr lang="en-IE" altLang="en-US" sz="2200">
                  <a:latin typeface="Times New Roman" panose="02020603050405020304" pitchFamily="18" charset="0"/>
                  <a:cs typeface="Times New Roman" panose="02020603050405020304" pitchFamily="18" charset="0"/>
                </a:rPr>
                <a:t>f</a:t>
              </a:r>
              <a:r>
                <a:rPr lang="en-IE" altLang="en-US" sz="2200" baseline="-25000">
                  <a:latin typeface="Times New Roman" panose="02020603050405020304" pitchFamily="18" charset="0"/>
                  <a:cs typeface="Times New Roman" panose="02020603050405020304" pitchFamily="18" charset="0"/>
                </a:rPr>
                <a:t>sampling</a:t>
              </a:r>
              <a:endParaRPr lang="en-US" altLang="en-US" sz="2200" baseline="-25000">
                <a:latin typeface="Times New Roman" panose="02020603050405020304" pitchFamily="18" charset="0"/>
                <a:cs typeface="Times New Roman" panose="02020603050405020304" pitchFamily="18" charset="0"/>
              </a:endParaRPr>
            </a:p>
          </p:txBody>
        </p:sp>
        <p:sp>
          <p:nvSpPr>
            <p:cNvPr id="64529" name="Line 82">
              <a:extLst>
                <a:ext uri="{FF2B5EF4-FFF2-40B4-BE49-F238E27FC236}">
                  <a16:creationId xmlns:a16="http://schemas.microsoft.com/office/drawing/2014/main" id="{EC93502C-A51A-4288-A9FF-53100103EE35}"/>
                </a:ext>
              </a:extLst>
            </p:cNvPr>
            <p:cNvSpPr>
              <a:spLocks noChangeShapeType="1"/>
            </p:cNvSpPr>
            <p:nvPr/>
          </p:nvSpPr>
          <p:spPr bwMode="auto">
            <a:xfrm flipH="1">
              <a:off x="2736" y="1066"/>
              <a:ext cx="115"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30" name="Text Box 83">
              <a:extLst>
                <a:ext uri="{FF2B5EF4-FFF2-40B4-BE49-F238E27FC236}">
                  <a16:creationId xmlns:a16="http://schemas.microsoft.com/office/drawing/2014/main" id="{8B4410E9-FE72-4B95-916D-C671E0D86841}"/>
                </a:ext>
              </a:extLst>
            </p:cNvPr>
            <p:cNvSpPr txBox="1">
              <a:spLocks noChangeArrowheads="1"/>
            </p:cNvSpPr>
            <p:nvPr/>
          </p:nvSpPr>
          <p:spPr bwMode="auto">
            <a:xfrm>
              <a:off x="3552" y="768"/>
              <a:ext cx="1392"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eaLnBrk="1" hangingPunct="1">
                <a:spcBef>
                  <a:spcPct val="50000"/>
                </a:spcBef>
              </a:pPr>
              <a:r>
                <a:rPr lang="en-IE" altLang="en-US" sz="2200">
                  <a:latin typeface="Times New Roman" panose="02020603050405020304" pitchFamily="18" charset="0"/>
                  <a:cs typeface="Times New Roman" panose="02020603050405020304" pitchFamily="18" charset="0"/>
                </a:rPr>
                <a:t>f</a:t>
              </a:r>
              <a:r>
                <a:rPr lang="en-IE" altLang="en-US" sz="2200" baseline="-25000">
                  <a:latin typeface="Times New Roman" panose="02020603050405020304" pitchFamily="18" charset="0"/>
                  <a:cs typeface="Times New Roman" panose="02020603050405020304" pitchFamily="18" charset="0"/>
                </a:rPr>
                <a:t>sampling </a:t>
              </a:r>
              <a:r>
                <a:rPr lang="en-IE" altLang="en-US" sz="2200">
                  <a:latin typeface="Times New Roman" panose="02020603050405020304" pitchFamily="18" charset="0"/>
                  <a:cs typeface="Times New Roman" panose="02020603050405020304" pitchFamily="18" charset="0"/>
                </a:rPr>
                <a:t>+ f</a:t>
              </a:r>
              <a:r>
                <a:rPr lang="en-IE" altLang="en-US" sz="2200" baseline="-25000">
                  <a:latin typeface="Times New Roman" panose="02020603050405020304" pitchFamily="18" charset="0"/>
                  <a:cs typeface="Times New Roman" panose="02020603050405020304" pitchFamily="18" charset="0"/>
                </a:rPr>
                <a:t>signal</a:t>
              </a:r>
              <a:endParaRPr lang="en-US" altLang="en-US" sz="2200" baseline="-25000">
                <a:latin typeface="Times New Roman" panose="02020603050405020304" pitchFamily="18" charset="0"/>
                <a:cs typeface="Times New Roman" panose="02020603050405020304" pitchFamily="18" charset="0"/>
              </a:endParaRPr>
            </a:p>
          </p:txBody>
        </p:sp>
        <p:sp>
          <p:nvSpPr>
            <p:cNvPr id="64531" name="Line 84">
              <a:extLst>
                <a:ext uri="{FF2B5EF4-FFF2-40B4-BE49-F238E27FC236}">
                  <a16:creationId xmlns:a16="http://schemas.microsoft.com/office/drawing/2014/main" id="{A876A19E-BBA9-427C-9E03-7A67C2520E21}"/>
                </a:ext>
              </a:extLst>
            </p:cNvPr>
            <p:cNvSpPr>
              <a:spLocks noChangeShapeType="1"/>
            </p:cNvSpPr>
            <p:nvPr/>
          </p:nvSpPr>
          <p:spPr bwMode="auto">
            <a:xfrm flipH="1">
              <a:off x="3869" y="1066"/>
              <a:ext cx="115"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32" name="Text Box 85">
              <a:extLst>
                <a:ext uri="{FF2B5EF4-FFF2-40B4-BE49-F238E27FC236}">
                  <a16:creationId xmlns:a16="http://schemas.microsoft.com/office/drawing/2014/main" id="{717D1B0A-F2A7-4E96-919C-07F07705F50C}"/>
                </a:ext>
              </a:extLst>
            </p:cNvPr>
            <p:cNvSpPr txBox="1">
              <a:spLocks noChangeArrowheads="1"/>
            </p:cNvSpPr>
            <p:nvPr/>
          </p:nvSpPr>
          <p:spPr bwMode="auto">
            <a:xfrm>
              <a:off x="3696" y="2506"/>
              <a:ext cx="912"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eaLnBrk="1" hangingPunct="1">
                <a:spcBef>
                  <a:spcPct val="50000"/>
                </a:spcBef>
              </a:pPr>
              <a:r>
                <a:rPr lang="en-IE" altLang="en-US" sz="2200">
                  <a:latin typeface="Times New Roman" panose="02020603050405020304" pitchFamily="18" charset="0"/>
                  <a:cs typeface="Times New Roman" panose="02020603050405020304" pitchFamily="18" charset="0"/>
                </a:rPr>
                <a:t>2.5 MHz</a:t>
              </a:r>
              <a:endParaRPr lang="en-US" altLang="en-US" sz="2200">
                <a:latin typeface="Times New Roman" panose="02020603050405020304" pitchFamily="18" charset="0"/>
                <a:cs typeface="Times New Roman" panose="02020603050405020304" pitchFamily="18" charset="0"/>
              </a:endParaRPr>
            </a:p>
          </p:txBody>
        </p:sp>
        <p:sp>
          <p:nvSpPr>
            <p:cNvPr id="64533" name="Text Box 86">
              <a:extLst>
                <a:ext uri="{FF2B5EF4-FFF2-40B4-BE49-F238E27FC236}">
                  <a16:creationId xmlns:a16="http://schemas.microsoft.com/office/drawing/2014/main" id="{DD95611C-1AF9-4B1A-89A2-B2BBD5EC743B}"/>
                </a:ext>
              </a:extLst>
            </p:cNvPr>
            <p:cNvSpPr txBox="1">
              <a:spLocks noChangeArrowheads="1"/>
            </p:cNvSpPr>
            <p:nvPr/>
          </p:nvSpPr>
          <p:spPr bwMode="auto">
            <a:xfrm>
              <a:off x="2544" y="2506"/>
              <a:ext cx="912"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eaLnBrk="1" hangingPunct="1">
                <a:spcBef>
                  <a:spcPct val="50000"/>
                </a:spcBef>
              </a:pPr>
              <a:r>
                <a:rPr lang="en-IE" altLang="en-US" sz="2200">
                  <a:latin typeface="Times New Roman" panose="02020603050405020304" pitchFamily="18" charset="0"/>
                  <a:cs typeface="Times New Roman" panose="02020603050405020304" pitchFamily="18" charset="0"/>
                </a:rPr>
                <a:t>1.5 MHz</a:t>
              </a:r>
              <a:endParaRPr lang="en-US" altLang="en-US" sz="2200">
                <a:latin typeface="Times New Roman" panose="02020603050405020304" pitchFamily="18" charset="0"/>
                <a:cs typeface="Times New Roman" panose="02020603050405020304" pitchFamily="18" charset="0"/>
              </a:endParaRPr>
            </a:p>
          </p:txBody>
        </p:sp>
        <p:sp>
          <p:nvSpPr>
            <p:cNvPr id="64534" name="Text Box 87">
              <a:extLst>
                <a:ext uri="{FF2B5EF4-FFF2-40B4-BE49-F238E27FC236}">
                  <a16:creationId xmlns:a16="http://schemas.microsoft.com/office/drawing/2014/main" id="{FA4FC57A-9D91-47D5-9747-B3B6650A8556}"/>
                </a:ext>
              </a:extLst>
            </p:cNvPr>
            <p:cNvSpPr txBox="1">
              <a:spLocks noChangeArrowheads="1"/>
            </p:cNvSpPr>
            <p:nvPr/>
          </p:nvSpPr>
          <p:spPr bwMode="auto">
            <a:xfrm>
              <a:off x="1872" y="2506"/>
              <a:ext cx="912"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eaLnBrk="1" hangingPunct="1">
                <a:spcBef>
                  <a:spcPct val="50000"/>
                </a:spcBef>
              </a:pPr>
              <a:r>
                <a:rPr lang="en-IE" altLang="en-US" sz="2200">
                  <a:latin typeface="Times New Roman" panose="02020603050405020304" pitchFamily="18" charset="0"/>
                  <a:cs typeface="Times New Roman" panose="02020603050405020304" pitchFamily="18" charset="0"/>
                </a:rPr>
                <a:t>1 MHz</a:t>
              </a:r>
              <a:endParaRPr lang="en-US" altLang="en-US" sz="2200">
                <a:latin typeface="Times New Roman" panose="02020603050405020304" pitchFamily="18" charset="0"/>
                <a:cs typeface="Times New Roman" panose="02020603050405020304" pitchFamily="18" charset="0"/>
              </a:endParaRPr>
            </a:p>
          </p:txBody>
        </p:sp>
        <p:sp>
          <p:nvSpPr>
            <p:cNvPr id="64535" name="Text Box 88">
              <a:extLst>
                <a:ext uri="{FF2B5EF4-FFF2-40B4-BE49-F238E27FC236}">
                  <a16:creationId xmlns:a16="http://schemas.microsoft.com/office/drawing/2014/main" id="{A78F528B-D9DC-4F36-9424-13B308FEDCE5}"/>
                </a:ext>
              </a:extLst>
            </p:cNvPr>
            <p:cNvSpPr txBox="1">
              <a:spLocks noChangeArrowheads="1"/>
            </p:cNvSpPr>
            <p:nvPr/>
          </p:nvSpPr>
          <p:spPr bwMode="auto">
            <a:xfrm>
              <a:off x="288" y="2544"/>
              <a:ext cx="912"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50000"/>
                </a:lnSpc>
                <a:spcBef>
                  <a:spcPct val="50000"/>
                </a:spcBef>
              </a:pPr>
              <a:r>
                <a:rPr lang="en-IE" altLang="en-US" sz="2200">
                  <a:latin typeface="Times New Roman" panose="02020603050405020304" pitchFamily="18" charset="0"/>
                  <a:cs typeface="Times New Roman" panose="02020603050405020304" pitchFamily="18" charset="0"/>
                </a:rPr>
                <a:t>“Alias”</a:t>
              </a:r>
            </a:p>
            <a:p>
              <a:pPr eaLnBrk="1" hangingPunct="1">
                <a:lnSpc>
                  <a:spcPct val="50000"/>
                </a:lnSpc>
                <a:spcBef>
                  <a:spcPct val="50000"/>
                </a:spcBef>
              </a:pPr>
              <a:r>
                <a:rPr lang="en-IE" altLang="en-US" sz="2200">
                  <a:latin typeface="Times New Roman" panose="02020603050405020304" pitchFamily="18" charset="0"/>
                  <a:cs typeface="Times New Roman" panose="02020603050405020304" pitchFamily="18" charset="0"/>
                </a:rPr>
                <a:t>0.5 MHz</a:t>
              </a:r>
              <a:endParaRPr lang="en-US" altLang="en-US" sz="2200">
                <a:latin typeface="Times New Roman" panose="02020603050405020304" pitchFamily="18" charset="0"/>
                <a:cs typeface="Times New Roman" panose="02020603050405020304" pitchFamily="18" charset="0"/>
              </a:endParaRPr>
            </a:p>
          </p:txBody>
        </p:sp>
        <p:sp>
          <p:nvSpPr>
            <p:cNvPr id="64536" name="Line 89">
              <a:extLst>
                <a:ext uri="{FF2B5EF4-FFF2-40B4-BE49-F238E27FC236}">
                  <a16:creationId xmlns:a16="http://schemas.microsoft.com/office/drawing/2014/main" id="{6A0AC529-AC90-43A4-9BFF-5BF393562854}"/>
                </a:ext>
              </a:extLst>
            </p:cNvPr>
            <p:cNvSpPr>
              <a:spLocks noChangeShapeType="1"/>
            </p:cNvSpPr>
            <p:nvPr/>
          </p:nvSpPr>
          <p:spPr bwMode="auto">
            <a:xfrm flipV="1">
              <a:off x="1536" y="2496"/>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sp>
          <p:nvSpPr>
            <p:cNvPr id="64537" name="Line 90">
              <a:extLst>
                <a:ext uri="{FF2B5EF4-FFF2-40B4-BE49-F238E27FC236}">
                  <a16:creationId xmlns:a16="http://schemas.microsoft.com/office/drawing/2014/main" id="{D54D2CCD-3070-4D18-B044-DFDF450B9B02}"/>
                </a:ext>
              </a:extLst>
            </p:cNvPr>
            <p:cNvSpPr>
              <a:spLocks noChangeShapeType="1"/>
            </p:cNvSpPr>
            <p:nvPr/>
          </p:nvSpPr>
          <p:spPr bwMode="auto">
            <a:xfrm>
              <a:off x="1104" y="273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0"/>
            </a:p>
          </p:txBody>
        </p:sp>
      </p:grpSp>
      <p:sp>
        <p:nvSpPr>
          <p:cNvPr id="5" name="Date Placeholder 4">
            <a:extLst>
              <a:ext uri="{FF2B5EF4-FFF2-40B4-BE49-F238E27FC236}">
                <a16:creationId xmlns:a16="http://schemas.microsoft.com/office/drawing/2014/main" id="{8D5D4D7B-D33C-44DB-B3DB-B0C48DF1C235}"/>
              </a:ext>
            </a:extLst>
          </p:cNvPr>
          <p:cNvSpPr>
            <a:spLocks noGrp="1"/>
          </p:cNvSpPr>
          <p:nvPr>
            <p:ph type="dt" sz="half" idx="10"/>
          </p:nvPr>
        </p:nvSpPr>
        <p:spPr>
          <a:xfrm>
            <a:off x="6370320" y="7258982"/>
            <a:ext cx="3349447" cy="414528"/>
          </a:xfrm>
        </p:spPr>
        <p:txBody>
          <a:bodyPr/>
          <a:lstStyle/>
          <a:p>
            <a:r>
              <a:rPr lang="en-US" dirty="0"/>
              <a:t>V.T.M</a:t>
            </a:r>
          </a:p>
        </p:txBody>
      </p:sp>
      <p:sp>
        <p:nvSpPr>
          <p:cNvPr id="6" name="Footer Placeholder 5">
            <a:extLst>
              <a:ext uri="{FF2B5EF4-FFF2-40B4-BE49-F238E27FC236}">
                <a16:creationId xmlns:a16="http://schemas.microsoft.com/office/drawing/2014/main" id="{D5235841-CB45-42BF-B394-101A2D04A5BD}"/>
              </a:ext>
            </a:extLst>
          </p:cNvPr>
          <p:cNvSpPr>
            <a:spLocks noGrp="1"/>
          </p:cNvSpPr>
          <p:nvPr>
            <p:ph type="ftr" sz="quarter" idx="11"/>
          </p:nvPr>
        </p:nvSpPr>
        <p:spPr/>
        <p:txBody>
          <a:bodyPr/>
          <a:lstStyle/>
          <a:p>
            <a:r>
              <a:rPr lang="en-US"/>
              <a:t>DN, 2020</a:t>
            </a:r>
            <a:endParaRPr lang="en-US" dirty="0"/>
          </a:p>
        </p:txBody>
      </p:sp>
      <p:sp>
        <p:nvSpPr>
          <p:cNvPr id="31" name="Title 1">
            <a:extLst>
              <a:ext uri="{FF2B5EF4-FFF2-40B4-BE49-F238E27FC236}">
                <a16:creationId xmlns:a16="http://schemas.microsoft.com/office/drawing/2014/main" id="{C676C1E6-75B9-4E19-B023-85682AB395F4}"/>
              </a:ext>
            </a:extLst>
          </p:cNvPr>
          <p:cNvSpPr>
            <a:spLocks noGrp="1"/>
          </p:cNvSpPr>
          <p:nvPr>
            <p:ph type="title"/>
          </p:nvPr>
        </p:nvSpPr>
        <p:spPr>
          <a:xfrm>
            <a:off x="331927" y="259080"/>
            <a:ext cx="9387840" cy="860146"/>
          </a:xfrm>
        </p:spPr>
        <p:txBody>
          <a:bodyPr/>
          <a:lstStyle/>
          <a:p>
            <a:r>
              <a:rPr lang="en-US" altLang="en-US" dirty="0"/>
              <a:t>The Nyquist Bandwidth &amp; Aliasing</a:t>
            </a:r>
            <a:endParaRPr lang="en-GB" dirty="0"/>
          </a:p>
        </p:txBody>
      </p:sp>
    </p:spTree>
    <p:extLst>
      <p:ext uri="{BB962C8B-B14F-4D97-AF65-F5344CB8AC3E}">
        <p14:creationId xmlns:p14="http://schemas.microsoft.com/office/powerpoint/2010/main" val="15523001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5B5A-4AE9-4F35-817E-F69D359B768A}"/>
              </a:ext>
            </a:extLst>
          </p:cNvPr>
          <p:cNvSpPr>
            <a:spLocks noGrp="1"/>
          </p:cNvSpPr>
          <p:nvPr>
            <p:ph type="title"/>
          </p:nvPr>
        </p:nvSpPr>
        <p:spPr/>
        <p:txBody>
          <a:bodyPr/>
          <a:lstStyle/>
          <a:p>
            <a:r>
              <a:rPr lang="en-GB" dirty="0"/>
              <a:t>Aliasing in time domain</a:t>
            </a:r>
          </a:p>
        </p:txBody>
      </p:sp>
      <p:sp>
        <p:nvSpPr>
          <p:cNvPr id="4" name="Slide Number Placeholder 3">
            <a:extLst>
              <a:ext uri="{FF2B5EF4-FFF2-40B4-BE49-F238E27FC236}">
                <a16:creationId xmlns:a16="http://schemas.microsoft.com/office/drawing/2014/main" id="{BBB0E1E8-E349-43A7-B715-AFC290EC46F0}"/>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78</a:t>
            </a:fld>
            <a:endParaRPr lang="en-US" dirty="0"/>
          </a:p>
        </p:txBody>
      </p:sp>
      <p:pic>
        <p:nvPicPr>
          <p:cNvPr id="5" name="Picture 4" descr="A close up of a piece of paper&#10;&#10;Description automatically generated">
            <a:extLst>
              <a:ext uri="{FF2B5EF4-FFF2-40B4-BE49-F238E27FC236}">
                <a16:creationId xmlns:a16="http://schemas.microsoft.com/office/drawing/2014/main" id="{E8337ED0-CA25-4F64-8EE5-75EEBE5EA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328" y="2360473"/>
            <a:ext cx="8819743" cy="3886200"/>
          </a:xfrm>
          <a:prstGeom prst="rect">
            <a:avLst/>
          </a:prstGeom>
        </p:spPr>
      </p:pic>
      <p:sp>
        <p:nvSpPr>
          <p:cNvPr id="7" name="Date Placeholder 6">
            <a:extLst>
              <a:ext uri="{FF2B5EF4-FFF2-40B4-BE49-F238E27FC236}">
                <a16:creationId xmlns:a16="http://schemas.microsoft.com/office/drawing/2014/main" id="{91756153-4D6E-4239-BFB9-1C7B54FD9D3F}"/>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8" name="Footer Placeholder 7">
            <a:extLst>
              <a:ext uri="{FF2B5EF4-FFF2-40B4-BE49-F238E27FC236}">
                <a16:creationId xmlns:a16="http://schemas.microsoft.com/office/drawing/2014/main" id="{4E7DD4C1-A9BD-47BA-8F84-C4A68B4000C7}"/>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16213326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C4A9D59-C3A7-4F54-B877-9B7B95B73261}"/>
              </a:ext>
            </a:extLst>
          </p:cNvPr>
          <p:cNvSpPr>
            <a:spLocks noGrp="1" noChangeArrowheads="1"/>
          </p:cNvSpPr>
          <p:nvPr>
            <p:ph sz="quarter" idx="1"/>
          </p:nvPr>
        </p:nvSpPr>
        <p:spPr/>
        <p:txBody>
          <a:bodyPr>
            <a:normAutofit lnSpcReduction="10000"/>
          </a:bodyPr>
          <a:lstStyle/>
          <a:p>
            <a:r>
              <a:rPr lang="en-US" altLang="en-US" dirty="0">
                <a:latin typeface="Arial" panose="020B0604020202020204" pitchFamily="34" charset="0"/>
                <a:cs typeface="Arial" panose="020B0604020202020204" pitchFamily="34" charset="0"/>
              </a:rPr>
              <a:t>SINAD (Signal-to-Noise-and-Distortion Ratio)</a:t>
            </a:r>
          </a:p>
          <a:p>
            <a:pPr lvl="1"/>
            <a:r>
              <a:rPr lang="en-US" altLang="en-US" dirty="0">
                <a:latin typeface="Arial" panose="020B0604020202020204" pitchFamily="34" charset="0"/>
                <a:cs typeface="Arial" panose="020B0604020202020204" pitchFamily="34" charset="0"/>
              </a:rPr>
              <a:t>The ratio of the rms signal amplitude to the mean value of the root-sum-squares (RSS) of all other spectral components, including harmonics, but excluding dc</a:t>
            </a:r>
          </a:p>
          <a:p>
            <a:r>
              <a:rPr lang="en-US" altLang="en-US" dirty="0">
                <a:latin typeface="Arial" panose="020B0604020202020204" pitchFamily="34" charset="0"/>
                <a:cs typeface="Arial" panose="020B0604020202020204" pitchFamily="34" charset="0"/>
              </a:rPr>
              <a:t>ENOB (Effective Number of Bits)</a:t>
            </a:r>
          </a:p>
          <a:p>
            <a:pPr marL="0" indent="0">
              <a:buNone/>
            </a:pPr>
            <a:r>
              <a:rPr lang="en-US" altLang="en-US" dirty="0">
                <a:latin typeface="Arial" panose="020B0604020202020204" pitchFamily="34" charset="0"/>
                <a:cs typeface="Arial" panose="020B0604020202020204" pitchFamily="34" charset="0"/>
              </a:rPr>
              <a:t> </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SNR (Signal-to-Noise Ratio, or Signal-to-Noise Ratio Without Harmonics)</a:t>
            </a:r>
          </a:p>
          <a:p>
            <a:pPr lvl="1"/>
            <a:r>
              <a:rPr lang="en-US" altLang="en-US" dirty="0">
                <a:latin typeface="Arial" panose="020B0604020202020204" pitchFamily="34" charset="0"/>
                <a:cs typeface="Arial" panose="020B0604020202020204" pitchFamily="34" charset="0"/>
              </a:rPr>
              <a:t>The ratio of the rms signal amplitude to the mean value of the root-sum-squares (RSS) of all other spectral components, excluding the first five harmonics and dc</a:t>
            </a:r>
          </a:p>
        </p:txBody>
      </p:sp>
      <p:sp>
        <p:nvSpPr>
          <p:cNvPr id="66563" name="Rectangle 3">
            <a:extLst>
              <a:ext uri="{FF2B5EF4-FFF2-40B4-BE49-F238E27FC236}">
                <a16:creationId xmlns:a16="http://schemas.microsoft.com/office/drawing/2014/main" id="{EAD148D5-1E9E-4CEF-B79A-EC8839352C73}"/>
              </a:ext>
            </a:extLst>
          </p:cNvPr>
          <p:cNvSpPr>
            <a:spLocks noGrp="1" noChangeArrowheads="1"/>
          </p:cNvSpPr>
          <p:nvPr>
            <p:ph type="title"/>
          </p:nvPr>
        </p:nvSpPr>
        <p:spPr/>
        <p:txBody>
          <a:bodyPr/>
          <a:lstStyle/>
          <a:p>
            <a:r>
              <a:rPr lang="en-US" altLang="en-US" dirty="0"/>
              <a:t>SINAD, ENOB and SNR</a:t>
            </a:r>
          </a:p>
        </p:txBody>
      </p:sp>
      <p:sp>
        <p:nvSpPr>
          <p:cNvPr id="2" name="Slide Number Placeholder 1">
            <a:extLst>
              <a:ext uri="{FF2B5EF4-FFF2-40B4-BE49-F238E27FC236}">
                <a16:creationId xmlns:a16="http://schemas.microsoft.com/office/drawing/2014/main" id="{C3ED6BA8-3AD1-449A-A74E-15E2F20C7B21}"/>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79</a:t>
            </a:fld>
            <a:endParaRPr lang="en-US" dirty="0"/>
          </a:p>
        </p:txBody>
      </p:sp>
      <p:graphicFrame>
        <p:nvGraphicFramePr>
          <p:cNvPr id="66564" name="Object 4">
            <a:extLst>
              <a:ext uri="{FF2B5EF4-FFF2-40B4-BE49-F238E27FC236}">
                <a16:creationId xmlns:a16="http://schemas.microsoft.com/office/drawing/2014/main" id="{AE3C2A1C-F669-4B9C-8507-0BC9BB8007CC}"/>
              </a:ext>
            </a:extLst>
          </p:cNvPr>
          <p:cNvGraphicFramePr>
            <a:graphicFrameLocks/>
          </p:cNvGraphicFramePr>
          <p:nvPr>
            <p:extLst>
              <p:ext uri="{D42A27DB-BD31-4B8C-83A1-F6EECF244321}">
                <p14:modId xmlns:p14="http://schemas.microsoft.com/office/powerpoint/2010/main" val="4269857202"/>
              </p:ext>
            </p:extLst>
          </p:nvPr>
        </p:nvGraphicFramePr>
        <p:xfrm>
          <a:off x="2298815" y="3886200"/>
          <a:ext cx="3330575" cy="838200"/>
        </p:xfrm>
        <a:graphic>
          <a:graphicData uri="http://schemas.openxmlformats.org/presentationml/2006/ole">
            <mc:AlternateContent xmlns:mc="http://schemas.openxmlformats.org/markup-compatibility/2006">
              <mc:Choice xmlns:v="urn:schemas-microsoft-com:vml" Requires="v">
                <p:oleObj name="Equation" r:id="rId3" imgW="1625600" imgH="393700" progId="Equation.3">
                  <p:embed/>
                </p:oleObj>
              </mc:Choice>
              <mc:Fallback>
                <p:oleObj name="Equation" r:id="rId3" imgW="1625600" imgH="393700" progId="Equation.3">
                  <p:embed/>
                  <p:pic>
                    <p:nvPicPr>
                      <p:cNvPr id="66564" name="Object 4">
                        <a:extLst>
                          <a:ext uri="{FF2B5EF4-FFF2-40B4-BE49-F238E27FC236}">
                            <a16:creationId xmlns:a16="http://schemas.microsoft.com/office/drawing/2014/main" id="{AE3C2A1C-F669-4B9C-8507-0BC9BB8007C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8815" y="3886200"/>
                        <a:ext cx="3330575" cy="838200"/>
                      </a:xfrm>
                      <a:prstGeom prst="rect">
                        <a:avLst/>
                      </a:prstGeom>
                      <a:noFill/>
                      <a:ln>
                        <a:noFill/>
                      </a:ln>
                      <a:effectLst/>
                    </p:spPr>
                  </p:pic>
                </p:oleObj>
              </mc:Fallback>
            </mc:AlternateContent>
          </a:graphicData>
        </a:graphic>
      </p:graphicFrame>
      <p:pic>
        <p:nvPicPr>
          <p:cNvPr id="66565" name="Picture 5">
            <a:extLst>
              <a:ext uri="{FF2B5EF4-FFF2-40B4-BE49-F238E27FC236}">
                <a16:creationId xmlns:a16="http://schemas.microsoft.com/office/drawing/2014/main" id="{0269F1B1-7167-4C97-85BA-F5C516B4F3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950"/>
          <a:stretch>
            <a:fillRect/>
          </a:stretch>
        </p:blipFill>
        <p:spPr bwMode="auto">
          <a:xfrm>
            <a:off x="7040880" y="2880360"/>
            <a:ext cx="3017520" cy="2629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a:extLst>
              <a:ext uri="{FF2B5EF4-FFF2-40B4-BE49-F238E27FC236}">
                <a16:creationId xmlns:a16="http://schemas.microsoft.com/office/drawing/2014/main" id="{3015D5FF-1E03-4D7B-BC31-D6C153DC2FF5}"/>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4" name="Footer Placeholder 3">
            <a:extLst>
              <a:ext uri="{FF2B5EF4-FFF2-40B4-BE49-F238E27FC236}">
                <a16:creationId xmlns:a16="http://schemas.microsoft.com/office/drawing/2014/main" id="{F4D37853-5D4B-4B54-8059-20965EF57FB2}"/>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363481496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8614" name="Object 6">
            <a:extLst>
              <a:ext uri="{FF2B5EF4-FFF2-40B4-BE49-F238E27FC236}">
                <a16:creationId xmlns:a16="http://schemas.microsoft.com/office/drawing/2014/main" id="{E55D5D9F-5052-41CC-AFA4-1DED5F356A96}"/>
              </a:ext>
            </a:extLst>
          </p:cNvPr>
          <p:cNvGraphicFramePr>
            <a:graphicFrameLocks noChangeAspect="1"/>
          </p:cNvGraphicFramePr>
          <p:nvPr/>
        </p:nvGraphicFramePr>
        <p:xfrm>
          <a:off x="586740" y="1624330"/>
          <a:ext cx="8298180" cy="5462270"/>
        </p:xfrm>
        <a:graphic>
          <a:graphicData uri="http://schemas.openxmlformats.org/presentationml/2006/ole">
            <mc:AlternateContent xmlns:mc="http://schemas.openxmlformats.org/markup-compatibility/2006">
              <mc:Choice xmlns:v="urn:schemas-microsoft-com:vml" Requires="v">
                <p:oleObj name="Drawing" r:id="rId3" imgW="2258384" imgH="1491270" progId="Canvas.Drawing.7">
                  <p:embed/>
                </p:oleObj>
              </mc:Choice>
              <mc:Fallback>
                <p:oleObj name="Drawing" r:id="rId3" imgW="2258384" imgH="1491270" progId="Canvas.Drawing.7">
                  <p:embed/>
                  <p:pic>
                    <p:nvPicPr>
                      <p:cNvPr id="68614" name="Object 6">
                        <a:extLst>
                          <a:ext uri="{FF2B5EF4-FFF2-40B4-BE49-F238E27FC236}">
                            <a16:creationId xmlns:a16="http://schemas.microsoft.com/office/drawing/2014/main" id="{E55D5D9F-5052-41CC-AFA4-1DED5F356A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 y="1624330"/>
                        <a:ext cx="8298180" cy="5462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0" name="Rectangle 2">
            <a:extLst>
              <a:ext uri="{FF2B5EF4-FFF2-40B4-BE49-F238E27FC236}">
                <a16:creationId xmlns:a16="http://schemas.microsoft.com/office/drawing/2014/main" id="{DEE444E0-F08B-4F53-A9B9-330CD79D8072}"/>
              </a:ext>
            </a:extLst>
          </p:cNvPr>
          <p:cNvSpPr>
            <a:spLocks noGrp="1" noChangeArrowheads="1"/>
          </p:cNvSpPr>
          <p:nvPr>
            <p:ph type="title"/>
          </p:nvPr>
        </p:nvSpPr>
        <p:spPr/>
        <p:txBody>
          <a:bodyPr/>
          <a:lstStyle/>
          <a:p>
            <a:r>
              <a:rPr lang="en-US" altLang="en-US" dirty="0"/>
              <a:t>SFDR and THD</a:t>
            </a:r>
          </a:p>
        </p:txBody>
      </p:sp>
      <p:sp>
        <p:nvSpPr>
          <p:cNvPr id="3" name="Slide Number Placeholder 2">
            <a:extLst>
              <a:ext uri="{FF2B5EF4-FFF2-40B4-BE49-F238E27FC236}">
                <a16:creationId xmlns:a16="http://schemas.microsoft.com/office/drawing/2014/main" id="{7A2A2132-6815-42A2-9216-C6FCCEF81057}"/>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80</a:t>
            </a:fld>
            <a:endParaRPr lang="en-US" dirty="0"/>
          </a:p>
        </p:txBody>
      </p:sp>
      <p:sp>
        <p:nvSpPr>
          <p:cNvPr id="68611" name="Text Box 3">
            <a:extLst>
              <a:ext uri="{FF2B5EF4-FFF2-40B4-BE49-F238E27FC236}">
                <a16:creationId xmlns:a16="http://schemas.microsoft.com/office/drawing/2014/main" id="{6D00B3F0-623B-479A-8651-71A40E6FB5D2}"/>
              </a:ext>
            </a:extLst>
          </p:cNvPr>
          <p:cNvSpPr txBox="1">
            <a:spLocks noChangeArrowheads="1"/>
          </p:cNvSpPr>
          <p:nvPr/>
        </p:nvSpPr>
        <p:spPr bwMode="auto">
          <a:xfrm>
            <a:off x="3358197" y="1981200"/>
            <a:ext cx="4795203"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00" dirty="0"/>
              <a:t>SFDR = The difference between the rms power of the fundamental and the largest spurious signal in a given bandwidth</a:t>
            </a:r>
          </a:p>
        </p:txBody>
      </p:sp>
      <p:sp>
        <p:nvSpPr>
          <p:cNvPr id="68612" name="Text Box 4">
            <a:extLst>
              <a:ext uri="{FF2B5EF4-FFF2-40B4-BE49-F238E27FC236}">
                <a16:creationId xmlns:a16="http://schemas.microsoft.com/office/drawing/2014/main" id="{FB459DA0-639D-4095-8D6D-54F6C581F2C0}"/>
              </a:ext>
            </a:extLst>
          </p:cNvPr>
          <p:cNvSpPr txBox="1">
            <a:spLocks noChangeArrowheads="1"/>
          </p:cNvSpPr>
          <p:nvPr/>
        </p:nvSpPr>
        <p:spPr bwMode="auto">
          <a:xfrm>
            <a:off x="7007543" y="3245584"/>
            <a:ext cx="2822257" cy="1631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ltLang="en-US" sz="2000" dirty="0"/>
              <a:t>THD = The ratio of the rms sum of the first six harmonics to the amplitude of the fundamental</a:t>
            </a:r>
          </a:p>
        </p:txBody>
      </p:sp>
      <p:sp>
        <p:nvSpPr>
          <p:cNvPr id="5" name="Date Placeholder 4">
            <a:extLst>
              <a:ext uri="{FF2B5EF4-FFF2-40B4-BE49-F238E27FC236}">
                <a16:creationId xmlns:a16="http://schemas.microsoft.com/office/drawing/2014/main" id="{F9FC29E4-3625-4200-9052-978E1FF37422}"/>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6" name="Footer Placeholder 5">
            <a:extLst>
              <a:ext uri="{FF2B5EF4-FFF2-40B4-BE49-F238E27FC236}">
                <a16:creationId xmlns:a16="http://schemas.microsoft.com/office/drawing/2014/main" id="{6D27F4AC-38AA-498C-8348-FA7DD44690A7}"/>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96280476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B8BD60-6D46-4CD0-831F-90F8ADB88958}"/>
              </a:ext>
            </a:extLst>
          </p:cNvPr>
          <p:cNvSpPr>
            <a:spLocks noGrp="1"/>
          </p:cNvSpPr>
          <p:nvPr>
            <p:ph sz="quarter" idx="1"/>
          </p:nvPr>
        </p:nvSpPr>
        <p:spPr>
          <a:xfrm>
            <a:off x="331927" y="4032075"/>
            <a:ext cx="9354312" cy="2880179"/>
          </a:xfrm>
        </p:spPr>
        <p:txBody>
          <a:bodyPr>
            <a:normAutofit/>
          </a:bodyPr>
          <a:lstStyle/>
          <a:p>
            <a:r>
              <a:rPr lang="en-US" sz="2800" dirty="0">
                <a:latin typeface="Arial" panose="020B0604020202020204" pitchFamily="34" charset="0"/>
                <a:cs typeface="Arial" panose="020B0604020202020204" pitchFamily="34" charset="0"/>
              </a:rPr>
              <a:t>Sometimes inverse of this metric is used</a:t>
            </a:r>
          </a:p>
          <a:p>
            <a:r>
              <a:rPr lang="en-US" sz="2800" dirty="0">
                <a:latin typeface="Arial" panose="020B0604020202020204" pitchFamily="34" charset="0"/>
                <a:cs typeface="Arial" panose="020B0604020202020204" pitchFamily="34" charset="0"/>
              </a:rPr>
              <a:t>In typical circuits power ~ speed, FOM captures this tradeoff correctly</a:t>
            </a:r>
          </a:p>
          <a:p>
            <a:r>
              <a:rPr lang="en-US" sz="2800" dirty="0">
                <a:latin typeface="Arial" panose="020B0604020202020204" pitchFamily="34" charset="0"/>
                <a:cs typeface="Arial" panose="020B0604020202020204" pitchFamily="34" charset="0"/>
              </a:rPr>
              <a:t>How about power vs. ENOB?</a:t>
            </a:r>
          </a:p>
          <a:p>
            <a:pPr lvl="1"/>
            <a:r>
              <a:rPr lang="en-US" sz="2400" dirty="0">
                <a:latin typeface="Arial" panose="020B0604020202020204" pitchFamily="34" charset="0"/>
                <a:cs typeface="Arial" panose="020B0604020202020204" pitchFamily="34" charset="0"/>
              </a:rPr>
              <a:t>One more bit 2x in power?</a:t>
            </a:r>
          </a:p>
          <a:p>
            <a:endParaRPr lang="en-GB" sz="28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24B27A5-9133-4DB1-82C3-E0508662454B}"/>
              </a:ext>
            </a:extLst>
          </p:cNvPr>
          <p:cNvSpPr>
            <a:spLocks noGrp="1"/>
          </p:cNvSpPr>
          <p:nvPr>
            <p:ph type="title"/>
          </p:nvPr>
        </p:nvSpPr>
        <p:spPr/>
        <p:txBody>
          <a:bodyPr/>
          <a:lstStyle/>
          <a:p>
            <a:r>
              <a:rPr lang="en-GB" dirty="0"/>
              <a:t>ADC Figures of Merit</a:t>
            </a:r>
          </a:p>
        </p:txBody>
      </p:sp>
      <p:sp>
        <p:nvSpPr>
          <p:cNvPr id="4" name="Slide Number Placeholder 3">
            <a:extLst>
              <a:ext uri="{FF2B5EF4-FFF2-40B4-BE49-F238E27FC236}">
                <a16:creationId xmlns:a16="http://schemas.microsoft.com/office/drawing/2014/main" id="{7165BA92-BACF-498C-9286-F6C0CF30BCAE}"/>
              </a:ext>
            </a:extLst>
          </p:cNvPr>
          <p:cNvSpPr>
            <a:spLocks noGrp="1"/>
          </p:cNvSpPr>
          <p:nvPr>
            <p:ph type="sldNum" sz="quarter" idx="12"/>
          </p:nvPr>
        </p:nvSpPr>
        <p:spPr>
          <a:xfrm>
            <a:off x="4777740" y="1178865"/>
            <a:ext cx="502920" cy="500168"/>
          </a:xfrm>
        </p:spPr>
        <p:txBody>
          <a:bodyPr/>
          <a:lstStyle/>
          <a:p>
            <a:fld id="{B6F15528-21DE-4FAA-801E-634DDDAF4B2B}" type="slidenum">
              <a:rPr lang="en-US" smtClean="0"/>
              <a:t>81</a:t>
            </a:fld>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40B986A-37C6-4157-BA05-699D450539EA}"/>
                  </a:ext>
                </a:extLst>
              </p:cNvPr>
              <p:cNvSpPr/>
              <p:nvPr/>
            </p:nvSpPr>
            <p:spPr>
              <a:xfrm>
                <a:off x="2189512" y="2244008"/>
                <a:ext cx="5679375" cy="1223092"/>
              </a:xfrm>
              <a:prstGeom prst="rect">
                <a:avLst/>
              </a:prstGeom>
            </p:spPr>
            <p:txBody>
              <a:bodyPr wrap="none">
                <a:spAutoFit/>
              </a:bodyPr>
              <a:lstStyle/>
              <a:p>
                <a:pPr lvl="0" defTabSz="1005840">
                  <a:spcBef>
                    <a:spcPts val="580"/>
                  </a:spcBef>
                  <a:buClr>
                    <a:srgbClr val="D34817">
                      <a:lumMod val="75000"/>
                    </a:srgbClr>
                  </a:buClr>
                  <a:buSzPct val="85000"/>
                </a:pPr>
                <a14:m>
                  <m:oMathPara xmlns:m="http://schemas.openxmlformats.org/officeDocument/2006/math">
                    <m:oMathParaPr>
                      <m:jc m:val="centerGroup"/>
                    </m:oMathParaPr>
                    <m:oMath xmlns:m="http://schemas.openxmlformats.org/officeDocument/2006/math">
                      <m:r>
                        <a:rPr lang="en-US" sz="3600" b="0" i="1" smtClean="0">
                          <a:solidFill>
                            <a:prstClr val="black"/>
                          </a:solidFill>
                          <a:latin typeface="Cambria Math" panose="02040503050406030204" pitchFamily="18" charset="0"/>
                          <a:ea typeface="Cambria Math" panose="02040503050406030204" pitchFamily="18" charset="0"/>
                          <a:cs typeface="Arial"/>
                        </a:rPr>
                        <m:t>𝐹𝑜𝑀</m:t>
                      </m:r>
                      <m:r>
                        <a:rPr lang="en-GB" sz="3600" i="1">
                          <a:solidFill>
                            <a:prstClr val="black"/>
                          </a:solidFill>
                          <a:latin typeface="Cambria Math" panose="02040503050406030204" pitchFamily="18" charset="0"/>
                          <a:ea typeface="Cambria Math" panose="02040503050406030204" pitchFamily="18" charset="0"/>
                          <a:cs typeface="Arial"/>
                        </a:rPr>
                        <m:t>= </m:t>
                      </m:r>
                      <m:f>
                        <m:fPr>
                          <m:ctrlPr>
                            <a:rPr lang="en-GB" sz="3600" i="1">
                              <a:solidFill>
                                <a:prstClr val="black"/>
                              </a:solidFill>
                              <a:latin typeface="Cambria Math" panose="02040503050406030204" pitchFamily="18" charset="0"/>
                              <a:ea typeface="Cambria Math" panose="02040503050406030204" pitchFamily="18" charset="0"/>
                              <a:cs typeface="Arial"/>
                            </a:rPr>
                          </m:ctrlPr>
                        </m:fPr>
                        <m:num>
                          <m:r>
                            <a:rPr lang="en-US" sz="3600" b="0" i="1" smtClean="0">
                              <a:solidFill>
                                <a:prstClr val="black"/>
                              </a:solidFill>
                              <a:latin typeface="Cambria Math" panose="02040503050406030204" pitchFamily="18" charset="0"/>
                              <a:ea typeface="Cambria Math" panose="02040503050406030204" pitchFamily="18" charset="0"/>
                              <a:cs typeface="Arial"/>
                            </a:rPr>
                            <m:t>𝑃𝑜𝑤𝑒𝑟</m:t>
                          </m:r>
                        </m:num>
                        <m:den>
                          <m:sSub>
                            <m:sSubPr>
                              <m:ctrlPr>
                                <a:rPr lang="en-US" sz="3600" b="0" i="1" smtClean="0">
                                  <a:solidFill>
                                    <a:prstClr val="black"/>
                                  </a:solidFill>
                                  <a:latin typeface="Cambria Math" panose="02040503050406030204" pitchFamily="18" charset="0"/>
                                  <a:ea typeface="Cambria Math" panose="02040503050406030204" pitchFamily="18" charset="0"/>
                                  <a:cs typeface="Arial"/>
                                </a:rPr>
                              </m:ctrlPr>
                            </m:sSubPr>
                            <m:e>
                              <m:r>
                                <a:rPr lang="en-US" sz="3600" b="0" i="1" smtClean="0">
                                  <a:solidFill>
                                    <a:prstClr val="black"/>
                                  </a:solidFill>
                                  <a:latin typeface="Cambria Math" panose="02040503050406030204" pitchFamily="18" charset="0"/>
                                  <a:ea typeface="Cambria Math" panose="02040503050406030204" pitchFamily="18" charset="0"/>
                                  <a:cs typeface="Arial"/>
                                </a:rPr>
                                <m:t>𝐹</m:t>
                              </m:r>
                            </m:e>
                            <m:sub>
                              <m:r>
                                <a:rPr lang="en-US" sz="3600" b="0" i="1" smtClean="0">
                                  <a:solidFill>
                                    <a:prstClr val="black"/>
                                  </a:solidFill>
                                  <a:latin typeface="Cambria Math" panose="02040503050406030204" pitchFamily="18" charset="0"/>
                                  <a:ea typeface="Cambria Math" panose="02040503050406030204" pitchFamily="18" charset="0"/>
                                  <a:cs typeface="Arial"/>
                                </a:rPr>
                                <m:t>𝑠</m:t>
                              </m:r>
                            </m:sub>
                          </m:sSub>
                          <m:r>
                            <a:rPr lang="en-US" sz="3600" b="0" i="1" smtClean="0">
                              <a:solidFill>
                                <a:prstClr val="black"/>
                              </a:solidFill>
                              <a:latin typeface="Cambria Math" panose="02040503050406030204" pitchFamily="18" charset="0"/>
                              <a:ea typeface="Cambria Math" panose="02040503050406030204" pitchFamily="18" charset="0"/>
                              <a:cs typeface="Arial"/>
                            </a:rPr>
                            <m:t>∙</m:t>
                          </m:r>
                          <m:sSup>
                            <m:sSupPr>
                              <m:ctrlPr>
                                <a:rPr lang="en-GB" sz="3600" i="1">
                                  <a:solidFill>
                                    <a:prstClr val="black"/>
                                  </a:solidFill>
                                  <a:latin typeface="Cambria Math" panose="02040503050406030204" pitchFamily="18" charset="0"/>
                                  <a:ea typeface="Cambria Math" panose="02040503050406030204" pitchFamily="18" charset="0"/>
                                  <a:cs typeface="Arial"/>
                                </a:rPr>
                              </m:ctrlPr>
                            </m:sSupPr>
                            <m:e>
                              <m:r>
                                <a:rPr lang="en-GB" sz="3600" i="1">
                                  <a:solidFill>
                                    <a:prstClr val="black"/>
                                  </a:solidFill>
                                  <a:latin typeface="Cambria Math" panose="02040503050406030204" pitchFamily="18" charset="0"/>
                                  <a:ea typeface="Cambria Math" panose="02040503050406030204" pitchFamily="18" charset="0"/>
                                  <a:cs typeface="Arial"/>
                                </a:rPr>
                                <m:t>2</m:t>
                              </m:r>
                            </m:e>
                            <m:sup>
                              <m:r>
                                <a:rPr lang="en-US" sz="3600" b="0" i="1" smtClean="0">
                                  <a:solidFill>
                                    <a:prstClr val="black"/>
                                  </a:solidFill>
                                  <a:latin typeface="Cambria Math" panose="02040503050406030204" pitchFamily="18" charset="0"/>
                                  <a:ea typeface="Cambria Math" panose="02040503050406030204" pitchFamily="18" charset="0"/>
                                  <a:cs typeface="Arial"/>
                                </a:rPr>
                                <m:t>𝐸𝑁𝑂𝐵</m:t>
                              </m:r>
                            </m:sup>
                          </m:sSup>
                        </m:den>
                      </m:f>
                      <m:r>
                        <a:rPr lang="en-US" sz="3600" b="0" i="1" smtClean="0">
                          <a:solidFill>
                            <a:prstClr val="black"/>
                          </a:solidFill>
                          <a:latin typeface="Cambria Math" panose="02040503050406030204" pitchFamily="18" charset="0"/>
                          <a:ea typeface="Cambria Math" panose="02040503050406030204" pitchFamily="18" charset="0"/>
                          <a:cs typeface="Arial"/>
                        </a:rPr>
                        <m:t>[</m:t>
                      </m:r>
                      <m:r>
                        <a:rPr lang="en-US" sz="3600" b="0" i="1" smtClean="0">
                          <a:solidFill>
                            <a:prstClr val="black"/>
                          </a:solidFill>
                          <a:latin typeface="Cambria Math" panose="02040503050406030204" pitchFamily="18" charset="0"/>
                          <a:ea typeface="Cambria Math" panose="02040503050406030204" pitchFamily="18" charset="0"/>
                          <a:cs typeface="Arial"/>
                        </a:rPr>
                        <m:t>𝐽</m:t>
                      </m:r>
                      <m:r>
                        <a:rPr lang="en-US" sz="3600" b="0" i="1" smtClean="0">
                          <a:solidFill>
                            <a:prstClr val="black"/>
                          </a:solidFill>
                          <a:latin typeface="Cambria Math" panose="02040503050406030204" pitchFamily="18" charset="0"/>
                          <a:ea typeface="Cambria Math" panose="02040503050406030204" pitchFamily="18" charset="0"/>
                          <a:cs typeface="Arial"/>
                        </a:rPr>
                        <m:t>/</m:t>
                      </m:r>
                      <m:r>
                        <a:rPr lang="en-US" sz="3600" b="0" i="1" smtClean="0">
                          <a:solidFill>
                            <a:prstClr val="black"/>
                          </a:solidFill>
                          <a:latin typeface="Cambria Math" panose="02040503050406030204" pitchFamily="18" charset="0"/>
                          <a:ea typeface="Cambria Math" panose="02040503050406030204" pitchFamily="18" charset="0"/>
                          <a:cs typeface="Arial"/>
                        </a:rPr>
                        <m:t>𝑐𝑜𝑛𝑣</m:t>
                      </m:r>
                      <m:r>
                        <a:rPr lang="en-US" sz="3600" b="0" i="1" smtClean="0">
                          <a:solidFill>
                            <a:prstClr val="black"/>
                          </a:solidFill>
                          <a:latin typeface="Cambria Math" panose="02040503050406030204" pitchFamily="18" charset="0"/>
                          <a:ea typeface="Cambria Math" panose="02040503050406030204" pitchFamily="18" charset="0"/>
                          <a:cs typeface="Arial"/>
                        </a:rPr>
                        <m:t>]</m:t>
                      </m:r>
                    </m:oMath>
                  </m:oMathPara>
                </a14:m>
                <a:endParaRPr lang="en-US" sz="3600" dirty="0">
                  <a:solidFill>
                    <a:prstClr val="black"/>
                  </a:solidFill>
                  <a:latin typeface="Arial"/>
                  <a:cs typeface="Arial"/>
                </a:endParaRPr>
              </a:p>
            </p:txBody>
          </p:sp>
        </mc:Choice>
        <mc:Fallback xmlns="">
          <p:sp>
            <p:nvSpPr>
              <p:cNvPr id="5" name="Rectangle 4">
                <a:extLst>
                  <a:ext uri="{FF2B5EF4-FFF2-40B4-BE49-F238E27FC236}">
                    <a16:creationId xmlns:a16="http://schemas.microsoft.com/office/drawing/2014/main" id="{840B986A-37C6-4157-BA05-699D450539EA}"/>
                  </a:ext>
                </a:extLst>
              </p:cNvPr>
              <p:cNvSpPr>
                <a:spLocks noRot="1" noChangeAspect="1" noMove="1" noResize="1" noEditPoints="1" noAdjustHandles="1" noChangeArrowheads="1" noChangeShapeType="1" noTextEdit="1"/>
              </p:cNvSpPr>
              <p:nvPr/>
            </p:nvSpPr>
            <p:spPr>
              <a:xfrm>
                <a:off x="2189512" y="2244008"/>
                <a:ext cx="5679375" cy="1223092"/>
              </a:xfrm>
              <a:prstGeom prst="rect">
                <a:avLst/>
              </a:prstGeom>
              <a:blipFill>
                <a:blip r:embed="rId2"/>
                <a:stretch>
                  <a:fillRect/>
                </a:stretch>
              </a:blipFill>
            </p:spPr>
            <p:txBody>
              <a:bodyPr/>
              <a:lstStyle/>
              <a:p>
                <a:r>
                  <a:rPr lang="en-GB">
                    <a:noFill/>
                  </a:rPr>
                  <a:t> </a:t>
                </a:r>
              </a:p>
            </p:txBody>
          </p:sp>
        </mc:Fallback>
      </mc:AlternateContent>
      <p:sp>
        <p:nvSpPr>
          <p:cNvPr id="6" name="Date Placeholder 5">
            <a:extLst>
              <a:ext uri="{FF2B5EF4-FFF2-40B4-BE49-F238E27FC236}">
                <a16:creationId xmlns:a16="http://schemas.microsoft.com/office/drawing/2014/main" id="{AF5998D8-C354-444A-9DAF-7F05F372B15E}"/>
              </a:ext>
            </a:extLst>
          </p:cNvPr>
          <p:cNvSpPr>
            <a:spLocks noGrp="1"/>
          </p:cNvSpPr>
          <p:nvPr>
            <p:ph type="dt" sz="half" idx="10"/>
          </p:nvPr>
        </p:nvSpPr>
        <p:spPr>
          <a:xfrm>
            <a:off x="6370320" y="7258982"/>
            <a:ext cx="3349447" cy="414528"/>
          </a:xfrm>
        </p:spPr>
        <p:txBody>
          <a:bodyPr/>
          <a:lstStyle/>
          <a:p>
            <a:r>
              <a:rPr lang="en-US"/>
              <a:t>V.T.M</a:t>
            </a:r>
            <a:endParaRPr lang="en-US" dirty="0"/>
          </a:p>
        </p:txBody>
      </p:sp>
      <p:sp>
        <p:nvSpPr>
          <p:cNvPr id="7" name="Footer Placeholder 6">
            <a:extLst>
              <a:ext uri="{FF2B5EF4-FFF2-40B4-BE49-F238E27FC236}">
                <a16:creationId xmlns:a16="http://schemas.microsoft.com/office/drawing/2014/main" id="{075DE8AE-7F0B-480F-9079-CC41FDE2CA9C}"/>
              </a:ext>
            </a:extLst>
          </p:cNvPr>
          <p:cNvSpPr>
            <a:spLocks noGrp="1"/>
          </p:cNvSpPr>
          <p:nvPr>
            <p:ph type="ftr" sz="quarter" idx="11"/>
          </p:nvPr>
        </p:nvSpPr>
        <p:spPr/>
        <p:txBody>
          <a:bodyPr/>
          <a:lstStyle/>
          <a:p>
            <a:r>
              <a:rPr lang="en-US"/>
              <a:t>DN, 2020</a:t>
            </a:r>
            <a:endParaRPr lang="en-US" dirty="0"/>
          </a:p>
        </p:txBody>
      </p:sp>
    </p:spTree>
    <p:extLst>
      <p:ext uri="{BB962C8B-B14F-4D97-AF65-F5344CB8AC3E}">
        <p14:creationId xmlns:p14="http://schemas.microsoft.com/office/powerpoint/2010/main" val="299522944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1_Introduction to VLSI Design &amp; CMOS Basics" id="{D5F3B2C6-2467-4E2D-A367-FCE722C0848D}" vid="{702888B2-B27C-4EC9-8CD2-ECF10999C7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0C6458AFAD940A3670C4603521B84" ma:contentTypeVersion="3" ma:contentTypeDescription="Create a new document." ma:contentTypeScope="" ma:versionID="99ea2ef312c98f3cfa8c884e16d08439">
  <xsd:schema xmlns:xsd="http://www.w3.org/2001/XMLSchema" xmlns:xs="http://www.w3.org/2001/XMLSchema" xmlns:p="http://schemas.microsoft.com/office/2006/metadata/properties" xmlns:ns2="33d256ae-2404-4cb0-a7af-dfadc956dc8d" targetNamespace="http://schemas.microsoft.com/office/2006/metadata/properties" ma:root="true" ma:fieldsID="d07f86fe5c2e34806869358c62330339" ns2:_="">
    <xsd:import namespace="33d256ae-2404-4cb0-a7af-dfadc956dc8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d256ae-2404-4cb0-a7af-dfadc956dc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78727A-1B2B-46C8-8A2F-626DB143D626}"/>
</file>

<file path=customXml/itemProps2.xml><?xml version="1.0" encoding="utf-8"?>
<ds:datastoreItem xmlns:ds="http://schemas.openxmlformats.org/officeDocument/2006/customXml" ds:itemID="{CF43E5DB-64EC-47C2-8A3A-5C279368BE3E}"/>
</file>

<file path=customXml/itemProps3.xml><?xml version="1.0" encoding="utf-8"?>
<ds:datastoreItem xmlns:ds="http://schemas.openxmlformats.org/officeDocument/2006/customXml" ds:itemID="{8D94DE21-8D7F-4AB9-9483-E9E2CCB2142A}"/>
</file>

<file path=docProps/app.xml><?xml version="1.0" encoding="utf-8"?>
<Properties xmlns="http://schemas.openxmlformats.org/officeDocument/2006/extended-properties" xmlns:vt="http://schemas.openxmlformats.org/officeDocument/2006/docPropsVTypes">
  <Template>template</Template>
  <TotalTime>1741</TotalTime>
  <Words>6447</Words>
  <Application>Microsoft Office PowerPoint</Application>
  <PresentationFormat>Custom</PresentationFormat>
  <Paragraphs>922</Paragraphs>
  <Slides>81</Slides>
  <Notes>19</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4</vt:i4>
      </vt:variant>
      <vt:variant>
        <vt:lpstr>Slide Titles</vt:lpstr>
      </vt:variant>
      <vt:variant>
        <vt:i4>81</vt:i4>
      </vt:variant>
    </vt:vector>
  </HeadingPairs>
  <TitlesOfParts>
    <vt:vector size="96" baseType="lpstr">
      <vt:lpstr>SimSun</vt:lpstr>
      <vt:lpstr>Arial</vt:lpstr>
      <vt:lpstr>Book Antiqua</vt:lpstr>
      <vt:lpstr>Calibri</vt:lpstr>
      <vt:lpstr>Cambria Math</vt:lpstr>
      <vt:lpstr>Georgia</vt:lpstr>
      <vt:lpstr>Symbol</vt:lpstr>
      <vt:lpstr>Times New Roman</vt:lpstr>
      <vt:lpstr>Wingdings</vt:lpstr>
      <vt:lpstr>Wingdings 2</vt:lpstr>
      <vt:lpstr>Civic</vt:lpstr>
      <vt:lpstr>Canvas Drawing</vt:lpstr>
      <vt:lpstr>VISIO</vt:lpstr>
      <vt:lpstr>Equation</vt:lpstr>
      <vt:lpstr>Drawing</vt:lpstr>
      <vt:lpstr>Design of Analog Integrated Circuit</vt:lpstr>
      <vt:lpstr>Chủ đề</vt:lpstr>
      <vt:lpstr>Overview</vt:lpstr>
      <vt:lpstr>Voltage comparators</vt:lpstr>
      <vt:lpstr>Design Considerations</vt:lpstr>
      <vt:lpstr>High-Gain Amplifiers</vt:lpstr>
      <vt:lpstr>Single-Stage Amplification</vt:lpstr>
      <vt:lpstr>Open Loop Cascade of Amplifiers</vt:lpstr>
      <vt:lpstr>Offset Cancellation</vt:lpstr>
      <vt:lpstr>Output Series Cancellation</vt:lpstr>
      <vt:lpstr>Output Series Cancellation</vt:lpstr>
      <vt:lpstr>Cascaded Output Series Cancellation</vt:lpstr>
      <vt:lpstr>Cascaded Output Series Cancellation</vt:lpstr>
      <vt:lpstr>Cascaded Output Series Cancellation</vt:lpstr>
      <vt:lpstr>Cascaded Output Series Cancellation</vt:lpstr>
      <vt:lpstr>Cascaded Output Series Cancellation</vt:lpstr>
      <vt:lpstr>Cascaded Output Series Cancellation</vt:lpstr>
      <vt:lpstr>Cascaded Output Series Cancellation</vt:lpstr>
      <vt:lpstr>Input Series Cancellation</vt:lpstr>
      <vt:lpstr>Input Series Cancellation</vt:lpstr>
      <vt:lpstr>Input Series Cancellation</vt:lpstr>
      <vt:lpstr>Cascaded Input Series Cancellation</vt:lpstr>
      <vt:lpstr>Input Series Cancellation</vt:lpstr>
      <vt:lpstr>Cascade of Gain Stages</vt:lpstr>
      <vt:lpstr>Latched Comparators</vt:lpstr>
      <vt:lpstr>Latched Comparators</vt:lpstr>
      <vt:lpstr>Simplest Form of Latch</vt:lpstr>
      <vt:lpstr>Static Latch</vt:lpstr>
      <vt:lpstr>Semi-Dynamic Latch</vt:lpstr>
      <vt:lpstr>Current-Steering Latch</vt:lpstr>
      <vt:lpstr>Dynamic Latch</vt:lpstr>
      <vt:lpstr>Modified Dynamic Latch</vt:lpstr>
      <vt:lpstr>Comparator Dynamic Behavior</vt:lpstr>
      <vt:lpstr>Comparator Resolution</vt:lpstr>
      <vt:lpstr>Latch-Only Comparator</vt:lpstr>
      <vt:lpstr>Pre-Amplifier + Latch</vt:lpstr>
      <vt:lpstr>CMOS Comparator Example</vt:lpstr>
      <vt:lpstr>Overview</vt:lpstr>
      <vt:lpstr>What is ADC?</vt:lpstr>
      <vt:lpstr>The Measurement &amp; Control Loop</vt:lpstr>
      <vt:lpstr>ADC process</vt:lpstr>
      <vt:lpstr>Sampling and  Holding</vt:lpstr>
      <vt:lpstr>Quantizing and Encoding</vt:lpstr>
      <vt:lpstr>Quantizing and Encoding</vt:lpstr>
      <vt:lpstr>IDEAL ADC input vs. output</vt:lpstr>
      <vt:lpstr>Quantization Noise</vt:lpstr>
      <vt:lpstr>Quantization Noise (con’t)</vt:lpstr>
      <vt:lpstr>Quantization Noise (con’t)</vt:lpstr>
      <vt:lpstr>Accuracy of A/D Conversion</vt:lpstr>
      <vt:lpstr>Accuracy of A/D Conversion</vt:lpstr>
      <vt:lpstr>Types of ADC</vt:lpstr>
      <vt:lpstr>Dual Slope A/D Converter</vt:lpstr>
      <vt:lpstr>How does it work?</vt:lpstr>
      <vt:lpstr>How Does it Work Cont.?</vt:lpstr>
      <vt:lpstr>Dual Slope A/D Converter</vt:lpstr>
      <vt:lpstr>Successive Approximation ADC Circuit</vt:lpstr>
      <vt:lpstr>Successive Approximation</vt:lpstr>
      <vt:lpstr>Flash A/D Converter</vt:lpstr>
      <vt:lpstr>How does it work?</vt:lpstr>
      <vt:lpstr>Flash A/D Converter</vt:lpstr>
      <vt:lpstr>SIGMA-DELTA A/D Converter</vt:lpstr>
      <vt:lpstr>How does it work?</vt:lpstr>
      <vt:lpstr>Sigma-Delta A/D Converter</vt:lpstr>
      <vt:lpstr>ADC Types Comparison</vt:lpstr>
      <vt:lpstr>Pipelined Sub-ranging ADC</vt:lpstr>
      <vt:lpstr>Pipelined Sub-ranging ADC</vt:lpstr>
      <vt:lpstr>Pipelined Sub-ranging ADC</vt:lpstr>
      <vt:lpstr>Analog Input Signal Definitions</vt:lpstr>
      <vt:lpstr>Unipolar and Bipolar Converter Codes</vt:lpstr>
      <vt:lpstr>Offset And Gain for Unipolar Ranges</vt:lpstr>
      <vt:lpstr>Offset And Gain for Bipolar Ranges</vt:lpstr>
      <vt:lpstr>DC Specifications (DNL)</vt:lpstr>
      <vt:lpstr>Missing Codes</vt:lpstr>
      <vt:lpstr>DC Specifications (INL)</vt:lpstr>
      <vt:lpstr>Nyquist Bandwidth &amp; Aliasing</vt:lpstr>
      <vt:lpstr>The Nyquist Bandwidth &amp; Aliasing</vt:lpstr>
      <vt:lpstr>The Nyquist Bandwidth &amp; Aliasing</vt:lpstr>
      <vt:lpstr>Aliasing in time domain</vt:lpstr>
      <vt:lpstr>SINAD, ENOB and SNR</vt:lpstr>
      <vt:lpstr>SFDR and THD</vt:lpstr>
      <vt:lpstr>ADC Figures of Merit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DCA_LECTURE_FALL08</dc:title>
  <dc:creator>TODD SIFLEET</dc:creator>
  <cp:lastModifiedBy>VO Tuan Minh - ETE</cp:lastModifiedBy>
  <cp:revision>153</cp:revision>
  <dcterms:created xsi:type="dcterms:W3CDTF">2019-09-24T01:53:21Z</dcterms:created>
  <dcterms:modified xsi:type="dcterms:W3CDTF">2021-04-12T08:36:54Z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2008-09-23T00:00:00Z</vt:filetime>
  </property>
  <property fmtid="{D5CDD505-2E9C-101B-9397-08002B2CF9AE}" pid="3" name="Creator">
    <vt:lpwstr>Microsoft PowerPoint</vt:lpwstr>
  </property>
  <property fmtid="{D5CDD505-2E9C-101B-9397-08002B2CF9AE}" pid="4" name="LastSaved">
    <vt:filetime>2019-09-24T00:00:00Z</vt:filetime>
  </property>
  <property fmtid="{D5CDD505-2E9C-101B-9397-08002B2CF9AE}" pid="5" name="ContentTypeId">
    <vt:lpwstr>0x0101007C10C6458AFAD940A3670C4603521B84</vt:lpwstr>
  </property>
</Properties>
</file>